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22D1F"/>
          </a:solidFill>
          <a:ln/>
        </p:spPr>
      </p:sp>
      <p:sp>
        <p:nvSpPr>
          <p:cNvPr id="3" name="Shape 1"/>
          <p:cNvSpPr/>
          <p:nvPr/>
        </p:nvSpPr>
        <p:spPr>
          <a:xfrm>
            <a:off x="0" y="0"/>
            <a:ext cx="9144000" cy="54864"/>
          </a:xfrm>
          <a:prstGeom prst="rect">
            <a:avLst/>
          </a:prstGeom>
          <a:solidFill>
            <a:srgbClr val="DCBD74"/>
          </a:solidFill>
          <a:ln/>
        </p:spPr>
      </p:sp>
      <p:sp>
        <p:nvSpPr>
          <p:cNvPr id="4" name="Shape 2"/>
          <p:cNvSpPr/>
          <p:nvPr/>
        </p:nvSpPr>
        <p:spPr>
          <a:xfrm>
            <a:off x="4434840" y="1371600"/>
            <a:ext cx="128016" cy="128016"/>
          </a:xfrm>
          <a:prstGeom prst="ellipse">
            <a:avLst/>
          </a:prstGeom>
          <a:solidFill>
            <a:srgbClr val="DCBD74"/>
          </a:solidFill>
          <a:ln/>
        </p:spPr>
      </p:sp>
      <p:sp>
        <p:nvSpPr>
          <p:cNvPr id="5" name="Text 3"/>
          <p:cNvSpPr/>
          <p:nvPr/>
        </p:nvSpPr>
        <p:spPr>
          <a:xfrm>
            <a:off x="457200" y="1737360"/>
            <a:ext cx="8229600" cy="731520"/>
          </a:xfrm>
          <a:prstGeom prst="rect">
            <a:avLst/>
          </a:prstGeom>
          <a:noFill/>
          <a:ln/>
        </p:spPr>
        <p:txBody>
          <a:bodyPr wrap="square" rtlCol="0" anchor="ctr"/>
          <a:lstStyle/>
          <a:p>
            <a:pPr algn="ctr" indent="0" marL="0">
              <a:buNone/>
            </a:pPr>
            <a:r>
              <a:rPr lang="en-US" sz="4400" b="1" dirty="0">
                <a:solidFill>
                  <a:srgbClr val="FFFFFF"/>
                </a:solidFill>
                <a:latin typeface="Microsoft YaHei" pitchFamily="34" charset="0"/>
                <a:ea typeface="Microsoft YaHei" pitchFamily="34" charset="-122"/>
                <a:cs typeface="Microsoft YaHei" pitchFamily="34" charset="-120"/>
              </a:rPr>
              <a:t>THERMODYNAMIQUE</a:t>
            </a:r>
            <a:endParaRPr lang="en-US" sz="4400" dirty="0"/>
          </a:p>
        </p:txBody>
      </p:sp>
      <p:sp>
        <p:nvSpPr>
          <p:cNvPr id="6" name="Shape 4"/>
          <p:cNvSpPr/>
          <p:nvPr/>
        </p:nvSpPr>
        <p:spPr>
          <a:xfrm>
            <a:off x="3657600" y="2560320"/>
            <a:ext cx="1828800" cy="36576"/>
          </a:xfrm>
          <a:prstGeom prst="rect">
            <a:avLst/>
          </a:prstGeom>
          <a:solidFill>
            <a:srgbClr val="DCBD74"/>
          </a:solidFill>
          <a:ln/>
        </p:spPr>
      </p:sp>
      <p:sp>
        <p:nvSpPr>
          <p:cNvPr id="7" name="Text 5"/>
          <p:cNvSpPr/>
          <p:nvPr/>
        </p:nvSpPr>
        <p:spPr>
          <a:xfrm>
            <a:off x="457200" y="2743200"/>
            <a:ext cx="8229600" cy="457200"/>
          </a:xfrm>
          <a:prstGeom prst="rect">
            <a:avLst/>
          </a:prstGeom>
          <a:noFill/>
          <a:ln/>
        </p:spPr>
        <p:txBody>
          <a:bodyPr wrap="square" rtlCol="0" anchor="ctr"/>
          <a:lstStyle/>
          <a:p>
            <a:pPr algn="ctr" indent="0" marL="0">
              <a:buNone/>
            </a:pPr>
            <a:r>
              <a:rPr lang="en-US" sz="2000" dirty="0">
                <a:solidFill>
                  <a:srgbClr val="7EC8B0"/>
                </a:solidFill>
                <a:latin typeface="Microsoft YaHei" pitchFamily="34" charset="0"/>
                <a:ea typeface="Microsoft YaHei" pitchFamily="34" charset="-122"/>
                <a:cs typeface="Microsoft YaHei" pitchFamily="34" charset="-120"/>
              </a:rPr>
              <a:t>Concepts Fondamentaux, Température, Échanges d'Énergie</a:t>
            </a:r>
            <a:endParaRPr lang="en-US" sz="2000" dirty="0"/>
          </a:p>
        </p:txBody>
      </p:sp>
      <p:sp>
        <p:nvSpPr>
          <p:cNvPr id="8" name="Text 6"/>
          <p:cNvSpPr/>
          <p:nvPr/>
        </p:nvSpPr>
        <p:spPr>
          <a:xfrm>
            <a:off x="457200" y="3291840"/>
            <a:ext cx="8229600" cy="365760"/>
          </a:xfrm>
          <a:prstGeom prst="rect">
            <a:avLst/>
          </a:prstGeom>
          <a:noFill/>
          <a:ln/>
        </p:spPr>
        <p:txBody>
          <a:bodyPr wrap="square" rtlCol="0" anchor="ctr"/>
          <a:lstStyle/>
          <a:p>
            <a:pPr algn="ctr" indent="0" marL="0">
              <a:buNone/>
            </a:pPr>
            <a:r>
              <a:rPr lang="en-US" sz="1400" dirty="0">
                <a:solidFill>
                  <a:srgbClr val="60A882"/>
                </a:solidFill>
                <a:latin typeface="Microsoft YaHei" pitchFamily="34" charset="0"/>
                <a:ea typeface="Microsoft YaHei" pitchFamily="34" charset="-122"/>
                <a:cs typeface="Microsoft YaHei" pitchFamily="34" charset="-120"/>
              </a:rPr>
              <a:t>Cours Complet - 3 Séances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400" b="1" dirty="0">
                <a:solidFill>
                  <a:srgbClr val="FFFFFF"/>
                </a:solidFill>
                <a:latin typeface="Microsoft YaHei" pitchFamily="34" charset="0"/>
                <a:ea typeface="Microsoft YaHei" pitchFamily="34" charset="-122"/>
                <a:cs typeface="Microsoft YaHei" pitchFamily="34" charset="-120"/>
              </a:rPr>
              <a:t>Plan du Cours</a:t>
            </a:r>
            <a:endParaRPr lang="en-US" sz="2400" dirty="0"/>
          </a:p>
        </p:txBody>
      </p:sp>
      <p:sp>
        <p:nvSpPr>
          <p:cNvPr id="4" name="Shape 2"/>
          <p:cNvSpPr/>
          <p:nvPr/>
        </p:nvSpPr>
        <p:spPr>
          <a:xfrm>
            <a:off x="1371600" y="2286000"/>
            <a:ext cx="6400800" cy="27432"/>
          </a:xfrm>
          <a:prstGeom prst="rect">
            <a:avLst/>
          </a:prstGeom>
          <a:solidFill>
            <a:srgbClr val="A8D4BC"/>
          </a:solidFill>
          <a:ln/>
        </p:spPr>
      </p:sp>
      <p:sp>
        <p:nvSpPr>
          <p:cNvPr id="5" name="Shape 3"/>
          <p:cNvSpPr/>
          <p:nvPr/>
        </p:nvSpPr>
        <p:spPr>
          <a:xfrm>
            <a:off x="1874520" y="2148840"/>
            <a:ext cx="320040" cy="320040"/>
          </a:xfrm>
          <a:prstGeom prst="ellipse">
            <a:avLst/>
          </a:prstGeom>
          <a:solidFill>
            <a:srgbClr val="DCBD74"/>
          </a:solidFill>
          <a:ln/>
        </p:spPr>
      </p:sp>
      <p:sp>
        <p:nvSpPr>
          <p:cNvPr id="6" name="Text 4"/>
          <p:cNvSpPr/>
          <p:nvPr/>
        </p:nvSpPr>
        <p:spPr>
          <a:xfrm>
            <a:off x="1874520" y="2176272"/>
            <a:ext cx="320040" cy="274320"/>
          </a:xfrm>
          <a:prstGeom prst="rect">
            <a:avLst/>
          </a:prstGeom>
          <a:noFill/>
          <a:ln/>
        </p:spPr>
        <p:txBody>
          <a:bodyPr wrap="square" rtlCol="0" anchor="ctr"/>
          <a:lstStyle/>
          <a:p>
            <a:pPr algn="ctr" indent="0" marL="0">
              <a:buNone/>
            </a:pPr>
            <a:r>
              <a:rPr lang="en-US" sz="1200" b="1" dirty="0">
                <a:solidFill>
                  <a:srgbClr val="FFFFFF"/>
                </a:solidFill>
              </a:rPr>
              <a:t>01</a:t>
            </a:r>
            <a:endParaRPr lang="en-US" sz="1200" dirty="0"/>
          </a:p>
        </p:txBody>
      </p:sp>
      <p:sp>
        <p:nvSpPr>
          <p:cNvPr id="7" name="Text 5"/>
          <p:cNvSpPr/>
          <p:nvPr/>
        </p:nvSpPr>
        <p:spPr>
          <a:xfrm>
            <a:off x="1371600" y="2651760"/>
            <a:ext cx="1371600" cy="320040"/>
          </a:xfrm>
          <a:prstGeom prst="rect">
            <a:avLst/>
          </a:prstGeom>
          <a:noFill/>
          <a:ln/>
        </p:spPr>
        <p:txBody>
          <a:bodyPr wrap="square" rtlCol="0" anchor="ctr"/>
          <a:lstStyle/>
          <a:p>
            <a:pPr algn="ctr" indent="0" marL="0">
              <a:buNone/>
            </a:pPr>
            <a:r>
              <a:rPr lang="en-US" sz="1600" b="1" dirty="0">
                <a:solidFill>
                  <a:srgbClr val="1B4332"/>
                </a:solidFill>
              </a:rPr>
              <a:t>Séance 1</a:t>
            </a:r>
            <a:endParaRPr lang="en-US" sz="1600" dirty="0"/>
          </a:p>
        </p:txBody>
      </p:sp>
      <p:sp>
        <p:nvSpPr>
          <p:cNvPr id="8" name="Text 6"/>
          <p:cNvSpPr/>
          <p:nvPr/>
        </p:nvSpPr>
        <p:spPr>
          <a:xfrm>
            <a:off x="1097280" y="3017520"/>
            <a:ext cx="1920240" cy="1097280"/>
          </a:xfrm>
          <a:prstGeom prst="rect">
            <a:avLst/>
          </a:prstGeom>
          <a:noFill/>
          <a:ln/>
        </p:spPr>
        <p:txBody>
          <a:bodyPr wrap="square" rtlCol="0" anchor="ctr"/>
          <a:lstStyle/>
          <a:p>
            <a:pPr algn="ctr" indent="0" marL="0">
              <a:buNone/>
            </a:pPr>
            <a:r>
              <a:rPr lang="en-US" sz="1100" dirty="0">
                <a:solidFill>
                  <a:srgbClr val="2E6B4F"/>
                </a:solidFill>
              </a:rPr>
              <a:t>Concepts Fondamentaux</a:t>
            </a:r>
            <a:endParaRPr lang="en-US" sz="1100" dirty="0"/>
          </a:p>
          <a:p>
            <a:pPr algn="ctr" indent="0" marL="0">
              <a:buNone/>
            </a:pPr>
            <a:r>
              <a:rPr lang="en-US" sz="1100" dirty="0">
                <a:solidFill>
                  <a:srgbClr val="2E6B4F"/>
                </a:solidFill>
              </a:rPr>
              <a:t>Systèmes, Variables d'état</a:t>
            </a:r>
            <a:endParaRPr lang="en-US" sz="1100" dirty="0"/>
          </a:p>
          <a:p>
            <a:pPr algn="ctr" indent="0" marL="0">
              <a:buNone/>
            </a:pPr>
            <a:r>
              <a:rPr lang="en-US" sz="1100" dirty="0">
                <a:solidFill>
                  <a:srgbClr val="2E6B4F"/>
                </a:solidFill>
              </a:rPr>
              <a:t>Transformations, Outils mathématiques</a:t>
            </a:r>
            <a:endParaRPr lang="en-US" sz="1100" dirty="0"/>
          </a:p>
        </p:txBody>
      </p:sp>
      <p:sp>
        <p:nvSpPr>
          <p:cNvPr id="9" name="Shape 7"/>
          <p:cNvSpPr/>
          <p:nvPr/>
        </p:nvSpPr>
        <p:spPr>
          <a:xfrm>
            <a:off x="4434840" y="2148840"/>
            <a:ext cx="320040" cy="320040"/>
          </a:xfrm>
          <a:prstGeom prst="ellipse">
            <a:avLst/>
          </a:prstGeom>
          <a:solidFill>
            <a:srgbClr val="DCBD74"/>
          </a:solidFill>
          <a:ln/>
        </p:spPr>
      </p:sp>
      <p:sp>
        <p:nvSpPr>
          <p:cNvPr id="10" name="Text 8"/>
          <p:cNvSpPr/>
          <p:nvPr/>
        </p:nvSpPr>
        <p:spPr>
          <a:xfrm>
            <a:off x="4434840" y="2176272"/>
            <a:ext cx="320040" cy="274320"/>
          </a:xfrm>
          <a:prstGeom prst="rect">
            <a:avLst/>
          </a:prstGeom>
          <a:noFill/>
          <a:ln/>
        </p:spPr>
        <p:txBody>
          <a:bodyPr wrap="square" rtlCol="0" anchor="ctr"/>
          <a:lstStyle/>
          <a:p>
            <a:pPr algn="ctr" indent="0" marL="0">
              <a:buNone/>
            </a:pPr>
            <a:r>
              <a:rPr lang="en-US" sz="1200" b="1" dirty="0">
                <a:solidFill>
                  <a:srgbClr val="FFFFFF"/>
                </a:solidFill>
              </a:rPr>
              <a:t>02</a:t>
            </a:r>
            <a:endParaRPr lang="en-US" sz="1200" dirty="0"/>
          </a:p>
        </p:txBody>
      </p:sp>
      <p:sp>
        <p:nvSpPr>
          <p:cNvPr id="11" name="Text 9"/>
          <p:cNvSpPr/>
          <p:nvPr/>
        </p:nvSpPr>
        <p:spPr>
          <a:xfrm>
            <a:off x="3931920" y="2651760"/>
            <a:ext cx="1371600" cy="320040"/>
          </a:xfrm>
          <a:prstGeom prst="rect">
            <a:avLst/>
          </a:prstGeom>
          <a:noFill/>
          <a:ln/>
        </p:spPr>
        <p:txBody>
          <a:bodyPr wrap="square" rtlCol="0" anchor="ctr"/>
          <a:lstStyle/>
          <a:p>
            <a:pPr algn="ctr" indent="0" marL="0">
              <a:buNone/>
            </a:pPr>
            <a:r>
              <a:rPr lang="en-US" sz="1600" b="1" dirty="0">
                <a:solidFill>
                  <a:srgbClr val="1B4332"/>
                </a:solidFill>
              </a:rPr>
              <a:t>Séance 2</a:t>
            </a:r>
            <a:endParaRPr lang="en-US" sz="1600" dirty="0"/>
          </a:p>
        </p:txBody>
      </p:sp>
      <p:sp>
        <p:nvSpPr>
          <p:cNvPr id="12" name="Text 10"/>
          <p:cNvSpPr/>
          <p:nvPr/>
        </p:nvSpPr>
        <p:spPr>
          <a:xfrm>
            <a:off x="3657600" y="3017520"/>
            <a:ext cx="1920240" cy="1097280"/>
          </a:xfrm>
          <a:prstGeom prst="rect">
            <a:avLst/>
          </a:prstGeom>
          <a:noFill/>
          <a:ln/>
        </p:spPr>
        <p:txBody>
          <a:bodyPr wrap="square" rtlCol="0" anchor="ctr"/>
          <a:lstStyle/>
          <a:p>
            <a:pPr algn="ctr" indent="0" marL="0">
              <a:buNone/>
            </a:pPr>
            <a:r>
              <a:rPr lang="en-US" sz="1100" dirty="0">
                <a:solidFill>
                  <a:srgbClr val="2E6B4F"/>
                </a:solidFill>
              </a:rPr>
              <a:t>Température et Dilatation</a:t>
            </a:r>
            <a:endParaRPr lang="en-US" sz="1100" dirty="0"/>
          </a:p>
          <a:p>
            <a:pPr algn="ctr" indent="0" marL="0">
              <a:buNone/>
            </a:pPr>
            <a:r>
              <a:rPr lang="en-US" sz="1100" dirty="0">
                <a:solidFill>
                  <a:srgbClr val="2E6B4F"/>
                </a:solidFill>
              </a:rPr>
              <a:t>Échelles de température</a:t>
            </a:r>
            <a:endParaRPr lang="en-US" sz="1100" dirty="0"/>
          </a:p>
          <a:p>
            <a:pPr algn="ctr" indent="0" marL="0">
              <a:buNone/>
            </a:pPr>
            <a:r>
              <a:rPr lang="en-US" sz="1100" dirty="0">
                <a:solidFill>
                  <a:srgbClr val="2E6B4F"/>
                </a:solidFill>
              </a:rPr>
              <a:t>Principe zéro, Gaz parfait</a:t>
            </a:r>
            <a:endParaRPr lang="en-US" sz="1100" dirty="0"/>
          </a:p>
        </p:txBody>
      </p:sp>
      <p:sp>
        <p:nvSpPr>
          <p:cNvPr id="13" name="Shape 11"/>
          <p:cNvSpPr/>
          <p:nvPr/>
        </p:nvSpPr>
        <p:spPr>
          <a:xfrm>
            <a:off x="6995160" y="2148840"/>
            <a:ext cx="320040" cy="320040"/>
          </a:xfrm>
          <a:prstGeom prst="ellipse">
            <a:avLst/>
          </a:prstGeom>
          <a:solidFill>
            <a:srgbClr val="DCBD74"/>
          </a:solidFill>
          <a:ln/>
        </p:spPr>
      </p:sp>
      <p:sp>
        <p:nvSpPr>
          <p:cNvPr id="14" name="Text 12"/>
          <p:cNvSpPr/>
          <p:nvPr/>
        </p:nvSpPr>
        <p:spPr>
          <a:xfrm>
            <a:off x="6995160" y="2176272"/>
            <a:ext cx="320040" cy="274320"/>
          </a:xfrm>
          <a:prstGeom prst="rect">
            <a:avLst/>
          </a:prstGeom>
          <a:noFill/>
          <a:ln/>
        </p:spPr>
        <p:txBody>
          <a:bodyPr wrap="square" rtlCol="0" anchor="ctr"/>
          <a:lstStyle/>
          <a:p>
            <a:pPr algn="ctr" indent="0" marL="0">
              <a:buNone/>
            </a:pPr>
            <a:r>
              <a:rPr lang="en-US" sz="1200" b="1" dirty="0">
                <a:solidFill>
                  <a:srgbClr val="FFFFFF"/>
                </a:solidFill>
              </a:rPr>
              <a:t>03</a:t>
            </a:r>
            <a:endParaRPr lang="en-US" sz="1200" dirty="0"/>
          </a:p>
        </p:txBody>
      </p:sp>
      <p:sp>
        <p:nvSpPr>
          <p:cNvPr id="15" name="Text 13"/>
          <p:cNvSpPr/>
          <p:nvPr/>
        </p:nvSpPr>
        <p:spPr>
          <a:xfrm>
            <a:off x="6492240" y="2651760"/>
            <a:ext cx="1371600" cy="320040"/>
          </a:xfrm>
          <a:prstGeom prst="rect">
            <a:avLst/>
          </a:prstGeom>
          <a:noFill/>
          <a:ln/>
        </p:spPr>
        <p:txBody>
          <a:bodyPr wrap="square" rtlCol="0" anchor="ctr"/>
          <a:lstStyle/>
          <a:p>
            <a:pPr algn="ctr" indent="0" marL="0">
              <a:buNone/>
            </a:pPr>
            <a:r>
              <a:rPr lang="en-US" sz="1600" b="1" dirty="0">
                <a:solidFill>
                  <a:srgbClr val="1B4332"/>
                </a:solidFill>
              </a:rPr>
              <a:t>Séance 3</a:t>
            </a:r>
            <a:endParaRPr lang="en-US" sz="1600" dirty="0"/>
          </a:p>
        </p:txBody>
      </p:sp>
      <p:sp>
        <p:nvSpPr>
          <p:cNvPr id="16" name="Text 14"/>
          <p:cNvSpPr/>
          <p:nvPr/>
        </p:nvSpPr>
        <p:spPr>
          <a:xfrm>
            <a:off x="6217920" y="3017520"/>
            <a:ext cx="1920240" cy="1097280"/>
          </a:xfrm>
          <a:prstGeom prst="rect">
            <a:avLst/>
          </a:prstGeom>
          <a:noFill/>
          <a:ln/>
        </p:spPr>
        <p:txBody>
          <a:bodyPr wrap="square" rtlCol="0" anchor="ctr"/>
          <a:lstStyle/>
          <a:p>
            <a:pPr algn="ctr" indent="0" marL="0">
              <a:buNone/>
            </a:pPr>
            <a:r>
              <a:rPr lang="en-US" sz="1100" dirty="0">
                <a:solidFill>
                  <a:srgbClr val="2E6B4F"/>
                </a:solidFill>
              </a:rPr>
              <a:t>Travail et Chaleur</a:t>
            </a:r>
            <a:endParaRPr lang="en-US" sz="1100" dirty="0"/>
          </a:p>
          <a:p>
            <a:pPr algn="ctr" indent="0" marL="0">
              <a:buNone/>
            </a:pPr>
            <a:r>
              <a:rPr lang="en-US" sz="1100" dirty="0">
                <a:solidFill>
                  <a:srgbClr val="2E6B4F"/>
                </a:solidFill>
              </a:rPr>
              <a:t>Échanges d'énergie</a:t>
            </a:r>
            <a:endParaRPr lang="en-US" sz="1100" dirty="0"/>
          </a:p>
          <a:p>
            <a:pPr algn="ctr" indent="0" marL="0">
              <a:buNone/>
            </a:pPr>
            <a:r>
              <a:rPr lang="en-US" sz="1100" dirty="0">
                <a:solidFill>
                  <a:srgbClr val="2E6B4F"/>
                </a:solidFill>
              </a:rPr>
              <a:t>Calorimétrie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Références Bibliographiques</a:t>
            </a:r>
            <a:endParaRPr lang="en-US" sz="2200" dirty="0"/>
          </a:p>
        </p:txBody>
      </p:sp>
      <p:sp>
        <p:nvSpPr>
          <p:cNvPr id="4" name="Text 2"/>
          <p:cNvSpPr/>
          <p:nvPr/>
        </p:nvSpPr>
        <p:spPr>
          <a:xfrm>
            <a:off x="612648" y="1005840"/>
            <a:ext cx="7918704" cy="365760"/>
          </a:xfrm>
          <a:prstGeom prst="rect">
            <a:avLst/>
          </a:prstGeom>
          <a:noFill/>
          <a:ln/>
        </p:spPr>
        <p:txBody>
          <a:bodyPr wrap="square" rtlCol="0" anchor="ctr"/>
          <a:lstStyle/>
          <a:p>
            <a:pPr indent="0" marL="0">
              <a:buNone/>
            </a:pPr>
            <a:r>
              <a:rPr lang="en-US" sz="1600" b="1" dirty="0">
                <a:solidFill>
                  <a:srgbClr val="1B4332"/>
                </a:solidFill>
                <a:latin typeface="Microsoft YaHei" pitchFamily="34" charset="0"/>
                <a:ea typeface="Microsoft YaHei" pitchFamily="34" charset="-122"/>
                <a:cs typeface="Microsoft YaHei" pitchFamily="34" charset="-120"/>
              </a:rPr>
              <a:t>Ouvrages recommandés pour approfondir le cours :</a:t>
            </a:r>
            <a:endParaRPr lang="en-US" sz="1600" dirty="0"/>
          </a:p>
        </p:txBody>
      </p:sp>
      <p:sp>
        <p:nvSpPr>
          <p:cNvPr id="5" name="Shape 3"/>
          <p:cNvSpPr/>
          <p:nvPr/>
        </p:nvSpPr>
        <p:spPr>
          <a:xfrm>
            <a:off x="612648" y="1554480"/>
            <a:ext cx="7918704" cy="914400"/>
          </a:xfrm>
          <a:prstGeom prst="rect">
            <a:avLst/>
          </a:prstGeom>
          <a:solidFill>
            <a:srgbClr val="EEF7F1"/>
          </a:solidFill>
          <a:ln w="12700">
            <a:solidFill>
              <a:srgbClr val="A8D4BC"/>
            </a:solidFill>
            <a:prstDash val="solid"/>
          </a:ln>
        </p:spPr>
      </p:sp>
      <p:sp>
        <p:nvSpPr>
          <p:cNvPr id="6" name="Text 4"/>
          <p:cNvSpPr/>
          <p:nvPr/>
        </p:nvSpPr>
        <p:spPr>
          <a:xfrm>
            <a:off x="795528" y="1691640"/>
            <a:ext cx="7552944" cy="320040"/>
          </a:xfrm>
          <a:prstGeom prst="rect">
            <a:avLst/>
          </a:prstGeom>
          <a:noFill/>
          <a:ln/>
        </p:spPr>
        <p:txBody>
          <a:bodyPr wrap="square" rtlCol="0" anchor="ctr"/>
          <a:lstStyle/>
          <a:p>
            <a:pPr indent="0" marL="0">
              <a:buNone/>
            </a:pPr>
            <a:r>
              <a:rPr lang="en-US" sz="1500" b="1" dirty="0">
                <a:solidFill>
                  <a:srgbClr val="1B4332"/>
                </a:solidFill>
              </a:rPr>
              <a:t>Thermodynamique - Bases et Applications</a:t>
            </a:r>
            <a:endParaRPr lang="en-US" sz="1500" dirty="0"/>
          </a:p>
        </p:txBody>
      </p:sp>
      <p:sp>
        <p:nvSpPr>
          <p:cNvPr id="7" name="Text 5"/>
          <p:cNvSpPr/>
          <p:nvPr/>
        </p:nvSpPr>
        <p:spPr>
          <a:xfrm>
            <a:off x="795528" y="2057400"/>
            <a:ext cx="7552944" cy="274320"/>
          </a:xfrm>
          <a:prstGeom prst="rect">
            <a:avLst/>
          </a:prstGeom>
          <a:noFill/>
          <a:ln/>
        </p:spPr>
        <p:txBody>
          <a:bodyPr wrap="square" rtlCol="0" anchor="ctr"/>
          <a:lstStyle/>
          <a:p>
            <a:pPr indent="0" marL="0">
              <a:buNone/>
            </a:pPr>
            <a:r>
              <a:rPr lang="en-US" sz="1200" dirty="0">
                <a:solidFill>
                  <a:srgbClr val="2E6B4F"/>
                </a:solidFill>
              </a:rPr>
              <a:t>Auteur: Jean-Noël Foussard, Edmond Julien  |  Édition: DUNOD</a:t>
            </a:r>
            <a:endParaRPr lang="en-US" sz="1200" dirty="0"/>
          </a:p>
        </p:txBody>
      </p:sp>
      <p:sp>
        <p:nvSpPr>
          <p:cNvPr id="8" name="Shape 6"/>
          <p:cNvSpPr/>
          <p:nvPr/>
        </p:nvSpPr>
        <p:spPr>
          <a:xfrm>
            <a:off x="612648" y="2651760"/>
            <a:ext cx="7918704" cy="914400"/>
          </a:xfrm>
          <a:prstGeom prst="rect">
            <a:avLst/>
          </a:prstGeom>
          <a:solidFill>
            <a:srgbClr val="EEF7F1"/>
          </a:solidFill>
          <a:ln w="12700">
            <a:solidFill>
              <a:srgbClr val="A8D4BC"/>
            </a:solidFill>
            <a:prstDash val="solid"/>
          </a:ln>
        </p:spPr>
      </p:sp>
      <p:sp>
        <p:nvSpPr>
          <p:cNvPr id="9" name="Text 7"/>
          <p:cNvSpPr/>
          <p:nvPr/>
        </p:nvSpPr>
        <p:spPr>
          <a:xfrm>
            <a:off x="795528" y="2788920"/>
            <a:ext cx="7552944" cy="320040"/>
          </a:xfrm>
          <a:prstGeom prst="rect">
            <a:avLst/>
          </a:prstGeom>
          <a:noFill/>
          <a:ln/>
        </p:spPr>
        <p:txBody>
          <a:bodyPr wrap="square" rtlCol="0" anchor="ctr"/>
          <a:lstStyle/>
          <a:p>
            <a:pPr indent="0" marL="0">
              <a:buNone/>
            </a:pPr>
            <a:r>
              <a:rPr lang="en-US" sz="1500" b="1" dirty="0">
                <a:solidFill>
                  <a:srgbClr val="1B4332"/>
                </a:solidFill>
              </a:rPr>
              <a:t>Thermodynamique - Fondements et Applications</a:t>
            </a:r>
            <a:endParaRPr lang="en-US" sz="1500" dirty="0"/>
          </a:p>
        </p:txBody>
      </p:sp>
      <p:sp>
        <p:nvSpPr>
          <p:cNvPr id="10" name="Text 8"/>
          <p:cNvSpPr/>
          <p:nvPr/>
        </p:nvSpPr>
        <p:spPr>
          <a:xfrm>
            <a:off x="795528" y="3154680"/>
            <a:ext cx="7552944" cy="274320"/>
          </a:xfrm>
          <a:prstGeom prst="rect">
            <a:avLst/>
          </a:prstGeom>
          <a:noFill/>
          <a:ln/>
        </p:spPr>
        <p:txBody>
          <a:bodyPr wrap="square" rtlCol="0" anchor="ctr"/>
          <a:lstStyle/>
          <a:p>
            <a:pPr indent="0" marL="0">
              <a:buNone/>
            </a:pPr>
            <a:r>
              <a:rPr lang="en-US" sz="1200" dirty="0">
                <a:solidFill>
                  <a:srgbClr val="2E6B4F"/>
                </a:solidFill>
              </a:rPr>
              <a:t>Auteur: José-Philippe PEREZ  |  Édition: DUNOD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4332"/>
          </a:solidFill>
          <a:ln/>
        </p:spPr>
      </p:sp>
      <p:sp>
        <p:nvSpPr>
          <p:cNvPr id="3" name="Shape 1"/>
          <p:cNvSpPr/>
          <p:nvPr/>
        </p:nvSpPr>
        <p:spPr>
          <a:xfrm>
            <a:off x="0" y="0"/>
            <a:ext cx="3657600" cy="5143500"/>
          </a:xfrm>
          <a:prstGeom prst="rect">
            <a:avLst/>
          </a:prstGeom>
          <a:solidFill>
            <a:srgbClr val="122D1F"/>
          </a:solidFill>
          <a:ln/>
        </p:spPr>
      </p:sp>
      <p:sp>
        <p:nvSpPr>
          <p:cNvPr id="4" name="Text 2"/>
          <p:cNvSpPr/>
          <p:nvPr/>
        </p:nvSpPr>
        <p:spPr>
          <a:xfrm>
            <a:off x="457200" y="1371600"/>
            <a:ext cx="2743200" cy="457200"/>
          </a:xfrm>
          <a:prstGeom prst="rect">
            <a:avLst/>
          </a:prstGeom>
          <a:noFill/>
          <a:ln/>
        </p:spPr>
        <p:txBody>
          <a:bodyPr wrap="square" rtlCol="0" anchor="ctr"/>
          <a:lstStyle/>
          <a:p>
            <a:pPr indent="0" marL="0">
              <a:buNone/>
            </a:pPr>
            <a:r>
              <a:rPr lang="en-US" sz="1400" b="1" dirty="0">
                <a:solidFill>
                  <a:srgbClr val="DCBD74"/>
                </a:solidFill>
              </a:rPr>
              <a:t>SÉANCE 1</a:t>
            </a:r>
            <a:endParaRPr lang="en-US" sz="1400" dirty="0"/>
          </a:p>
        </p:txBody>
      </p:sp>
      <p:sp>
        <p:nvSpPr>
          <p:cNvPr id="5" name="Text 3"/>
          <p:cNvSpPr/>
          <p:nvPr/>
        </p:nvSpPr>
        <p:spPr>
          <a:xfrm>
            <a:off x="457200" y="1828800"/>
            <a:ext cx="2743200" cy="1645920"/>
          </a:xfrm>
          <a:prstGeom prst="rect">
            <a:avLst/>
          </a:prstGeom>
          <a:noFill/>
          <a:ln/>
        </p:spPr>
        <p:txBody>
          <a:bodyPr wrap="square" rtlCol="0" anchor="ctr"/>
          <a:lstStyle/>
          <a:p>
            <a:pPr indent="0" marL="0">
              <a:buNone/>
            </a:pPr>
            <a:r>
              <a:rPr lang="en-US" sz="2400" b="1" dirty="0">
                <a:solidFill>
                  <a:srgbClr val="FFFFFF"/>
                </a:solidFill>
              </a:rPr>
              <a:t>Concepts</a:t>
            </a:r>
            <a:endParaRPr lang="en-US" sz="2400" dirty="0"/>
          </a:p>
          <a:p>
            <a:pPr indent="0" marL="0">
              <a:buNone/>
            </a:pPr>
            <a:r>
              <a:rPr lang="en-US" sz="2400" b="1" dirty="0">
                <a:solidFill>
                  <a:srgbClr val="FFFFFF"/>
                </a:solidFill>
              </a:rPr>
              <a:t>Fondamentaux</a:t>
            </a:r>
            <a:endParaRPr lang="en-US" sz="2400" dirty="0"/>
          </a:p>
          <a:p>
            <a:pPr indent="0" marL="0">
              <a:buNone/>
            </a:pPr>
            <a:r>
              <a:rPr lang="en-US" sz="2400" b="1" dirty="0">
                <a:solidFill>
                  <a:srgbClr val="FFFFFF"/>
                </a:solidFill>
              </a:rPr>
              <a:t>de la</a:t>
            </a:r>
            <a:endParaRPr lang="en-US" sz="2400" dirty="0"/>
          </a:p>
          <a:p>
            <a:pPr indent="0" marL="0">
              <a:buNone/>
            </a:pPr>
            <a:r>
              <a:rPr lang="en-US" sz="2400" b="1" dirty="0">
                <a:solidFill>
                  <a:srgbClr val="FFFFFF"/>
                </a:solidFill>
              </a:rPr>
              <a:t>Thermodynamique</a:t>
            </a:r>
            <a:endParaRPr lang="en-US" sz="2400" dirty="0"/>
          </a:p>
        </p:txBody>
      </p:sp>
      <p:sp>
        <p:nvSpPr>
          <p:cNvPr id="6" name="Text 4"/>
          <p:cNvSpPr/>
          <p:nvPr/>
        </p:nvSpPr>
        <p:spPr>
          <a:xfrm>
            <a:off x="457200" y="3657600"/>
            <a:ext cx="2743200" cy="274320"/>
          </a:xfrm>
          <a:prstGeom prst="rect">
            <a:avLst/>
          </a:prstGeom>
          <a:noFill/>
          <a:ln/>
        </p:spPr>
        <p:txBody>
          <a:bodyPr wrap="square" rtlCol="0" anchor="ctr"/>
          <a:lstStyle/>
          <a:p>
            <a:pPr indent="0" marL="0">
              <a:buNone/>
            </a:pPr>
            <a:r>
              <a:rPr lang="en-US" sz="1200" dirty="0">
                <a:solidFill>
                  <a:srgbClr val="7EC8B0"/>
                </a:solidFill>
              </a:rPr>
              <a:t>2 heures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Introduction à la Thermodynamique</a:t>
            </a:r>
            <a:endParaRPr lang="en-US" sz="2200" dirty="0"/>
          </a:p>
        </p:txBody>
      </p:sp>
      <p:sp>
        <p:nvSpPr>
          <p:cNvPr id="4" name="Shape 2"/>
          <p:cNvSpPr/>
          <p:nvPr/>
        </p:nvSpPr>
        <p:spPr>
          <a:xfrm>
            <a:off x="612648" y="1005840"/>
            <a:ext cx="7918704" cy="1188720"/>
          </a:xfrm>
          <a:prstGeom prst="rect">
            <a:avLst/>
          </a:prstGeom>
          <a:solidFill>
            <a:srgbClr val="D8EEE2"/>
          </a:solidFill>
          <a:ln w="25400">
            <a:solidFill>
              <a:srgbClr val="DCBD74"/>
            </a:solidFill>
            <a:prstDash val="solid"/>
          </a:ln>
        </p:spPr>
      </p:sp>
      <p:sp>
        <p:nvSpPr>
          <p:cNvPr id="5" name="Text 3"/>
          <p:cNvSpPr/>
          <p:nvPr/>
        </p:nvSpPr>
        <p:spPr>
          <a:xfrm>
            <a:off x="795528" y="1097280"/>
            <a:ext cx="7552944" cy="274320"/>
          </a:xfrm>
          <a:prstGeom prst="rect">
            <a:avLst/>
          </a:prstGeom>
          <a:noFill/>
          <a:ln/>
        </p:spPr>
        <p:txBody>
          <a:bodyPr wrap="square" rtlCol="0" anchor="ctr"/>
          <a:lstStyle/>
          <a:p>
            <a:pPr indent="0" marL="0">
              <a:buNone/>
            </a:pPr>
            <a:r>
              <a:rPr lang="en-US" sz="1400" b="1" dirty="0">
                <a:solidFill>
                  <a:srgbClr val="1B4332"/>
                </a:solidFill>
              </a:rPr>
              <a:t>DÉFINITION</a:t>
            </a:r>
            <a:endParaRPr lang="en-US" sz="1400" dirty="0"/>
          </a:p>
        </p:txBody>
      </p:sp>
      <p:sp>
        <p:nvSpPr>
          <p:cNvPr id="6" name="Text 4"/>
          <p:cNvSpPr/>
          <p:nvPr/>
        </p:nvSpPr>
        <p:spPr>
          <a:xfrm>
            <a:off x="795528" y="1371600"/>
            <a:ext cx="7552944" cy="731520"/>
          </a:xfrm>
          <a:prstGeom prst="rect">
            <a:avLst/>
          </a:prstGeom>
          <a:noFill/>
          <a:ln/>
        </p:spPr>
        <p:txBody>
          <a:bodyPr wrap="square" rtlCol="0" anchor="ctr"/>
          <a:lstStyle/>
          <a:p>
            <a:pPr indent="0" marL="0">
              <a:buNone/>
            </a:pPr>
            <a:r>
              <a:rPr lang="en-US" sz="1300" dirty="0">
                <a:solidFill>
                  <a:srgbClr val="2E6B4F"/>
                </a:solidFill>
              </a:rPr>
              <a:t>La thermodynamique est la science qui étudie les transformations de la matière et de l'énergie. Elle est née vers 1820, au début de l'ère industrielle, de la nécessité de comprendre les relations entre les phénomènes thermiques et dynamiques dans les machines thermiques.</a:t>
            </a:r>
            <a:endParaRPr lang="en-US" sz="1300" dirty="0"/>
          </a:p>
        </p:txBody>
      </p:sp>
      <p:sp>
        <p:nvSpPr>
          <p:cNvPr id="7" name="Text 5"/>
          <p:cNvSpPr/>
          <p:nvPr/>
        </p:nvSpPr>
        <p:spPr>
          <a:xfrm>
            <a:off x="612648" y="2286000"/>
            <a:ext cx="7918704" cy="320040"/>
          </a:xfrm>
          <a:prstGeom prst="rect">
            <a:avLst/>
          </a:prstGeom>
          <a:noFill/>
          <a:ln/>
        </p:spPr>
        <p:txBody>
          <a:bodyPr wrap="square" rtlCol="0" anchor="ctr"/>
          <a:lstStyle/>
          <a:p>
            <a:pPr indent="0" marL="0">
              <a:buNone/>
            </a:pPr>
            <a:r>
              <a:rPr lang="en-US" sz="1500" b="1" dirty="0">
                <a:solidFill>
                  <a:srgbClr val="1B4332"/>
                </a:solidFill>
              </a:rPr>
              <a:t>Caractère universel :</a:t>
            </a:r>
            <a:endParaRPr lang="en-US" sz="1500" dirty="0"/>
          </a:p>
        </p:txBody>
      </p:sp>
      <p:sp>
        <p:nvSpPr>
          <p:cNvPr id="8" name="Text 6"/>
          <p:cNvSpPr/>
          <p:nvPr/>
        </p:nvSpPr>
        <p:spPr>
          <a:xfrm>
            <a:off x="612648" y="2651760"/>
            <a:ext cx="7918704" cy="914400"/>
          </a:xfrm>
          <a:prstGeom prst="rect">
            <a:avLst/>
          </a:prstGeom>
          <a:noFill/>
          <a:ln/>
        </p:spPr>
        <p:txBody>
          <a:bodyPr wrap="square" rtlCol="0" anchor="ctr"/>
          <a:lstStyle/>
          <a:p>
            <a:pPr indent="0" marL="0">
              <a:buNone/>
            </a:pPr>
            <a:r>
              <a:rPr lang="en-US" sz="1400" dirty="0">
                <a:solidFill>
                  <a:srgbClr val="2E6B4F"/>
                </a:solidFill>
              </a:rPr>
              <a:t>La thermodynamique possède un caractère universel. Toute théorie ne vérifiant pas les principes de la thermodynamique est mise en doute. Dans tous les phénomènes, organismes, dispositifs, machines, systèmes et procédés, il y a inévitablement conversion d'au moins une forme d'énergie en une autre.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22D1F"/>
          </a:solidFill>
          <a:ln/>
        </p:spPr>
      </p:sp>
      <p:sp>
        <p:nvSpPr>
          <p:cNvPr id="3" name="Shape 1"/>
          <p:cNvSpPr/>
          <p:nvPr/>
        </p:nvSpPr>
        <p:spPr>
          <a:xfrm>
            <a:off x="0" y="0"/>
            <a:ext cx="9144000" cy="54864"/>
          </a:xfrm>
          <a:prstGeom prst="rect">
            <a:avLst/>
          </a:prstGeom>
          <a:solidFill>
            <a:srgbClr val="DCBD74"/>
          </a:solidFill>
          <a:ln/>
        </p:spPr>
      </p:sp>
      <p:sp>
        <p:nvSpPr>
          <p:cNvPr id="4" name="Text 2"/>
          <p:cNvSpPr/>
          <p:nvPr/>
        </p:nvSpPr>
        <p:spPr>
          <a:xfrm>
            <a:off x="731520" y="1097280"/>
            <a:ext cx="7680960" cy="1371600"/>
          </a:xfrm>
          <a:prstGeom prst="rect">
            <a:avLst/>
          </a:prstGeom>
          <a:noFill/>
          <a:ln/>
        </p:spPr>
        <p:txBody>
          <a:bodyPr wrap="square" rtlCol="0" anchor="ctr"/>
          <a:lstStyle/>
          <a:p>
            <a:pPr algn="ctr" indent="0" marL="0">
              <a:buNone/>
            </a:pPr>
            <a:r>
              <a:rPr lang="en-US" sz="2000" i="1" dirty="0">
                <a:solidFill>
                  <a:srgbClr val="FFFFFF"/>
                </a:solidFill>
                <a:latin typeface="Microsoft YaHei" pitchFamily="34" charset="0"/>
                <a:ea typeface="Microsoft YaHei" pitchFamily="34" charset="-122"/>
                <a:cs typeface="Microsoft YaHei" pitchFamily="34" charset="-120"/>
              </a:rPr>
              <a:t>"Une théorie est d'autant plus impressionnante que les principes sur lesquels elle repose sont simples, qu'elle relie toutes sortes de choses différentes et que son champ d'application est vaste."</a:t>
            </a:r>
            <a:endParaRPr lang="en-US" sz="2000" dirty="0"/>
          </a:p>
        </p:txBody>
      </p:sp>
      <p:sp>
        <p:nvSpPr>
          <p:cNvPr id="5" name="Text 3"/>
          <p:cNvSpPr/>
          <p:nvPr/>
        </p:nvSpPr>
        <p:spPr>
          <a:xfrm>
            <a:off x="731520" y="2560320"/>
            <a:ext cx="7680960" cy="914400"/>
          </a:xfrm>
          <a:prstGeom prst="rect">
            <a:avLst/>
          </a:prstGeom>
          <a:noFill/>
          <a:ln/>
        </p:spPr>
        <p:txBody>
          <a:bodyPr wrap="square" rtlCol="0" anchor="ctr"/>
          <a:lstStyle/>
          <a:p>
            <a:pPr algn="ctr" indent="0" marL="0">
              <a:buNone/>
            </a:pPr>
            <a:r>
              <a:rPr lang="en-US" sz="1600" dirty="0">
                <a:solidFill>
                  <a:srgbClr val="7EC8B0"/>
                </a:solidFill>
                <a:latin typeface="Microsoft YaHei" pitchFamily="34" charset="0"/>
                <a:ea typeface="Microsoft YaHei" pitchFamily="34" charset="-122"/>
                <a:cs typeface="Microsoft YaHei" pitchFamily="34" charset="-120"/>
              </a:rPr>
              <a:t>« Par conséquent, la thermodynamique classique m'a fait une très grande impression. C'est la seule théorie physique à caractère universel dont je suis convaincu, compte tenu de l'application de ses concepts de base, qu'elle ne sera jamais contestée. »</a:t>
            </a:r>
            <a:endParaRPr lang="en-US" sz="1600" dirty="0"/>
          </a:p>
        </p:txBody>
      </p:sp>
      <p:sp>
        <p:nvSpPr>
          <p:cNvPr id="6" name="Text 4"/>
          <p:cNvSpPr/>
          <p:nvPr/>
        </p:nvSpPr>
        <p:spPr>
          <a:xfrm>
            <a:off x="731520" y="3657600"/>
            <a:ext cx="7680960" cy="365760"/>
          </a:xfrm>
          <a:prstGeom prst="rect">
            <a:avLst/>
          </a:prstGeom>
          <a:noFill/>
          <a:ln/>
        </p:spPr>
        <p:txBody>
          <a:bodyPr wrap="square" rtlCol="0" anchor="ctr"/>
          <a:lstStyle/>
          <a:p>
            <a:pPr algn="ctr" indent="0" marL="0">
              <a:buNone/>
            </a:pPr>
            <a:r>
              <a:rPr lang="en-US" sz="1400" b="1" dirty="0">
                <a:solidFill>
                  <a:srgbClr val="DCBD74"/>
                </a:solidFill>
                <a:latin typeface="Microsoft YaHei" pitchFamily="34" charset="0"/>
                <a:ea typeface="Microsoft YaHei" pitchFamily="34" charset="-122"/>
                <a:cs typeface="Microsoft YaHei" pitchFamily="34" charset="-120"/>
              </a:rPr>
              <a:t>— Albert Einstein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Approches en Thermodynamique</a:t>
            </a:r>
            <a:endParaRPr lang="en-US" sz="2200" dirty="0"/>
          </a:p>
        </p:txBody>
      </p:sp>
      <p:sp>
        <p:nvSpPr>
          <p:cNvPr id="4" name="Shape 2"/>
          <p:cNvSpPr/>
          <p:nvPr/>
        </p:nvSpPr>
        <p:spPr>
          <a:xfrm>
            <a:off x="612648" y="1005840"/>
            <a:ext cx="3657600" cy="3017520"/>
          </a:xfrm>
          <a:prstGeom prst="rect">
            <a:avLst/>
          </a:prstGeom>
          <a:solidFill>
            <a:srgbClr val="EEF7F1"/>
          </a:solidFill>
          <a:ln/>
        </p:spPr>
      </p:sp>
      <p:sp>
        <p:nvSpPr>
          <p:cNvPr id="5" name="Text 3"/>
          <p:cNvSpPr/>
          <p:nvPr/>
        </p:nvSpPr>
        <p:spPr>
          <a:xfrm>
            <a:off x="795528" y="1097280"/>
            <a:ext cx="3291840" cy="365760"/>
          </a:xfrm>
          <a:prstGeom prst="rect">
            <a:avLst/>
          </a:prstGeom>
          <a:noFill/>
          <a:ln/>
        </p:spPr>
        <p:txBody>
          <a:bodyPr wrap="square" rtlCol="0" anchor="ctr"/>
          <a:lstStyle/>
          <a:p>
            <a:pPr indent="0" marL="0">
              <a:buNone/>
            </a:pPr>
            <a:r>
              <a:rPr lang="en-US" sz="1600" b="1" dirty="0">
                <a:solidFill>
                  <a:srgbClr val="1B4332"/>
                </a:solidFill>
              </a:rPr>
              <a:t>Approche Macroscopique</a:t>
            </a:r>
            <a:endParaRPr lang="en-US" sz="1600" dirty="0"/>
          </a:p>
        </p:txBody>
      </p:sp>
      <p:sp>
        <p:nvSpPr>
          <p:cNvPr id="6" name="Text 4"/>
          <p:cNvSpPr/>
          <p:nvPr/>
        </p:nvSpPr>
        <p:spPr>
          <a:xfrm>
            <a:off x="795528" y="1508760"/>
            <a:ext cx="3291840" cy="2286000"/>
          </a:xfrm>
          <a:prstGeom prst="rect">
            <a:avLst/>
          </a:prstGeom>
          <a:noFill/>
          <a:ln/>
        </p:spPr>
        <p:txBody>
          <a:bodyPr wrap="square" rtlCol="0" anchor="ctr"/>
          <a:lstStyle/>
          <a:p>
            <a:pPr indent="0" marL="0">
              <a:buNone/>
            </a:pPr>
            <a:r>
              <a:rPr lang="en-US" sz="1200" dirty="0">
                <a:solidFill>
                  <a:srgbClr val="2E6B4F"/>
                </a:solidFill>
              </a:rPr>
              <a:t>Basée sur des grandeurs mesurables à grande échelle :</a:t>
            </a:r>
            <a:endParaRPr lang="en-US" sz="1200" dirty="0"/>
          </a:p>
          <a:p>
            <a:pPr indent="0" marL="0">
              <a:buNone/>
            </a:pPr>
            <a:endParaRPr lang="en-US" sz="1200" dirty="0"/>
          </a:p>
          <a:p>
            <a:pPr indent="0" marL="0">
              <a:buNone/>
            </a:pPr>
            <a:r>
              <a:rPr lang="en-US" sz="1200" dirty="0">
                <a:solidFill>
                  <a:srgbClr val="2E6B4F"/>
                </a:solidFill>
              </a:rPr>
              <a:t>• Pression P</a:t>
            </a:r>
            <a:endParaRPr lang="en-US" sz="1200" dirty="0"/>
          </a:p>
          <a:p>
            <a:pPr indent="0" marL="0">
              <a:buNone/>
            </a:pPr>
            <a:r>
              <a:rPr lang="en-US" sz="1200" dirty="0">
                <a:solidFill>
                  <a:srgbClr val="2E6B4F"/>
                </a:solidFill>
              </a:rPr>
              <a:t>• Volume V</a:t>
            </a:r>
            <a:endParaRPr lang="en-US" sz="1200" dirty="0"/>
          </a:p>
          <a:p>
            <a:pPr indent="0" marL="0">
              <a:buNone/>
            </a:pPr>
            <a:r>
              <a:rPr lang="en-US" sz="1200" dirty="0">
                <a:solidFill>
                  <a:srgbClr val="2E6B4F"/>
                </a:solidFill>
              </a:rPr>
              <a:t>• Température T</a:t>
            </a:r>
            <a:endParaRPr lang="en-US" sz="1200" dirty="0"/>
          </a:p>
          <a:p>
            <a:pPr indent="0" marL="0">
              <a:buNone/>
            </a:pPr>
            <a:r>
              <a:rPr lang="en-US" sz="1200" dirty="0">
                <a:solidFill>
                  <a:srgbClr val="2E6B4F"/>
                </a:solidFill>
              </a:rPr>
              <a:t>• Quantité de matière n</a:t>
            </a:r>
            <a:endParaRPr lang="en-US" sz="1200" dirty="0"/>
          </a:p>
          <a:p>
            <a:pPr indent="0" marL="0">
              <a:buNone/>
            </a:pPr>
            <a:endParaRPr lang="en-US" sz="1200" dirty="0"/>
          </a:p>
          <a:p>
            <a:pPr indent="0" marL="0">
              <a:buNone/>
            </a:pPr>
            <a:r>
              <a:rPr lang="en-US" sz="1200" dirty="0">
                <a:solidFill>
                  <a:srgbClr val="2E6B4F"/>
                </a:solidFill>
              </a:rPr>
              <a:t>Cette approche décrit le comportement d'ensemble du système sans se soucier du comportement individuel des particules.</a:t>
            </a:r>
            <a:endParaRPr lang="en-US" sz="1200" dirty="0"/>
          </a:p>
        </p:txBody>
      </p:sp>
      <p:sp>
        <p:nvSpPr>
          <p:cNvPr id="7" name="Shape 5"/>
          <p:cNvSpPr/>
          <p:nvPr/>
        </p:nvSpPr>
        <p:spPr>
          <a:xfrm>
            <a:off x="4873752" y="1005840"/>
            <a:ext cx="3657600" cy="3017520"/>
          </a:xfrm>
          <a:prstGeom prst="rect">
            <a:avLst/>
          </a:prstGeom>
          <a:solidFill>
            <a:srgbClr val="EEF7F1"/>
          </a:solidFill>
          <a:ln/>
        </p:spPr>
      </p:sp>
      <p:sp>
        <p:nvSpPr>
          <p:cNvPr id="8" name="Text 6"/>
          <p:cNvSpPr/>
          <p:nvPr/>
        </p:nvSpPr>
        <p:spPr>
          <a:xfrm>
            <a:off x="5056632" y="1097280"/>
            <a:ext cx="3291840" cy="365760"/>
          </a:xfrm>
          <a:prstGeom prst="rect">
            <a:avLst/>
          </a:prstGeom>
          <a:noFill/>
          <a:ln/>
        </p:spPr>
        <p:txBody>
          <a:bodyPr wrap="square" rtlCol="0" anchor="ctr"/>
          <a:lstStyle/>
          <a:p>
            <a:pPr indent="0" marL="0">
              <a:buNone/>
            </a:pPr>
            <a:r>
              <a:rPr lang="en-US" sz="1600" b="1" dirty="0">
                <a:solidFill>
                  <a:srgbClr val="1B4332"/>
                </a:solidFill>
              </a:rPr>
              <a:t>Approche Microscopique</a:t>
            </a:r>
            <a:endParaRPr lang="en-US" sz="1600" dirty="0"/>
          </a:p>
        </p:txBody>
      </p:sp>
      <p:sp>
        <p:nvSpPr>
          <p:cNvPr id="9" name="Text 7"/>
          <p:cNvSpPr/>
          <p:nvPr/>
        </p:nvSpPr>
        <p:spPr>
          <a:xfrm>
            <a:off x="5056632" y="1508760"/>
            <a:ext cx="3291840" cy="2286000"/>
          </a:xfrm>
          <a:prstGeom prst="rect">
            <a:avLst/>
          </a:prstGeom>
          <a:noFill/>
          <a:ln/>
        </p:spPr>
        <p:txBody>
          <a:bodyPr wrap="square" rtlCol="0" anchor="ctr"/>
          <a:lstStyle/>
          <a:p>
            <a:pPr indent="0" marL="0">
              <a:buNone/>
            </a:pPr>
            <a:r>
              <a:rPr lang="en-US" sz="1200" dirty="0">
                <a:solidFill>
                  <a:srgbClr val="2E6B4F"/>
                </a:solidFill>
              </a:rPr>
              <a:t>Analyse le comportement des particules élémentaires :</a:t>
            </a:r>
            <a:endParaRPr lang="en-US" sz="1200" dirty="0"/>
          </a:p>
          <a:p>
            <a:pPr indent="0" marL="0">
              <a:buNone/>
            </a:pPr>
            <a:endParaRPr lang="en-US" sz="1200" dirty="0"/>
          </a:p>
          <a:p>
            <a:pPr indent="0" marL="0">
              <a:buNone/>
            </a:pPr>
            <a:r>
              <a:rPr lang="en-US" sz="1200" dirty="0">
                <a:solidFill>
                  <a:srgbClr val="2E6B4F"/>
                </a:solidFill>
              </a:rPr>
              <a:t>• Positions des molécules</a:t>
            </a:r>
            <a:endParaRPr lang="en-US" sz="1200" dirty="0"/>
          </a:p>
          <a:p>
            <a:pPr indent="0" marL="0">
              <a:buNone/>
            </a:pPr>
            <a:r>
              <a:rPr lang="en-US" sz="1200" dirty="0">
                <a:solidFill>
                  <a:srgbClr val="2E6B4F"/>
                </a:solidFill>
              </a:rPr>
              <a:t>• Vitesses des molécules</a:t>
            </a:r>
            <a:endParaRPr lang="en-US" sz="1200" dirty="0"/>
          </a:p>
          <a:p>
            <a:pPr indent="0" marL="0">
              <a:buNone/>
            </a:pPr>
            <a:endParaRPr lang="en-US" sz="1200" dirty="0"/>
          </a:p>
          <a:p>
            <a:pPr indent="0" marL="0">
              <a:buNone/>
            </a:pPr>
            <a:r>
              <a:rPr lang="en-US" sz="1200" dirty="0">
                <a:solidFill>
                  <a:srgbClr val="2E6B4F"/>
                </a:solidFill>
              </a:rPr>
              <a:t>Appelée aussi thermodynamique statistique, elle permet de comprendre les phénomènes à l'échelle atomique et moléculaire.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Notion de Système Thermodynamique</a:t>
            </a:r>
            <a:endParaRPr lang="en-US" sz="2200" dirty="0"/>
          </a:p>
        </p:txBody>
      </p:sp>
      <p:sp>
        <p:nvSpPr>
          <p:cNvPr id="4" name="Shape 2"/>
          <p:cNvSpPr/>
          <p:nvPr/>
        </p:nvSpPr>
        <p:spPr>
          <a:xfrm>
            <a:off x="612648" y="1005840"/>
            <a:ext cx="7918704" cy="1371600"/>
          </a:xfrm>
          <a:prstGeom prst="rect">
            <a:avLst/>
          </a:prstGeom>
          <a:solidFill>
            <a:srgbClr val="D8EEE2"/>
          </a:solidFill>
          <a:ln w="25400">
            <a:solidFill>
              <a:srgbClr val="DCBD74"/>
            </a:solidFill>
            <a:prstDash val="solid"/>
          </a:ln>
        </p:spPr>
      </p:sp>
      <p:sp>
        <p:nvSpPr>
          <p:cNvPr id="5" name="Text 3"/>
          <p:cNvSpPr/>
          <p:nvPr/>
        </p:nvSpPr>
        <p:spPr>
          <a:xfrm>
            <a:off x="795528" y="1097280"/>
            <a:ext cx="7552944" cy="274320"/>
          </a:xfrm>
          <a:prstGeom prst="rect">
            <a:avLst/>
          </a:prstGeom>
          <a:noFill/>
          <a:ln/>
        </p:spPr>
        <p:txBody>
          <a:bodyPr wrap="square" rtlCol="0" anchor="ctr"/>
          <a:lstStyle/>
          <a:p>
            <a:pPr indent="0" marL="0">
              <a:buNone/>
            </a:pPr>
            <a:r>
              <a:rPr lang="en-US" sz="1400" b="1" dirty="0">
                <a:solidFill>
                  <a:srgbClr val="1B4332"/>
                </a:solidFill>
              </a:rPr>
              <a:t>DÉFINITION</a:t>
            </a:r>
            <a:endParaRPr lang="en-US" sz="1400" dirty="0"/>
          </a:p>
        </p:txBody>
      </p:sp>
      <p:sp>
        <p:nvSpPr>
          <p:cNvPr id="6" name="Text 4"/>
          <p:cNvSpPr/>
          <p:nvPr/>
        </p:nvSpPr>
        <p:spPr>
          <a:xfrm>
            <a:off x="795528" y="1371600"/>
            <a:ext cx="7552944" cy="914400"/>
          </a:xfrm>
          <a:prstGeom prst="rect">
            <a:avLst/>
          </a:prstGeom>
          <a:noFill/>
          <a:ln/>
        </p:spPr>
        <p:txBody>
          <a:bodyPr wrap="square" rtlCol="0" anchor="ctr"/>
          <a:lstStyle/>
          <a:p>
            <a:pPr indent="0" marL="0">
              <a:buNone/>
            </a:pPr>
            <a:r>
              <a:rPr lang="en-US" sz="1300" dirty="0">
                <a:solidFill>
                  <a:srgbClr val="2E6B4F"/>
                </a:solidFill>
              </a:rPr>
              <a:t>Un système thermodynamique est une partie de l'univers à laquelle on porte de l'intérêt. Il est constitué d'un grand nombre de particules microscopiques (atomes ou molécules) délimitées par une surface fixe ou mobile, fictive ou réelle, à travers laquelle sont susceptibles de s'effectuer des échanges d'énergie et de matière avec le milieu extérieur.</a:t>
            </a:r>
            <a:endParaRPr lang="en-US" sz="1300" dirty="0"/>
          </a:p>
        </p:txBody>
      </p:sp>
      <p:sp>
        <p:nvSpPr>
          <p:cNvPr id="7" name="Text 5"/>
          <p:cNvSpPr/>
          <p:nvPr/>
        </p:nvSpPr>
        <p:spPr>
          <a:xfrm>
            <a:off x="612648" y="2560320"/>
            <a:ext cx="7918704" cy="365760"/>
          </a:xfrm>
          <a:prstGeom prst="rect">
            <a:avLst/>
          </a:prstGeom>
          <a:noFill/>
          <a:ln/>
        </p:spPr>
        <p:txBody>
          <a:bodyPr wrap="square" rtlCol="0" anchor="ctr"/>
          <a:lstStyle/>
          <a:p>
            <a:pPr indent="0" marL="0">
              <a:buNone/>
            </a:pPr>
            <a:r>
              <a:rPr lang="en-US" sz="1400" dirty="0">
                <a:solidFill>
                  <a:srgbClr val="2E6B4F"/>
                </a:solidFill>
              </a:rPr>
              <a:t>Le reste de l'univers est appelé « milieu extérieur ». La frontière peut être :</a:t>
            </a:r>
            <a:endParaRPr lang="en-US" sz="1400" dirty="0"/>
          </a:p>
        </p:txBody>
      </p:sp>
      <p:sp>
        <p:nvSpPr>
          <p:cNvPr id="8" name="Shape 6"/>
          <p:cNvSpPr/>
          <p:nvPr/>
        </p:nvSpPr>
        <p:spPr>
          <a:xfrm>
            <a:off x="612648" y="3017520"/>
            <a:ext cx="36576" cy="365760"/>
          </a:xfrm>
          <a:prstGeom prst="rect">
            <a:avLst/>
          </a:prstGeom>
          <a:solidFill>
            <a:srgbClr val="DCBD74"/>
          </a:solidFill>
          <a:ln/>
        </p:spPr>
      </p:sp>
      <p:sp>
        <p:nvSpPr>
          <p:cNvPr id="9" name="Text 7"/>
          <p:cNvSpPr/>
          <p:nvPr/>
        </p:nvSpPr>
        <p:spPr>
          <a:xfrm>
            <a:off x="795528" y="3017520"/>
            <a:ext cx="7552944" cy="365760"/>
          </a:xfrm>
          <a:prstGeom prst="rect">
            <a:avLst/>
          </a:prstGeom>
          <a:noFill/>
          <a:ln/>
        </p:spPr>
        <p:txBody>
          <a:bodyPr wrap="square" rtlCol="0" anchor="ctr"/>
          <a:lstStyle/>
          <a:p>
            <a:pPr indent="0" marL="0">
              <a:buNone/>
            </a:pPr>
            <a:r>
              <a:rPr lang="en-US" sz="1300" dirty="0">
                <a:solidFill>
                  <a:srgbClr val="2E6B4F"/>
                </a:solidFill>
              </a:rPr>
              <a:t>Réalité physique : paroi matérielle (cylindre, membrane...)</a:t>
            </a:r>
            <a:endParaRPr lang="en-US" sz="1300" dirty="0"/>
          </a:p>
        </p:txBody>
      </p:sp>
      <p:sp>
        <p:nvSpPr>
          <p:cNvPr id="10" name="Shape 8"/>
          <p:cNvSpPr/>
          <p:nvPr/>
        </p:nvSpPr>
        <p:spPr>
          <a:xfrm>
            <a:off x="612648" y="3474720"/>
            <a:ext cx="36576" cy="365760"/>
          </a:xfrm>
          <a:prstGeom prst="rect">
            <a:avLst/>
          </a:prstGeom>
          <a:solidFill>
            <a:srgbClr val="DCBD74"/>
          </a:solidFill>
          <a:ln/>
        </p:spPr>
      </p:sp>
      <p:sp>
        <p:nvSpPr>
          <p:cNvPr id="11" name="Text 9"/>
          <p:cNvSpPr/>
          <p:nvPr/>
        </p:nvSpPr>
        <p:spPr>
          <a:xfrm>
            <a:off x="795528" y="3474720"/>
            <a:ext cx="7552944" cy="365760"/>
          </a:xfrm>
          <a:prstGeom prst="rect">
            <a:avLst/>
          </a:prstGeom>
          <a:noFill/>
          <a:ln/>
        </p:spPr>
        <p:txBody>
          <a:bodyPr wrap="square" rtlCol="0" anchor="ctr"/>
          <a:lstStyle/>
          <a:p>
            <a:pPr indent="0" marL="0">
              <a:buNone/>
            </a:pPr>
            <a:r>
              <a:rPr lang="en-US" sz="1300" dirty="0">
                <a:solidFill>
                  <a:srgbClr val="2E6B4F"/>
                </a:solidFill>
              </a:rPr>
              <a:t>Fictive : limite géométrique imaginaire délimitant une zone d'étude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Types de Systèmes Thermodynamiques</a:t>
            </a:r>
            <a:endParaRPr lang="en-US" sz="2200" dirty="0"/>
          </a:p>
        </p:txBody>
      </p:sp>
      <p:sp>
        <p:nvSpPr>
          <p:cNvPr id="4" name="Shape 2"/>
          <p:cNvSpPr/>
          <p:nvPr/>
        </p:nvSpPr>
        <p:spPr>
          <a:xfrm>
            <a:off x="612648" y="1005840"/>
            <a:ext cx="7918704" cy="914400"/>
          </a:xfrm>
          <a:prstGeom prst="rect">
            <a:avLst/>
          </a:prstGeom>
          <a:solidFill>
            <a:srgbClr val="EEF7F1"/>
          </a:solidFill>
          <a:ln w="25400">
            <a:solidFill>
              <a:srgbClr val="DCBD74"/>
            </a:solidFill>
            <a:prstDash val="solid"/>
          </a:ln>
        </p:spPr>
      </p:sp>
      <p:sp>
        <p:nvSpPr>
          <p:cNvPr id="5" name="Shape 3"/>
          <p:cNvSpPr/>
          <p:nvPr/>
        </p:nvSpPr>
        <p:spPr>
          <a:xfrm>
            <a:off x="612648" y="1005840"/>
            <a:ext cx="54864" cy="914400"/>
          </a:xfrm>
          <a:prstGeom prst="rect">
            <a:avLst/>
          </a:prstGeom>
          <a:solidFill>
            <a:srgbClr val="DCBD74"/>
          </a:solidFill>
          <a:ln/>
        </p:spPr>
      </p:sp>
      <p:sp>
        <p:nvSpPr>
          <p:cNvPr id="6" name="Text 4"/>
          <p:cNvSpPr/>
          <p:nvPr/>
        </p:nvSpPr>
        <p:spPr>
          <a:xfrm>
            <a:off x="822960" y="1097280"/>
            <a:ext cx="2743200" cy="320040"/>
          </a:xfrm>
          <a:prstGeom prst="rect">
            <a:avLst/>
          </a:prstGeom>
          <a:noFill/>
          <a:ln/>
        </p:spPr>
        <p:txBody>
          <a:bodyPr wrap="square" rtlCol="0" anchor="ctr"/>
          <a:lstStyle/>
          <a:p>
            <a:pPr indent="0" marL="0">
              <a:buNone/>
            </a:pPr>
            <a:r>
              <a:rPr lang="en-US" sz="1600" b="1" dirty="0">
                <a:solidFill>
                  <a:srgbClr val="1B4332"/>
                </a:solidFill>
              </a:rPr>
              <a:t>Système Ouvert</a:t>
            </a:r>
            <a:endParaRPr lang="en-US" sz="1600" dirty="0"/>
          </a:p>
        </p:txBody>
      </p:sp>
      <p:sp>
        <p:nvSpPr>
          <p:cNvPr id="7" name="Text 5"/>
          <p:cNvSpPr/>
          <p:nvPr/>
        </p:nvSpPr>
        <p:spPr>
          <a:xfrm>
            <a:off x="822960" y="1417320"/>
            <a:ext cx="3657600" cy="228600"/>
          </a:xfrm>
          <a:prstGeom prst="rect">
            <a:avLst/>
          </a:prstGeom>
          <a:noFill/>
          <a:ln/>
        </p:spPr>
        <p:txBody>
          <a:bodyPr wrap="square" rtlCol="0" anchor="ctr"/>
          <a:lstStyle/>
          <a:p>
            <a:pPr indent="0" marL="0">
              <a:buNone/>
            </a:pPr>
            <a:r>
              <a:rPr lang="en-US" sz="1300" dirty="0">
                <a:solidFill>
                  <a:srgbClr val="2E6B4F"/>
                </a:solidFill>
              </a:rPr>
              <a:t>Échange matière ET énergie</a:t>
            </a:r>
            <a:endParaRPr lang="en-US" sz="1300" dirty="0"/>
          </a:p>
        </p:txBody>
      </p:sp>
      <p:sp>
        <p:nvSpPr>
          <p:cNvPr id="8" name="Text 6"/>
          <p:cNvSpPr/>
          <p:nvPr/>
        </p:nvSpPr>
        <p:spPr>
          <a:xfrm>
            <a:off x="4572000" y="1325880"/>
            <a:ext cx="3657600" cy="320040"/>
          </a:xfrm>
          <a:prstGeom prst="rect">
            <a:avLst/>
          </a:prstGeom>
          <a:noFill/>
          <a:ln/>
        </p:spPr>
        <p:txBody>
          <a:bodyPr wrap="square" rtlCol="0" anchor="ctr"/>
          <a:lstStyle/>
          <a:p>
            <a:pPr indent="0" marL="0">
              <a:buNone/>
            </a:pPr>
            <a:r>
              <a:rPr lang="en-US" sz="1200" i="1" dirty="0">
                <a:solidFill>
                  <a:srgbClr val="60A882"/>
                </a:solidFill>
              </a:rPr>
              <a:t>Exemple : Bois qui brûle, moteur thermique</a:t>
            </a:r>
            <a:endParaRPr lang="en-US" sz="1200" dirty="0"/>
          </a:p>
        </p:txBody>
      </p:sp>
      <p:sp>
        <p:nvSpPr>
          <p:cNvPr id="9" name="Shape 7"/>
          <p:cNvSpPr/>
          <p:nvPr/>
        </p:nvSpPr>
        <p:spPr>
          <a:xfrm>
            <a:off x="612648" y="2057400"/>
            <a:ext cx="7918704" cy="914400"/>
          </a:xfrm>
          <a:prstGeom prst="rect">
            <a:avLst/>
          </a:prstGeom>
          <a:solidFill>
            <a:srgbClr val="EEF7F1"/>
          </a:solidFill>
          <a:ln w="25400">
            <a:solidFill>
              <a:srgbClr val="E18C70"/>
            </a:solidFill>
            <a:prstDash val="solid"/>
          </a:ln>
        </p:spPr>
      </p:sp>
      <p:sp>
        <p:nvSpPr>
          <p:cNvPr id="10" name="Shape 8"/>
          <p:cNvSpPr/>
          <p:nvPr/>
        </p:nvSpPr>
        <p:spPr>
          <a:xfrm>
            <a:off x="612648" y="2057400"/>
            <a:ext cx="54864" cy="914400"/>
          </a:xfrm>
          <a:prstGeom prst="rect">
            <a:avLst/>
          </a:prstGeom>
          <a:solidFill>
            <a:srgbClr val="E18C70"/>
          </a:solidFill>
          <a:ln/>
        </p:spPr>
      </p:sp>
      <p:sp>
        <p:nvSpPr>
          <p:cNvPr id="11" name="Text 9"/>
          <p:cNvSpPr/>
          <p:nvPr/>
        </p:nvSpPr>
        <p:spPr>
          <a:xfrm>
            <a:off x="822960" y="2148840"/>
            <a:ext cx="2743200" cy="320040"/>
          </a:xfrm>
          <a:prstGeom prst="rect">
            <a:avLst/>
          </a:prstGeom>
          <a:noFill/>
          <a:ln/>
        </p:spPr>
        <p:txBody>
          <a:bodyPr wrap="square" rtlCol="0" anchor="ctr"/>
          <a:lstStyle/>
          <a:p>
            <a:pPr indent="0" marL="0">
              <a:buNone/>
            </a:pPr>
            <a:r>
              <a:rPr lang="en-US" sz="1600" b="1" dirty="0">
                <a:solidFill>
                  <a:srgbClr val="1B4332"/>
                </a:solidFill>
              </a:rPr>
              <a:t>Système Fermé</a:t>
            </a:r>
            <a:endParaRPr lang="en-US" sz="1600" dirty="0"/>
          </a:p>
        </p:txBody>
      </p:sp>
      <p:sp>
        <p:nvSpPr>
          <p:cNvPr id="12" name="Text 10"/>
          <p:cNvSpPr/>
          <p:nvPr/>
        </p:nvSpPr>
        <p:spPr>
          <a:xfrm>
            <a:off x="822960" y="2468880"/>
            <a:ext cx="3657600" cy="228600"/>
          </a:xfrm>
          <a:prstGeom prst="rect">
            <a:avLst/>
          </a:prstGeom>
          <a:noFill/>
          <a:ln/>
        </p:spPr>
        <p:txBody>
          <a:bodyPr wrap="square" rtlCol="0" anchor="ctr"/>
          <a:lstStyle/>
          <a:p>
            <a:pPr indent="0" marL="0">
              <a:buNone/>
            </a:pPr>
            <a:r>
              <a:rPr lang="en-US" sz="1300" dirty="0">
                <a:solidFill>
                  <a:srgbClr val="2E6B4F"/>
                </a:solidFill>
              </a:rPr>
              <a:t>Échange d'énergie SEULEMENT</a:t>
            </a:r>
            <a:endParaRPr lang="en-US" sz="1300" dirty="0"/>
          </a:p>
        </p:txBody>
      </p:sp>
      <p:sp>
        <p:nvSpPr>
          <p:cNvPr id="13" name="Text 11"/>
          <p:cNvSpPr/>
          <p:nvPr/>
        </p:nvSpPr>
        <p:spPr>
          <a:xfrm>
            <a:off x="4572000" y="2377440"/>
            <a:ext cx="3657600" cy="320040"/>
          </a:xfrm>
          <a:prstGeom prst="rect">
            <a:avLst/>
          </a:prstGeom>
          <a:noFill/>
          <a:ln/>
        </p:spPr>
        <p:txBody>
          <a:bodyPr wrap="square" rtlCol="0" anchor="ctr"/>
          <a:lstStyle/>
          <a:p>
            <a:pPr indent="0" marL="0">
              <a:buNone/>
            </a:pPr>
            <a:r>
              <a:rPr lang="en-US" sz="1200" i="1" dirty="0">
                <a:solidFill>
                  <a:srgbClr val="60A882"/>
                </a:solidFill>
              </a:rPr>
              <a:t>Exemple : Gaz dans un cylindre, réfrigérateur</a:t>
            </a:r>
            <a:endParaRPr lang="en-US" sz="1200" dirty="0"/>
          </a:p>
        </p:txBody>
      </p:sp>
      <p:sp>
        <p:nvSpPr>
          <p:cNvPr id="14" name="Shape 12"/>
          <p:cNvSpPr/>
          <p:nvPr/>
        </p:nvSpPr>
        <p:spPr>
          <a:xfrm>
            <a:off x="612648" y="3108960"/>
            <a:ext cx="7918704" cy="914400"/>
          </a:xfrm>
          <a:prstGeom prst="rect">
            <a:avLst/>
          </a:prstGeom>
          <a:solidFill>
            <a:srgbClr val="EEF7F1"/>
          </a:solidFill>
          <a:ln w="25400">
            <a:solidFill>
              <a:srgbClr val="2E6B4F"/>
            </a:solidFill>
            <a:prstDash val="solid"/>
          </a:ln>
        </p:spPr>
      </p:sp>
      <p:sp>
        <p:nvSpPr>
          <p:cNvPr id="15" name="Shape 13"/>
          <p:cNvSpPr/>
          <p:nvPr/>
        </p:nvSpPr>
        <p:spPr>
          <a:xfrm>
            <a:off x="612648" y="3108960"/>
            <a:ext cx="54864" cy="914400"/>
          </a:xfrm>
          <a:prstGeom prst="rect">
            <a:avLst/>
          </a:prstGeom>
          <a:solidFill>
            <a:srgbClr val="2E6B4F"/>
          </a:solidFill>
          <a:ln/>
        </p:spPr>
      </p:sp>
      <p:sp>
        <p:nvSpPr>
          <p:cNvPr id="16" name="Text 14"/>
          <p:cNvSpPr/>
          <p:nvPr/>
        </p:nvSpPr>
        <p:spPr>
          <a:xfrm>
            <a:off x="822960" y="3200400"/>
            <a:ext cx="2743200" cy="320040"/>
          </a:xfrm>
          <a:prstGeom prst="rect">
            <a:avLst/>
          </a:prstGeom>
          <a:noFill/>
          <a:ln/>
        </p:spPr>
        <p:txBody>
          <a:bodyPr wrap="square" rtlCol="0" anchor="ctr"/>
          <a:lstStyle/>
          <a:p>
            <a:pPr indent="0" marL="0">
              <a:buNone/>
            </a:pPr>
            <a:r>
              <a:rPr lang="en-US" sz="1600" b="1" dirty="0">
                <a:solidFill>
                  <a:srgbClr val="1B4332"/>
                </a:solidFill>
              </a:rPr>
              <a:t>Système Isolé</a:t>
            </a:r>
            <a:endParaRPr lang="en-US" sz="1600" dirty="0"/>
          </a:p>
        </p:txBody>
      </p:sp>
      <p:sp>
        <p:nvSpPr>
          <p:cNvPr id="17" name="Text 15"/>
          <p:cNvSpPr/>
          <p:nvPr/>
        </p:nvSpPr>
        <p:spPr>
          <a:xfrm>
            <a:off x="822960" y="3520440"/>
            <a:ext cx="3657600" cy="228600"/>
          </a:xfrm>
          <a:prstGeom prst="rect">
            <a:avLst/>
          </a:prstGeom>
          <a:noFill/>
          <a:ln/>
        </p:spPr>
        <p:txBody>
          <a:bodyPr wrap="square" rtlCol="0" anchor="ctr"/>
          <a:lstStyle/>
          <a:p>
            <a:pPr indent="0" marL="0">
              <a:buNone/>
            </a:pPr>
            <a:r>
              <a:rPr lang="en-US" sz="1300" dirty="0">
                <a:solidFill>
                  <a:srgbClr val="2E6B4F"/>
                </a:solidFill>
              </a:rPr>
              <a:t>AUCUN échange</a:t>
            </a:r>
            <a:endParaRPr lang="en-US" sz="1300" dirty="0"/>
          </a:p>
        </p:txBody>
      </p:sp>
      <p:sp>
        <p:nvSpPr>
          <p:cNvPr id="18" name="Text 16"/>
          <p:cNvSpPr/>
          <p:nvPr/>
        </p:nvSpPr>
        <p:spPr>
          <a:xfrm>
            <a:off x="4572000" y="3429000"/>
            <a:ext cx="3657600" cy="320040"/>
          </a:xfrm>
          <a:prstGeom prst="rect">
            <a:avLst/>
          </a:prstGeom>
          <a:noFill/>
          <a:ln/>
        </p:spPr>
        <p:txBody>
          <a:bodyPr wrap="square" rtlCol="0" anchor="ctr"/>
          <a:lstStyle/>
          <a:p>
            <a:pPr indent="0" marL="0">
              <a:buNone/>
            </a:pPr>
            <a:r>
              <a:rPr lang="en-US" sz="1200" i="1" dirty="0">
                <a:solidFill>
                  <a:srgbClr val="60A882"/>
                </a:solidFill>
              </a:rPr>
              <a:t>Exemple : L'Univers (exemple unique)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Convention du Banquier - Signes des Échanges</a:t>
            </a:r>
            <a:endParaRPr lang="en-US" sz="2200" dirty="0"/>
          </a:p>
        </p:txBody>
      </p:sp>
      <p:sp>
        <p:nvSpPr>
          <p:cNvPr id="4" name="Text 2"/>
          <p:cNvSpPr/>
          <p:nvPr/>
        </p:nvSpPr>
        <p:spPr>
          <a:xfrm>
            <a:off x="612648" y="1005840"/>
            <a:ext cx="7918704" cy="457200"/>
          </a:xfrm>
          <a:prstGeom prst="rect">
            <a:avLst/>
          </a:prstGeom>
          <a:noFill/>
          <a:ln/>
        </p:spPr>
        <p:txBody>
          <a:bodyPr wrap="square" rtlCol="0" anchor="ctr"/>
          <a:lstStyle/>
          <a:p>
            <a:pPr indent="0" marL="0">
              <a:buNone/>
            </a:pPr>
            <a:r>
              <a:rPr lang="en-US" sz="1400" dirty="0">
                <a:solidFill>
                  <a:srgbClr val="2E6B4F"/>
                </a:solidFill>
              </a:rPr>
              <a:t>Les échanges d'énergie entre le système et le milieu extérieur s'effectuent par transfert de travail W ou de chaleur Q :</a:t>
            </a:r>
            <a:endParaRPr lang="en-US" sz="1400" dirty="0"/>
          </a:p>
        </p:txBody>
      </p:sp>
      <p:sp>
        <p:nvSpPr>
          <p:cNvPr id="5" name="Shape 3"/>
          <p:cNvSpPr/>
          <p:nvPr/>
        </p:nvSpPr>
        <p:spPr>
          <a:xfrm>
            <a:off x="612648" y="1554480"/>
            <a:ext cx="3657600" cy="1280160"/>
          </a:xfrm>
          <a:prstGeom prst="rect">
            <a:avLst/>
          </a:prstGeom>
          <a:solidFill>
            <a:srgbClr val="D8EEE2"/>
          </a:solidFill>
          <a:ln w="25400">
            <a:solidFill>
              <a:srgbClr val="7EC8B0"/>
            </a:solidFill>
            <a:prstDash val="solid"/>
          </a:ln>
        </p:spPr>
      </p:sp>
      <p:sp>
        <p:nvSpPr>
          <p:cNvPr id="6" name="Text 4"/>
          <p:cNvSpPr/>
          <p:nvPr/>
        </p:nvSpPr>
        <p:spPr>
          <a:xfrm>
            <a:off x="795528" y="1691640"/>
            <a:ext cx="3291840" cy="320040"/>
          </a:xfrm>
          <a:prstGeom prst="rect">
            <a:avLst/>
          </a:prstGeom>
          <a:noFill/>
          <a:ln/>
        </p:spPr>
        <p:txBody>
          <a:bodyPr wrap="square" rtlCol="0" anchor="ctr"/>
          <a:lstStyle/>
          <a:p>
            <a:pPr algn="ctr" indent="0" marL="0">
              <a:buNone/>
            </a:pPr>
            <a:r>
              <a:rPr lang="en-US" sz="1800" b="1" dirty="0">
                <a:solidFill>
                  <a:srgbClr val="1B4332"/>
                </a:solidFill>
              </a:rPr>
              <a:t>Q &gt; 0, W &gt; 0</a:t>
            </a:r>
            <a:endParaRPr lang="en-US" sz="1800" dirty="0"/>
          </a:p>
        </p:txBody>
      </p:sp>
      <p:sp>
        <p:nvSpPr>
          <p:cNvPr id="7" name="Text 5"/>
          <p:cNvSpPr/>
          <p:nvPr/>
        </p:nvSpPr>
        <p:spPr>
          <a:xfrm>
            <a:off x="795528" y="2103120"/>
            <a:ext cx="3291840" cy="640080"/>
          </a:xfrm>
          <a:prstGeom prst="rect">
            <a:avLst/>
          </a:prstGeom>
          <a:noFill/>
          <a:ln/>
        </p:spPr>
        <p:txBody>
          <a:bodyPr wrap="square" rtlCol="0" anchor="ctr"/>
          <a:lstStyle/>
          <a:p>
            <a:pPr algn="ctr" indent="0" marL="0">
              <a:buNone/>
            </a:pPr>
            <a:r>
              <a:rPr lang="en-US" sz="1200" dirty="0">
                <a:solidFill>
                  <a:srgbClr val="2E6B4F"/>
                </a:solidFill>
              </a:rPr>
              <a:t>Énergie REÇUE par le système</a:t>
            </a:r>
            <a:endParaRPr lang="en-US" sz="1200" dirty="0"/>
          </a:p>
          <a:p>
            <a:pPr algn="ctr" indent="0" marL="0">
              <a:buNone/>
            </a:pPr>
            <a:r>
              <a:rPr lang="en-US" sz="1200" dirty="0">
                <a:solidFill>
                  <a:srgbClr val="2E6B4F"/>
                </a:solidFill>
              </a:rPr>
              <a:t>Le système « s'enrichit »</a:t>
            </a:r>
            <a:endParaRPr lang="en-US" sz="1200" dirty="0"/>
          </a:p>
        </p:txBody>
      </p:sp>
      <p:sp>
        <p:nvSpPr>
          <p:cNvPr id="8" name="Shape 6"/>
          <p:cNvSpPr/>
          <p:nvPr/>
        </p:nvSpPr>
        <p:spPr>
          <a:xfrm>
            <a:off x="4873752" y="1554480"/>
            <a:ext cx="3657600" cy="1280160"/>
          </a:xfrm>
          <a:prstGeom prst="rect">
            <a:avLst/>
          </a:prstGeom>
          <a:solidFill>
            <a:srgbClr val="EEF7F1"/>
          </a:solidFill>
          <a:ln w="25400">
            <a:solidFill>
              <a:srgbClr val="E18C70"/>
            </a:solidFill>
            <a:prstDash val="solid"/>
          </a:ln>
        </p:spPr>
      </p:sp>
      <p:sp>
        <p:nvSpPr>
          <p:cNvPr id="9" name="Text 7"/>
          <p:cNvSpPr/>
          <p:nvPr/>
        </p:nvSpPr>
        <p:spPr>
          <a:xfrm>
            <a:off x="5056632" y="1691640"/>
            <a:ext cx="3291840" cy="320040"/>
          </a:xfrm>
          <a:prstGeom prst="rect">
            <a:avLst/>
          </a:prstGeom>
          <a:noFill/>
          <a:ln/>
        </p:spPr>
        <p:txBody>
          <a:bodyPr wrap="square" rtlCol="0" anchor="ctr"/>
          <a:lstStyle/>
          <a:p>
            <a:pPr algn="ctr" indent="0" marL="0">
              <a:buNone/>
            </a:pPr>
            <a:r>
              <a:rPr lang="en-US" sz="1800" b="1" dirty="0">
                <a:solidFill>
                  <a:srgbClr val="1B4332"/>
                </a:solidFill>
              </a:rPr>
              <a:t>Q &lt; 0, W &lt; 0</a:t>
            </a:r>
            <a:endParaRPr lang="en-US" sz="1800" dirty="0"/>
          </a:p>
        </p:txBody>
      </p:sp>
      <p:sp>
        <p:nvSpPr>
          <p:cNvPr id="10" name="Text 8"/>
          <p:cNvSpPr/>
          <p:nvPr/>
        </p:nvSpPr>
        <p:spPr>
          <a:xfrm>
            <a:off x="5056632" y="2103120"/>
            <a:ext cx="3291840" cy="640080"/>
          </a:xfrm>
          <a:prstGeom prst="rect">
            <a:avLst/>
          </a:prstGeom>
          <a:noFill/>
          <a:ln/>
        </p:spPr>
        <p:txBody>
          <a:bodyPr wrap="square" rtlCol="0" anchor="ctr"/>
          <a:lstStyle/>
          <a:p>
            <a:pPr algn="ctr" indent="0" marL="0">
              <a:buNone/>
            </a:pPr>
            <a:r>
              <a:rPr lang="en-US" sz="1200" dirty="0">
                <a:solidFill>
                  <a:srgbClr val="2E6B4F"/>
                </a:solidFill>
              </a:rPr>
              <a:t>Énergie CÉDÉE par le système</a:t>
            </a:r>
            <a:endParaRPr lang="en-US" sz="1200" dirty="0"/>
          </a:p>
          <a:p>
            <a:pPr algn="ctr" indent="0" marL="0">
              <a:buNone/>
            </a:pPr>
            <a:r>
              <a:rPr lang="en-US" sz="1200" dirty="0">
                <a:solidFill>
                  <a:srgbClr val="2E6B4F"/>
                </a:solidFill>
              </a:rPr>
              <a:t>Le système « s'appauvrit »</a:t>
            </a:r>
            <a:endParaRPr lang="en-US" sz="1200" dirty="0"/>
          </a:p>
        </p:txBody>
      </p:sp>
      <p:sp>
        <p:nvSpPr>
          <p:cNvPr id="11" name="Text 9"/>
          <p:cNvSpPr/>
          <p:nvPr/>
        </p:nvSpPr>
        <p:spPr>
          <a:xfrm>
            <a:off x="612648" y="3017520"/>
            <a:ext cx="7918704" cy="457200"/>
          </a:xfrm>
          <a:prstGeom prst="rect">
            <a:avLst/>
          </a:prstGeom>
          <a:noFill/>
          <a:ln/>
        </p:spPr>
        <p:txBody>
          <a:bodyPr wrap="square" rtlCol="0" anchor="ctr"/>
          <a:lstStyle/>
          <a:p>
            <a:pPr indent="0" marL="0">
              <a:buNone/>
            </a:pPr>
            <a:r>
              <a:rPr lang="en-US" sz="1300" i="1" dirty="0">
                <a:solidFill>
                  <a:srgbClr val="60A882"/>
                </a:solidFill>
              </a:rPr>
              <a:t>Analogie : Comme un compte bancaire, ce qui est reçu est positif (dépôt), ce qui est cédé est négatif (retrait).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Variables d'État et Équation d'État</a:t>
            </a:r>
            <a:endParaRPr lang="en-US" sz="2200" dirty="0"/>
          </a:p>
        </p:txBody>
      </p:sp>
      <p:sp>
        <p:nvSpPr>
          <p:cNvPr id="4" name="Shape 2"/>
          <p:cNvSpPr/>
          <p:nvPr/>
        </p:nvSpPr>
        <p:spPr>
          <a:xfrm>
            <a:off x="612648" y="1005840"/>
            <a:ext cx="7918704" cy="1005840"/>
          </a:xfrm>
          <a:prstGeom prst="rect">
            <a:avLst/>
          </a:prstGeom>
          <a:solidFill>
            <a:srgbClr val="D8EEE2"/>
          </a:solidFill>
          <a:ln w="25400">
            <a:solidFill>
              <a:srgbClr val="DCBD74"/>
            </a:solidFill>
            <a:prstDash val="solid"/>
          </a:ln>
        </p:spPr>
      </p:sp>
      <p:sp>
        <p:nvSpPr>
          <p:cNvPr id="5" name="Text 3"/>
          <p:cNvSpPr/>
          <p:nvPr/>
        </p:nvSpPr>
        <p:spPr>
          <a:xfrm>
            <a:off x="795528" y="1097280"/>
            <a:ext cx="7552944" cy="274320"/>
          </a:xfrm>
          <a:prstGeom prst="rect">
            <a:avLst/>
          </a:prstGeom>
          <a:noFill/>
          <a:ln/>
        </p:spPr>
        <p:txBody>
          <a:bodyPr wrap="square" rtlCol="0" anchor="ctr"/>
          <a:lstStyle/>
          <a:p>
            <a:pPr indent="0" marL="0">
              <a:buNone/>
            </a:pPr>
            <a:r>
              <a:rPr lang="en-US" sz="1400" b="1" dirty="0">
                <a:solidFill>
                  <a:srgbClr val="1B4332"/>
                </a:solidFill>
              </a:rPr>
              <a:t>DÉFINITION</a:t>
            </a:r>
            <a:endParaRPr lang="en-US" sz="1400" dirty="0"/>
          </a:p>
        </p:txBody>
      </p:sp>
      <p:sp>
        <p:nvSpPr>
          <p:cNvPr id="6" name="Text 4"/>
          <p:cNvSpPr/>
          <p:nvPr/>
        </p:nvSpPr>
        <p:spPr>
          <a:xfrm>
            <a:off x="795528" y="1371600"/>
            <a:ext cx="7552944" cy="548640"/>
          </a:xfrm>
          <a:prstGeom prst="rect">
            <a:avLst/>
          </a:prstGeom>
          <a:noFill/>
          <a:ln/>
        </p:spPr>
        <p:txBody>
          <a:bodyPr wrap="square" rtlCol="0" anchor="ctr"/>
          <a:lstStyle/>
          <a:p>
            <a:pPr indent="0" marL="0">
              <a:buNone/>
            </a:pPr>
            <a:r>
              <a:rPr lang="en-US" sz="1300" dirty="0">
                <a:solidFill>
                  <a:srgbClr val="2E6B4F"/>
                </a:solidFill>
              </a:rPr>
              <a:t>Ce sont des grandeurs mesurables (P, V, T, n...) capables de décrire complètement l'état d'un système à un instant donné.</a:t>
            </a:r>
            <a:endParaRPr lang="en-US" sz="1300" dirty="0"/>
          </a:p>
        </p:txBody>
      </p:sp>
      <p:sp>
        <p:nvSpPr>
          <p:cNvPr id="7" name="Text 5"/>
          <p:cNvSpPr/>
          <p:nvPr/>
        </p:nvSpPr>
        <p:spPr>
          <a:xfrm>
            <a:off x="612648" y="2194560"/>
            <a:ext cx="7918704" cy="365760"/>
          </a:xfrm>
          <a:prstGeom prst="rect">
            <a:avLst/>
          </a:prstGeom>
          <a:noFill/>
          <a:ln/>
        </p:spPr>
        <p:txBody>
          <a:bodyPr wrap="square" rtlCol="0" anchor="ctr"/>
          <a:lstStyle/>
          <a:p>
            <a:pPr indent="0" marL="0">
              <a:buNone/>
            </a:pPr>
            <a:r>
              <a:rPr lang="en-US" sz="1400" dirty="0">
                <a:solidFill>
                  <a:srgbClr val="2E6B4F"/>
                </a:solidFill>
              </a:rPr>
              <a:t>Les variables d'état ne sont pas toutes indépendantes. Elles peuvent être liées par une équation d'état :</a:t>
            </a:r>
            <a:endParaRPr lang="en-US" sz="1400" dirty="0"/>
          </a:p>
        </p:txBody>
      </p:sp>
      <p:sp>
        <p:nvSpPr>
          <p:cNvPr id="8" name="Shape 6"/>
          <p:cNvSpPr/>
          <p:nvPr/>
        </p:nvSpPr>
        <p:spPr>
          <a:xfrm>
            <a:off x="612648" y="2651760"/>
            <a:ext cx="7918704" cy="640080"/>
          </a:xfrm>
          <a:prstGeom prst="rect">
            <a:avLst/>
          </a:prstGeom>
          <a:solidFill>
            <a:srgbClr val="EEF7F1"/>
          </a:solidFill>
          <a:ln w="12700">
            <a:solidFill>
              <a:srgbClr val="A8D4BC"/>
            </a:solidFill>
            <a:prstDash val="solid"/>
          </a:ln>
        </p:spPr>
      </p:sp>
      <p:sp>
        <p:nvSpPr>
          <p:cNvPr id="9" name="Text 7"/>
          <p:cNvSpPr/>
          <p:nvPr/>
        </p:nvSpPr>
        <p:spPr>
          <a:xfrm>
            <a:off x="612648" y="2743200"/>
            <a:ext cx="7918704" cy="457200"/>
          </a:xfrm>
          <a:prstGeom prst="rect">
            <a:avLst/>
          </a:prstGeom>
          <a:noFill/>
          <a:ln/>
        </p:spPr>
        <p:txBody>
          <a:bodyPr wrap="square" rtlCol="0" anchor="ctr"/>
          <a:lstStyle/>
          <a:p>
            <a:pPr algn="ctr" indent="0" marL="0">
              <a:buNone/>
            </a:pPr>
            <a:r>
              <a:rPr lang="en-US" sz="2000" b="1" dirty="0">
                <a:solidFill>
                  <a:srgbClr val="1B4332"/>
                </a:solidFill>
                <a:latin typeface="Cambria Math" pitchFamily="34" charset="0"/>
                <a:ea typeface="Cambria Math" pitchFamily="34" charset="-122"/>
                <a:cs typeface="Cambria Math" pitchFamily="34" charset="-120"/>
              </a:rPr>
              <a:t>f(P, V, T, ...) = 0</a:t>
            </a:r>
            <a:endParaRPr lang="en-US" sz="2000" dirty="0"/>
          </a:p>
        </p:txBody>
      </p:sp>
      <p:sp>
        <p:nvSpPr>
          <p:cNvPr id="10" name="Text 8"/>
          <p:cNvSpPr/>
          <p:nvPr/>
        </p:nvSpPr>
        <p:spPr>
          <a:xfrm>
            <a:off x="612648" y="3474720"/>
            <a:ext cx="7918704" cy="365760"/>
          </a:xfrm>
          <a:prstGeom prst="rect">
            <a:avLst/>
          </a:prstGeom>
          <a:noFill/>
          <a:ln/>
        </p:spPr>
        <p:txBody>
          <a:bodyPr wrap="square" rtlCol="0" anchor="ctr"/>
          <a:lstStyle/>
          <a:p>
            <a:pPr indent="0" marL="0">
              <a:buNone/>
            </a:pPr>
            <a:r>
              <a:rPr lang="en-US" sz="1400" b="1" dirty="0">
                <a:solidFill>
                  <a:srgbClr val="1B4332"/>
                </a:solidFill>
              </a:rPr>
              <a:t>Exemple fondamental - Gaz Parfait : PV = nRT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Variables Extensives et Intensives</a:t>
            </a:r>
            <a:endParaRPr lang="en-US" sz="2200" dirty="0"/>
          </a:p>
        </p:txBody>
      </p:sp>
      <p:sp>
        <p:nvSpPr>
          <p:cNvPr id="4" name="Shape 2"/>
          <p:cNvSpPr/>
          <p:nvPr/>
        </p:nvSpPr>
        <p:spPr>
          <a:xfrm>
            <a:off x="612648" y="1005840"/>
            <a:ext cx="3657600" cy="3017520"/>
          </a:xfrm>
          <a:prstGeom prst="rect">
            <a:avLst/>
          </a:prstGeom>
          <a:solidFill>
            <a:srgbClr val="EEF7F1"/>
          </a:solidFill>
          <a:ln/>
        </p:spPr>
      </p:sp>
      <p:sp>
        <p:nvSpPr>
          <p:cNvPr id="5" name="Text 3"/>
          <p:cNvSpPr/>
          <p:nvPr/>
        </p:nvSpPr>
        <p:spPr>
          <a:xfrm>
            <a:off x="795528" y="1097280"/>
            <a:ext cx="3291840" cy="320040"/>
          </a:xfrm>
          <a:prstGeom prst="rect">
            <a:avLst/>
          </a:prstGeom>
          <a:noFill/>
          <a:ln/>
        </p:spPr>
        <p:txBody>
          <a:bodyPr wrap="square" rtlCol="0" anchor="ctr"/>
          <a:lstStyle/>
          <a:p>
            <a:pPr indent="0" marL="0">
              <a:buNone/>
            </a:pPr>
            <a:r>
              <a:rPr lang="en-US" sz="1600" b="1" dirty="0">
                <a:solidFill>
                  <a:srgbClr val="1B4332"/>
                </a:solidFill>
              </a:rPr>
              <a:t>Variables Extensives</a:t>
            </a:r>
            <a:endParaRPr lang="en-US" sz="1600" dirty="0"/>
          </a:p>
        </p:txBody>
      </p:sp>
      <p:sp>
        <p:nvSpPr>
          <p:cNvPr id="6" name="Text 4"/>
          <p:cNvSpPr/>
          <p:nvPr/>
        </p:nvSpPr>
        <p:spPr>
          <a:xfrm>
            <a:off x="795528" y="1463040"/>
            <a:ext cx="3291840" cy="2286000"/>
          </a:xfrm>
          <a:prstGeom prst="rect">
            <a:avLst/>
          </a:prstGeom>
          <a:noFill/>
          <a:ln/>
        </p:spPr>
        <p:txBody>
          <a:bodyPr wrap="square" rtlCol="0" anchor="ctr"/>
          <a:lstStyle/>
          <a:p>
            <a:pPr indent="0" marL="0">
              <a:buNone/>
            </a:pPr>
            <a:r>
              <a:rPr lang="en-US" sz="1200" dirty="0">
                <a:solidFill>
                  <a:srgbClr val="2E6B4F"/>
                </a:solidFill>
              </a:rPr>
              <a:t>Proportionnelles à la masse du système. Elles sont ADDITIVES.</a:t>
            </a:r>
            <a:endParaRPr lang="en-US" sz="1200" dirty="0"/>
          </a:p>
          <a:p>
            <a:pPr indent="0" marL="0">
              <a:buNone/>
            </a:pPr>
            <a:endParaRPr lang="en-US" sz="1200" dirty="0"/>
          </a:p>
          <a:p>
            <a:pPr indent="0" marL="0">
              <a:buNone/>
            </a:pPr>
            <a:r>
              <a:rPr lang="en-US" sz="1200" dirty="0">
                <a:solidFill>
                  <a:srgbClr val="2E6B4F"/>
                </a:solidFill>
              </a:rPr>
              <a:t>Exemples :</a:t>
            </a:r>
            <a:endParaRPr lang="en-US" sz="1200" dirty="0"/>
          </a:p>
          <a:p>
            <a:pPr indent="0" marL="0">
              <a:buNone/>
            </a:pPr>
            <a:r>
              <a:rPr lang="en-US" sz="1200" dirty="0">
                <a:solidFill>
                  <a:srgbClr val="2E6B4F"/>
                </a:solidFill>
              </a:rPr>
              <a:t>• Masse (m)</a:t>
            </a:r>
            <a:endParaRPr lang="en-US" sz="1200" dirty="0"/>
          </a:p>
          <a:p>
            <a:pPr indent="0" marL="0">
              <a:buNone/>
            </a:pPr>
            <a:r>
              <a:rPr lang="en-US" sz="1200" dirty="0">
                <a:solidFill>
                  <a:srgbClr val="2E6B4F"/>
                </a:solidFill>
              </a:rPr>
              <a:t>• Volume (V)</a:t>
            </a:r>
            <a:endParaRPr lang="en-US" sz="1200" dirty="0"/>
          </a:p>
          <a:p>
            <a:pPr indent="0" marL="0">
              <a:buNone/>
            </a:pPr>
            <a:r>
              <a:rPr lang="en-US" sz="1200" dirty="0">
                <a:solidFill>
                  <a:srgbClr val="2E6B4F"/>
                </a:solidFill>
              </a:rPr>
              <a:t>• Nombre de particules (N)</a:t>
            </a:r>
            <a:endParaRPr lang="en-US" sz="1200" dirty="0"/>
          </a:p>
          <a:p>
            <a:pPr indent="0" marL="0">
              <a:buNone/>
            </a:pPr>
            <a:r>
              <a:rPr lang="en-US" sz="1200" dirty="0">
                <a:solidFill>
                  <a:srgbClr val="2E6B4F"/>
                </a:solidFill>
              </a:rPr>
              <a:t>• Énergie interne (U)</a:t>
            </a:r>
            <a:endParaRPr lang="en-US" sz="1200" dirty="0"/>
          </a:p>
          <a:p>
            <a:pPr indent="0" marL="0">
              <a:buNone/>
            </a:pPr>
            <a:endParaRPr lang="en-US" sz="1200" dirty="0"/>
          </a:p>
          <a:p>
            <a:pPr indent="0" marL="0">
              <a:buNone/>
            </a:pPr>
            <a:r>
              <a:rPr lang="en-US" sz="1200" dirty="0">
                <a:solidFill>
                  <a:srgbClr val="2E6B4F"/>
                </a:solidFill>
              </a:rPr>
              <a:t>Si on double la masse, ces grandeurs doublent aussi.</a:t>
            </a:r>
            <a:endParaRPr lang="en-US" sz="1200" dirty="0"/>
          </a:p>
        </p:txBody>
      </p:sp>
      <p:sp>
        <p:nvSpPr>
          <p:cNvPr id="7" name="Shape 5"/>
          <p:cNvSpPr/>
          <p:nvPr/>
        </p:nvSpPr>
        <p:spPr>
          <a:xfrm>
            <a:off x="4873752" y="1005840"/>
            <a:ext cx="3657600" cy="3017520"/>
          </a:xfrm>
          <a:prstGeom prst="rect">
            <a:avLst/>
          </a:prstGeom>
          <a:solidFill>
            <a:srgbClr val="EEF7F1"/>
          </a:solidFill>
          <a:ln/>
        </p:spPr>
      </p:sp>
      <p:sp>
        <p:nvSpPr>
          <p:cNvPr id="8" name="Text 6"/>
          <p:cNvSpPr/>
          <p:nvPr/>
        </p:nvSpPr>
        <p:spPr>
          <a:xfrm>
            <a:off x="5056632" y="1097280"/>
            <a:ext cx="3291840" cy="320040"/>
          </a:xfrm>
          <a:prstGeom prst="rect">
            <a:avLst/>
          </a:prstGeom>
          <a:noFill/>
          <a:ln/>
        </p:spPr>
        <p:txBody>
          <a:bodyPr wrap="square" rtlCol="0" anchor="ctr"/>
          <a:lstStyle/>
          <a:p>
            <a:pPr indent="0" marL="0">
              <a:buNone/>
            </a:pPr>
            <a:r>
              <a:rPr lang="en-US" sz="1600" b="1" dirty="0">
                <a:solidFill>
                  <a:srgbClr val="1B4332"/>
                </a:solidFill>
              </a:rPr>
              <a:t>Variables Intensives</a:t>
            </a:r>
            <a:endParaRPr lang="en-US" sz="1600" dirty="0"/>
          </a:p>
        </p:txBody>
      </p:sp>
      <p:sp>
        <p:nvSpPr>
          <p:cNvPr id="9" name="Text 7"/>
          <p:cNvSpPr/>
          <p:nvPr/>
        </p:nvSpPr>
        <p:spPr>
          <a:xfrm>
            <a:off x="5056632" y="1463040"/>
            <a:ext cx="3291840" cy="2286000"/>
          </a:xfrm>
          <a:prstGeom prst="rect">
            <a:avLst/>
          </a:prstGeom>
          <a:noFill/>
          <a:ln/>
        </p:spPr>
        <p:txBody>
          <a:bodyPr wrap="square" rtlCol="0" anchor="ctr"/>
          <a:lstStyle/>
          <a:p>
            <a:pPr indent="0" marL="0">
              <a:buNone/>
            </a:pPr>
            <a:r>
              <a:rPr lang="en-US" sz="1200" dirty="0">
                <a:solidFill>
                  <a:srgbClr val="2E6B4F"/>
                </a:solidFill>
              </a:rPr>
              <a:t>Indépendantes de la masse du système. Elles ont la même valeur en tout point à l'équilibre.</a:t>
            </a:r>
            <a:endParaRPr lang="en-US" sz="1200" dirty="0"/>
          </a:p>
          <a:p>
            <a:pPr indent="0" marL="0">
              <a:buNone/>
            </a:pPr>
            <a:endParaRPr lang="en-US" sz="1200" dirty="0"/>
          </a:p>
          <a:p>
            <a:pPr indent="0" marL="0">
              <a:buNone/>
            </a:pPr>
            <a:r>
              <a:rPr lang="en-US" sz="1200" dirty="0">
                <a:solidFill>
                  <a:srgbClr val="2E6B4F"/>
                </a:solidFill>
              </a:rPr>
              <a:t>Exemples :</a:t>
            </a:r>
            <a:endParaRPr lang="en-US" sz="1200" dirty="0"/>
          </a:p>
          <a:p>
            <a:pPr indent="0" marL="0">
              <a:buNone/>
            </a:pPr>
            <a:r>
              <a:rPr lang="en-US" sz="1200" dirty="0">
                <a:solidFill>
                  <a:srgbClr val="2E6B4F"/>
                </a:solidFill>
              </a:rPr>
              <a:t>• Température (T)</a:t>
            </a:r>
            <a:endParaRPr lang="en-US" sz="1200" dirty="0"/>
          </a:p>
          <a:p>
            <a:pPr indent="0" marL="0">
              <a:buNone/>
            </a:pPr>
            <a:r>
              <a:rPr lang="en-US" sz="1200" dirty="0">
                <a:solidFill>
                  <a:srgbClr val="2E6B4F"/>
                </a:solidFill>
              </a:rPr>
              <a:t>• Pression (P)</a:t>
            </a:r>
            <a:endParaRPr lang="en-US" sz="1200" dirty="0"/>
          </a:p>
          <a:p>
            <a:pPr indent="0" marL="0">
              <a:buNone/>
            </a:pPr>
            <a:r>
              <a:rPr lang="en-US" sz="1200" dirty="0">
                <a:solidFill>
                  <a:srgbClr val="2E6B4F"/>
                </a:solidFill>
              </a:rPr>
              <a:t>• Masse volumique (ρ)</a:t>
            </a:r>
            <a:endParaRPr lang="en-US" sz="1200" dirty="0"/>
          </a:p>
          <a:p>
            <a:pPr indent="0" marL="0">
              <a:buNone/>
            </a:pPr>
            <a:endParaRPr lang="en-US" sz="1200" dirty="0"/>
          </a:p>
          <a:p>
            <a:pPr indent="0" marL="0">
              <a:buNone/>
            </a:pPr>
            <a:r>
              <a:rPr lang="en-US" sz="1200" dirty="0">
                <a:solidFill>
                  <a:srgbClr val="2E6B4F"/>
                </a:solidFill>
              </a:rPr>
              <a:t>Si on divise le système, ces grandeurs restent identiques.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Exemple Pratique : Extensif vs Intensif</a:t>
            </a:r>
            <a:endParaRPr lang="en-US" sz="2200" dirty="0"/>
          </a:p>
        </p:txBody>
      </p:sp>
      <p:sp>
        <p:nvSpPr>
          <p:cNvPr id="4" name="Shape 2"/>
          <p:cNvSpPr/>
          <p:nvPr/>
        </p:nvSpPr>
        <p:spPr>
          <a:xfrm>
            <a:off x="612648" y="1005840"/>
            <a:ext cx="7918704" cy="2011680"/>
          </a:xfrm>
          <a:prstGeom prst="rect">
            <a:avLst/>
          </a:prstGeom>
          <a:solidFill>
            <a:srgbClr val="EEF7F1"/>
          </a:solidFill>
          <a:ln/>
        </p:spPr>
      </p:sp>
      <p:sp>
        <p:nvSpPr>
          <p:cNvPr id="5" name="Text 3"/>
          <p:cNvSpPr/>
          <p:nvPr/>
        </p:nvSpPr>
        <p:spPr>
          <a:xfrm>
            <a:off x="914400" y="1097280"/>
            <a:ext cx="2286000" cy="274320"/>
          </a:xfrm>
          <a:prstGeom prst="rect">
            <a:avLst/>
          </a:prstGeom>
          <a:noFill/>
          <a:ln/>
        </p:spPr>
        <p:txBody>
          <a:bodyPr wrap="square" rtlCol="0" anchor="ctr"/>
          <a:lstStyle/>
          <a:p>
            <a:pPr algn="ctr" indent="0" marL="0">
              <a:buNone/>
            </a:pPr>
            <a:r>
              <a:rPr lang="en-US" sz="1200" b="1" dirty="0">
                <a:solidFill>
                  <a:srgbClr val="DCBD74"/>
                </a:solidFill>
              </a:rPr>
              <a:t>AVANT</a:t>
            </a:r>
            <a:endParaRPr lang="en-US" sz="1200" dirty="0"/>
          </a:p>
        </p:txBody>
      </p:sp>
      <p:sp>
        <p:nvSpPr>
          <p:cNvPr id="6" name="Shape 4"/>
          <p:cNvSpPr/>
          <p:nvPr/>
        </p:nvSpPr>
        <p:spPr>
          <a:xfrm>
            <a:off x="1097280" y="1463040"/>
            <a:ext cx="1828800" cy="914400"/>
          </a:xfrm>
          <a:prstGeom prst="rect">
            <a:avLst/>
          </a:prstGeom>
          <a:solidFill>
            <a:srgbClr val="7EC8B0"/>
          </a:solidFill>
          <a:ln w="12700">
            <a:solidFill>
              <a:srgbClr val="1B4332"/>
            </a:solidFill>
            <a:prstDash val="solid"/>
          </a:ln>
        </p:spPr>
      </p:sp>
      <p:sp>
        <p:nvSpPr>
          <p:cNvPr id="7" name="Text 5"/>
          <p:cNvSpPr/>
          <p:nvPr/>
        </p:nvSpPr>
        <p:spPr>
          <a:xfrm>
            <a:off x="1097280" y="1645920"/>
            <a:ext cx="1828800" cy="548640"/>
          </a:xfrm>
          <a:prstGeom prst="rect">
            <a:avLst/>
          </a:prstGeom>
          <a:noFill/>
          <a:ln/>
        </p:spPr>
        <p:txBody>
          <a:bodyPr wrap="square" rtlCol="0" anchor="ctr"/>
          <a:lstStyle/>
          <a:p>
            <a:pPr algn="ctr" indent="0" marL="0">
              <a:buNone/>
            </a:pPr>
            <a:r>
              <a:rPr lang="en-US" sz="1100" dirty="0">
                <a:solidFill>
                  <a:srgbClr val="1B4332"/>
                </a:solidFill>
              </a:rPr>
              <a:t>1 litre d'eau</a:t>
            </a:r>
            <a:endParaRPr lang="en-US" sz="1100" dirty="0"/>
          </a:p>
          <a:p>
            <a:pPr algn="ctr" indent="0" marL="0">
              <a:buNone/>
            </a:pPr>
            <a:r>
              <a:rPr lang="en-US" sz="1100" dirty="0">
                <a:solidFill>
                  <a:srgbClr val="1B4332"/>
                </a:solidFill>
              </a:rPr>
              <a:t>à 300 K</a:t>
            </a:r>
            <a:endParaRPr lang="en-US" sz="1100" dirty="0"/>
          </a:p>
        </p:txBody>
      </p:sp>
      <p:sp>
        <p:nvSpPr>
          <p:cNvPr id="8" name="Text 6"/>
          <p:cNvSpPr/>
          <p:nvPr/>
        </p:nvSpPr>
        <p:spPr>
          <a:xfrm>
            <a:off x="3108960" y="1737360"/>
            <a:ext cx="457200" cy="457200"/>
          </a:xfrm>
          <a:prstGeom prst="rect">
            <a:avLst/>
          </a:prstGeom>
          <a:noFill/>
          <a:ln/>
        </p:spPr>
        <p:txBody>
          <a:bodyPr wrap="square" rtlCol="0" anchor="ctr"/>
          <a:lstStyle/>
          <a:p>
            <a:pPr algn="ctr" indent="0" marL="0">
              <a:buNone/>
            </a:pPr>
            <a:r>
              <a:rPr lang="en-US" sz="2400" b="1" dirty="0">
                <a:solidFill>
                  <a:srgbClr val="2E6B4F"/>
                </a:solidFill>
              </a:rPr>
              <a:t>+</a:t>
            </a:r>
            <a:endParaRPr lang="en-US" sz="2400" dirty="0"/>
          </a:p>
        </p:txBody>
      </p:sp>
      <p:sp>
        <p:nvSpPr>
          <p:cNvPr id="9" name="Shape 7"/>
          <p:cNvSpPr/>
          <p:nvPr/>
        </p:nvSpPr>
        <p:spPr>
          <a:xfrm>
            <a:off x="3749040" y="1463040"/>
            <a:ext cx="1828800" cy="914400"/>
          </a:xfrm>
          <a:prstGeom prst="rect">
            <a:avLst/>
          </a:prstGeom>
          <a:solidFill>
            <a:srgbClr val="7EC8B0"/>
          </a:solidFill>
          <a:ln w="12700">
            <a:solidFill>
              <a:srgbClr val="1B4332"/>
            </a:solidFill>
            <a:prstDash val="solid"/>
          </a:ln>
        </p:spPr>
      </p:sp>
      <p:sp>
        <p:nvSpPr>
          <p:cNvPr id="10" name="Text 8"/>
          <p:cNvSpPr/>
          <p:nvPr/>
        </p:nvSpPr>
        <p:spPr>
          <a:xfrm>
            <a:off x="3749040" y="1645920"/>
            <a:ext cx="1828800" cy="548640"/>
          </a:xfrm>
          <a:prstGeom prst="rect">
            <a:avLst/>
          </a:prstGeom>
          <a:noFill/>
          <a:ln/>
        </p:spPr>
        <p:txBody>
          <a:bodyPr wrap="square" rtlCol="0" anchor="ctr"/>
          <a:lstStyle/>
          <a:p>
            <a:pPr algn="ctr" indent="0" marL="0">
              <a:buNone/>
            </a:pPr>
            <a:r>
              <a:rPr lang="en-US" sz="1100" dirty="0">
                <a:solidFill>
                  <a:srgbClr val="1B4332"/>
                </a:solidFill>
              </a:rPr>
              <a:t>1 litre d'eau</a:t>
            </a:r>
            <a:endParaRPr lang="en-US" sz="1100" dirty="0"/>
          </a:p>
          <a:p>
            <a:pPr algn="ctr" indent="0" marL="0">
              <a:buNone/>
            </a:pPr>
            <a:r>
              <a:rPr lang="en-US" sz="1100" dirty="0">
                <a:solidFill>
                  <a:srgbClr val="1B4332"/>
                </a:solidFill>
              </a:rPr>
              <a:t>à 300 K</a:t>
            </a:r>
            <a:endParaRPr lang="en-US" sz="1100" dirty="0"/>
          </a:p>
        </p:txBody>
      </p:sp>
      <p:sp>
        <p:nvSpPr>
          <p:cNvPr id="11" name="Text 9"/>
          <p:cNvSpPr/>
          <p:nvPr/>
        </p:nvSpPr>
        <p:spPr>
          <a:xfrm>
            <a:off x="5760720" y="1737360"/>
            <a:ext cx="457200" cy="457200"/>
          </a:xfrm>
          <a:prstGeom prst="rect">
            <a:avLst/>
          </a:prstGeom>
          <a:noFill/>
          <a:ln/>
        </p:spPr>
        <p:txBody>
          <a:bodyPr wrap="square" rtlCol="0" anchor="ctr"/>
          <a:lstStyle/>
          <a:p>
            <a:pPr algn="ctr" indent="0" marL="0">
              <a:buNone/>
            </a:pPr>
            <a:r>
              <a:rPr lang="en-US" sz="2400" b="1" dirty="0">
                <a:solidFill>
                  <a:srgbClr val="2E6B4F"/>
                </a:solidFill>
              </a:rPr>
              <a:t>→</a:t>
            </a:r>
            <a:endParaRPr lang="en-US" sz="2400" dirty="0"/>
          </a:p>
        </p:txBody>
      </p:sp>
      <p:sp>
        <p:nvSpPr>
          <p:cNvPr id="12" name="Text 10"/>
          <p:cNvSpPr/>
          <p:nvPr/>
        </p:nvSpPr>
        <p:spPr>
          <a:xfrm>
            <a:off x="6400800" y="1097280"/>
            <a:ext cx="1828800" cy="274320"/>
          </a:xfrm>
          <a:prstGeom prst="rect">
            <a:avLst/>
          </a:prstGeom>
          <a:noFill/>
          <a:ln/>
        </p:spPr>
        <p:txBody>
          <a:bodyPr wrap="square" rtlCol="0" anchor="ctr"/>
          <a:lstStyle/>
          <a:p>
            <a:pPr algn="ctr" indent="0" marL="0">
              <a:buNone/>
            </a:pPr>
            <a:r>
              <a:rPr lang="en-US" sz="1200" b="1" dirty="0">
                <a:solidFill>
                  <a:srgbClr val="DCBD74"/>
                </a:solidFill>
              </a:rPr>
              <a:t>APRÈS</a:t>
            </a:r>
            <a:endParaRPr lang="en-US" sz="1200" dirty="0"/>
          </a:p>
        </p:txBody>
      </p:sp>
      <p:sp>
        <p:nvSpPr>
          <p:cNvPr id="13" name="Shape 11"/>
          <p:cNvSpPr/>
          <p:nvPr/>
        </p:nvSpPr>
        <p:spPr>
          <a:xfrm>
            <a:off x="6400800" y="1463040"/>
            <a:ext cx="1828800" cy="914400"/>
          </a:xfrm>
          <a:prstGeom prst="rect">
            <a:avLst/>
          </a:prstGeom>
          <a:solidFill>
            <a:srgbClr val="7EC8B0"/>
          </a:solidFill>
          <a:ln w="12700">
            <a:solidFill>
              <a:srgbClr val="1B4332"/>
            </a:solidFill>
            <a:prstDash val="solid"/>
          </a:ln>
        </p:spPr>
      </p:sp>
      <p:sp>
        <p:nvSpPr>
          <p:cNvPr id="14" name="Text 12"/>
          <p:cNvSpPr/>
          <p:nvPr/>
        </p:nvSpPr>
        <p:spPr>
          <a:xfrm>
            <a:off x="6400800" y="1645920"/>
            <a:ext cx="1828800" cy="548640"/>
          </a:xfrm>
          <a:prstGeom prst="rect">
            <a:avLst/>
          </a:prstGeom>
          <a:noFill/>
          <a:ln/>
        </p:spPr>
        <p:txBody>
          <a:bodyPr wrap="square" rtlCol="0" anchor="ctr"/>
          <a:lstStyle/>
          <a:p>
            <a:pPr algn="ctr" indent="0" marL="0">
              <a:buNone/>
            </a:pPr>
            <a:r>
              <a:rPr lang="en-US" sz="1100" dirty="0">
                <a:solidFill>
                  <a:srgbClr val="1B4332"/>
                </a:solidFill>
              </a:rPr>
              <a:t>2 litres d'eau</a:t>
            </a:r>
            <a:endParaRPr lang="en-US" sz="1100" dirty="0"/>
          </a:p>
          <a:p>
            <a:pPr algn="ctr" indent="0" marL="0">
              <a:buNone/>
            </a:pPr>
            <a:r>
              <a:rPr lang="en-US" sz="1100" dirty="0">
                <a:solidFill>
                  <a:srgbClr val="1B4332"/>
                </a:solidFill>
              </a:rPr>
              <a:t>à 300 K</a:t>
            </a:r>
            <a:endParaRPr lang="en-US" sz="1100" dirty="0"/>
          </a:p>
        </p:txBody>
      </p:sp>
      <p:sp>
        <p:nvSpPr>
          <p:cNvPr id="15" name="Shape 13"/>
          <p:cNvSpPr/>
          <p:nvPr/>
        </p:nvSpPr>
        <p:spPr>
          <a:xfrm>
            <a:off x="612648" y="3200400"/>
            <a:ext cx="3657600" cy="640080"/>
          </a:xfrm>
          <a:prstGeom prst="rect">
            <a:avLst/>
          </a:prstGeom>
          <a:solidFill>
            <a:srgbClr val="D8EEE2"/>
          </a:solidFill>
          <a:ln w="12700">
            <a:solidFill>
              <a:srgbClr val="DCBD74"/>
            </a:solidFill>
            <a:prstDash val="solid"/>
          </a:ln>
        </p:spPr>
      </p:sp>
      <p:sp>
        <p:nvSpPr>
          <p:cNvPr id="16" name="Text 14"/>
          <p:cNvSpPr/>
          <p:nvPr/>
        </p:nvSpPr>
        <p:spPr>
          <a:xfrm>
            <a:off x="795528" y="3291840"/>
            <a:ext cx="3291840" cy="457200"/>
          </a:xfrm>
          <a:prstGeom prst="rect">
            <a:avLst/>
          </a:prstGeom>
          <a:noFill/>
          <a:ln/>
        </p:spPr>
        <p:txBody>
          <a:bodyPr wrap="square" rtlCol="0" anchor="ctr"/>
          <a:lstStyle/>
          <a:p>
            <a:pPr algn="ctr" indent="0" marL="0">
              <a:buNone/>
            </a:pPr>
            <a:r>
              <a:rPr lang="en-US" sz="1300" dirty="0">
                <a:solidFill>
                  <a:srgbClr val="1B4332"/>
                </a:solidFill>
              </a:rPr>
              <a:t>VOLUME (extensif)</a:t>
            </a:r>
            <a:endParaRPr lang="en-US" sz="1300" dirty="0"/>
          </a:p>
          <a:p>
            <a:pPr algn="ctr" indent="0" marL="0">
              <a:buNone/>
            </a:pPr>
            <a:r>
              <a:rPr lang="en-US" sz="1300" dirty="0">
                <a:solidFill>
                  <a:srgbClr val="1B4332"/>
                </a:solidFill>
              </a:rPr>
              <a:t>1 L + 1 L = 2 L</a:t>
            </a:r>
            <a:endParaRPr lang="en-US" sz="1300" dirty="0"/>
          </a:p>
        </p:txBody>
      </p:sp>
      <p:sp>
        <p:nvSpPr>
          <p:cNvPr id="17" name="Shape 15"/>
          <p:cNvSpPr/>
          <p:nvPr/>
        </p:nvSpPr>
        <p:spPr>
          <a:xfrm>
            <a:off x="4873752" y="3200400"/>
            <a:ext cx="3657600" cy="640080"/>
          </a:xfrm>
          <a:prstGeom prst="rect">
            <a:avLst/>
          </a:prstGeom>
          <a:solidFill>
            <a:srgbClr val="D8EEE2"/>
          </a:solidFill>
          <a:ln w="12700">
            <a:solidFill>
              <a:srgbClr val="DCBD74"/>
            </a:solidFill>
            <a:prstDash val="solid"/>
          </a:ln>
        </p:spPr>
      </p:sp>
      <p:sp>
        <p:nvSpPr>
          <p:cNvPr id="18" name="Text 16"/>
          <p:cNvSpPr/>
          <p:nvPr/>
        </p:nvSpPr>
        <p:spPr>
          <a:xfrm>
            <a:off x="5056632" y="3291840"/>
            <a:ext cx="3291840" cy="457200"/>
          </a:xfrm>
          <a:prstGeom prst="rect">
            <a:avLst/>
          </a:prstGeom>
          <a:noFill/>
          <a:ln/>
        </p:spPr>
        <p:txBody>
          <a:bodyPr wrap="square" rtlCol="0" anchor="ctr"/>
          <a:lstStyle/>
          <a:p>
            <a:pPr algn="ctr" indent="0" marL="0">
              <a:buNone/>
            </a:pPr>
            <a:r>
              <a:rPr lang="en-US" sz="1300" dirty="0">
                <a:solidFill>
                  <a:srgbClr val="1B4332"/>
                </a:solidFill>
              </a:rPr>
              <a:t>TEMPÉRATURE (intensive)</a:t>
            </a:r>
            <a:endParaRPr lang="en-US" sz="1300" dirty="0"/>
          </a:p>
          <a:p>
            <a:pPr algn="ctr" indent="0" marL="0">
              <a:buNone/>
            </a:pPr>
            <a:r>
              <a:rPr lang="en-US" sz="1300" dirty="0">
                <a:solidFill>
                  <a:srgbClr val="1B4332"/>
                </a:solidFill>
              </a:rPr>
              <a:t>300 K = 300 K (inchangée)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Fonctions d'État vs Fonctions de Transfert</a:t>
            </a:r>
            <a:endParaRPr lang="en-US" sz="2200" dirty="0"/>
          </a:p>
        </p:txBody>
      </p:sp>
      <p:sp>
        <p:nvSpPr>
          <p:cNvPr id="4" name="Shape 2"/>
          <p:cNvSpPr/>
          <p:nvPr/>
        </p:nvSpPr>
        <p:spPr>
          <a:xfrm>
            <a:off x="612648" y="1005840"/>
            <a:ext cx="7918704" cy="1005840"/>
          </a:xfrm>
          <a:prstGeom prst="rect">
            <a:avLst/>
          </a:prstGeom>
          <a:solidFill>
            <a:srgbClr val="D8EEE2"/>
          </a:solidFill>
          <a:ln w="25400">
            <a:solidFill>
              <a:srgbClr val="DCBD74"/>
            </a:solidFill>
            <a:prstDash val="solid"/>
          </a:ln>
        </p:spPr>
      </p:sp>
      <p:sp>
        <p:nvSpPr>
          <p:cNvPr id="5" name="Text 3"/>
          <p:cNvSpPr/>
          <p:nvPr/>
        </p:nvSpPr>
        <p:spPr>
          <a:xfrm>
            <a:off x="795528" y="1097280"/>
            <a:ext cx="7552944" cy="274320"/>
          </a:xfrm>
          <a:prstGeom prst="rect">
            <a:avLst/>
          </a:prstGeom>
          <a:noFill/>
          <a:ln/>
        </p:spPr>
        <p:txBody>
          <a:bodyPr wrap="square" rtlCol="0" anchor="ctr"/>
          <a:lstStyle/>
          <a:p>
            <a:pPr indent="0" marL="0">
              <a:buNone/>
            </a:pPr>
            <a:r>
              <a:rPr lang="en-US" sz="1400" b="1" dirty="0">
                <a:solidFill>
                  <a:srgbClr val="1B4332"/>
                </a:solidFill>
              </a:rPr>
              <a:t>DÉFINITION</a:t>
            </a:r>
            <a:endParaRPr lang="en-US" sz="1400" dirty="0"/>
          </a:p>
        </p:txBody>
      </p:sp>
      <p:sp>
        <p:nvSpPr>
          <p:cNvPr id="6" name="Text 4"/>
          <p:cNvSpPr/>
          <p:nvPr/>
        </p:nvSpPr>
        <p:spPr>
          <a:xfrm>
            <a:off x="795528" y="1371600"/>
            <a:ext cx="7552944" cy="548640"/>
          </a:xfrm>
          <a:prstGeom prst="rect">
            <a:avLst/>
          </a:prstGeom>
          <a:noFill/>
          <a:ln/>
        </p:spPr>
        <p:txBody>
          <a:bodyPr wrap="square" rtlCol="0" anchor="ctr"/>
          <a:lstStyle/>
          <a:p>
            <a:pPr indent="0" marL="0">
              <a:buNone/>
            </a:pPr>
            <a:r>
              <a:rPr lang="en-US" sz="1300" dirty="0">
                <a:solidFill>
                  <a:srgbClr val="2E6B4F"/>
                </a:solidFill>
              </a:rPr>
              <a:t>Une grandeur dont la variation entre deux états dépend uniquement des états initial et final, et NON du chemin suivi.</a:t>
            </a:r>
            <a:endParaRPr lang="en-US" sz="1300" dirty="0"/>
          </a:p>
        </p:txBody>
      </p:sp>
      <p:sp>
        <p:nvSpPr>
          <p:cNvPr id="7" name="Text 5"/>
          <p:cNvSpPr/>
          <p:nvPr/>
        </p:nvSpPr>
        <p:spPr>
          <a:xfrm>
            <a:off x="612648" y="2194560"/>
            <a:ext cx="3657600" cy="274320"/>
          </a:xfrm>
          <a:prstGeom prst="rect">
            <a:avLst/>
          </a:prstGeom>
          <a:noFill/>
          <a:ln/>
        </p:spPr>
        <p:txBody>
          <a:bodyPr wrap="square" rtlCol="0" anchor="ctr"/>
          <a:lstStyle/>
          <a:p>
            <a:pPr indent="0" marL="0">
              <a:buNone/>
            </a:pPr>
            <a:r>
              <a:rPr lang="en-US" sz="1400" b="1" dirty="0">
                <a:solidFill>
                  <a:srgbClr val="1B4332"/>
                </a:solidFill>
              </a:rPr>
              <a:t>Exemples de fonctions d'état :</a:t>
            </a:r>
            <a:endParaRPr lang="en-US" sz="1400" dirty="0"/>
          </a:p>
        </p:txBody>
      </p:sp>
      <p:sp>
        <p:nvSpPr>
          <p:cNvPr id="8" name="Text 6"/>
          <p:cNvSpPr/>
          <p:nvPr/>
        </p:nvSpPr>
        <p:spPr>
          <a:xfrm>
            <a:off x="612648" y="2514600"/>
            <a:ext cx="3657600" cy="731520"/>
          </a:xfrm>
          <a:prstGeom prst="rect">
            <a:avLst/>
          </a:prstGeom>
          <a:noFill/>
          <a:ln/>
        </p:spPr>
        <p:txBody>
          <a:bodyPr wrap="square" rtlCol="0" anchor="ctr"/>
          <a:lstStyle/>
          <a:p>
            <a:pPr indent="0" marL="0">
              <a:buNone/>
            </a:pPr>
            <a:r>
              <a:rPr lang="en-US" sz="1300" dirty="0">
                <a:solidFill>
                  <a:srgbClr val="2E6B4F"/>
                </a:solidFill>
              </a:rPr>
              <a:t>• Énergie interne (U)</a:t>
            </a:r>
            <a:endParaRPr lang="en-US" sz="1300" dirty="0"/>
          </a:p>
          <a:p>
            <a:pPr indent="0" marL="0">
              <a:buNone/>
            </a:pPr>
            <a:r>
              <a:rPr lang="en-US" sz="1300" dirty="0">
                <a:solidFill>
                  <a:srgbClr val="2E6B4F"/>
                </a:solidFill>
              </a:rPr>
              <a:t>• Enthalpie (H)</a:t>
            </a:r>
            <a:endParaRPr lang="en-US" sz="1300" dirty="0"/>
          </a:p>
          <a:p>
            <a:pPr indent="0" marL="0">
              <a:buNone/>
            </a:pPr>
            <a:r>
              <a:rPr lang="en-US" sz="1300" dirty="0">
                <a:solidFill>
                  <a:srgbClr val="2E6B4F"/>
                </a:solidFill>
              </a:rPr>
              <a:t>• Entropie (S)</a:t>
            </a:r>
            <a:endParaRPr lang="en-US" sz="1300" dirty="0"/>
          </a:p>
        </p:txBody>
      </p:sp>
      <p:sp>
        <p:nvSpPr>
          <p:cNvPr id="9" name="Text 7"/>
          <p:cNvSpPr/>
          <p:nvPr/>
        </p:nvSpPr>
        <p:spPr>
          <a:xfrm>
            <a:off x="4873752" y="2194560"/>
            <a:ext cx="3657600" cy="274320"/>
          </a:xfrm>
          <a:prstGeom prst="rect">
            <a:avLst/>
          </a:prstGeom>
          <a:noFill/>
          <a:ln/>
        </p:spPr>
        <p:txBody>
          <a:bodyPr wrap="square" rtlCol="0" anchor="ctr"/>
          <a:lstStyle/>
          <a:p>
            <a:pPr indent="0" marL="0">
              <a:buNone/>
            </a:pPr>
            <a:r>
              <a:rPr lang="en-US" sz="1400" b="1" dirty="0">
                <a:solidFill>
                  <a:srgbClr val="1B4332"/>
                </a:solidFill>
              </a:rPr>
              <a:t>Exemples de fonctions de transfert :</a:t>
            </a:r>
            <a:endParaRPr lang="en-US" sz="1400" dirty="0"/>
          </a:p>
        </p:txBody>
      </p:sp>
      <p:sp>
        <p:nvSpPr>
          <p:cNvPr id="10" name="Text 8"/>
          <p:cNvSpPr/>
          <p:nvPr/>
        </p:nvSpPr>
        <p:spPr>
          <a:xfrm>
            <a:off x="4873752" y="2514600"/>
            <a:ext cx="3657600" cy="731520"/>
          </a:xfrm>
          <a:prstGeom prst="rect">
            <a:avLst/>
          </a:prstGeom>
          <a:noFill/>
          <a:ln/>
        </p:spPr>
        <p:txBody>
          <a:bodyPr wrap="square" rtlCol="0" anchor="ctr"/>
          <a:lstStyle/>
          <a:p>
            <a:pPr indent="0" marL="0">
              <a:buNone/>
            </a:pPr>
            <a:r>
              <a:rPr lang="en-US" sz="1300" dirty="0">
                <a:solidFill>
                  <a:srgbClr val="2E6B4F"/>
                </a:solidFill>
              </a:rPr>
              <a:t>• Travail (W)</a:t>
            </a:r>
            <a:endParaRPr lang="en-US" sz="1300" dirty="0"/>
          </a:p>
          <a:p>
            <a:pPr indent="0" marL="0">
              <a:buNone/>
            </a:pPr>
            <a:r>
              <a:rPr lang="en-US" sz="1300" dirty="0">
                <a:solidFill>
                  <a:srgbClr val="2E6B4F"/>
                </a:solidFill>
              </a:rPr>
              <a:t>• Chaleur (Q)</a:t>
            </a:r>
            <a:endParaRPr lang="en-US" sz="1300" dirty="0"/>
          </a:p>
          <a:p>
            <a:pPr indent="0" marL="0">
              <a:buNone/>
            </a:pPr>
            <a:endParaRPr lang="en-US" sz="1300" dirty="0"/>
          </a:p>
          <a:p>
            <a:pPr indent="0" marL="0">
              <a:buNone/>
            </a:pPr>
            <a:r>
              <a:rPr lang="en-US" sz="1300" dirty="0">
                <a:solidFill>
                  <a:srgbClr val="2E6B4F"/>
                </a:solidFill>
              </a:rPr>
              <a:t>⚠️ Ces grandeurs dépendent du chemin !</a:t>
            </a:r>
            <a:endParaRPr lang="en-US" sz="1300" dirty="0"/>
          </a:p>
        </p:txBody>
      </p:sp>
      <p:sp>
        <p:nvSpPr>
          <p:cNvPr id="11" name="Shape 9"/>
          <p:cNvSpPr/>
          <p:nvPr/>
        </p:nvSpPr>
        <p:spPr>
          <a:xfrm>
            <a:off x="612648" y="3474720"/>
            <a:ext cx="7918704" cy="457200"/>
          </a:xfrm>
          <a:prstGeom prst="rect">
            <a:avLst/>
          </a:prstGeom>
          <a:solidFill>
            <a:srgbClr val="7EC8B0"/>
          </a:solidFill>
          <a:ln/>
        </p:spPr>
      </p:sp>
      <p:sp>
        <p:nvSpPr>
          <p:cNvPr id="12" name="Text 10"/>
          <p:cNvSpPr/>
          <p:nvPr/>
        </p:nvSpPr>
        <p:spPr>
          <a:xfrm>
            <a:off x="795528" y="3566160"/>
            <a:ext cx="7552944" cy="274320"/>
          </a:xfrm>
          <a:prstGeom prst="rect">
            <a:avLst/>
          </a:prstGeom>
          <a:noFill/>
          <a:ln/>
        </p:spPr>
        <p:txBody>
          <a:bodyPr wrap="square" rtlCol="0" anchor="ctr"/>
          <a:lstStyle/>
          <a:p>
            <a:pPr indent="0" marL="0">
              <a:buNone/>
            </a:pPr>
            <a:r>
              <a:rPr lang="en-US" sz="1300" b="1" dirty="0">
                <a:solidFill>
                  <a:srgbClr val="1B4332"/>
                </a:solidFill>
              </a:rPr>
              <a:t>Δf = f₂ - f₁ = Cste quelque soit le chemin suivi (fonction d'état)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Transformations Thermodynamiques</a:t>
            </a:r>
            <a:endParaRPr lang="en-US" sz="2200" dirty="0"/>
          </a:p>
        </p:txBody>
      </p:sp>
      <p:sp>
        <p:nvSpPr>
          <p:cNvPr id="4" name="Text 2"/>
          <p:cNvSpPr/>
          <p:nvPr/>
        </p:nvSpPr>
        <p:spPr>
          <a:xfrm>
            <a:off x="612648" y="1005840"/>
            <a:ext cx="7918704" cy="320040"/>
          </a:xfrm>
          <a:prstGeom prst="rect">
            <a:avLst/>
          </a:prstGeom>
          <a:noFill/>
          <a:ln/>
        </p:spPr>
        <p:txBody>
          <a:bodyPr wrap="square" rtlCol="0" anchor="ctr"/>
          <a:lstStyle/>
          <a:p>
            <a:pPr indent="0" marL="0">
              <a:buNone/>
            </a:pPr>
            <a:r>
              <a:rPr lang="en-US" sz="1400" dirty="0">
                <a:solidFill>
                  <a:srgbClr val="2E6B4F"/>
                </a:solidFill>
              </a:rPr>
              <a:t>Une transformation fait passer un système d'un état initial à un état final :</a:t>
            </a:r>
            <a:endParaRPr lang="en-US" sz="1400" dirty="0"/>
          </a:p>
        </p:txBody>
      </p:sp>
      <p:sp>
        <p:nvSpPr>
          <p:cNvPr id="5" name="Shape 3"/>
          <p:cNvSpPr/>
          <p:nvPr/>
        </p:nvSpPr>
        <p:spPr>
          <a:xfrm>
            <a:off x="612648" y="1417320"/>
            <a:ext cx="7918704" cy="731520"/>
          </a:xfrm>
          <a:prstGeom prst="rect">
            <a:avLst/>
          </a:prstGeom>
          <a:solidFill>
            <a:srgbClr val="EEF7F1"/>
          </a:solidFill>
          <a:ln w="12700">
            <a:solidFill>
              <a:srgbClr val="A8D4BC"/>
            </a:solidFill>
            <a:prstDash val="solid"/>
          </a:ln>
        </p:spPr>
      </p:sp>
      <p:sp>
        <p:nvSpPr>
          <p:cNvPr id="6" name="Text 4"/>
          <p:cNvSpPr/>
          <p:nvPr/>
        </p:nvSpPr>
        <p:spPr>
          <a:xfrm>
            <a:off x="795528" y="1508760"/>
            <a:ext cx="2286000" cy="274320"/>
          </a:xfrm>
          <a:prstGeom prst="rect">
            <a:avLst/>
          </a:prstGeom>
          <a:noFill/>
          <a:ln/>
        </p:spPr>
        <p:txBody>
          <a:bodyPr wrap="square" rtlCol="0" anchor="ctr"/>
          <a:lstStyle/>
          <a:p>
            <a:pPr indent="0" marL="0">
              <a:buNone/>
            </a:pPr>
            <a:r>
              <a:rPr lang="en-US" sz="1500" b="1" dirty="0">
                <a:solidFill>
                  <a:srgbClr val="1B4332"/>
                </a:solidFill>
              </a:rPr>
              <a:t>Quasi-statique</a:t>
            </a:r>
            <a:endParaRPr lang="en-US" sz="1500" dirty="0"/>
          </a:p>
        </p:txBody>
      </p:sp>
      <p:sp>
        <p:nvSpPr>
          <p:cNvPr id="7" name="Text 5"/>
          <p:cNvSpPr/>
          <p:nvPr/>
        </p:nvSpPr>
        <p:spPr>
          <a:xfrm>
            <a:off x="795528" y="1783080"/>
            <a:ext cx="7552944" cy="274320"/>
          </a:xfrm>
          <a:prstGeom prst="rect">
            <a:avLst/>
          </a:prstGeom>
          <a:noFill/>
          <a:ln/>
        </p:spPr>
        <p:txBody>
          <a:bodyPr wrap="square" rtlCol="0" anchor="ctr"/>
          <a:lstStyle/>
          <a:p>
            <a:pPr indent="0" marL="0">
              <a:buNone/>
            </a:pPr>
            <a:r>
              <a:rPr lang="en-US" sz="1200" dirty="0">
                <a:solidFill>
                  <a:srgbClr val="2E6B4F"/>
                </a:solidFill>
              </a:rPr>
              <a:t>Suite continue d'états d'équilibre. Variables définies à tout instant.</a:t>
            </a:r>
            <a:endParaRPr lang="en-US" sz="1200" dirty="0"/>
          </a:p>
        </p:txBody>
      </p:sp>
      <p:sp>
        <p:nvSpPr>
          <p:cNvPr id="8" name="Shape 6"/>
          <p:cNvSpPr/>
          <p:nvPr/>
        </p:nvSpPr>
        <p:spPr>
          <a:xfrm>
            <a:off x="612648" y="2240280"/>
            <a:ext cx="7918704" cy="731520"/>
          </a:xfrm>
          <a:prstGeom prst="rect">
            <a:avLst/>
          </a:prstGeom>
          <a:solidFill>
            <a:srgbClr val="EEF7F1"/>
          </a:solidFill>
          <a:ln w="12700">
            <a:solidFill>
              <a:srgbClr val="A8D4BC"/>
            </a:solidFill>
            <a:prstDash val="solid"/>
          </a:ln>
        </p:spPr>
      </p:sp>
      <p:sp>
        <p:nvSpPr>
          <p:cNvPr id="9" name="Text 7"/>
          <p:cNvSpPr/>
          <p:nvPr/>
        </p:nvSpPr>
        <p:spPr>
          <a:xfrm>
            <a:off x="795528" y="2331720"/>
            <a:ext cx="2286000" cy="274320"/>
          </a:xfrm>
          <a:prstGeom prst="rect">
            <a:avLst/>
          </a:prstGeom>
          <a:noFill/>
          <a:ln/>
        </p:spPr>
        <p:txBody>
          <a:bodyPr wrap="square" rtlCol="0" anchor="ctr"/>
          <a:lstStyle/>
          <a:p>
            <a:pPr indent="0" marL="0">
              <a:buNone/>
            </a:pPr>
            <a:r>
              <a:rPr lang="en-US" sz="1500" b="1" dirty="0">
                <a:solidFill>
                  <a:srgbClr val="1B4332"/>
                </a:solidFill>
              </a:rPr>
              <a:t>Réversible</a:t>
            </a:r>
            <a:endParaRPr lang="en-US" sz="1500" dirty="0"/>
          </a:p>
        </p:txBody>
      </p:sp>
      <p:sp>
        <p:nvSpPr>
          <p:cNvPr id="10" name="Text 8"/>
          <p:cNvSpPr/>
          <p:nvPr/>
        </p:nvSpPr>
        <p:spPr>
          <a:xfrm>
            <a:off x="795528" y="2606040"/>
            <a:ext cx="7552944" cy="274320"/>
          </a:xfrm>
          <a:prstGeom prst="rect">
            <a:avLst/>
          </a:prstGeom>
          <a:noFill/>
          <a:ln/>
        </p:spPr>
        <p:txBody>
          <a:bodyPr wrap="square" rtlCol="0" anchor="ctr"/>
          <a:lstStyle/>
          <a:p>
            <a:pPr indent="0" marL="0">
              <a:buNone/>
            </a:pPr>
            <a:r>
              <a:rPr lang="en-US" sz="1200" dirty="0">
                <a:solidFill>
                  <a:srgbClr val="2E6B4F"/>
                </a:solidFill>
              </a:rPr>
              <a:t>Succession d'états infiniment voisins. La transformation inverse passe par les mêmes états.</a:t>
            </a:r>
            <a:endParaRPr lang="en-US" sz="1200" dirty="0"/>
          </a:p>
        </p:txBody>
      </p:sp>
      <p:sp>
        <p:nvSpPr>
          <p:cNvPr id="11" name="Shape 9"/>
          <p:cNvSpPr/>
          <p:nvPr/>
        </p:nvSpPr>
        <p:spPr>
          <a:xfrm>
            <a:off x="612648" y="3063240"/>
            <a:ext cx="7918704" cy="731520"/>
          </a:xfrm>
          <a:prstGeom prst="rect">
            <a:avLst/>
          </a:prstGeom>
          <a:solidFill>
            <a:srgbClr val="EEF7F1"/>
          </a:solidFill>
          <a:ln w="12700">
            <a:solidFill>
              <a:srgbClr val="A8D4BC"/>
            </a:solidFill>
            <a:prstDash val="solid"/>
          </a:ln>
        </p:spPr>
      </p:sp>
      <p:sp>
        <p:nvSpPr>
          <p:cNvPr id="12" name="Text 10"/>
          <p:cNvSpPr/>
          <p:nvPr/>
        </p:nvSpPr>
        <p:spPr>
          <a:xfrm>
            <a:off x="795528" y="3154680"/>
            <a:ext cx="2286000" cy="274320"/>
          </a:xfrm>
          <a:prstGeom prst="rect">
            <a:avLst/>
          </a:prstGeom>
          <a:noFill/>
          <a:ln/>
        </p:spPr>
        <p:txBody>
          <a:bodyPr wrap="square" rtlCol="0" anchor="ctr"/>
          <a:lstStyle/>
          <a:p>
            <a:pPr indent="0" marL="0">
              <a:buNone/>
            </a:pPr>
            <a:r>
              <a:rPr lang="en-US" sz="1500" b="1" dirty="0">
                <a:solidFill>
                  <a:srgbClr val="1B4332"/>
                </a:solidFill>
              </a:rPr>
              <a:t>Irréversible</a:t>
            </a:r>
            <a:endParaRPr lang="en-US" sz="1500" dirty="0"/>
          </a:p>
        </p:txBody>
      </p:sp>
      <p:sp>
        <p:nvSpPr>
          <p:cNvPr id="13" name="Text 11"/>
          <p:cNvSpPr/>
          <p:nvPr/>
        </p:nvSpPr>
        <p:spPr>
          <a:xfrm>
            <a:off x="795528" y="3429000"/>
            <a:ext cx="7552944" cy="274320"/>
          </a:xfrm>
          <a:prstGeom prst="rect">
            <a:avLst/>
          </a:prstGeom>
          <a:noFill/>
          <a:ln/>
        </p:spPr>
        <p:txBody>
          <a:bodyPr wrap="square" rtlCol="0" anchor="ctr"/>
          <a:lstStyle/>
          <a:p>
            <a:pPr indent="0" marL="0">
              <a:buNone/>
            </a:pPr>
            <a:r>
              <a:rPr lang="en-US" sz="1200" dirty="0">
                <a:solidFill>
                  <a:srgbClr val="2E6B4F"/>
                </a:solidFill>
              </a:rPr>
              <a:t>Transformation brutale ou spontanée. États intermédiaires non définis.</a:t>
            </a:r>
            <a:endParaRPr lang="en-US" sz="1200" dirty="0"/>
          </a:p>
        </p:txBody>
      </p:sp>
      <p:sp>
        <p:nvSpPr>
          <p:cNvPr id="14" name="Text 12"/>
          <p:cNvSpPr/>
          <p:nvPr/>
        </p:nvSpPr>
        <p:spPr>
          <a:xfrm>
            <a:off x="612648" y="3931920"/>
            <a:ext cx="7918704" cy="274320"/>
          </a:xfrm>
          <a:prstGeom prst="rect">
            <a:avLst/>
          </a:prstGeom>
          <a:noFill/>
          <a:ln/>
        </p:spPr>
        <p:txBody>
          <a:bodyPr wrap="square" rtlCol="0" anchor="ctr"/>
          <a:lstStyle/>
          <a:p>
            <a:pPr indent="0" marL="0">
              <a:buNone/>
            </a:pPr>
            <a:r>
              <a:rPr lang="en-US" sz="1200" i="1" dirty="0">
                <a:solidFill>
                  <a:srgbClr val="E18C70"/>
                </a:solidFill>
              </a:rPr>
              <a:t>Important : Une transformation quasi-statique n'est pas nécessairement réversible !</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Transformations Particulières</a:t>
            </a:r>
            <a:endParaRPr lang="en-US" sz="2200" dirty="0"/>
          </a:p>
        </p:txBody>
      </p:sp>
      <p:sp>
        <p:nvSpPr>
          <p:cNvPr id="4" name="Shape 2"/>
          <p:cNvSpPr/>
          <p:nvPr/>
        </p:nvSpPr>
        <p:spPr>
          <a:xfrm>
            <a:off x="612648" y="1005840"/>
            <a:ext cx="2560320" cy="1188720"/>
          </a:xfrm>
          <a:prstGeom prst="rect">
            <a:avLst/>
          </a:prstGeom>
          <a:solidFill>
            <a:srgbClr val="EEF7F1"/>
          </a:solidFill>
          <a:ln w="25400">
            <a:solidFill>
              <a:srgbClr val="DCBD74"/>
            </a:solidFill>
            <a:prstDash val="solid"/>
          </a:ln>
        </p:spPr>
      </p:sp>
      <p:sp>
        <p:nvSpPr>
          <p:cNvPr id="5" name="Text 3"/>
          <p:cNvSpPr/>
          <p:nvPr/>
        </p:nvSpPr>
        <p:spPr>
          <a:xfrm>
            <a:off x="704088" y="1097280"/>
            <a:ext cx="2377440" cy="320040"/>
          </a:xfrm>
          <a:prstGeom prst="rect">
            <a:avLst/>
          </a:prstGeom>
          <a:noFill/>
          <a:ln/>
        </p:spPr>
        <p:txBody>
          <a:bodyPr wrap="square" rtlCol="0" anchor="ctr"/>
          <a:lstStyle/>
          <a:p>
            <a:pPr algn="ctr" indent="0" marL="0">
              <a:buNone/>
            </a:pPr>
            <a:r>
              <a:rPr lang="en-US" sz="1400" b="1" dirty="0">
                <a:solidFill>
                  <a:srgbClr val="1B4332"/>
                </a:solidFill>
              </a:rPr>
              <a:t>Isochore</a:t>
            </a:r>
            <a:endParaRPr lang="en-US" sz="1400" dirty="0"/>
          </a:p>
        </p:txBody>
      </p:sp>
      <p:sp>
        <p:nvSpPr>
          <p:cNvPr id="6" name="Text 4"/>
          <p:cNvSpPr/>
          <p:nvPr/>
        </p:nvSpPr>
        <p:spPr>
          <a:xfrm>
            <a:off x="704088" y="1463040"/>
            <a:ext cx="2377440" cy="274320"/>
          </a:xfrm>
          <a:prstGeom prst="rect">
            <a:avLst/>
          </a:prstGeom>
          <a:noFill/>
          <a:ln/>
        </p:spPr>
        <p:txBody>
          <a:bodyPr wrap="square" rtlCol="0" anchor="ctr"/>
          <a:lstStyle/>
          <a:p>
            <a:pPr algn="ctr" indent="0" marL="0">
              <a:buNone/>
            </a:pPr>
            <a:r>
              <a:rPr lang="en-US" sz="1300" b="1" dirty="0">
                <a:solidFill>
                  <a:srgbClr val="DCBD74"/>
                </a:solidFill>
              </a:rPr>
              <a:t>V = Cste</a:t>
            </a:r>
            <a:endParaRPr lang="en-US" sz="1300" dirty="0"/>
          </a:p>
        </p:txBody>
      </p:sp>
      <p:sp>
        <p:nvSpPr>
          <p:cNvPr id="7" name="Text 5"/>
          <p:cNvSpPr/>
          <p:nvPr/>
        </p:nvSpPr>
        <p:spPr>
          <a:xfrm>
            <a:off x="704088" y="1783080"/>
            <a:ext cx="2377440" cy="274320"/>
          </a:xfrm>
          <a:prstGeom prst="rect">
            <a:avLst/>
          </a:prstGeom>
          <a:noFill/>
          <a:ln/>
        </p:spPr>
        <p:txBody>
          <a:bodyPr wrap="square" rtlCol="0" anchor="ctr"/>
          <a:lstStyle/>
          <a:p>
            <a:pPr algn="ctr" indent="0" marL="0">
              <a:buNone/>
            </a:pPr>
            <a:r>
              <a:rPr lang="en-US" sz="1100" dirty="0">
                <a:solidFill>
                  <a:srgbClr val="2E6B4F"/>
                </a:solidFill>
              </a:rPr>
              <a:t>Volume constant</a:t>
            </a:r>
            <a:endParaRPr lang="en-US" sz="1100" dirty="0"/>
          </a:p>
        </p:txBody>
      </p:sp>
      <p:sp>
        <p:nvSpPr>
          <p:cNvPr id="8" name="Shape 6"/>
          <p:cNvSpPr/>
          <p:nvPr/>
        </p:nvSpPr>
        <p:spPr>
          <a:xfrm>
            <a:off x="3355848" y="1005840"/>
            <a:ext cx="2560320" cy="1188720"/>
          </a:xfrm>
          <a:prstGeom prst="rect">
            <a:avLst/>
          </a:prstGeom>
          <a:solidFill>
            <a:srgbClr val="EEF7F1"/>
          </a:solidFill>
          <a:ln w="25400">
            <a:solidFill>
              <a:srgbClr val="DCBD74"/>
            </a:solidFill>
            <a:prstDash val="solid"/>
          </a:ln>
        </p:spPr>
      </p:sp>
      <p:sp>
        <p:nvSpPr>
          <p:cNvPr id="9" name="Text 7"/>
          <p:cNvSpPr/>
          <p:nvPr/>
        </p:nvSpPr>
        <p:spPr>
          <a:xfrm>
            <a:off x="3447288" y="1097280"/>
            <a:ext cx="2377440" cy="320040"/>
          </a:xfrm>
          <a:prstGeom prst="rect">
            <a:avLst/>
          </a:prstGeom>
          <a:noFill/>
          <a:ln/>
        </p:spPr>
        <p:txBody>
          <a:bodyPr wrap="square" rtlCol="0" anchor="ctr"/>
          <a:lstStyle/>
          <a:p>
            <a:pPr algn="ctr" indent="0" marL="0">
              <a:buNone/>
            </a:pPr>
            <a:r>
              <a:rPr lang="en-US" sz="1400" b="1" dirty="0">
                <a:solidFill>
                  <a:srgbClr val="1B4332"/>
                </a:solidFill>
              </a:rPr>
              <a:t>Isobare</a:t>
            </a:r>
            <a:endParaRPr lang="en-US" sz="1400" dirty="0"/>
          </a:p>
        </p:txBody>
      </p:sp>
      <p:sp>
        <p:nvSpPr>
          <p:cNvPr id="10" name="Text 8"/>
          <p:cNvSpPr/>
          <p:nvPr/>
        </p:nvSpPr>
        <p:spPr>
          <a:xfrm>
            <a:off x="3447288" y="1463040"/>
            <a:ext cx="2377440" cy="274320"/>
          </a:xfrm>
          <a:prstGeom prst="rect">
            <a:avLst/>
          </a:prstGeom>
          <a:noFill/>
          <a:ln/>
        </p:spPr>
        <p:txBody>
          <a:bodyPr wrap="square" rtlCol="0" anchor="ctr"/>
          <a:lstStyle/>
          <a:p>
            <a:pPr algn="ctr" indent="0" marL="0">
              <a:buNone/>
            </a:pPr>
            <a:r>
              <a:rPr lang="en-US" sz="1300" b="1" dirty="0">
                <a:solidFill>
                  <a:srgbClr val="DCBD74"/>
                </a:solidFill>
              </a:rPr>
              <a:t>P = Cste</a:t>
            </a:r>
            <a:endParaRPr lang="en-US" sz="1300" dirty="0"/>
          </a:p>
        </p:txBody>
      </p:sp>
      <p:sp>
        <p:nvSpPr>
          <p:cNvPr id="11" name="Text 9"/>
          <p:cNvSpPr/>
          <p:nvPr/>
        </p:nvSpPr>
        <p:spPr>
          <a:xfrm>
            <a:off x="3447288" y="1783080"/>
            <a:ext cx="2377440" cy="274320"/>
          </a:xfrm>
          <a:prstGeom prst="rect">
            <a:avLst/>
          </a:prstGeom>
          <a:noFill/>
          <a:ln/>
        </p:spPr>
        <p:txBody>
          <a:bodyPr wrap="square" rtlCol="0" anchor="ctr"/>
          <a:lstStyle/>
          <a:p>
            <a:pPr algn="ctr" indent="0" marL="0">
              <a:buNone/>
            </a:pPr>
            <a:r>
              <a:rPr lang="en-US" sz="1100" dirty="0">
                <a:solidFill>
                  <a:srgbClr val="2E6B4F"/>
                </a:solidFill>
              </a:rPr>
              <a:t>Pression constante</a:t>
            </a:r>
            <a:endParaRPr lang="en-US" sz="1100" dirty="0"/>
          </a:p>
        </p:txBody>
      </p:sp>
      <p:sp>
        <p:nvSpPr>
          <p:cNvPr id="12" name="Shape 10"/>
          <p:cNvSpPr/>
          <p:nvPr/>
        </p:nvSpPr>
        <p:spPr>
          <a:xfrm>
            <a:off x="6099048" y="1005840"/>
            <a:ext cx="2560320" cy="1188720"/>
          </a:xfrm>
          <a:prstGeom prst="rect">
            <a:avLst/>
          </a:prstGeom>
          <a:solidFill>
            <a:srgbClr val="EEF7F1"/>
          </a:solidFill>
          <a:ln w="25400">
            <a:solidFill>
              <a:srgbClr val="DCBD74"/>
            </a:solidFill>
            <a:prstDash val="solid"/>
          </a:ln>
        </p:spPr>
      </p:sp>
      <p:sp>
        <p:nvSpPr>
          <p:cNvPr id="13" name="Text 11"/>
          <p:cNvSpPr/>
          <p:nvPr/>
        </p:nvSpPr>
        <p:spPr>
          <a:xfrm>
            <a:off x="6190488" y="1097280"/>
            <a:ext cx="2377440" cy="320040"/>
          </a:xfrm>
          <a:prstGeom prst="rect">
            <a:avLst/>
          </a:prstGeom>
          <a:noFill/>
          <a:ln/>
        </p:spPr>
        <p:txBody>
          <a:bodyPr wrap="square" rtlCol="0" anchor="ctr"/>
          <a:lstStyle/>
          <a:p>
            <a:pPr algn="ctr" indent="0" marL="0">
              <a:buNone/>
            </a:pPr>
            <a:r>
              <a:rPr lang="en-US" sz="1400" b="1" dirty="0">
                <a:solidFill>
                  <a:srgbClr val="1B4332"/>
                </a:solidFill>
              </a:rPr>
              <a:t>Isotherme</a:t>
            </a:r>
            <a:endParaRPr lang="en-US" sz="1400" dirty="0"/>
          </a:p>
        </p:txBody>
      </p:sp>
      <p:sp>
        <p:nvSpPr>
          <p:cNvPr id="14" name="Text 12"/>
          <p:cNvSpPr/>
          <p:nvPr/>
        </p:nvSpPr>
        <p:spPr>
          <a:xfrm>
            <a:off x="6190488" y="1463040"/>
            <a:ext cx="2377440" cy="274320"/>
          </a:xfrm>
          <a:prstGeom prst="rect">
            <a:avLst/>
          </a:prstGeom>
          <a:noFill/>
          <a:ln/>
        </p:spPr>
        <p:txBody>
          <a:bodyPr wrap="square" rtlCol="0" anchor="ctr"/>
          <a:lstStyle/>
          <a:p>
            <a:pPr algn="ctr" indent="0" marL="0">
              <a:buNone/>
            </a:pPr>
            <a:r>
              <a:rPr lang="en-US" sz="1300" b="1" dirty="0">
                <a:solidFill>
                  <a:srgbClr val="DCBD74"/>
                </a:solidFill>
              </a:rPr>
              <a:t>T = Cste</a:t>
            </a:r>
            <a:endParaRPr lang="en-US" sz="1300" dirty="0"/>
          </a:p>
        </p:txBody>
      </p:sp>
      <p:sp>
        <p:nvSpPr>
          <p:cNvPr id="15" name="Text 13"/>
          <p:cNvSpPr/>
          <p:nvPr/>
        </p:nvSpPr>
        <p:spPr>
          <a:xfrm>
            <a:off x="6190488" y="1783080"/>
            <a:ext cx="2377440" cy="274320"/>
          </a:xfrm>
          <a:prstGeom prst="rect">
            <a:avLst/>
          </a:prstGeom>
          <a:noFill/>
          <a:ln/>
        </p:spPr>
        <p:txBody>
          <a:bodyPr wrap="square" rtlCol="0" anchor="ctr"/>
          <a:lstStyle/>
          <a:p>
            <a:pPr algn="ctr" indent="0" marL="0">
              <a:buNone/>
            </a:pPr>
            <a:r>
              <a:rPr lang="en-US" sz="1100" dirty="0">
                <a:solidFill>
                  <a:srgbClr val="2E6B4F"/>
                </a:solidFill>
              </a:rPr>
              <a:t>Température constante</a:t>
            </a:r>
            <a:endParaRPr lang="en-US" sz="1100" dirty="0"/>
          </a:p>
        </p:txBody>
      </p:sp>
      <p:sp>
        <p:nvSpPr>
          <p:cNvPr id="16" name="Shape 14"/>
          <p:cNvSpPr/>
          <p:nvPr/>
        </p:nvSpPr>
        <p:spPr>
          <a:xfrm>
            <a:off x="612648" y="2377440"/>
            <a:ext cx="2560320" cy="1188720"/>
          </a:xfrm>
          <a:prstGeom prst="rect">
            <a:avLst/>
          </a:prstGeom>
          <a:solidFill>
            <a:srgbClr val="EEF7F1"/>
          </a:solidFill>
          <a:ln w="25400">
            <a:solidFill>
              <a:srgbClr val="DCBD74"/>
            </a:solidFill>
            <a:prstDash val="solid"/>
          </a:ln>
        </p:spPr>
      </p:sp>
      <p:sp>
        <p:nvSpPr>
          <p:cNvPr id="17" name="Text 15"/>
          <p:cNvSpPr/>
          <p:nvPr/>
        </p:nvSpPr>
        <p:spPr>
          <a:xfrm>
            <a:off x="704088" y="2468880"/>
            <a:ext cx="2377440" cy="320040"/>
          </a:xfrm>
          <a:prstGeom prst="rect">
            <a:avLst/>
          </a:prstGeom>
          <a:noFill/>
          <a:ln/>
        </p:spPr>
        <p:txBody>
          <a:bodyPr wrap="square" rtlCol="0" anchor="ctr"/>
          <a:lstStyle/>
          <a:p>
            <a:pPr algn="ctr" indent="0" marL="0">
              <a:buNone/>
            </a:pPr>
            <a:r>
              <a:rPr lang="en-US" sz="1400" b="1" dirty="0">
                <a:solidFill>
                  <a:srgbClr val="1B4332"/>
                </a:solidFill>
              </a:rPr>
              <a:t>Adiabatique</a:t>
            </a:r>
            <a:endParaRPr lang="en-US" sz="1400" dirty="0"/>
          </a:p>
        </p:txBody>
      </p:sp>
      <p:sp>
        <p:nvSpPr>
          <p:cNvPr id="18" name="Text 16"/>
          <p:cNvSpPr/>
          <p:nvPr/>
        </p:nvSpPr>
        <p:spPr>
          <a:xfrm>
            <a:off x="704088" y="2834640"/>
            <a:ext cx="2377440" cy="274320"/>
          </a:xfrm>
          <a:prstGeom prst="rect">
            <a:avLst/>
          </a:prstGeom>
          <a:noFill/>
          <a:ln/>
        </p:spPr>
        <p:txBody>
          <a:bodyPr wrap="square" rtlCol="0" anchor="ctr"/>
          <a:lstStyle/>
          <a:p>
            <a:pPr algn="ctr" indent="0" marL="0">
              <a:buNone/>
            </a:pPr>
            <a:r>
              <a:rPr lang="en-US" sz="1300" b="1" dirty="0">
                <a:solidFill>
                  <a:srgbClr val="DCBD74"/>
                </a:solidFill>
              </a:rPr>
              <a:t>Q = 0</a:t>
            </a:r>
            <a:endParaRPr lang="en-US" sz="1300" dirty="0"/>
          </a:p>
        </p:txBody>
      </p:sp>
      <p:sp>
        <p:nvSpPr>
          <p:cNvPr id="19" name="Text 17"/>
          <p:cNvSpPr/>
          <p:nvPr/>
        </p:nvSpPr>
        <p:spPr>
          <a:xfrm>
            <a:off x="704088" y="3154680"/>
            <a:ext cx="2377440" cy="274320"/>
          </a:xfrm>
          <a:prstGeom prst="rect">
            <a:avLst/>
          </a:prstGeom>
          <a:noFill/>
          <a:ln/>
        </p:spPr>
        <p:txBody>
          <a:bodyPr wrap="square" rtlCol="0" anchor="ctr"/>
          <a:lstStyle/>
          <a:p>
            <a:pPr algn="ctr" indent="0" marL="0">
              <a:buNone/>
            </a:pPr>
            <a:r>
              <a:rPr lang="en-US" sz="1100" dirty="0">
                <a:solidFill>
                  <a:srgbClr val="2E6B4F"/>
                </a:solidFill>
              </a:rPr>
              <a:t>Aucun échange de chaleur</a:t>
            </a:r>
            <a:endParaRPr lang="en-US" sz="1100" dirty="0"/>
          </a:p>
        </p:txBody>
      </p:sp>
      <p:sp>
        <p:nvSpPr>
          <p:cNvPr id="20" name="Shape 18"/>
          <p:cNvSpPr/>
          <p:nvPr/>
        </p:nvSpPr>
        <p:spPr>
          <a:xfrm>
            <a:off x="3355848" y="2377440"/>
            <a:ext cx="2560320" cy="1188720"/>
          </a:xfrm>
          <a:prstGeom prst="rect">
            <a:avLst/>
          </a:prstGeom>
          <a:solidFill>
            <a:srgbClr val="EEF7F1"/>
          </a:solidFill>
          <a:ln w="25400">
            <a:solidFill>
              <a:srgbClr val="DCBD74"/>
            </a:solidFill>
            <a:prstDash val="solid"/>
          </a:ln>
        </p:spPr>
      </p:sp>
      <p:sp>
        <p:nvSpPr>
          <p:cNvPr id="21" name="Text 19"/>
          <p:cNvSpPr/>
          <p:nvPr/>
        </p:nvSpPr>
        <p:spPr>
          <a:xfrm>
            <a:off x="3447288" y="2468880"/>
            <a:ext cx="2377440" cy="320040"/>
          </a:xfrm>
          <a:prstGeom prst="rect">
            <a:avLst/>
          </a:prstGeom>
          <a:noFill/>
          <a:ln/>
        </p:spPr>
        <p:txBody>
          <a:bodyPr wrap="square" rtlCol="0" anchor="ctr"/>
          <a:lstStyle/>
          <a:p>
            <a:pPr algn="ctr" indent="0" marL="0">
              <a:buNone/>
            </a:pPr>
            <a:r>
              <a:rPr lang="en-US" sz="1400" b="1" dirty="0">
                <a:solidFill>
                  <a:srgbClr val="1B4332"/>
                </a:solidFill>
              </a:rPr>
              <a:t>Cyclique</a:t>
            </a:r>
            <a:endParaRPr lang="en-US" sz="1400" dirty="0"/>
          </a:p>
        </p:txBody>
      </p:sp>
      <p:sp>
        <p:nvSpPr>
          <p:cNvPr id="22" name="Text 20"/>
          <p:cNvSpPr/>
          <p:nvPr/>
        </p:nvSpPr>
        <p:spPr>
          <a:xfrm>
            <a:off x="3447288" y="2834640"/>
            <a:ext cx="2377440" cy="274320"/>
          </a:xfrm>
          <a:prstGeom prst="rect">
            <a:avLst/>
          </a:prstGeom>
          <a:noFill/>
          <a:ln/>
        </p:spPr>
        <p:txBody>
          <a:bodyPr wrap="square" rtlCol="0" anchor="ctr"/>
          <a:lstStyle/>
          <a:p>
            <a:pPr algn="ctr" indent="0" marL="0">
              <a:buNone/>
            </a:pPr>
            <a:r>
              <a:rPr lang="en-US" sz="1300" b="1" dirty="0">
                <a:solidFill>
                  <a:srgbClr val="DCBD74"/>
                </a:solidFill>
              </a:rPr>
              <a:t>État final = État initial</a:t>
            </a:r>
            <a:endParaRPr lang="en-US" sz="1300" dirty="0"/>
          </a:p>
        </p:txBody>
      </p:sp>
      <p:sp>
        <p:nvSpPr>
          <p:cNvPr id="23" name="Text 21"/>
          <p:cNvSpPr/>
          <p:nvPr/>
        </p:nvSpPr>
        <p:spPr>
          <a:xfrm>
            <a:off x="3447288" y="3154680"/>
            <a:ext cx="2377440" cy="274320"/>
          </a:xfrm>
          <a:prstGeom prst="rect">
            <a:avLst/>
          </a:prstGeom>
          <a:noFill/>
          <a:ln/>
        </p:spPr>
        <p:txBody>
          <a:bodyPr wrap="square" rtlCol="0" anchor="ctr"/>
          <a:lstStyle/>
          <a:p>
            <a:pPr algn="ctr" indent="0" marL="0">
              <a:buNone/>
            </a:pPr>
            <a:r>
              <a:rPr lang="en-US" sz="1100" dirty="0">
                <a:solidFill>
                  <a:srgbClr val="2E6B4F"/>
                </a:solidFill>
              </a:rPr>
              <a:t>Retour à l'état initial</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Outils Mathématiques : Différentielle Totale</a:t>
            </a:r>
            <a:endParaRPr lang="en-US" sz="2200" dirty="0"/>
          </a:p>
        </p:txBody>
      </p:sp>
      <p:sp>
        <p:nvSpPr>
          <p:cNvPr id="4" name="Text 2"/>
          <p:cNvSpPr/>
          <p:nvPr/>
        </p:nvSpPr>
        <p:spPr>
          <a:xfrm>
            <a:off x="612648" y="1005840"/>
            <a:ext cx="7918704" cy="320040"/>
          </a:xfrm>
          <a:prstGeom prst="rect">
            <a:avLst/>
          </a:prstGeom>
          <a:noFill/>
          <a:ln/>
        </p:spPr>
        <p:txBody>
          <a:bodyPr wrap="square" rtlCol="0" anchor="ctr"/>
          <a:lstStyle/>
          <a:p>
            <a:pPr indent="0" marL="0">
              <a:buNone/>
            </a:pPr>
            <a:r>
              <a:rPr lang="en-US" sz="1400" dirty="0">
                <a:solidFill>
                  <a:srgbClr val="2E6B4F"/>
                </a:solidFill>
              </a:rPr>
              <a:t>Pour une fonction f(x, y) continue et dérivable :</a:t>
            </a:r>
            <a:endParaRPr lang="en-US" sz="1400" dirty="0"/>
          </a:p>
        </p:txBody>
      </p:sp>
      <p:sp>
        <p:nvSpPr>
          <p:cNvPr id="5" name="Shape 3"/>
          <p:cNvSpPr/>
          <p:nvPr/>
        </p:nvSpPr>
        <p:spPr>
          <a:xfrm>
            <a:off x="612648" y="1371600"/>
            <a:ext cx="7918704" cy="640080"/>
          </a:xfrm>
          <a:prstGeom prst="rect">
            <a:avLst/>
          </a:prstGeom>
          <a:solidFill>
            <a:srgbClr val="EEF7F1"/>
          </a:solidFill>
          <a:ln w="12700">
            <a:solidFill>
              <a:srgbClr val="A8D4BC"/>
            </a:solidFill>
            <a:prstDash val="solid"/>
          </a:ln>
        </p:spPr>
      </p:sp>
      <p:sp>
        <p:nvSpPr>
          <p:cNvPr id="6" name="Text 4"/>
          <p:cNvSpPr/>
          <p:nvPr/>
        </p:nvSpPr>
        <p:spPr>
          <a:xfrm>
            <a:off x="612648" y="1463040"/>
            <a:ext cx="7918704" cy="457200"/>
          </a:xfrm>
          <a:prstGeom prst="rect">
            <a:avLst/>
          </a:prstGeom>
          <a:noFill/>
          <a:ln/>
        </p:spPr>
        <p:txBody>
          <a:bodyPr wrap="square" rtlCol="0" anchor="ctr"/>
          <a:lstStyle/>
          <a:p>
            <a:pPr algn="ctr" indent="0" marL="0">
              <a:buNone/>
            </a:pPr>
            <a:r>
              <a:rPr lang="en-US" sz="2000" b="1" dirty="0">
                <a:solidFill>
                  <a:srgbClr val="1B4332"/>
                </a:solidFill>
                <a:latin typeface="Cambria Math" pitchFamily="34" charset="0"/>
                <a:ea typeface="Cambria Math" pitchFamily="34" charset="-122"/>
                <a:cs typeface="Cambria Math" pitchFamily="34" charset="-120"/>
              </a:rPr>
              <a:t>df = (∂f/∂x)dx + (∂f/∂y)dy</a:t>
            </a:r>
            <a:endParaRPr lang="en-US" sz="2000" dirty="0"/>
          </a:p>
        </p:txBody>
      </p:sp>
      <p:sp>
        <p:nvSpPr>
          <p:cNvPr id="7" name="Text 5"/>
          <p:cNvSpPr/>
          <p:nvPr/>
        </p:nvSpPr>
        <p:spPr>
          <a:xfrm>
            <a:off x="612648" y="2194560"/>
            <a:ext cx="7918704" cy="320040"/>
          </a:xfrm>
          <a:prstGeom prst="rect">
            <a:avLst/>
          </a:prstGeom>
          <a:noFill/>
          <a:ln/>
        </p:spPr>
        <p:txBody>
          <a:bodyPr wrap="square" rtlCol="0" anchor="ctr"/>
          <a:lstStyle/>
          <a:p>
            <a:pPr indent="0" marL="0">
              <a:buNone/>
            </a:pPr>
            <a:r>
              <a:rPr lang="en-US" sz="1400" b="1" dirty="0">
                <a:solidFill>
                  <a:srgbClr val="1B4332"/>
                </a:solidFill>
              </a:rPr>
              <a:t>Condition pour une différentielle totale exacte (DTE) :</a:t>
            </a:r>
            <a:endParaRPr lang="en-US" sz="1400" dirty="0"/>
          </a:p>
        </p:txBody>
      </p:sp>
      <p:sp>
        <p:nvSpPr>
          <p:cNvPr id="8" name="Shape 6"/>
          <p:cNvSpPr/>
          <p:nvPr/>
        </p:nvSpPr>
        <p:spPr>
          <a:xfrm>
            <a:off x="612648" y="2560320"/>
            <a:ext cx="7918704" cy="640080"/>
          </a:xfrm>
          <a:prstGeom prst="rect">
            <a:avLst/>
          </a:prstGeom>
          <a:solidFill>
            <a:srgbClr val="EEF7F1"/>
          </a:solidFill>
          <a:ln w="12700">
            <a:solidFill>
              <a:srgbClr val="A8D4BC"/>
            </a:solidFill>
            <a:prstDash val="solid"/>
          </a:ln>
        </p:spPr>
      </p:sp>
      <p:sp>
        <p:nvSpPr>
          <p:cNvPr id="9" name="Text 7"/>
          <p:cNvSpPr/>
          <p:nvPr/>
        </p:nvSpPr>
        <p:spPr>
          <a:xfrm>
            <a:off x="612648" y="2651760"/>
            <a:ext cx="7918704" cy="457200"/>
          </a:xfrm>
          <a:prstGeom prst="rect">
            <a:avLst/>
          </a:prstGeom>
          <a:noFill/>
          <a:ln/>
        </p:spPr>
        <p:txBody>
          <a:bodyPr wrap="square" rtlCol="0" anchor="ctr"/>
          <a:lstStyle/>
          <a:p>
            <a:pPr algn="ctr" indent="0" marL="0">
              <a:buNone/>
            </a:pPr>
            <a:r>
              <a:rPr lang="en-US" sz="2000" b="1" dirty="0">
                <a:solidFill>
                  <a:srgbClr val="1B4332"/>
                </a:solidFill>
                <a:latin typeface="Cambria Math" pitchFamily="34" charset="0"/>
                <a:ea typeface="Cambria Math" pitchFamily="34" charset="-122"/>
                <a:cs typeface="Cambria Math" pitchFamily="34" charset="-120"/>
              </a:rPr>
              <a:t>∂²f/∂x∂y = ∂²f/∂y∂x</a:t>
            </a:r>
            <a:endParaRPr lang="en-US" sz="2000" dirty="0"/>
          </a:p>
        </p:txBody>
      </p:sp>
      <p:sp>
        <p:nvSpPr>
          <p:cNvPr id="10" name="Text 8"/>
          <p:cNvSpPr/>
          <p:nvPr/>
        </p:nvSpPr>
        <p:spPr>
          <a:xfrm>
            <a:off x="612648" y="3383280"/>
            <a:ext cx="7918704" cy="365760"/>
          </a:xfrm>
          <a:prstGeom prst="rect">
            <a:avLst/>
          </a:prstGeom>
          <a:noFill/>
          <a:ln/>
        </p:spPr>
        <p:txBody>
          <a:bodyPr wrap="square" rtlCol="0" anchor="ctr"/>
          <a:lstStyle/>
          <a:p>
            <a:pPr indent="0" marL="0">
              <a:buNone/>
            </a:pPr>
            <a:r>
              <a:rPr lang="en-US" sz="1300" i="1" dirty="0">
                <a:solidFill>
                  <a:srgbClr val="60A882"/>
                </a:solidFill>
              </a:rPr>
              <a:t>Interprétation : Si df est une DTE, alors ∫df ne dépend pas du chemin suivi entre A et B.</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DTE vs Forme Différentielle</a:t>
            </a:r>
            <a:endParaRPr lang="en-US" sz="2200" dirty="0"/>
          </a:p>
        </p:txBody>
      </p:sp>
      <p:sp>
        <p:nvSpPr>
          <p:cNvPr id="4" name="Shape 2"/>
          <p:cNvSpPr/>
          <p:nvPr/>
        </p:nvSpPr>
        <p:spPr>
          <a:xfrm>
            <a:off x="612648" y="1005840"/>
            <a:ext cx="3657600" cy="2743200"/>
          </a:xfrm>
          <a:prstGeom prst="rect">
            <a:avLst/>
          </a:prstGeom>
          <a:solidFill>
            <a:srgbClr val="EEF7F1"/>
          </a:solidFill>
          <a:ln/>
        </p:spPr>
      </p:sp>
      <p:sp>
        <p:nvSpPr>
          <p:cNvPr id="5" name="Text 3"/>
          <p:cNvSpPr/>
          <p:nvPr/>
        </p:nvSpPr>
        <p:spPr>
          <a:xfrm>
            <a:off x="795528" y="1097280"/>
            <a:ext cx="3291840" cy="365760"/>
          </a:xfrm>
          <a:prstGeom prst="rect">
            <a:avLst/>
          </a:prstGeom>
          <a:noFill/>
          <a:ln/>
        </p:spPr>
        <p:txBody>
          <a:bodyPr wrap="square" rtlCol="0" anchor="ctr"/>
          <a:lstStyle/>
          <a:p>
            <a:pPr indent="0" marL="0">
              <a:buNone/>
            </a:pPr>
            <a:r>
              <a:rPr lang="en-US" sz="1400" b="1" dirty="0">
                <a:solidFill>
                  <a:srgbClr val="1B4332"/>
                </a:solidFill>
              </a:rPr>
              <a:t>Différentielle Totale Exacte (df)</a:t>
            </a:r>
            <a:endParaRPr lang="en-US" sz="1400" dirty="0"/>
          </a:p>
        </p:txBody>
      </p:sp>
      <p:sp>
        <p:nvSpPr>
          <p:cNvPr id="6" name="Text 4"/>
          <p:cNvSpPr/>
          <p:nvPr/>
        </p:nvSpPr>
        <p:spPr>
          <a:xfrm>
            <a:off x="795528" y="1508760"/>
            <a:ext cx="3291840" cy="2103120"/>
          </a:xfrm>
          <a:prstGeom prst="rect">
            <a:avLst/>
          </a:prstGeom>
          <a:noFill/>
          <a:ln/>
        </p:spPr>
        <p:txBody>
          <a:bodyPr wrap="square" rtlCol="0" anchor="ctr"/>
          <a:lstStyle/>
          <a:p>
            <a:pPr indent="0" marL="0">
              <a:buNone/>
            </a:pPr>
            <a:r>
              <a:rPr lang="en-US" sz="1200" dirty="0">
                <a:solidFill>
                  <a:srgbClr val="2E6B4F"/>
                </a:solidFill>
              </a:rPr>
              <a:t>✓ Intégration ne dépend PAS du chemin</a:t>
            </a:r>
            <a:endParaRPr lang="en-US" sz="1200" dirty="0"/>
          </a:p>
          <a:p>
            <a:pPr indent="0" marL="0">
              <a:buNone/>
            </a:pPr>
            <a:endParaRPr lang="en-US" sz="1200" dirty="0"/>
          </a:p>
          <a:p>
            <a:pPr indent="0" marL="0">
              <a:buNone/>
            </a:pPr>
            <a:r>
              <a:rPr lang="en-US" sz="1200" dirty="0">
                <a:solidFill>
                  <a:srgbClr val="2E6B4F"/>
                </a:solidFill>
              </a:rPr>
              <a:t>✓ f est une fonction d'état</a:t>
            </a:r>
            <a:endParaRPr lang="en-US" sz="1200" dirty="0"/>
          </a:p>
          <a:p>
            <a:pPr indent="0" marL="0">
              <a:buNone/>
            </a:pPr>
            <a:endParaRPr lang="en-US" sz="1200" dirty="0"/>
          </a:p>
          <a:p>
            <a:pPr indent="0" marL="0">
              <a:buNone/>
            </a:pPr>
            <a:r>
              <a:rPr lang="en-US" sz="1200" dirty="0">
                <a:solidFill>
                  <a:srgbClr val="2E6B4F"/>
                </a:solidFill>
              </a:rPr>
              <a:t>✓ ∂²f/∂x∂y = ∂²f/∂y∂x</a:t>
            </a:r>
            <a:endParaRPr lang="en-US" sz="1200" dirty="0"/>
          </a:p>
          <a:p>
            <a:pPr indent="0" marL="0">
              <a:buNone/>
            </a:pPr>
            <a:endParaRPr lang="en-US" sz="1200" dirty="0"/>
          </a:p>
          <a:p>
            <a:pPr indent="0" marL="0">
              <a:buNone/>
            </a:pPr>
            <a:r>
              <a:rPr lang="en-US" sz="1200" dirty="0">
                <a:solidFill>
                  <a:srgbClr val="2E6B4F"/>
                </a:solidFill>
              </a:rPr>
              <a:t>Exemples :</a:t>
            </a:r>
            <a:endParaRPr lang="en-US" sz="1200" dirty="0"/>
          </a:p>
          <a:p>
            <a:pPr indent="0" marL="0">
              <a:buNone/>
            </a:pPr>
            <a:r>
              <a:rPr lang="en-US" sz="1200" dirty="0">
                <a:solidFill>
                  <a:srgbClr val="2E6B4F"/>
                </a:solidFill>
              </a:rPr>
              <a:t>• dU (énergie interne)</a:t>
            </a:r>
            <a:endParaRPr lang="en-US" sz="1200" dirty="0"/>
          </a:p>
          <a:p>
            <a:pPr indent="0" marL="0">
              <a:buNone/>
            </a:pPr>
            <a:r>
              <a:rPr lang="en-US" sz="1200" dirty="0">
                <a:solidFill>
                  <a:srgbClr val="2E6B4F"/>
                </a:solidFill>
              </a:rPr>
              <a:t>• dH (enthalpie)</a:t>
            </a:r>
            <a:endParaRPr lang="en-US" sz="1200" dirty="0"/>
          </a:p>
          <a:p>
            <a:pPr indent="0" marL="0">
              <a:buNone/>
            </a:pPr>
            <a:r>
              <a:rPr lang="en-US" sz="1200" dirty="0">
                <a:solidFill>
                  <a:srgbClr val="2E6B4F"/>
                </a:solidFill>
              </a:rPr>
              <a:t>• dS (entropie)</a:t>
            </a:r>
            <a:endParaRPr lang="en-US" sz="1200" dirty="0"/>
          </a:p>
        </p:txBody>
      </p:sp>
      <p:sp>
        <p:nvSpPr>
          <p:cNvPr id="7" name="Shape 5"/>
          <p:cNvSpPr/>
          <p:nvPr/>
        </p:nvSpPr>
        <p:spPr>
          <a:xfrm>
            <a:off x="4873752" y="1005840"/>
            <a:ext cx="3657600" cy="2743200"/>
          </a:xfrm>
          <a:prstGeom prst="rect">
            <a:avLst/>
          </a:prstGeom>
          <a:solidFill>
            <a:srgbClr val="EEF7F1"/>
          </a:solidFill>
          <a:ln/>
        </p:spPr>
      </p:sp>
      <p:sp>
        <p:nvSpPr>
          <p:cNvPr id="8" name="Text 6"/>
          <p:cNvSpPr/>
          <p:nvPr/>
        </p:nvSpPr>
        <p:spPr>
          <a:xfrm>
            <a:off x="5056632" y="1097280"/>
            <a:ext cx="3291840" cy="365760"/>
          </a:xfrm>
          <a:prstGeom prst="rect">
            <a:avLst/>
          </a:prstGeom>
          <a:noFill/>
          <a:ln/>
        </p:spPr>
        <p:txBody>
          <a:bodyPr wrap="square" rtlCol="0" anchor="ctr"/>
          <a:lstStyle/>
          <a:p>
            <a:pPr indent="0" marL="0">
              <a:buNone/>
            </a:pPr>
            <a:r>
              <a:rPr lang="en-US" sz="1400" b="1" dirty="0">
                <a:solidFill>
                  <a:srgbClr val="1B4332"/>
                </a:solidFill>
              </a:rPr>
              <a:t>Forme Différentielle (δf)</a:t>
            </a:r>
            <a:endParaRPr lang="en-US" sz="1400" dirty="0"/>
          </a:p>
        </p:txBody>
      </p:sp>
      <p:sp>
        <p:nvSpPr>
          <p:cNvPr id="9" name="Text 7"/>
          <p:cNvSpPr/>
          <p:nvPr/>
        </p:nvSpPr>
        <p:spPr>
          <a:xfrm>
            <a:off x="5056632" y="1508760"/>
            <a:ext cx="3291840" cy="2103120"/>
          </a:xfrm>
          <a:prstGeom prst="rect">
            <a:avLst/>
          </a:prstGeom>
          <a:noFill/>
          <a:ln/>
        </p:spPr>
        <p:txBody>
          <a:bodyPr wrap="square" rtlCol="0" anchor="ctr"/>
          <a:lstStyle/>
          <a:p>
            <a:pPr indent="0" marL="0">
              <a:buNone/>
            </a:pPr>
            <a:r>
              <a:rPr lang="en-US" sz="1200" dirty="0">
                <a:solidFill>
                  <a:srgbClr val="2E6B4F"/>
                </a:solidFill>
              </a:rPr>
              <a:t>✗ Intégration DÉPEND du chemin</a:t>
            </a:r>
            <a:endParaRPr lang="en-US" sz="1200" dirty="0"/>
          </a:p>
          <a:p>
            <a:pPr indent="0" marL="0">
              <a:buNone/>
            </a:pPr>
            <a:endParaRPr lang="en-US" sz="1200" dirty="0"/>
          </a:p>
          <a:p>
            <a:pPr indent="0" marL="0">
              <a:buNone/>
            </a:pPr>
            <a:r>
              <a:rPr lang="en-US" sz="1200" dirty="0">
                <a:solidFill>
                  <a:srgbClr val="2E6B4F"/>
                </a:solidFill>
              </a:rPr>
              <a:t>✗ f n'est PAS une fonction d'état</a:t>
            </a:r>
            <a:endParaRPr lang="en-US" sz="1200" dirty="0"/>
          </a:p>
          <a:p>
            <a:pPr indent="0" marL="0">
              <a:buNone/>
            </a:pPr>
            <a:endParaRPr lang="en-US" sz="1200" dirty="0"/>
          </a:p>
          <a:p>
            <a:pPr indent="0" marL="0">
              <a:buNone/>
            </a:pPr>
            <a:r>
              <a:rPr lang="en-US" sz="1200" dirty="0">
                <a:solidFill>
                  <a:srgbClr val="2E6B4F"/>
                </a:solidFill>
              </a:rPr>
              <a:t>✗ ∂²f/∂x∂y ≠ ∂²f/∂y∂x</a:t>
            </a:r>
            <a:endParaRPr lang="en-US" sz="1200" dirty="0"/>
          </a:p>
          <a:p>
            <a:pPr indent="0" marL="0">
              <a:buNone/>
            </a:pPr>
            <a:endParaRPr lang="en-US" sz="1200" dirty="0"/>
          </a:p>
          <a:p>
            <a:pPr indent="0" marL="0">
              <a:buNone/>
            </a:pPr>
            <a:r>
              <a:rPr lang="en-US" sz="1200" dirty="0">
                <a:solidFill>
                  <a:srgbClr val="2E6B4F"/>
                </a:solidFill>
              </a:rPr>
              <a:t>Exemples :</a:t>
            </a:r>
            <a:endParaRPr lang="en-US" sz="1200" dirty="0"/>
          </a:p>
          <a:p>
            <a:pPr indent="0" marL="0">
              <a:buNone/>
            </a:pPr>
            <a:r>
              <a:rPr lang="en-US" sz="1200" dirty="0">
                <a:solidFill>
                  <a:srgbClr val="2E6B4F"/>
                </a:solidFill>
              </a:rPr>
              <a:t>• δW (travail)</a:t>
            </a:r>
            <a:endParaRPr lang="en-US" sz="1200" dirty="0"/>
          </a:p>
          <a:p>
            <a:pPr indent="0" marL="0">
              <a:buNone/>
            </a:pPr>
            <a:r>
              <a:rPr lang="en-US" sz="1200" dirty="0">
                <a:solidFill>
                  <a:srgbClr val="2E6B4F"/>
                </a:solidFill>
              </a:rPr>
              <a:t>• δQ (chaleur)</a:t>
            </a:r>
            <a:endParaRPr lang="en-US" sz="1200" dirty="0"/>
          </a:p>
        </p:txBody>
      </p:sp>
      <p:sp>
        <p:nvSpPr>
          <p:cNvPr id="10" name="Text 8"/>
          <p:cNvSpPr/>
          <p:nvPr/>
        </p:nvSpPr>
        <p:spPr>
          <a:xfrm>
            <a:off x="612648" y="3840480"/>
            <a:ext cx="7918704" cy="274320"/>
          </a:xfrm>
          <a:prstGeom prst="rect">
            <a:avLst/>
          </a:prstGeom>
          <a:noFill/>
          <a:ln/>
        </p:spPr>
        <p:txBody>
          <a:bodyPr wrap="square" rtlCol="0" anchor="ctr"/>
          <a:lstStyle/>
          <a:p>
            <a:pPr indent="0" marL="0">
              <a:buNone/>
            </a:pPr>
            <a:r>
              <a:rPr lang="en-US" sz="1200" b="1" dirty="0">
                <a:solidFill>
                  <a:srgbClr val="1B4332"/>
                </a:solidFill>
              </a:rPr>
              <a:t>Notation : On utilise df pour une DTE et δf pour une forme différentielle (non exacte).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Systèmes Thermo-élastiques (STEP)</a:t>
            </a:r>
            <a:endParaRPr lang="en-US" sz="2200" dirty="0"/>
          </a:p>
        </p:txBody>
      </p:sp>
      <p:sp>
        <p:nvSpPr>
          <p:cNvPr id="4" name="Shape 2"/>
          <p:cNvSpPr/>
          <p:nvPr/>
        </p:nvSpPr>
        <p:spPr>
          <a:xfrm>
            <a:off x="612648" y="1005840"/>
            <a:ext cx="7918704" cy="1188720"/>
          </a:xfrm>
          <a:prstGeom prst="rect">
            <a:avLst/>
          </a:prstGeom>
          <a:solidFill>
            <a:srgbClr val="D8EEE2"/>
          </a:solidFill>
          <a:ln w="25400">
            <a:solidFill>
              <a:srgbClr val="DCBD74"/>
            </a:solidFill>
            <a:prstDash val="solid"/>
          </a:ln>
        </p:spPr>
      </p:sp>
      <p:sp>
        <p:nvSpPr>
          <p:cNvPr id="5" name="Text 3"/>
          <p:cNvSpPr/>
          <p:nvPr/>
        </p:nvSpPr>
        <p:spPr>
          <a:xfrm>
            <a:off x="795528" y="1097280"/>
            <a:ext cx="7552944" cy="274320"/>
          </a:xfrm>
          <a:prstGeom prst="rect">
            <a:avLst/>
          </a:prstGeom>
          <a:noFill/>
          <a:ln/>
        </p:spPr>
        <p:txBody>
          <a:bodyPr wrap="square" rtlCol="0" anchor="ctr"/>
          <a:lstStyle/>
          <a:p>
            <a:pPr indent="0" marL="0">
              <a:buNone/>
            </a:pPr>
            <a:r>
              <a:rPr lang="en-US" sz="1400" b="1" dirty="0">
                <a:solidFill>
                  <a:srgbClr val="1B4332"/>
                </a:solidFill>
              </a:rPr>
              <a:t>DÉFINITION</a:t>
            </a:r>
            <a:endParaRPr lang="en-US" sz="1400" dirty="0"/>
          </a:p>
        </p:txBody>
      </p:sp>
      <p:sp>
        <p:nvSpPr>
          <p:cNvPr id="6" name="Text 4"/>
          <p:cNvSpPr/>
          <p:nvPr/>
        </p:nvSpPr>
        <p:spPr>
          <a:xfrm>
            <a:off x="795528" y="1371600"/>
            <a:ext cx="7552944" cy="731520"/>
          </a:xfrm>
          <a:prstGeom prst="rect">
            <a:avLst/>
          </a:prstGeom>
          <a:noFill/>
          <a:ln/>
        </p:spPr>
        <p:txBody>
          <a:bodyPr wrap="square" rtlCol="0" anchor="ctr"/>
          <a:lstStyle/>
          <a:p>
            <a:pPr indent="0" marL="0">
              <a:buNone/>
            </a:pPr>
            <a:r>
              <a:rPr lang="en-US" sz="1300" dirty="0">
                <a:solidFill>
                  <a:srgbClr val="2E6B4F"/>
                </a:solidFill>
              </a:rPr>
              <a:t>Systèmes homogènes (gaz ou liquides) :</a:t>
            </a:r>
            <a:endParaRPr lang="en-US" sz="1300" dirty="0"/>
          </a:p>
          <a:p>
            <a:pPr indent="0" marL="0">
              <a:buNone/>
            </a:pPr>
            <a:r>
              <a:rPr lang="en-US" sz="1300" dirty="0">
                <a:solidFill>
                  <a:srgbClr val="2E6B4F"/>
                </a:solidFill>
              </a:rPr>
              <a:t>• Inertes chimiquement (pas de réaction)  • Composition constante (fermé)</a:t>
            </a:r>
            <a:endParaRPr lang="en-US" sz="1300" dirty="0"/>
          </a:p>
          <a:p>
            <a:pPr indent="0" marL="0">
              <a:buNone/>
            </a:pPr>
            <a:r>
              <a:rPr lang="en-US" sz="1300" dirty="0">
                <a:solidFill>
                  <a:srgbClr val="2E6B4F"/>
                </a:solidFill>
              </a:rPr>
              <a:t>• Travail uniquement mécanique  • Décrits par P, V, T</a:t>
            </a:r>
            <a:endParaRPr lang="en-US" sz="1300" dirty="0"/>
          </a:p>
        </p:txBody>
      </p:sp>
      <p:sp>
        <p:nvSpPr>
          <p:cNvPr id="7" name="Text 5"/>
          <p:cNvSpPr/>
          <p:nvPr/>
        </p:nvSpPr>
        <p:spPr>
          <a:xfrm>
            <a:off x="612648" y="2377440"/>
            <a:ext cx="7918704" cy="320040"/>
          </a:xfrm>
          <a:prstGeom prst="rect">
            <a:avLst/>
          </a:prstGeom>
          <a:noFill/>
          <a:ln/>
        </p:spPr>
        <p:txBody>
          <a:bodyPr wrap="square" rtlCol="0" anchor="ctr"/>
          <a:lstStyle/>
          <a:p>
            <a:pPr indent="0" marL="0">
              <a:buNone/>
            </a:pPr>
            <a:r>
              <a:rPr lang="en-US" sz="1500" b="1" dirty="0">
                <a:solidFill>
                  <a:srgbClr val="1B4332"/>
                </a:solidFill>
              </a:rPr>
              <a:t>Coefficients thermoélastiques :</a:t>
            </a:r>
            <a:endParaRPr lang="en-US" sz="1500" dirty="0"/>
          </a:p>
        </p:txBody>
      </p:sp>
      <p:sp>
        <p:nvSpPr>
          <p:cNvPr id="8" name="Shape 6"/>
          <p:cNvSpPr/>
          <p:nvPr/>
        </p:nvSpPr>
        <p:spPr>
          <a:xfrm>
            <a:off x="612648" y="2788920"/>
            <a:ext cx="457200" cy="411480"/>
          </a:xfrm>
          <a:prstGeom prst="rect">
            <a:avLst/>
          </a:prstGeom>
          <a:solidFill>
            <a:srgbClr val="DCBD74"/>
          </a:solidFill>
          <a:ln/>
        </p:spPr>
      </p:sp>
      <p:sp>
        <p:nvSpPr>
          <p:cNvPr id="9" name="Text 7"/>
          <p:cNvSpPr/>
          <p:nvPr/>
        </p:nvSpPr>
        <p:spPr>
          <a:xfrm>
            <a:off x="612648" y="2834640"/>
            <a:ext cx="457200" cy="320040"/>
          </a:xfrm>
          <a:prstGeom prst="rect">
            <a:avLst/>
          </a:prstGeom>
          <a:noFill/>
          <a:ln/>
        </p:spPr>
        <p:txBody>
          <a:bodyPr wrap="square" rtlCol="0" anchor="ctr"/>
          <a:lstStyle/>
          <a:p>
            <a:pPr algn="ctr" indent="0" marL="0">
              <a:buNone/>
            </a:pPr>
            <a:r>
              <a:rPr lang="en-US" sz="1600" b="1" dirty="0">
                <a:solidFill>
                  <a:srgbClr val="FFFFFF"/>
                </a:solidFill>
              </a:rPr>
              <a:t>α</a:t>
            </a:r>
            <a:endParaRPr lang="en-US" sz="1600" dirty="0"/>
          </a:p>
        </p:txBody>
      </p:sp>
      <p:sp>
        <p:nvSpPr>
          <p:cNvPr id="10" name="Text 8"/>
          <p:cNvSpPr/>
          <p:nvPr/>
        </p:nvSpPr>
        <p:spPr>
          <a:xfrm>
            <a:off x="1161288" y="2834640"/>
            <a:ext cx="6400800" cy="320040"/>
          </a:xfrm>
          <a:prstGeom prst="rect">
            <a:avLst/>
          </a:prstGeom>
          <a:noFill/>
          <a:ln/>
        </p:spPr>
        <p:txBody>
          <a:bodyPr wrap="square" rtlCol="0" anchor="ctr"/>
          <a:lstStyle/>
          <a:p>
            <a:pPr indent="0" marL="0">
              <a:buNone/>
            </a:pPr>
            <a:r>
              <a:rPr lang="en-US" sz="1300" dirty="0">
                <a:solidFill>
                  <a:srgbClr val="2E6B4F"/>
                </a:solidFill>
                <a:latin typeface="Cambria Math" pitchFamily="34" charset="0"/>
                <a:ea typeface="Cambria Math" pitchFamily="34" charset="-122"/>
                <a:cs typeface="Cambria Math" pitchFamily="34" charset="-120"/>
              </a:rPr>
              <a:t>Dilatation isobare:  α = (1/V)(∂V/∂T)P</a:t>
            </a:r>
            <a:endParaRPr lang="en-US" sz="1300" dirty="0"/>
          </a:p>
        </p:txBody>
      </p:sp>
      <p:sp>
        <p:nvSpPr>
          <p:cNvPr id="11" name="Shape 9"/>
          <p:cNvSpPr/>
          <p:nvPr/>
        </p:nvSpPr>
        <p:spPr>
          <a:xfrm>
            <a:off x="612648" y="3246120"/>
            <a:ext cx="457200" cy="411480"/>
          </a:xfrm>
          <a:prstGeom prst="rect">
            <a:avLst/>
          </a:prstGeom>
          <a:solidFill>
            <a:srgbClr val="DCBD74"/>
          </a:solidFill>
          <a:ln/>
        </p:spPr>
      </p:sp>
      <p:sp>
        <p:nvSpPr>
          <p:cNvPr id="12" name="Text 10"/>
          <p:cNvSpPr/>
          <p:nvPr/>
        </p:nvSpPr>
        <p:spPr>
          <a:xfrm>
            <a:off x="612648" y="3291840"/>
            <a:ext cx="457200" cy="320040"/>
          </a:xfrm>
          <a:prstGeom prst="rect">
            <a:avLst/>
          </a:prstGeom>
          <a:noFill/>
          <a:ln/>
        </p:spPr>
        <p:txBody>
          <a:bodyPr wrap="square" rtlCol="0" anchor="ctr"/>
          <a:lstStyle/>
          <a:p>
            <a:pPr algn="ctr" indent="0" marL="0">
              <a:buNone/>
            </a:pPr>
            <a:r>
              <a:rPr lang="en-US" sz="1600" b="1" dirty="0">
                <a:solidFill>
                  <a:srgbClr val="FFFFFF"/>
                </a:solidFill>
              </a:rPr>
              <a:t>β</a:t>
            </a:r>
            <a:endParaRPr lang="en-US" sz="1600" dirty="0"/>
          </a:p>
        </p:txBody>
      </p:sp>
      <p:sp>
        <p:nvSpPr>
          <p:cNvPr id="13" name="Text 11"/>
          <p:cNvSpPr/>
          <p:nvPr/>
        </p:nvSpPr>
        <p:spPr>
          <a:xfrm>
            <a:off x="1161288" y="3291840"/>
            <a:ext cx="6400800" cy="320040"/>
          </a:xfrm>
          <a:prstGeom prst="rect">
            <a:avLst/>
          </a:prstGeom>
          <a:noFill/>
          <a:ln/>
        </p:spPr>
        <p:txBody>
          <a:bodyPr wrap="square" rtlCol="0" anchor="ctr"/>
          <a:lstStyle/>
          <a:p>
            <a:pPr indent="0" marL="0">
              <a:buNone/>
            </a:pPr>
            <a:r>
              <a:rPr lang="en-US" sz="1300" dirty="0">
                <a:solidFill>
                  <a:srgbClr val="2E6B4F"/>
                </a:solidFill>
                <a:latin typeface="Cambria Math" pitchFamily="34" charset="0"/>
                <a:ea typeface="Cambria Math" pitchFamily="34" charset="-122"/>
                <a:cs typeface="Cambria Math" pitchFamily="34" charset="-120"/>
              </a:rPr>
              <a:t>Augmentation pression:  β = (1/P)(∂P/∂T)V</a:t>
            </a:r>
            <a:endParaRPr lang="en-US" sz="1300" dirty="0"/>
          </a:p>
        </p:txBody>
      </p:sp>
      <p:sp>
        <p:nvSpPr>
          <p:cNvPr id="14" name="Shape 12"/>
          <p:cNvSpPr/>
          <p:nvPr/>
        </p:nvSpPr>
        <p:spPr>
          <a:xfrm>
            <a:off x="612648" y="3703320"/>
            <a:ext cx="457200" cy="411480"/>
          </a:xfrm>
          <a:prstGeom prst="rect">
            <a:avLst/>
          </a:prstGeom>
          <a:solidFill>
            <a:srgbClr val="DCBD74"/>
          </a:solidFill>
          <a:ln/>
        </p:spPr>
      </p:sp>
      <p:sp>
        <p:nvSpPr>
          <p:cNvPr id="15" name="Text 13"/>
          <p:cNvSpPr/>
          <p:nvPr/>
        </p:nvSpPr>
        <p:spPr>
          <a:xfrm>
            <a:off x="612648" y="3749040"/>
            <a:ext cx="457200" cy="320040"/>
          </a:xfrm>
          <a:prstGeom prst="rect">
            <a:avLst/>
          </a:prstGeom>
          <a:noFill/>
          <a:ln/>
        </p:spPr>
        <p:txBody>
          <a:bodyPr wrap="square" rtlCol="0" anchor="ctr"/>
          <a:lstStyle/>
          <a:p>
            <a:pPr algn="ctr" indent="0" marL="0">
              <a:buNone/>
            </a:pPr>
            <a:r>
              <a:rPr lang="en-US" sz="1600" b="1" dirty="0">
                <a:solidFill>
                  <a:srgbClr val="FFFFFF"/>
                </a:solidFill>
              </a:rPr>
              <a:t>χT</a:t>
            </a:r>
            <a:endParaRPr lang="en-US" sz="1600" dirty="0"/>
          </a:p>
        </p:txBody>
      </p:sp>
      <p:sp>
        <p:nvSpPr>
          <p:cNvPr id="16" name="Text 14"/>
          <p:cNvSpPr/>
          <p:nvPr/>
        </p:nvSpPr>
        <p:spPr>
          <a:xfrm>
            <a:off x="1161288" y="3749040"/>
            <a:ext cx="6400800" cy="320040"/>
          </a:xfrm>
          <a:prstGeom prst="rect">
            <a:avLst/>
          </a:prstGeom>
          <a:noFill/>
          <a:ln/>
        </p:spPr>
        <p:txBody>
          <a:bodyPr wrap="square" rtlCol="0" anchor="ctr"/>
          <a:lstStyle/>
          <a:p>
            <a:pPr indent="0" marL="0">
              <a:buNone/>
            </a:pPr>
            <a:r>
              <a:rPr lang="en-US" sz="1300" dirty="0">
                <a:solidFill>
                  <a:srgbClr val="2E6B4F"/>
                </a:solidFill>
                <a:latin typeface="Cambria Math" pitchFamily="34" charset="0"/>
                <a:ea typeface="Cambria Math" pitchFamily="34" charset="-122"/>
                <a:cs typeface="Cambria Math" pitchFamily="34" charset="-120"/>
              </a:rPr>
              <a:t>Compressibilité isotherme:  χT = -(1/V)(∂V/∂P)T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4332"/>
          </a:solidFill>
          <a:ln/>
        </p:spPr>
      </p:sp>
      <p:sp>
        <p:nvSpPr>
          <p:cNvPr id="3" name="Shape 1"/>
          <p:cNvSpPr/>
          <p:nvPr/>
        </p:nvSpPr>
        <p:spPr>
          <a:xfrm>
            <a:off x="0" y="0"/>
            <a:ext cx="3657600" cy="5143500"/>
          </a:xfrm>
          <a:prstGeom prst="rect">
            <a:avLst/>
          </a:prstGeom>
          <a:solidFill>
            <a:srgbClr val="122D1F"/>
          </a:solidFill>
          <a:ln/>
        </p:spPr>
      </p:sp>
      <p:sp>
        <p:nvSpPr>
          <p:cNvPr id="4" name="Text 2"/>
          <p:cNvSpPr/>
          <p:nvPr/>
        </p:nvSpPr>
        <p:spPr>
          <a:xfrm>
            <a:off x="457200" y="1371600"/>
            <a:ext cx="2743200" cy="457200"/>
          </a:xfrm>
          <a:prstGeom prst="rect">
            <a:avLst/>
          </a:prstGeom>
          <a:noFill/>
          <a:ln/>
        </p:spPr>
        <p:txBody>
          <a:bodyPr wrap="square" rtlCol="0" anchor="ctr"/>
          <a:lstStyle/>
          <a:p>
            <a:pPr indent="0" marL="0">
              <a:buNone/>
            </a:pPr>
            <a:r>
              <a:rPr lang="en-US" sz="1400" b="1" dirty="0">
                <a:solidFill>
                  <a:srgbClr val="DCBD74"/>
                </a:solidFill>
              </a:rPr>
              <a:t>SÉANCE 2</a:t>
            </a:r>
            <a:endParaRPr lang="en-US" sz="1400" dirty="0"/>
          </a:p>
        </p:txBody>
      </p:sp>
      <p:sp>
        <p:nvSpPr>
          <p:cNvPr id="5" name="Text 3"/>
          <p:cNvSpPr/>
          <p:nvPr/>
        </p:nvSpPr>
        <p:spPr>
          <a:xfrm>
            <a:off x="457200" y="1828800"/>
            <a:ext cx="2743200" cy="1645920"/>
          </a:xfrm>
          <a:prstGeom prst="rect">
            <a:avLst/>
          </a:prstGeom>
          <a:noFill/>
          <a:ln/>
        </p:spPr>
        <p:txBody>
          <a:bodyPr wrap="square" rtlCol="0" anchor="ctr"/>
          <a:lstStyle/>
          <a:p>
            <a:pPr indent="0" marL="0">
              <a:buNone/>
            </a:pPr>
            <a:r>
              <a:rPr lang="en-US" sz="2400" b="1" dirty="0">
                <a:solidFill>
                  <a:srgbClr val="FFFFFF"/>
                </a:solidFill>
              </a:rPr>
              <a:t>Température</a:t>
            </a:r>
            <a:endParaRPr lang="en-US" sz="2400" dirty="0"/>
          </a:p>
          <a:p>
            <a:pPr indent="0" marL="0">
              <a:buNone/>
            </a:pPr>
            <a:r>
              <a:rPr lang="en-US" sz="2400" b="1" dirty="0">
                <a:solidFill>
                  <a:srgbClr val="FFFFFF"/>
                </a:solidFill>
              </a:rPr>
              <a:t>et</a:t>
            </a:r>
            <a:endParaRPr lang="en-US" sz="2400" dirty="0"/>
          </a:p>
          <a:p>
            <a:pPr indent="0" marL="0">
              <a:buNone/>
            </a:pPr>
            <a:r>
              <a:rPr lang="en-US" sz="2400" b="1" dirty="0">
                <a:solidFill>
                  <a:srgbClr val="FFFFFF"/>
                </a:solidFill>
              </a:rPr>
              <a:t>Dilatation</a:t>
            </a:r>
            <a:endParaRPr lang="en-US" sz="2400" dirty="0"/>
          </a:p>
          <a:p>
            <a:pPr indent="0" marL="0">
              <a:buNone/>
            </a:pPr>
            <a:r>
              <a:rPr lang="en-US" sz="2400" b="1" dirty="0">
                <a:solidFill>
                  <a:srgbClr val="FFFFFF"/>
                </a:solidFill>
              </a:rPr>
              <a:t>Thermique</a:t>
            </a:r>
            <a:endParaRPr lang="en-US" sz="2400" dirty="0"/>
          </a:p>
        </p:txBody>
      </p:sp>
      <p:sp>
        <p:nvSpPr>
          <p:cNvPr id="6" name="Text 4"/>
          <p:cNvSpPr/>
          <p:nvPr/>
        </p:nvSpPr>
        <p:spPr>
          <a:xfrm>
            <a:off x="457200" y="3657600"/>
            <a:ext cx="2743200" cy="274320"/>
          </a:xfrm>
          <a:prstGeom prst="rect">
            <a:avLst/>
          </a:prstGeom>
          <a:noFill/>
          <a:ln/>
        </p:spPr>
        <p:txBody>
          <a:bodyPr wrap="square" rtlCol="0" anchor="ctr"/>
          <a:lstStyle/>
          <a:p>
            <a:pPr indent="0" marL="0">
              <a:buNone/>
            </a:pPr>
            <a:r>
              <a:rPr lang="en-US" sz="1200" dirty="0">
                <a:solidFill>
                  <a:srgbClr val="7EC8B0"/>
                </a:solidFill>
              </a:rPr>
              <a:t>2 heures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Définition de la Température</a:t>
            </a:r>
            <a:endParaRPr lang="en-US" sz="2200" dirty="0"/>
          </a:p>
        </p:txBody>
      </p:sp>
      <p:sp>
        <p:nvSpPr>
          <p:cNvPr id="4" name="Shape 2"/>
          <p:cNvSpPr/>
          <p:nvPr/>
        </p:nvSpPr>
        <p:spPr>
          <a:xfrm>
            <a:off x="612648" y="1005840"/>
            <a:ext cx="7918704" cy="1188720"/>
          </a:xfrm>
          <a:prstGeom prst="rect">
            <a:avLst/>
          </a:prstGeom>
          <a:solidFill>
            <a:srgbClr val="D8EEE2"/>
          </a:solidFill>
          <a:ln w="25400">
            <a:solidFill>
              <a:srgbClr val="DCBD74"/>
            </a:solidFill>
            <a:prstDash val="solid"/>
          </a:ln>
        </p:spPr>
      </p:sp>
      <p:sp>
        <p:nvSpPr>
          <p:cNvPr id="5" name="Text 3"/>
          <p:cNvSpPr/>
          <p:nvPr/>
        </p:nvSpPr>
        <p:spPr>
          <a:xfrm>
            <a:off x="795528" y="1097280"/>
            <a:ext cx="7552944" cy="274320"/>
          </a:xfrm>
          <a:prstGeom prst="rect">
            <a:avLst/>
          </a:prstGeom>
          <a:noFill/>
          <a:ln/>
        </p:spPr>
        <p:txBody>
          <a:bodyPr wrap="square" rtlCol="0" anchor="ctr"/>
          <a:lstStyle/>
          <a:p>
            <a:pPr indent="0" marL="0">
              <a:buNone/>
            </a:pPr>
            <a:r>
              <a:rPr lang="en-US" sz="1400" b="1" dirty="0">
                <a:solidFill>
                  <a:srgbClr val="1B4332"/>
                </a:solidFill>
              </a:rPr>
              <a:t>DÉFINITION</a:t>
            </a:r>
            <a:endParaRPr lang="en-US" sz="1400" dirty="0"/>
          </a:p>
        </p:txBody>
      </p:sp>
      <p:sp>
        <p:nvSpPr>
          <p:cNvPr id="6" name="Text 4"/>
          <p:cNvSpPr/>
          <p:nvPr/>
        </p:nvSpPr>
        <p:spPr>
          <a:xfrm>
            <a:off x="795528" y="1371600"/>
            <a:ext cx="7552944" cy="731520"/>
          </a:xfrm>
          <a:prstGeom prst="rect">
            <a:avLst/>
          </a:prstGeom>
          <a:noFill/>
          <a:ln/>
        </p:spPr>
        <p:txBody>
          <a:bodyPr wrap="square" rtlCol="0" anchor="ctr"/>
          <a:lstStyle/>
          <a:p>
            <a:pPr indent="0" marL="0">
              <a:buNone/>
            </a:pPr>
            <a:r>
              <a:rPr lang="en-US" sz="1300" dirty="0">
                <a:solidFill>
                  <a:srgbClr val="2E6B4F"/>
                </a:solidFill>
              </a:rPr>
              <a:t>La température est une grandeur physique mesurable indirectement, liée à l'agitation moléculaire. Elle représente l'énergie moyenne d'une molécule.</a:t>
            </a:r>
            <a:endParaRPr lang="en-US" sz="1300" dirty="0"/>
          </a:p>
        </p:txBody>
      </p:sp>
      <p:sp>
        <p:nvSpPr>
          <p:cNvPr id="7" name="Text 5"/>
          <p:cNvSpPr/>
          <p:nvPr/>
        </p:nvSpPr>
        <p:spPr>
          <a:xfrm>
            <a:off x="612648" y="2377440"/>
            <a:ext cx="7918704" cy="320040"/>
          </a:xfrm>
          <a:prstGeom prst="rect">
            <a:avLst/>
          </a:prstGeom>
          <a:noFill/>
          <a:ln/>
        </p:spPr>
        <p:txBody>
          <a:bodyPr wrap="square" rtlCol="0" anchor="ctr"/>
          <a:lstStyle/>
          <a:p>
            <a:pPr indent="0" marL="0">
              <a:buNone/>
            </a:pPr>
            <a:r>
              <a:rPr lang="en-US" sz="1400" dirty="0">
                <a:solidFill>
                  <a:srgbClr val="2E6B4F"/>
                </a:solidFill>
              </a:rPr>
              <a:t>On peut définir la température comme une fonction de deux variables d'état :</a:t>
            </a:r>
            <a:endParaRPr lang="en-US" sz="1400" dirty="0"/>
          </a:p>
        </p:txBody>
      </p:sp>
      <p:sp>
        <p:nvSpPr>
          <p:cNvPr id="8" name="Shape 6"/>
          <p:cNvSpPr/>
          <p:nvPr/>
        </p:nvSpPr>
        <p:spPr>
          <a:xfrm>
            <a:off x="612648" y="2743200"/>
            <a:ext cx="7918704" cy="640080"/>
          </a:xfrm>
          <a:prstGeom prst="rect">
            <a:avLst/>
          </a:prstGeom>
          <a:solidFill>
            <a:srgbClr val="EEF7F1"/>
          </a:solidFill>
          <a:ln w="12700">
            <a:solidFill>
              <a:srgbClr val="A8D4BC"/>
            </a:solidFill>
            <a:prstDash val="solid"/>
          </a:ln>
        </p:spPr>
      </p:sp>
      <p:sp>
        <p:nvSpPr>
          <p:cNvPr id="9" name="Text 7"/>
          <p:cNvSpPr/>
          <p:nvPr/>
        </p:nvSpPr>
        <p:spPr>
          <a:xfrm>
            <a:off x="612648" y="2834640"/>
            <a:ext cx="7918704" cy="457200"/>
          </a:xfrm>
          <a:prstGeom prst="rect">
            <a:avLst/>
          </a:prstGeom>
          <a:noFill/>
          <a:ln/>
        </p:spPr>
        <p:txBody>
          <a:bodyPr wrap="square" rtlCol="0" anchor="ctr"/>
          <a:lstStyle/>
          <a:p>
            <a:pPr algn="ctr" indent="0" marL="0">
              <a:buNone/>
            </a:pPr>
            <a:r>
              <a:rPr lang="en-US" sz="2000" b="1" dirty="0">
                <a:solidFill>
                  <a:srgbClr val="1B4332"/>
                </a:solidFill>
                <a:latin typeface="Cambria Math" pitchFamily="34" charset="0"/>
                <a:ea typeface="Cambria Math" pitchFamily="34" charset="-122"/>
                <a:cs typeface="Cambria Math" pitchFamily="34" charset="-120"/>
              </a:rPr>
              <a:t>θ = f(x, y)</a:t>
            </a:r>
            <a:endParaRPr lang="en-US" sz="2000" dirty="0"/>
          </a:p>
        </p:txBody>
      </p:sp>
      <p:sp>
        <p:nvSpPr>
          <p:cNvPr id="10" name="Text 8"/>
          <p:cNvSpPr/>
          <p:nvPr/>
        </p:nvSpPr>
        <p:spPr>
          <a:xfrm>
            <a:off x="612648" y="3566160"/>
            <a:ext cx="7918704" cy="365760"/>
          </a:xfrm>
          <a:prstGeom prst="rect">
            <a:avLst/>
          </a:prstGeom>
          <a:noFill/>
          <a:ln/>
        </p:spPr>
        <p:txBody>
          <a:bodyPr wrap="square" rtlCol="0" anchor="ctr"/>
          <a:lstStyle/>
          <a:p>
            <a:pPr indent="0" marL="0">
              <a:buNone/>
            </a:pPr>
            <a:r>
              <a:rPr lang="en-US" sz="1300" dirty="0">
                <a:solidFill>
                  <a:srgbClr val="2E6B4F"/>
                </a:solidFill>
              </a:rPr>
              <a:t>Un thermomètre : système où une variable est constante, l'autre dépend de 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Échelle Centésimale (Celsius)</a:t>
            </a:r>
            <a:endParaRPr lang="en-US" sz="2200" dirty="0"/>
          </a:p>
        </p:txBody>
      </p:sp>
      <p:sp>
        <p:nvSpPr>
          <p:cNvPr id="4" name="Text 2"/>
          <p:cNvSpPr/>
          <p:nvPr/>
        </p:nvSpPr>
        <p:spPr>
          <a:xfrm>
            <a:off x="612648" y="1005840"/>
            <a:ext cx="7918704" cy="320040"/>
          </a:xfrm>
          <a:prstGeom prst="rect">
            <a:avLst/>
          </a:prstGeom>
          <a:noFill/>
          <a:ln/>
        </p:spPr>
        <p:txBody>
          <a:bodyPr wrap="square" rtlCol="0" anchor="ctr"/>
          <a:lstStyle/>
          <a:p>
            <a:pPr indent="0" marL="0">
              <a:buNone/>
            </a:pPr>
            <a:r>
              <a:rPr lang="en-US" sz="1400" dirty="0">
                <a:solidFill>
                  <a:srgbClr val="2E6B4F"/>
                </a:solidFill>
              </a:rPr>
              <a:t>L'échelle centésimale suppose une relation linéaire :</a:t>
            </a:r>
            <a:endParaRPr lang="en-US" sz="1400" dirty="0"/>
          </a:p>
        </p:txBody>
      </p:sp>
      <p:sp>
        <p:nvSpPr>
          <p:cNvPr id="5" name="Shape 3"/>
          <p:cNvSpPr/>
          <p:nvPr/>
        </p:nvSpPr>
        <p:spPr>
          <a:xfrm>
            <a:off x="612648" y="1371600"/>
            <a:ext cx="7918704" cy="548640"/>
          </a:xfrm>
          <a:prstGeom prst="rect">
            <a:avLst/>
          </a:prstGeom>
          <a:solidFill>
            <a:srgbClr val="EEF7F1"/>
          </a:solidFill>
          <a:ln w="12700">
            <a:solidFill>
              <a:srgbClr val="A8D4BC"/>
            </a:solidFill>
            <a:prstDash val="solid"/>
          </a:ln>
        </p:spPr>
      </p:sp>
      <p:sp>
        <p:nvSpPr>
          <p:cNvPr id="6" name="Text 4"/>
          <p:cNvSpPr/>
          <p:nvPr/>
        </p:nvSpPr>
        <p:spPr>
          <a:xfrm>
            <a:off x="612648" y="1417320"/>
            <a:ext cx="7918704" cy="457200"/>
          </a:xfrm>
          <a:prstGeom prst="rect">
            <a:avLst/>
          </a:prstGeom>
          <a:noFill/>
          <a:ln/>
        </p:spPr>
        <p:txBody>
          <a:bodyPr wrap="square" rtlCol="0" anchor="ctr"/>
          <a:lstStyle/>
          <a:p>
            <a:pPr algn="ctr" indent="0" marL="0">
              <a:buNone/>
            </a:pPr>
            <a:r>
              <a:rPr lang="en-US" sz="2000" b="1" dirty="0">
                <a:solidFill>
                  <a:srgbClr val="1B4332"/>
                </a:solidFill>
                <a:latin typeface="Cambria Math" pitchFamily="34" charset="0"/>
                <a:ea typeface="Cambria Math" pitchFamily="34" charset="-122"/>
                <a:cs typeface="Cambria Math" pitchFamily="34" charset="-120"/>
              </a:rPr>
              <a:t>θ = ax + b</a:t>
            </a:r>
            <a:endParaRPr lang="en-US" sz="2000" dirty="0"/>
          </a:p>
        </p:txBody>
      </p:sp>
      <p:sp>
        <p:nvSpPr>
          <p:cNvPr id="7" name="Text 5"/>
          <p:cNvSpPr/>
          <p:nvPr/>
        </p:nvSpPr>
        <p:spPr>
          <a:xfrm>
            <a:off x="612648" y="2103120"/>
            <a:ext cx="7918704" cy="274320"/>
          </a:xfrm>
          <a:prstGeom prst="rect">
            <a:avLst/>
          </a:prstGeom>
          <a:noFill/>
          <a:ln/>
        </p:spPr>
        <p:txBody>
          <a:bodyPr wrap="square" rtlCol="0" anchor="ctr"/>
          <a:lstStyle/>
          <a:p>
            <a:pPr indent="0" marL="0">
              <a:buNone/>
            </a:pPr>
            <a:r>
              <a:rPr lang="en-US" sz="1400" b="1" dirty="0">
                <a:solidFill>
                  <a:srgbClr val="1B4332"/>
                </a:solidFill>
              </a:rPr>
              <a:t>Deux points fixes :</a:t>
            </a:r>
            <a:endParaRPr lang="en-US" sz="1400" dirty="0"/>
          </a:p>
        </p:txBody>
      </p:sp>
      <p:sp>
        <p:nvSpPr>
          <p:cNvPr id="8" name="Shape 6"/>
          <p:cNvSpPr/>
          <p:nvPr/>
        </p:nvSpPr>
        <p:spPr>
          <a:xfrm>
            <a:off x="612648" y="2468880"/>
            <a:ext cx="3657600" cy="548640"/>
          </a:xfrm>
          <a:prstGeom prst="rect">
            <a:avLst/>
          </a:prstGeom>
          <a:solidFill>
            <a:srgbClr val="EEF7F1"/>
          </a:solidFill>
          <a:ln/>
        </p:spPr>
      </p:sp>
      <p:sp>
        <p:nvSpPr>
          <p:cNvPr id="9" name="Text 7"/>
          <p:cNvSpPr/>
          <p:nvPr/>
        </p:nvSpPr>
        <p:spPr>
          <a:xfrm>
            <a:off x="795528" y="2560320"/>
            <a:ext cx="3291840" cy="365760"/>
          </a:xfrm>
          <a:prstGeom prst="rect">
            <a:avLst/>
          </a:prstGeom>
          <a:noFill/>
          <a:ln/>
        </p:spPr>
        <p:txBody>
          <a:bodyPr wrap="square" rtlCol="0" anchor="ctr"/>
          <a:lstStyle/>
          <a:p>
            <a:pPr indent="0" marL="0">
              <a:buNone/>
            </a:pPr>
            <a:r>
              <a:rPr lang="en-US" sz="1300" dirty="0">
                <a:solidFill>
                  <a:srgbClr val="2E6B4F"/>
                </a:solidFill>
              </a:rPr>
              <a:t>Fusion de la glace : θ = 0°C</a:t>
            </a:r>
            <a:endParaRPr lang="en-US" sz="1300" dirty="0"/>
          </a:p>
        </p:txBody>
      </p:sp>
      <p:sp>
        <p:nvSpPr>
          <p:cNvPr id="10" name="Shape 8"/>
          <p:cNvSpPr/>
          <p:nvPr/>
        </p:nvSpPr>
        <p:spPr>
          <a:xfrm>
            <a:off x="4873752" y="2468880"/>
            <a:ext cx="3657600" cy="548640"/>
          </a:xfrm>
          <a:prstGeom prst="rect">
            <a:avLst/>
          </a:prstGeom>
          <a:solidFill>
            <a:srgbClr val="EEF7F1"/>
          </a:solidFill>
          <a:ln/>
        </p:spPr>
      </p:sp>
      <p:sp>
        <p:nvSpPr>
          <p:cNvPr id="11" name="Text 9"/>
          <p:cNvSpPr/>
          <p:nvPr/>
        </p:nvSpPr>
        <p:spPr>
          <a:xfrm>
            <a:off x="5056632" y="2560320"/>
            <a:ext cx="3291840" cy="365760"/>
          </a:xfrm>
          <a:prstGeom prst="rect">
            <a:avLst/>
          </a:prstGeom>
          <a:noFill/>
          <a:ln/>
        </p:spPr>
        <p:txBody>
          <a:bodyPr wrap="square" rtlCol="0" anchor="ctr"/>
          <a:lstStyle/>
          <a:p>
            <a:pPr indent="0" marL="0">
              <a:buNone/>
            </a:pPr>
            <a:r>
              <a:rPr lang="en-US" sz="1300" dirty="0">
                <a:solidFill>
                  <a:srgbClr val="2E6B4F"/>
                </a:solidFill>
              </a:rPr>
              <a:t>Ébullition de l'eau : θ = 100°C</a:t>
            </a:r>
            <a:endParaRPr lang="en-US" sz="1300" dirty="0"/>
          </a:p>
        </p:txBody>
      </p:sp>
      <p:sp>
        <p:nvSpPr>
          <p:cNvPr id="12" name="Text 10"/>
          <p:cNvSpPr/>
          <p:nvPr/>
        </p:nvSpPr>
        <p:spPr>
          <a:xfrm>
            <a:off x="612648" y="3200400"/>
            <a:ext cx="7918704" cy="548640"/>
          </a:xfrm>
          <a:prstGeom prst="rect">
            <a:avLst/>
          </a:prstGeom>
          <a:noFill/>
          <a:ln/>
        </p:spPr>
        <p:txBody>
          <a:bodyPr wrap="square" rtlCol="0" anchor="ctr"/>
          <a:lstStyle/>
          <a:p>
            <a:pPr indent="0" marL="0">
              <a:buNone/>
            </a:pPr>
            <a:r>
              <a:rPr lang="en-US" sz="1200" i="1" dirty="0">
                <a:solidFill>
                  <a:srgbClr val="E18C70"/>
                </a:solidFill>
              </a:rPr>
              <a:t>Limitation : Le coefficient α(θ) varie avec la température. L'échelle centésimale n'est pas universelle. Un thermomètre ne mesure pas la température, il la repère.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Température Absolue et Échelle Kelvin</a:t>
            </a:r>
            <a:endParaRPr lang="en-US" sz="2200" dirty="0"/>
          </a:p>
        </p:txBody>
      </p:sp>
      <p:sp>
        <p:nvSpPr>
          <p:cNvPr id="4" name="Text 2"/>
          <p:cNvSpPr/>
          <p:nvPr/>
        </p:nvSpPr>
        <p:spPr>
          <a:xfrm>
            <a:off x="612648" y="1005840"/>
            <a:ext cx="7918704" cy="320040"/>
          </a:xfrm>
          <a:prstGeom prst="rect">
            <a:avLst/>
          </a:prstGeom>
          <a:noFill/>
          <a:ln/>
        </p:spPr>
        <p:txBody>
          <a:bodyPr wrap="square" rtlCol="0" anchor="ctr"/>
          <a:lstStyle/>
          <a:p>
            <a:pPr indent="0" marL="0">
              <a:buNone/>
            </a:pPr>
            <a:r>
              <a:rPr lang="en-US" sz="1400" dirty="0">
                <a:solidFill>
                  <a:srgbClr val="2E6B4F"/>
                </a:solidFill>
              </a:rPr>
              <a:t>Pour les gaz à faible pression, le coefficient de dilatation est constant :</a:t>
            </a:r>
            <a:endParaRPr lang="en-US" sz="1400" dirty="0"/>
          </a:p>
        </p:txBody>
      </p:sp>
      <p:sp>
        <p:nvSpPr>
          <p:cNvPr id="5" name="Shape 3"/>
          <p:cNvSpPr/>
          <p:nvPr/>
        </p:nvSpPr>
        <p:spPr>
          <a:xfrm>
            <a:off x="612648" y="1371600"/>
            <a:ext cx="7918704" cy="548640"/>
          </a:xfrm>
          <a:prstGeom prst="rect">
            <a:avLst/>
          </a:prstGeom>
          <a:solidFill>
            <a:srgbClr val="EEF7F1"/>
          </a:solidFill>
          <a:ln w="12700">
            <a:solidFill>
              <a:srgbClr val="A8D4BC"/>
            </a:solidFill>
            <a:prstDash val="solid"/>
          </a:ln>
        </p:spPr>
      </p:sp>
      <p:sp>
        <p:nvSpPr>
          <p:cNvPr id="6" name="Text 4"/>
          <p:cNvSpPr/>
          <p:nvPr/>
        </p:nvSpPr>
        <p:spPr>
          <a:xfrm>
            <a:off x="612648" y="1417320"/>
            <a:ext cx="7918704" cy="457200"/>
          </a:xfrm>
          <a:prstGeom prst="rect">
            <a:avLst/>
          </a:prstGeom>
          <a:noFill/>
          <a:ln/>
        </p:spPr>
        <p:txBody>
          <a:bodyPr wrap="square" rtlCol="0" anchor="ctr"/>
          <a:lstStyle/>
          <a:p>
            <a:pPr algn="ctr" indent="0" marL="0">
              <a:buNone/>
            </a:pPr>
            <a:r>
              <a:rPr lang="en-US" sz="2000" b="1" dirty="0">
                <a:solidFill>
                  <a:srgbClr val="1B4332"/>
                </a:solidFill>
                <a:latin typeface="Cambria Math" pitchFamily="34" charset="0"/>
                <a:ea typeface="Cambria Math" pitchFamily="34" charset="-122"/>
                <a:cs typeface="Cambria Math" pitchFamily="34" charset="-120"/>
              </a:rPr>
              <a:t>α ≈ 1/273.15 K⁻¹</a:t>
            </a:r>
            <a:endParaRPr lang="en-US" sz="2000" dirty="0"/>
          </a:p>
        </p:txBody>
      </p:sp>
      <p:sp>
        <p:nvSpPr>
          <p:cNvPr id="7" name="Shape 5"/>
          <p:cNvSpPr/>
          <p:nvPr/>
        </p:nvSpPr>
        <p:spPr>
          <a:xfrm>
            <a:off x="612648" y="2103120"/>
            <a:ext cx="7918704" cy="1005840"/>
          </a:xfrm>
          <a:prstGeom prst="rect">
            <a:avLst/>
          </a:prstGeom>
          <a:solidFill>
            <a:srgbClr val="D8EEE2"/>
          </a:solidFill>
          <a:ln w="25400">
            <a:solidFill>
              <a:srgbClr val="DCBD74"/>
            </a:solidFill>
            <a:prstDash val="solid"/>
          </a:ln>
        </p:spPr>
      </p:sp>
      <p:sp>
        <p:nvSpPr>
          <p:cNvPr id="8" name="Text 6"/>
          <p:cNvSpPr/>
          <p:nvPr/>
        </p:nvSpPr>
        <p:spPr>
          <a:xfrm>
            <a:off x="795528" y="2194560"/>
            <a:ext cx="7552944" cy="274320"/>
          </a:xfrm>
          <a:prstGeom prst="rect">
            <a:avLst/>
          </a:prstGeom>
          <a:noFill/>
          <a:ln/>
        </p:spPr>
        <p:txBody>
          <a:bodyPr wrap="square" rtlCol="0" anchor="ctr"/>
          <a:lstStyle/>
          <a:p>
            <a:pPr indent="0" marL="0">
              <a:buNone/>
            </a:pPr>
            <a:r>
              <a:rPr lang="en-US" sz="1400" b="1" dirty="0">
                <a:solidFill>
                  <a:srgbClr val="1B4332"/>
                </a:solidFill>
              </a:rPr>
              <a:t>ZÉRO ABSOLU</a:t>
            </a:r>
            <a:endParaRPr lang="en-US" sz="1400" dirty="0"/>
          </a:p>
        </p:txBody>
      </p:sp>
      <p:sp>
        <p:nvSpPr>
          <p:cNvPr id="9" name="Text 7"/>
          <p:cNvSpPr/>
          <p:nvPr/>
        </p:nvSpPr>
        <p:spPr>
          <a:xfrm>
            <a:off x="795528" y="2468880"/>
            <a:ext cx="7552944" cy="548640"/>
          </a:xfrm>
          <a:prstGeom prst="rect">
            <a:avLst/>
          </a:prstGeom>
          <a:noFill/>
          <a:ln/>
        </p:spPr>
        <p:txBody>
          <a:bodyPr wrap="square" rtlCol="0" anchor="ctr"/>
          <a:lstStyle/>
          <a:p>
            <a:pPr indent="0" marL="0">
              <a:buNone/>
            </a:pPr>
            <a:r>
              <a:rPr lang="en-US" sz="1200" dirty="0">
                <a:solidFill>
                  <a:srgbClr val="2E6B4F"/>
                </a:solidFill>
              </a:rPr>
              <a:t>Température correspondant à une agitation moléculaire nulle. Un corps à cette température ne peut céder de la chaleur à aucun autre.</a:t>
            </a:r>
            <a:endParaRPr lang="en-US" sz="1200" dirty="0"/>
          </a:p>
          <a:p>
            <a:pPr indent="0" marL="0">
              <a:buNone/>
            </a:pPr>
            <a:endParaRPr lang="en-US" sz="1200" dirty="0"/>
          </a:p>
          <a:p>
            <a:pPr indent="0" marL="0">
              <a:buNone/>
            </a:pPr>
            <a:r>
              <a:rPr lang="en-US" sz="1200" dirty="0">
                <a:solidFill>
                  <a:srgbClr val="2E6B4F"/>
                </a:solidFill>
              </a:rPr>
              <a:t>T = 0 K correspond à θ = -273.15°C</a:t>
            </a:r>
            <a:endParaRPr lang="en-US" sz="1200" dirty="0"/>
          </a:p>
        </p:txBody>
      </p:sp>
      <p:sp>
        <p:nvSpPr>
          <p:cNvPr id="10" name="Text 8"/>
          <p:cNvSpPr/>
          <p:nvPr/>
        </p:nvSpPr>
        <p:spPr>
          <a:xfrm>
            <a:off x="612648" y="3291840"/>
            <a:ext cx="7918704" cy="365760"/>
          </a:xfrm>
          <a:prstGeom prst="rect">
            <a:avLst/>
          </a:prstGeom>
          <a:noFill/>
          <a:ln/>
        </p:spPr>
        <p:txBody>
          <a:bodyPr wrap="square" rtlCol="0" anchor="ctr"/>
          <a:lstStyle/>
          <a:p>
            <a:pPr indent="0" marL="0">
              <a:buNone/>
            </a:pPr>
            <a:r>
              <a:rPr lang="en-US" sz="1400" b="1" dirty="0">
                <a:solidFill>
                  <a:srgbClr val="1B4332"/>
                </a:solidFill>
              </a:rPr>
              <a:t>Point triple de l'eau : T = 273.16 K (0.01°C), P = 611 Pa</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Les Échelles de Température</a:t>
            </a:r>
            <a:endParaRPr lang="en-US" sz="2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12648" y="1005840"/>
          <a:ext cx="7918704" cy="365760"/>
        </p:xfrm>
        <a:graphic>
          <a:graphicData uri="http://schemas.openxmlformats.org/drawingml/2006/table">
            <a:tbl>
              <a:tblPr/>
              <a:tblGrid>
                <a:gridCol w="1828800"/>
                <a:gridCol w="2011680"/>
                <a:gridCol w="2011680"/>
                <a:gridCol w="2011680"/>
              </a:tblGrid>
              <a:tr h="365760">
                <a:tc>
                  <a:txBody>
                    <a:bodyPr/>
                    <a:lstStyle/>
                    <a:p>
                      <a:pPr indent="0" marL="0">
                        <a:buNone/>
                      </a:pPr>
                      <a:r>
                        <a:rPr lang="en-US" sz="1100" b="1" dirty="0">
                          <a:solidFill>
                            <a:srgbClr val="FFFFFF"/>
                          </a:solidFill>
                          <a:latin typeface="Microsoft YaHei" pitchFamily="34" charset="0"/>
                          <a:ea typeface="Microsoft YaHei" pitchFamily="34" charset="-122"/>
                          <a:cs typeface="Microsoft YaHei" pitchFamily="34" charset="-120"/>
                        </a:rPr>
                        <a:t>Échelle</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A8D4BC"/>
                      </a:solidFill>
                      <a:prstDash val="solid"/>
                      <a:round/>
                      <a:headEnd type="none" w="med" len="med"/>
                      <a:tailEnd type="none" w="med" len="med"/>
                    </a:lnL>
                    <a:lnR w="6350" cap="flat" cmpd="sng" algn="ctr">
                      <a:solidFill>
                        <a:srgbClr val="A8D4BC"/>
                      </a:solidFill>
                      <a:prstDash val="solid"/>
                      <a:round/>
                      <a:headEnd type="none" w="med" len="med"/>
                      <a:tailEnd type="none" w="med" len="med"/>
                    </a:lnR>
                    <a:lnT w="6350" cap="flat" cmpd="sng" algn="ctr">
                      <a:solidFill>
                        <a:srgbClr val="A8D4BC"/>
                      </a:solidFill>
                      <a:prstDash val="solid"/>
                      <a:round/>
                      <a:headEnd type="none" w="med" len="med"/>
                      <a:tailEnd type="none" w="med" len="med"/>
                    </a:lnT>
                    <a:lnB w="6350" cap="flat" cmpd="sng" algn="ctr">
                      <a:solidFill>
                        <a:srgbClr val="A8D4BC"/>
                      </a:solidFill>
                      <a:prstDash val="solid"/>
                      <a:round/>
                      <a:headEnd type="none" w="med" len="med"/>
                      <a:tailEnd type="none" w="med" len="med"/>
                    </a:lnB>
                    <a:solidFill>
                      <a:srgbClr val="1B4332"/>
                    </a:solidFill>
                  </a:tcPr>
                </a:tc>
                <a:tc>
                  <a:txBody>
                    <a:bodyPr/>
                    <a:lstStyle/>
                    <a:p>
                      <a:pPr indent="0" marL="0">
                        <a:buNone/>
                      </a:pPr>
                      <a:r>
                        <a:rPr lang="en-US" sz="1100" b="1" dirty="0">
                          <a:solidFill>
                            <a:srgbClr val="FFFFFF"/>
                          </a:solidFill>
                          <a:latin typeface="Microsoft YaHei" pitchFamily="34" charset="0"/>
                          <a:ea typeface="Microsoft YaHei" pitchFamily="34" charset="-122"/>
                          <a:cs typeface="Microsoft YaHei" pitchFamily="34" charset="-120"/>
                        </a:rPr>
                        <a:t>Zéro absolu</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A8D4BC"/>
                      </a:solidFill>
                      <a:prstDash val="solid"/>
                      <a:round/>
                      <a:headEnd type="none" w="med" len="med"/>
                      <a:tailEnd type="none" w="med" len="med"/>
                    </a:lnL>
                    <a:lnR w="6350" cap="flat" cmpd="sng" algn="ctr">
                      <a:solidFill>
                        <a:srgbClr val="A8D4BC"/>
                      </a:solidFill>
                      <a:prstDash val="solid"/>
                      <a:round/>
                      <a:headEnd type="none" w="med" len="med"/>
                      <a:tailEnd type="none" w="med" len="med"/>
                    </a:lnR>
                    <a:lnT w="6350" cap="flat" cmpd="sng" algn="ctr">
                      <a:solidFill>
                        <a:srgbClr val="A8D4BC"/>
                      </a:solidFill>
                      <a:prstDash val="solid"/>
                      <a:round/>
                      <a:headEnd type="none" w="med" len="med"/>
                      <a:tailEnd type="none" w="med" len="med"/>
                    </a:lnT>
                    <a:lnB w="6350" cap="flat" cmpd="sng" algn="ctr">
                      <a:solidFill>
                        <a:srgbClr val="A8D4BC"/>
                      </a:solidFill>
                      <a:prstDash val="solid"/>
                      <a:round/>
                      <a:headEnd type="none" w="med" len="med"/>
                      <a:tailEnd type="none" w="med" len="med"/>
                    </a:lnB>
                    <a:solidFill>
                      <a:srgbClr val="1B4332"/>
                    </a:solidFill>
                  </a:tcPr>
                </a:tc>
                <a:tc>
                  <a:txBody>
                    <a:bodyPr/>
                    <a:lstStyle/>
                    <a:p>
                      <a:pPr indent="0" marL="0">
                        <a:buNone/>
                      </a:pPr>
                      <a:r>
                        <a:rPr lang="en-US" sz="1100" b="1" dirty="0">
                          <a:solidFill>
                            <a:srgbClr val="FFFFFF"/>
                          </a:solidFill>
                          <a:latin typeface="Microsoft YaHei" pitchFamily="34" charset="0"/>
                          <a:ea typeface="Microsoft YaHei" pitchFamily="34" charset="-122"/>
                          <a:cs typeface="Microsoft YaHei" pitchFamily="34" charset="-120"/>
                        </a:rPr>
                        <a:t>Glace fondante</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A8D4BC"/>
                      </a:solidFill>
                      <a:prstDash val="solid"/>
                      <a:round/>
                      <a:headEnd type="none" w="med" len="med"/>
                      <a:tailEnd type="none" w="med" len="med"/>
                    </a:lnL>
                    <a:lnR w="6350" cap="flat" cmpd="sng" algn="ctr">
                      <a:solidFill>
                        <a:srgbClr val="A8D4BC"/>
                      </a:solidFill>
                      <a:prstDash val="solid"/>
                      <a:round/>
                      <a:headEnd type="none" w="med" len="med"/>
                      <a:tailEnd type="none" w="med" len="med"/>
                    </a:lnR>
                    <a:lnT w="6350" cap="flat" cmpd="sng" algn="ctr">
                      <a:solidFill>
                        <a:srgbClr val="A8D4BC"/>
                      </a:solidFill>
                      <a:prstDash val="solid"/>
                      <a:round/>
                      <a:headEnd type="none" w="med" len="med"/>
                      <a:tailEnd type="none" w="med" len="med"/>
                    </a:lnT>
                    <a:lnB w="6350" cap="flat" cmpd="sng" algn="ctr">
                      <a:solidFill>
                        <a:srgbClr val="A8D4BC"/>
                      </a:solidFill>
                      <a:prstDash val="solid"/>
                      <a:round/>
                      <a:headEnd type="none" w="med" len="med"/>
                      <a:tailEnd type="none" w="med" len="med"/>
                    </a:lnB>
                    <a:solidFill>
                      <a:srgbClr val="1B4332"/>
                    </a:solidFill>
                  </a:tcPr>
                </a:tc>
                <a:tc>
                  <a:txBody>
                    <a:bodyPr/>
                    <a:lstStyle/>
                    <a:p>
                      <a:pPr indent="0" marL="0">
                        <a:buNone/>
                      </a:pPr>
                      <a:r>
                        <a:rPr lang="en-US" sz="1100" b="1" dirty="0">
                          <a:solidFill>
                            <a:srgbClr val="FFFFFF"/>
                          </a:solidFill>
                          <a:latin typeface="Microsoft YaHei" pitchFamily="34" charset="0"/>
                          <a:ea typeface="Microsoft YaHei" pitchFamily="34" charset="-122"/>
                          <a:cs typeface="Microsoft YaHei" pitchFamily="34" charset="-120"/>
                        </a:rPr>
                        <a:t>Ébullition</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A8D4BC"/>
                      </a:solidFill>
                      <a:prstDash val="solid"/>
                      <a:round/>
                      <a:headEnd type="none" w="med" len="med"/>
                      <a:tailEnd type="none" w="med" len="med"/>
                    </a:lnL>
                    <a:lnR w="6350" cap="flat" cmpd="sng" algn="ctr">
                      <a:solidFill>
                        <a:srgbClr val="A8D4BC"/>
                      </a:solidFill>
                      <a:prstDash val="solid"/>
                      <a:round/>
                      <a:headEnd type="none" w="med" len="med"/>
                      <a:tailEnd type="none" w="med" len="med"/>
                    </a:lnR>
                    <a:lnT w="6350" cap="flat" cmpd="sng" algn="ctr">
                      <a:solidFill>
                        <a:srgbClr val="A8D4BC"/>
                      </a:solidFill>
                      <a:prstDash val="solid"/>
                      <a:round/>
                      <a:headEnd type="none" w="med" len="med"/>
                      <a:tailEnd type="none" w="med" len="med"/>
                    </a:lnT>
                    <a:lnB w="6350" cap="flat" cmpd="sng" algn="ctr">
                      <a:solidFill>
                        <a:srgbClr val="A8D4BC"/>
                      </a:solidFill>
                      <a:prstDash val="solid"/>
                      <a:round/>
                      <a:headEnd type="none" w="med" len="med"/>
                      <a:tailEnd type="none" w="med" len="med"/>
                    </a:lnB>
                    <a:solidFill>
                      <a:srgbClr val="1B4332"/>
                    </a:solidFill>
                  </a:tcPr>
                </a:tc>
              </a:tr>
            </a:tbl>
          </a:graphicData>
        </a:graphic>
      </p:graphicFrame>
      <p:graphicFrame>
        <p:nvGraphicFramePr>
          <p:cNvPr id="49" name="Table 1"/>
          <p:cNvGraphicFramePr>
            <a:graphicFrameLocks noGrp="1"/>
          </p:cNvGraphicFramePr>
          <p:nvPr>
            <p:extLst>
              <p:ext uri="{D42A27DB-BD31-4B8C-83A1-F6EECF244321}">
                <p14:modId xmlns:p14="http://schemas.microsoft.com/office/powerpoint/2010/main" val="1579011935"/>
              </p:ext>
            </p:extLst>
          </p:nvPr>
        </p:nvGraphicFramePr>
        <p:xfrm>
          <a:off x="612648" y="1417320"/>
          <a:ext cx="7918704" cy="320040"/>
        </p:xfrm>
        <a:graphic>
          <a:graphicData uri="http://schemas.openxmlformats.org/drawingml/2006/table">
            <a:tbl>
              <a:tblPr/>
              <a:tblGrid>
                <a:gridCol w="1828800"/>
                <a:gridCol w="2011680"/>
                <a:gridCol w="2011680"/>
                <a:gridCol w="2011680"/>
              </a:tblGrid>
              <a:tr h="320040">
                <a:tc>
                  <a:txBody>
                    <a:bodyPr/>
                    <a:lstStyle/>
                    <a:p>
                      <a:pPr indent="0" marL="0">
                        <a:buNone/>
                      </a:pPr>
                      <a:r>
                        <a:rPr lang="en-US" sz="1100" dirty="0">
                          <a:solidFill>
                            <a:srgbClr val="2E6B4F"/>
                          </a:solidFill>
                          <a:latin typeface="Microsoft YaHei" pitchFamily="34" charset="0"/>
                          <a:ea typeface="Microsoft YaHei" pitchFamily="34" charset="-122"/>
                          <a:cs typeface="Microsoft YaHei" pitchFamily="34" charset="-120"/>
                        </a:rPr>
                        <a:t>Kelvin</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A8D4BC"/>
                      </a:solidFill>
                      <a:prstDash val="solid"/>
                      <a:round/>
                      <a:headEnd type="none" w="med" len="med"/>
                      <a:tailEnd type="none" w="med" len="med"/>
                    </a:lnL>
                    <a:lnR w="6350" cap="flat" cmpd="sng" algn="ctr">
                      <a:solidFill>
                        <a:srgbClr val="A8D4BC"/>
                      </a:solidFill>
                      <a:prstDash val="solid"/>
                      <a:round/>
                      <a:headEnd type="none" w="med" len="med"/>
                      <a:tailEnd type="none" w="med" len="med"/>
                    </a:lnR>
                    <a:lnT w="6350" cap="flat" cmpd="sng" algn="ctr">
                      <a:solidFill>
                        <a:srgbClr val="A8D4BC"/>
                      </a:solidFill>
                      <a:prstDash val="solid"/>
                      <a:round/>
                      <a:headEnd type="none" w="med" len="med"/>
                      <a:tailEnd type="none" w="med" len="med"/>
                    </a:lnT>
                    <a:lnB w="6350" cap="flat" cmpd="sng" algn="ctr">
                      <a:solidFill>
                        <a:srgbClr val="A8D4BC"/>
                      </a:solidFill>
                      <a:prstDash val="solid"/>
                      <a:round/>
                      <a:headEnd type="none" w="med" len="med"/>
                      <a:tailEnd type="none" w="med" len="med"/>
                    </a:lnB>
                  </a:tcPr>
                </a:tc>
                <a:tc>
                  <a:txBody>
                    <a:bodyPr/>
                    <a:lstStyle/>
                    <a:p>
                      <a:pPr indent="0" marL="0">
                        <a:buNone/>
                      </a:pPr>
                      <a:r>
                        <a:rPr lang="en-US" sz="1100" dirty="0">
                          <a:solidFill>
                            <a:srgbClr val="2E6B4F"/>
                          </a:solidFill>
                          <a:latin typeface="Microsoft YaHei" pitchFamily="34" charset="0"/>
                          <a:ea typeface="Microsoft YaHei" pitchFamily="34" charset="-122"/>
                          <a:cs typeface="Microsoft YaHei" pitchFamily="34" charset="-120"/>
                        </a:rPr>
                        <a:t>0 K</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A8D4BC"/>
                      </a:solidFill>
                      <a:prstDash val="solid"/>
                      <a:round/>
                      <a:headEnd type="none" w="med" len="med"/>
                      <a:tailEnd type="none" w="med" len="med"/>
                    </a:lnL>
                    <a:lnR w="6350" cap="flat" cmpd="sng" algn="ctr">
                      <a:solidFill>
                        <a:srgbClr val="A8D4BC"/>
                      </a:solidFill>
                      <a:prstDash val="solid"/>
                      <a:round/>
                      <a:headEnd type="none" w="med" len="med"/>
                      <a:tailEnd type="none" w="med" len="med"/>
                    </a:lnR>
                    <a:lnT w="6350" cap="flat" cmpd="sng" algn="ctr">
                      <a:solidFill>
                        <a:srgbClr val="A8D4BC"/>
                      </a:solidFill>
                      <a:prstDash val="solid"/>
                      <a:round/>
                      <a:headEnd type="none" w="med" len="med"/>
                      <a:tailEnd type="none" w="med" len="med"/>
                    </a:lnT>
                    <a:lnB w="6350" cap="flat" cmpd="sng" algn="ctr">
                      <a:solidFill>
                        <a:srgbClr val="A8D4BC"/>
                      </a:solidFill>
                      <a:prstDash val="solid"/>
                      <a:round/>
                      <a:headEnd type="none" w="med" len="med"/>
                      <a:tailEnd type="none" w="med" len="med"/>
                    </a:lnB>
                  </a:tcPr>
                </a:tc>
                <a:tc>
                  <a:txBody>
                    <a:bodyPr/>
                    <a:lstStyle/>
                    <a:p>
                      <a:pPr indent="0" marL="0">
                        <a:buNone/>
                      </a:pPr>
                      <a:r>
                        <a:rPr lang="en-US" sz="1100" dirty="0">
                          <a:solidFill>
                            <a:srgbClr val="2E6B4F"/>
                          </a:solidFill>
                          <a:latin typeface="Microsoft YaHei" pitchFamily="34" charset="0"/>
                          <a:ea typeface="Microsoft YaHei" pitchFamily="34" charset="-122"/>
                          <a:cs typeface="Microsoft YaHei" pitchFamily="34" charset="-120"/>
                        </a:rPr>
                        <a:t>273.15 K</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A8D4BC"/>
                      </a:solidFill>
                      <a:prstDash val="solid"/>
                      <a:round/>
                      <a:headEnd type="none" w="med" len="med"/>
                      <a:tailEnd type="none" w="med" len="med"/>
                    </a:lnL>
                    <a:lnR w="6350" cap="flat" cmpd="sng" algn="ctr">
                      <a:solidFill>
                        <a:srgbClr val="A8D4BC"/>
                      </a:solidFill>
                      <a:prstDash val="solid"/>
                      <a:round/>
                      <a:headEnd type="none" w="med" len="med"/>
                      <a:tailEnd type="none" w="med" len="med"/>
                    </a:lnR>
                    <a:lnT w="6350" cap="flat" cmpd="sng" algn="ctr">
                      <a:solidFill>
                        <a:srgbClr val="A8D4BC"/>
                      </a:solidFill>
                      <a:prstDash val="solid"/>
                      <a:round/>
                      <a:headEnd type="none" w="med" len="med"/>
                      <a:tailEnd type="none" w="med" len="med"/>
                    </a:lnT>
                    <a:lnB w="6350" cap="flat" cmpd="sng" algn="ctr">
                      <a:solidFill>
                        <a:srgbClr val="A8D4BC"/>
                      </a:solidFill>
                      <a:prstDash val="solid"/>
                      <a:round/>
                      <a:headEnd type="none" w="med" len="med"/>
                      <a:tailEnd type="none" w="med" len="med"/>
                    </a:lnB>
                  </a:tcPr>
                </a:tc>
                <a:tc>
                  <a:txBody>
                    <a:bodyPr/>
                    <a:lstStyle/>
                    <a:p>
                      <a:pPr indent="0" marL="0">
                        <a:buNone/>
                      </a:pPr>
                      <a:r>
                        <a:rPr lang="en-US" sz="1100" dirty="0">
                          <a:solidFill>
                            <a:srgbClr val="2E6B4F"/>
                          </a:solidFill>
                          <a:latin typeface="Microsoft YaHei" pitchFamily="34" charset="0"/>
                          <a:ea typeface="Microsoft YaHei" pitchFamily="34" charset="-122"/>
                          <a:cs typeface="Microsoft YaHei" pitchFamily="34" charset="-120"/>
                        </a:rPr>
                        <a:t>373.15 K</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A8D4BC"/>
                      </a:solidFill>
                      <a:prstDash val="solid"/>
                      <a:round/>
                      <a:headEnd type="none" w="med" len="med"/>
                      <a:tailEnd type="none" w="med" len="med"/>
                    </a:lnL>
                    <a:lnR w="6350" cap="flat" cmpd="sng" algn="ctr">
                      <a:solidFill>
                        <a:srgbClr val="A8D4BC"/>
                      </a:solidFill>
                      <a:prstDash val="solid"/>
                      <a:round/>
                      <a:headEnd type="none" w="med" len="med"/>
                      <a:tailEnd type="none" w="med" len="med"/>
                    </a:lnR>
                    <a:lnT w="6350" cap="flat" cmpd="sng" algn="ctr">
                      <a:solidFill>
                        <a:srgbClr val="A8D4BC"/>
                      </a:solidFill>
                      <a:prstDash val="solid"/>
                      <a:round/>
                      <a:headEnd type="none" w="med" len="med"/>
                      <a:tailEnd type="none" w="med" len="med"/>
                    </a:lnT>
                    <a:lnB w="6350" cap="flat" cmpd="sng" algn="ctr">
                      <a:solidFill>
                        <a:srgbClr val="A8D4BC"/>
                      </a:solidFill>
                      <a:prstDash val="solid"/>
                      <a:round/>
                      <a:headEnd type="none" w="med" len="med"/>
                      <a:tailEnd type="none" w="med" len="med"/>
                    </a:lnB>
                  </a:tcPr>
                </a:tc>
              </a:tr>
            </a:tbl>
          </a:graphicData>
        </a:graphic>
      </p:graphicFrame>
      <p:graphicFrame>
        <p:nvGraphicFramePr>
          <p:cNvPr id="73" name="Table 2"/>
          <p:cNvGraphicFramePr>
            <a:graphicFrameLocks noGrp="1"/>
          </p:cNvGraphicFramePr>
          <p:nvPr>
            <p:extLst>
              <p:ext uri="{D42A27DB-BD31-4B8C-83A1-F6EECF244321}">
                <p14:modId xmlns:p14="http://schemas.microsoft.com/office/powerpoint/2010/main" val="1579011935"/>
              </p:ext>
            </p:extLst>
          </p:nvPr>
        </p:nvGraphicFramePr>
        <p:xfrm>
          <a:off x="612648" y="1783080"/>
          <a:ext cx="7918704" cy="320040"/>
        </p:xfrm>
        <a:graphic>
          <a:graphicData uri="http://schemas.openxmlformats.org/drawingml/2006/table">
            <a:tbl>
              <a:tblPr/>
              <a:tblGrid>
                <a:gridCol w="1828800"/>
                <a:gridCol w="2011680"/>
                <a:gridCol w="2011680"/>
                <a:gridCol w="2011680"/>
              </a:tblGrid>
              <a:tr h="320040">
                <a:tc>
                  <a:txBody>
                    <a:bodyPr/>
                    <a:lstStyle/>
                    <a:p>
                      <a:pPr indent="0" marL="0">
                        <a:buNone/>
                      </a:pPr>
                      <a:r>
                        <a:rPr lang="en-US" sz="1100" dirty="0">
                          <a:solidFill>
                            <a:srgbClr val="2E6B4F"/>
                          </a:solidFill>
                          <a:latin typeface="Microsoft YaHei" pitchFamily="34" charset="0"/>
                          <a:ea typeface="Microsoft YaHei" pitchFamily="34" charset="-122"/>
                          <a:cs typeface="Microsoft YaHei" pitchFamily="34" charset="-120"/>
                        </a:rPr>
                        <a:t>Celsius</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A8D4BC"/>
                      </a:solidFill>
                      <a:prstDash val="solid"/>
                      <a:round/>
                      <a:headEnd type="none" w="med" len="med"/>
                      <a:tailEnd type="none" w="med" len="med"/>
                    </a:lnL>
                    <a:lnR w="6350" cap="flat" cmpd="sng" algn="ctr">
                      <a:solidFill>
                        <a:srgbClr val="A8D4BC"/>
                      </a:solidFill>
                      <a:prstDash val="solid"/>
                      <a:round/>
                      <a:headEnd type="none" w="med" len="med"/>
                      <a:tailEnd type="none" w="med" len="med"/>
                    </a:lnR>
                    <a:lnT w="6350" cap="flat" cmpd="sng" algn="ctr">
                      <a:solidFill>
                        <a:srgbClr val="A8D4BC"/>
                      </a:solidFill>
                      <a:prstDash val="solid"/>
                      <a:round/>
                      <a:headEnd type="none" w="med" len="med"/>
                      <a:tailEnd type="none" w="med" len="med"/>
                    </a:lnT>
                    <a:lnB w="6350" cap="flat" cmpd="sng" algn="ctr">
                      <a:solidFill>
                        <a:srgbClr val="A8D4BC"/>
                      </a:solidFill>
                      <a:prstDash val="solid"/>
                      <a:round/>
                      <a:headEnd type="none" w="med" len="med"/>
                      <a:tailEnd type="none" w="med" len="med"/>
                    </a:lnB>
                  </a:tcPr>
                </a:tc>
                <a:tc>
                  <a:txBody>
                    <a:bodyPr/>
                    <a:lstStyle/>
                    <a:p>
                      <a:pPr indent="0" marL="0">
                        <a:buNone/>
                      </a:pPr>
                      <a:r>
                        <a:rPr lang="en-US" sz="1100" dirty="0">
                          <a:solidFill>
                            <a:srgbClr val="2E6B4F"/>
                          </a:solidFill>
                          <a:latin typeface="Microsoft YaHei" pitchFamily="34" charset="0"/>
                          <a:ea typeface="Microsoft YaHei" pitchFamily="34" charset="-122"/>
                          <a:cs typeface="Microsoft YaHei" pitchFamily="34" charset="-120"/>
                        </a:rPr>
                        <a:t>-273.15°C</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A8D4BC"/>
                      </a:solidFill>
                      <a:prstDash val="solid"/>
                      <a:round/>
                      <a:headEnd type="none" w="med" len="med"/>
                      <a:tailEnd type="none" w="med" len="med"/>
                    </a:lnL>
                    <a:lnR w="6350" cap="flat" cmpd="sng" algn="ctr">
                      <a:solidFill>
                        <a:srgbClr val="A8D4BC"/>
                      </a:solidFill>
                      <a:prstDash val="solid"/>
                      <a:round/>
                      <a:headEnd type="none" w="med" len="med"/>
                      <a:tailEnd type="none" w="med" len="med"/>
                    </a:lnR>
                    <a:lnT w="6350" cap="flat" cmpd="sng" algn="ctr">
                      <a:solidFill>
                        <a:srgbClr val="A8D4BC"/>
                      </a:solidFill>
                      <a:prstDash val="solid"/>
                      <a:round/>
                      <a:headEnd type="none" w="med" len="med"/>
                      <a:tailEnd type="none" w="med" len="med"/>
                    </a:lnT>
                    <a:lnB w="6350" cap="flat" cmpd="sng" algn="ctr">
                      <a:solidFill>
                        <a:srgbClr val="A8D4BC"/>
                      </a:solidFill>
                      <a:prstDash val="solid"/>
                      <a:round/>
                      <a:headEnd type="none" w="med" len="med"/>
                      <a:tailEnd type="none" w="med" len="med"/>
                    </a:lnB>
                  </a:tcPr>
                </a:tc>
                <a:tc>
                  <a:txBody>
                    <a:bodyPr/>
                    <a:lstStyle/>
                    <a:p>
                      <a:pPr indent="0" marL="0">
                        <a:buNone/>
                      </a:pPr>
                      <a:r>
                        <a:rPr lang="en-US" sz="1100" dirty="0">
                          <a:solidFill>
                            <a:srgbClr val="2E6B4F"/>
                          </a:solidFill>
                          <a:latin typeface="Microsoft YaHei" pitchFamily="34" charset="0"/>
                          <a:ea typeface="Microsoft YaHei" pitchFamily="34" charset="-122"/>
                          <a:cs typeface="Microsoft YaHei" pitchFamily="34" charset="-120"/>
                        </a:rPr>
                        <a:t>0°C</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A8D4BC"/>
                      </a:solidFill>
                      <a:prstDash val="solid"/>
                      <a:round/>
                      <a:headEnd type="none" w="med" len="med"/>
                      <a:tailEnd type="none" w="med" len="med"/>
                    </a:lnL>
                    <a:lnR w="6350" cap="flat" cmpd="sng" algn="ctr">
                      <a:solidFill>
                        <a:srgbClr val="A8D4BC"/>
                      </a:solidFill>
                      <a:prstDash val="solid"/>
                      <a:round/>
                      <a:headEnd type="none" w="med" len="med"/>
                      <a:tailEnd type="none" w="med" len="med"/>
                    </a:lnR>
                    <a:lnT w="6350" cap="flat" cmpd="sng" algn="ctr">
                      <a:solidFill>
                        <a:srgbClr val="A8D4BC"/>
                      </a:solidFill>
                      <a:prstDash val="solid"/>
                      <a:round/>
                      <a:headEnd type="none" w="med" len="med"/>
                      <a:tailEnd type="none" w="med" len="med"/>
                    </a:lnT>
                    <a:lnB w="6350" cap="flat" cmpd="sng" algn="ctr">
                      <a:solidFill>
                        <a:srgbClr val="A8D4BC"/>
                      </a:solidFill>
                      <a:prstDash val="solid"/>
                      <a:round/>
                      <a:headEnd type="none" w="med" len="med"/>
                      <a:tailEnd type="none" w="med" len="med"/>
                    </a:lnB>
                  </a:tcPr>
                </a:tc>
                <a:tc>
                  <a:txBody>
                    <a:bodyPr/>
                    <a:lstStyle/>
                    <a:p>
                      <a:pPr indent="0" marL="0">
                        <a:buNone/>
                      </a:pPr>
                      <a:r>
                        <a:rPr lang="en-US" sz="1100" dirty="0">
                          <a:solidFill>
                            <a:srgbClr val="2E6B4F"/>
                          </a:solidFill>
                          <a:latin typeface="Microsoft YaHei" pitchFamily="34" charset="0"/>
                          <a:ea typeface="Microsoft YaHei" pitchFamily="34" charset="-122"/>
                          <a:cs typeface="Microsoft YaHei" pitchFamily="34" charset="-120"/>
                        </a:rPr>
                        <a:t>100°C</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A8D4BC"/>
                      </a:solidFill>
                      <a:prstDash val="solid"/>
                      <a:round/>
                      <a:headEnd type="none" w="med" len="med"/>
                      <a:tailEnd type="none" w="med" len="med"/>
                    </a:lnL>
                    <a:lnR w="6350" cap="flat" cmpd="sng" algn="ctr">
                      <a:solidFill>
                        <a:srgbClr val="A8D4BC"/>
                      </a:solidFill>
                      <a:prstDash val="solid"/>
                      <a:round/>
                      <a:headEnd type="none" w="med" len="med"/>
                      <a:tailEnd type="none" w="med" len="med"/>
                    </a:lnR>
                    <a:lnT w="6350" cap="flat" cmpd="sng" algn="ctr">
                      <a:solidFill>
                        <a:srgbClr val="A8D4BC"/>
                      </a:solidFill>
                      <a:prstDash val="solid"/>
                      <a:round/>
                      <a:headEnd type="none" w="med" len="med"/>
                      <a:tailEnd type="none" w="med" len="med"/>
                    </a:lnT>
                    <a:lnB w="6350" cap="flat" cmpd="sng" algn="ctr">
                      <a:solidFill>
                        <a:srgbClr val="A8D4BC"/>
                      </a:solidFill>
                      <a:prstDash val="solid"/>
                      <a:round/>
                      <a:headEnd type="none" w="med" len="med"/>
                      <a:tailEnd type="none" w="med" len="med"/>
                    </a:lnB>
                  </a:tcPr>
                </a:tc>
              </a:tr>
            </a:tbl>
          </a:graphicData>
        </a:graphic>
      </p:graphicFrame>
      <p:graphicFrame>
        <p:nvGraphicFramePr>
          <p:cNvPr id="97" name="Table 3"/>
          <p:cNvGraphicFramePr>
            <a:graphicFrameLocks noGrp="1"/>
          </p:cNvGraphicFramePr>
          <p:nvPr>
            <p:extLst>
              <p:ext uri="{D42A27DB-BD31-4B8C-83A1-F6EECF244321}">
                <p14:modId xmlns:p14="http://schemas.microsoft.com/office/powerpoint/2010/main" val="1579011935"/>
              </p:ext>
            </p:extLst>
          </p:nvPr>
        </p:nvGraphicFramePr>
        <p:xfrm>
          <a:off x="612648" y="2148840"/>
          <a:ext cx="7918704" cy="320040"/>
        </p:xfrm>
        <a:graphic>
          <a:graphicData uri="http://schemas.openxmlformats.org/drawingml/2006/table">
            <a:tbl>
              <a:tblPr/>
              <a:tblGrid>
                <a:gridCol w="1828800"/>
                <a:gridCol w="2011680"/>
                <a:gridCol w="2011680"/>
                <a:gridCol w="2011680"/>
              </a:tblGrid>
              <a:tr h="320040">
                <a:tc>
                  <a:txBody>
                    <a:bodyPr/>
                    <a:lstStyle/>
                    <a:p>
                      <a:pPr indent="0" marL="0">
                        <a:buNone/>
                      </a:pPr>
                      <a:r>
                        <a:rPr lang="en-US" sz="1100" dirty="0">
                          <a:solidFill>
                            <a:srgbClr val="2E6B4F"/>
                          </a:solidFill>
                          <a:latin typeface="Microsoft YaHei" pitchFamily="34" charset="0"/>
                          <a:ea typeface="Microsoft YaHei" pitchFamily="34" charset="-122"/>
                          <a:cs typeface="Microsoft YaHei" pitchFamily="34" charset="-120"/>
                        </a:rPr>
                        <a:t>Fahrenheit</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A8D4BC"/>
                      </a:solidFill>
                      <a:prstDash val="solid"/>
                      <a:round/>
                      <a:headEnd type="none" w="med" len="med"/>
                      <a:tailEnd type="none" w="med" len="med"/>
                    </a:lnL>
                    <a:lnR w="6350" cap="flat" cmpd="sng" algn="ctr">
                      <a:solidFill>
                        <a:srgbClr val="A8D4BC"/>
                      </a:solidFill>
                      <a:prstDash val="solid"/>
                      <a:round/>
                      <a:headEnd type="none" w="med" len="med"/>
                      <a:tailEnd type="none" w="med" len="med"/>
                    </a:lnR>
                    <a:lnT w="6350" cap="flat" cmpd="sng" algn="ctr">
                      <a:solidFill>
                        <a:srgbClr val="A8D4BC"/>
                      </a:solidFill>
                      <a:prstDash val="solid"/>
                      <a:round/>
                      <a:headEnd type="none" w="med" len="med"/>
                      <a:tailEnd type="none" w="med" len="med"/>
                    </a:lnT>
                    <a:lnB w="6350" cap="flat" cmpd="sng" algn="ctr">
                      <a:solidFill>
                        <a:srgbClr val="A8D4BC"/>
                      </a:solidFill>
                      <a:prstDash val="solid"/>
                      <a:round/>
                      <a:headEnd type="none" w="med" len="med"/>
                      <a:tailEnd type="none" w="med" len="med"/>
                    </a:lnB>
                  </a:tcPr>
                </a:tc>
                <a:tc>
                  <a:txBody>
                    <a:bodyPr/>
                    <a:lstStyle/>
                    <a:p>
                      <a:pPr indent="0" marL="0">
                        <a:buNone/>
                      </a:pPr>
                      <a:r>
                        <a:rPr lang="en-US" sz="1100" dirty="0">
                          <a:solidFill>
                            <a:srgbClr val="2E6B4F"/>
                          </a:solidFill>
                          <a:latin typeface="Microsoft YaHei" pitchFamily="34" charset="0"/>
                          <a:ea typeface="Microsoft YaHei" pitchFamily="34" charset="-122"/>
                          <a:cs typeface="Microsoft YaHei" pitchFamily="34" charset="-120"/>
                        </a:rPr>
                        <a:t>-459.67°F</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A8D4BC"/>
                      </a:solidFill>
                      <a:prstDash val="solid"/>
                      <a:round/>
                      <a:headEnd type="none" w="med" len="med"/>
                      <a:tailEnd type="none" w="med" len="med"/>
                    </a:lnL>
                    <a:lnR w="6350" cap="flat" cmpd="sng" algn="ctr">
                      <a:solidFill>
                        <a:srgbClr val="A8D4BC"/>
                      </a:solidFill>
                      <a:prstDash val="solid"/>
                      <a:round/>
                      <a:headEnd type="none" w="med" len="med"/>
                      <a:tailEnd type="none" w="med" len="med"/>
                    </a:lnR>
                    <a:lnT w="6350" cap="flat" cmpd="sng" algn="ctr">
                      <a:solidFill>
                        <a:srgbClr val="A8D4BC"/>
                      </a:solidFill>
                      <a:prstDash val="solid"/>
                      <a:round/>
                      <a:headEnd type="none" w="med" len="med"/>
                      <a:tailEnd type="none" w="med" len="med"/>
                    </a:lnT>
                    <a:lnB w="6350" cap="flat" cmpd="sng" algn="ctr">
                      <a:solidFill>
                        <a:srgbClr val="A8D4BC"/>
                      </a:solidFill>
                      <a:prstDash val="solid"/>
                      <a:round/>
                      <a:headEnd type="none" w="med" len="med"/>
                      <a:tailEnd type="none" w="med" len="med"/>
                    </a:lnB>
                  </a:tcPr>
                </a:tc>
                <a:tc>
                  <a:txBody>
                    <a:bodyPr/>
                    <a:lstStyle/>
                    <a:p>
                      <a:pPr indent="0" marL="0">
                        <a:buNone/>
                      </a:pPr>
                      <a:r>
                        <a:rPr lang="en-US" sz="1100" dirty="0">
                          <a:solidFill>
                            <a:srgbClr val="2E6B4F"/>
                          </a:solidFill>
                          <a:latin typeface="Microsoft YaHei" pitchFamily="34" charset="0"/>
                          <a:ea typeface="Microsoft YaHei" pitchFamily="34" charset="-122"/>
                          <a:cs typeface="Microsoft YaHei" pitchFamily="34" charset="-120"/>
                        </a:rPr>
                        <a:t>32°F</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A8D4BC"/>
                      </a:solidFill>
                      <a:prstDash val="solid"/>
                      <a:round/>
                      <a:headEnd type="none" w="med" len="med"/>
                      <a:tailEnd type="none" w="med" len="med"/>
                    </a:lnL>
                    <a:lnR w="6350" cap="flat" cmpd="sng" algn="ctr">
                      <a:solidFill>
                        <a:srgbClr val="A8D4BC"/>
                      </a:solidFill>
                      <a:prstDash val="solid"/>
                      <a:round/>
                      <a:headEnd type="none" w="med" len="med"/>
                      <a:tailEnd type="none" w="med" len="med"/>
                    </a:lnR>
                    <a:lnT w="6350" cap="flat" cmpd="sng" algn="ctr">
                      <a:solidFill>
                        <a:srgbClr val="A8D4BC"/>
                      </a:solidFill>
                      <a:prstDash val="solid"/>
                      <a:round/>
                      <a:headEnd type="none" w="med" len="med"/>
                      <a:tailEnd type="none" w="med" len="med"/>
                    </a:lnT>
                    <a:lnB w="6350" cap="flat" cmpd="sng" algn="ctr">
                      <a:solidFill>
                        <a:srgbClr val="A8D4BC"/>
                      </a:solidFill>
                      <a:prstDash val="solid"/>
                      <a:round/>
                      <a:headEnd type="none" w="med" len="med"/>
                      <a:tailEnd type="none" w="med" len="med"/>
                    </a:lnB>
                  </a:tcPr>
                </a:tc>
                <a:tc>
                  <a:txBody>
                    <a:bodyPr/>
                    <a:lstStyle/>
                    <a:p>
                      <a:pPr indent="0" marL="0">
                        <a:buNone/>
                      </a:pPr>
                      <a:r>
                        <a:rPr lang="en-US" sz="1100" dirty="0">
                          <a:solidFill>
                            <a:srgbClr val="2E6B4F"/>
                          </a:solidFill>
                          <a:latin typeface="Microsoft YaHei" pitchFamily="34" charset="0"/>
                          <a:ea typeface="Microsoft YaHei" pitchFamily="34" charset="-122"/>
                          <a:cs typeface="Microsoft YaHei" pitchFamily="34" charset="-120"/>
                        </a:rPr>
                        <a:t>212°F</a:t>
                      </a:r>
                      <a:endParaRPr lang="en-US" sz="1100" dirty="0">
                        <a:latin typeface="Microsoft YaHei" charset="0"/>
                        <a:ea typeface="Microsoft YaHei" charset="0"/>
                        <a:cs typeface="Microsoft YaHei" charset="0"/>
                      </a:endParaRPr>
                    </a:p>
                  </a:txBody>
                  <a:tcPr marL="91440" marR="91440" marT="45720" marB="45720">
                    <a:lnL w="6350" cap="flat" cmpd="sng" algn="ctr">
                      <a:solidFill>
                        <a:srgbClr val="A8D4BC"/>
                      </a:solidFill>
                      <a:prstDash val="solid"/>
                      <a:round/>
                      <a:headEnd type="none" w="med" len="med"/>
                      <a:tailEnd type="none" w="med" len="med"/>
                    </a:lnL>
                    <a:lnR w="6350" cap="flat" cmpd="sng" algn="ctr">
                      <a:solidFill>
                        <a:srgbClr val="A8D4BC"/>
                      </a:solidFill>
                      <a:prstDash val="solid"/>
                      <a:round/>
                      <a:headEnd type="none" w="med" len="med"/>
                      <a:tailEnd type="none" w="med" len="med"/>
                    </a:lnR>
                    <a:lnT w="6350" cap="flat" cmpd="sng" algn="ctr">
                      <a:solidFill>
                        <a:srgbClr val="A8D4BC"/>
                      </a:solidFill>
                      <a:prstDash val="solid"/>
                      <a:round/>
                      <a:headEnd type="none" w="med" len="med"/>
                      <a:tailEnd type="none" w="med" len="med"/>
                    </a:lnT>
                    <a:lnB w="6350" cap="flat" cmpd="sng" algn="ctr">
                      <a:solidFill>
                        <a:srgbClr val="A8D4BC"/>
                      </a:solidFill>
                      <a:prstDash val="solid"/>
                      <a:round/>
                      <a:headEnd type="none" w="med" len="med"/>
                      <a:tailEnd type="none" w="med" len="med"/>
                    </a:lnB>
                  </a:tcPr>
                </a:tc>
              </a:tr>
            </a:tbl>
          </a:graphicData>
        </a:graphic>
      </p:graphicFrame>
      <p:sp>
        <p:nvSpPr>
          <p:cNvPr id="8" name="Text 2"/>
          <p:cNvSpPr/>
          <p:nvPr/>
        </p:nvSpPr>
        <p:spPr>
          <a:xfrm>
            <a:off x="612648" y="2743200"/>
            <a:ext cx="7918704" cy="274320"/>
          </a:xfrm>
          <a:prstGeom prst="rect">
            <a:avLst/>
          </a:prstGeom>
          <a:noFill/>
          <a:ln/>
        </p:spPr>
        <p:txBody>
          <a:bodyPr wrap="square" rtlCol="0" anchor="ctr"/>
          <a:lstStyle/>
          <a:p>
            <a:pPr indent="0" marL="0">
              <a:buNone/>
            </a:pPr>
            <a:r>
              <a:rPr lang="en-US" sz="1400" b="1" dirty="0">
                <a:solidFill>
                  <a:srgbClr val="DCBD74"/>
                </a:solidFill>
                <a:latin typeface="Cambria Math" pitchFamily="34" charset="0"/>
                <a:ea typeface="Cambria Math" pitchFamily="34" charset="-122"/>
                <a:cs typeface="Cambria Math" pitchFamily="34" charset="-120"/>
              </a:rPr>
              <a:t>Conversion : T(K) = T(°C) + 273.15</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Principe Zéro de la Thermodynamique</a:t>
            </a:r>
            <a:endParaRPr lang="en-US" sz="2200" dirty="0"/>
          </a:p>
        </p:txBody>
      </p:sp>
      <p:sp>
        <p:nvSpPr>
          <p:cNvPr id="4" name="Shape 2"/>
          <p:cNvSpPr/>
          <p:nvPr/>
        </p:nvSpPr>
        <p:spPr>
          <a:xfrm>
            <a:off x="612648" y="1005840"/>
            <a:ext cx="7918704" cy="1828800"/>
          </a:xfrm>
          <a:prstGeom prst="rect">
            <a:avLst/>
          </a:prstGeom>
          <a:solidFill>
            <a:srgbClr val="7EC8B0"/>
          </a:solidFill>
          <a:ln/>
        </p:spPr>
      </p:sp>
      <p:sp>
        <p:nvSpPr>
          <p:cNvPr id="5" name="Text 3"/>
          <p:cNvSpPr/>
          <p:nvPr/>
        </p:nvSpPr>
        <p:spPr>
          <a:xfrm>
            <a:off x="795528" y="1097280"/>
            <a:ext cx="7552944" cy="365760"/>
          </a:xfrm>
          <a:prstGeom prst="rect">
            <a:avLst/>
          </a:prstGeom>
          <a:noFill/>
          <a:ln/>
        </p:spPr>
        <p:txBody>
          <a:bodyPr wrap="square" rtlCol="0" anchor="ctr"/>
          <a:lstStyle/>
          <a:p>
            <a:pPr algn="ctr" indent="0" marL="0">
              <a:buNone/>
            </a:pPr>
            <a:r>
              <a:rPr lang="en-US" sz="1600" b="1" dirty="0">
                <a:solidFill>
                  <a:srgbClr val="1B4332"/>
                </a:solidFill>
              </a:rPr>
              <a:t>PRINCIPE ZÉRO</a:t>
            </a:r>
            <a:endParaRPr lang="en-US" sz="1600" dirty="0"/>
          </a:p>
        </p:txBody>
      </p:sp>
      <p:sp>
        <p:nvSpPr>
          <p:cNvPr id="6" name="Text 4"/>
          <p:cNvSpPr/>
          <p:nvPr/>
        </p:nvSpPr>
        <p:spPr>
          <a:xfrm>
            <a:off x="795528" y="1554480"/>
            <a:ext cx="7552944" cy="1097280"/>
          </a:xfrm>
          <a:prstGeom prst="rect">
            <a:avLst/>
          </a:prstGeom>
          <a:noFill/>
          <a:ln/>
        </p:spPr>
        <p:txBody>
          <a:bodyPr wrap="square" rtlCol="0" anchor="ctr"/>
          <a:lstStyle/>
          <a:p>
            <a:pPr algn="ctr" indent="0" marL="0">
              <a:buNone/>
            </a:pPr>
            <a:r>
              <a:rPr lang="en-US" sz="1600" i="1" dirty="0">
                <a:solidFill>
                  <a:srgbClr val="1B4332"/>
                </a:solidFill>
              </a:rPr>
              <a:t>"Deux systèmes thermodynamiques en équilibre thermique avec un même troisième sont en équilibre thermique entre eux."</a:t>
            </a:r>
            <a:endParaRPr lang="en-US" sz="1600" dirty="0"/>
          </a:p>
        </p:txBody>
      </p:sp>
      <p:sp>
        <p:nvSpPr>
          <p:cNvPr id="7" name="Text 5"/>
          <p:cNvSpPr/>
          <p:nvPr/>
        </p:nvSpPr>
        <p:spPr>
          <a:xfrm>
            <a:off x="612648" y="3017520"/>
            <a:ext cx="7918704" cy="365760"/>
          </a:xfrm>
          <a:prstGeom prst="rect">
            <a:avLst/>
          </a:prstGeom>
          <a:noFill/>
          <a:ln/>
        </p:spPr>
        <p:txBody>
          <a:bodyPr wrap="square" rtlCol="0" anchor="ctr"/>
          <a:lstStyle/>
          <a:p>
            <a:pPr indent="0" marL="0">
              <a:buNone/>
            </a:pPr>
            <a:r>
              <a:rPr lang="en-US" sz="1400" dirty="0">
                <a:solidFill>
                  <a:srgbClr val="2E6B4F"/>
                </a:solidFill>
              </a:rPr>
              <a:t>Conséquence : Si A est en équilibre avec B, et B avec C, alors A est en équilibre avec C.</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Modèle du Gaz Parfait</a:t>
            </a:r>
            <a:endParaRPr lang="en-US" sz="2200" dirty="0"/>
          </a:p>
        </p:txBody>
      </p:sp>
      <p:sp>
        <p:nvSpPr>
          <p:cNvPr id="4" name="Text 2"/>
          <p:cNvSpPr/>
          <p:nvPr/>
        </p:nvSpPr>
        <p:spPr>
          <a:xfrm>
            <a:off x="612648" y="1005840"/>
            <a:ext cx="7918704" cy="274320"/>
          </a:xfrm>
          <a:prstGeom prst="rect">
            <a:avLst/>
          </a:prstGeom>
          <a:noFill/>
          <a:ln/>
        </p:spPr>
        <p:txBody>
          <a:bodyPr wrap="square" rtlCol="0" anchor="ctr"/>
          <a:lstStyle/>
          <a:p>
            <a:pPr indent="0" marL="0">
              <a:buNone/>
            </a:pPr>
            <a:r>
              <a:rPr lang="en-US" sz="1400" b="1" dirty="0">
                <a:solidFill>
                  <a:srgbClr val="1B4332"/>
                </a:solidFill>
              </a:rPr>
              <a:t>Hypothèses du gaz parfait :</a:t>
            </a:r>
            <a:endParaRPr lang="en-US" sz="1400" dirty="0"/>
          </a:p>
        </p:txBody>
      </p:sp>
      <p:sp>
        <p:nvSpPr>
          <p:cNvPr id="5" name="Shape 3"/>
          <p:cNvSpPr/>
          <p:nvPr/>
        </p:nvSpPr>
        <p:spPr>
          <a:xfrm>
            <a:off x="612648" y="1444752"/>
            <a:ext cx="109728" cy="109728"/>
          </a:xfrm>
          <a:prstGeom prst="ellipse">
            <a:avLst/>
          </a:prstGeom>
          <a:solidFill>
            <a:srgbClr val="DCBD74"/>
          </a:solidFill>
          <a:ln/>
        </p:spPr>
      </p:sp>
      <p:sp>
        <p:nvSpPr>
          <p:cNvPr id="6" name="Text 4"/>
          <p:cNvSpPr/>
          <p:nvPr/>
        </p:nvSpPr>
        <p:spPr>
          <a:xfrm>
            <a:off x="822960" y="1371600"/>
            <a:ext cx="7315200" cy="320040"/>
          </a:xfrm>
          <a:prstGeom prst="rect">
            <a:avLst/>
          </a:prstGeom>
          <a:noFill/>
          <a:ln/>
        </p:spPr>
        <p:txBody>
          <a:bodyPr wrap="square" rtlCol="0" anchor="ctr"/>
          <a:lstStyle/>
          <a:p>
            <a:pPr indent="0" marL="0">
              <a:buNone/>
            </a:pPr>
            <a:r>
              <a:rPr lang="en-US" sz="1300" dirty="0">
                <a:solidFill>
                  <a:srgbClr val="2E6B4F"/>
                </a:solidFill>
              </a:rPr>
              <a:t>Molécules ponctuelles (sans volume propre)</a:t>
            </a:r>
            <a:endParaRPr lang="en-US" sz="1300" dirty="0"/>
          </a:p>
        </p:txBody>
      </p:sp>
      <p:sp>
        <p:nvSpPr>
          <p:cNvPr id="7" name="Shape 5"/>
          <p:cNvSpPr/>
          <p:nvPr/>
        </p:nvSpPr>
        <p:spPr>
          <a:xfrm>
            <a:off x="612648" y="1810512"/>
            <a:ext cx="109728" cy="109728"/>
          </a:xfrm>
          <a:prstGeom prst="ellipse">
            <a:avLst/>
          </a:prstGeom>
          <a:solidFill>
            <a:srgbClr val="DCBD74"/>
          </a:solidFill>
          <a:ln/>
        </p:spPr>
      </p:sp>
      <p:sp>
        <p:nvSpPr>
          <p:cNvPr id="8" name="Text 6"/>
          <p:cNvSpPr/>
          <p:nvPr/>
        </p:nvSpPr>
        <p:spPr>
          <a:xfrm>
            <a:off x="822960" y="1737360"/>
            <a:ext cx="7315200" cy="320040"/>
          </a:xfrm>
          <a:prstGeom prst="rect">
            <a:avLst/>
          </a:prstGeom>
          <a:noFill/>
          <a:ln/>
        </p:spPr>
        <p:txBody>
          <a:bodyPr wrap="square" rtlCol="0" anchor="ctr"/>
          <a:lstStyle/>
          <a:p>
            <a:pPr indent="0" marL="0">
              <a:buNone/>
            </a:pPr>
            <a:r>
              <a:rPr lang="en-US" sz="1300" dirty="0">
                <a:solidFill>
                  <a:srgbClr val="2E6B4F"/>
                </a:solidFill>
              </a:rPr>
              <a:t>Molécules sans interaction (indépendantes)</a:t>
            </a:r>
            <a:endParaRPr lang="en-US" sz="1300" dirty="0"/>
          </a:p>
        </p:txBody>
      </p:sp>
      <p:sp>
        <p:nvSpPr>
          <p:cNvPr id="9" name="Shape 7"/>
          <p:cNvSpPr/>
          <p:nvPr/>
        </p:nvSpPr>
        <p:spPr>
          <a:xfrm>
            <a:off x="612648" y="2176272"/>
            <a:ext cx="109728" cy="109728"/>
          </a:xfrm>
          <a:prstGeom prst="ellipse">
            <a:avLst/>
          </a:prstGeom>
          <a:solidFill>
            <a:srgbClr val="DCBD74"/>
          </a:solidFill>
          <a:ln/>
        </p:spPr>
      </p:sp>
      <p:sp>
        <p:nvSpPr>
          <p:cNvPr id="10" name="Text 8"/>
          <p:cNvSpPr/>
          <p:nvPr/>
        </p:nvSpPr>
        <p:spPr>
          <a:xfrm>
            <a:off x="822960" y="2103120"/>
            <a:ext cx="7315200" cy="320040"/>
          </a:xfrm>
          <a:prstGeom prst="rect">
            <a:avLst/>
          </a:prstGeom>
          <a:noFill/>
          <a:ln/>
        </p:spPr>
        <p:txBody>
          <a:bodyPr wrap="square" rtlCol="0" anchor="ctr"/>
          <a:lstStyle/>
          <a:p>
            <a:pPr indent="0" marL="0">
              <a:buNone/>
            </a:pPr>
            <a:r>
              <a:rPr lang="en-US" sz="1300" dirty="0">
                <a:solidFill>
                  <a:srgbClr val="2E6B4F"/>
                </a:solidFill>
              </a:rPr>
              <a:t>Chocs élastiques (conservation de l'énergie cinétique)</a:t>
            </a:r>
            <a:endParaRPr lang="en-US" sz="1300" dirty="0"/>
          </a:p>
        </p:txBody>
      </p:sp>
      <p:sp>
        <p:nvSpPr>
          <p:cNvPr id="11" name="Text 9"/>
          <p:cNvSpPr/>
          <p:nvPr/>
        </p:nvSpPr>
        <p:spPr>
          <a:xfrm>
            <a:off x="612648" y="2560320"/>
            <a:ext cx="7918704" cy="274320"/>
          </a:xfrm>
          <a:prstGeom prst="rect">
            <a:avLst/>
          </a:prstGeom>
          <a:noFill/>
          <a:ln/>
        </p:spPr>
        <p:txBody>
          <a:bodyPr wrap="square" rtlCol="0" anchor="ctr"/>
          <a:lstStyle/>
          <a:p>
            <a:pPr indent="0" marL="0">
              <a:buNone/>
            </a:pPr>
            <a:r>
              <a:rPr lang="en-US" sz="1400" b="1" dirty="0">
                <a:solidFill>
                  <a:srgbClr val="1B4332"/>
                </a:solidFill>
              </a:rPr>
              <a:t>Équation d'état :</a:t>
            </a:r>
            <a:endParaRPr lang="en-US" sz="1400" dirty="0"/>
          </a:p>
        </p:txBody>
      </p:sp>
      <p:sp>
        <p:nvSpPr>
          <p:cNvPr id="12" name="Shape 10"/>
          <p:cNvSpPr/>
          <p:nvPr/>
        </p:nvSpPr>
        <p:spPr>
          <a:xfrm>
            <a:off x="612648" y="2880360"/>
            <a:ext cx="7918704" cy="640080"/>
          </a:xfrm>
          <a:prstGeom prst="rect">
            <a:avLst/>
          </a:prstGeom>
          <a:solidFill>
            <a:srgbClr val="EEF7F1"/>
          </a:solidFill>
          <a:ln w="25400">
            <a:solidFill>
              <a:srgbClr val="DCBD74"/>
            </a:solidFill>
            <a:prstDash val="solid"/>
          </a:ln>
        </p:spPr>
      </p:sp>
      <p:sp>
        <p:nvSpPr>
          <p:cNvPr id="13" name="Text 11"/>
          <p:cNvSpPr/>
          <p:nvPr/>
        </p:nvSpPr>
        <p:spPr>
          <a:xfrm>
            <a:off x="612648" y="2971800"/>
            <a:ext cx="7918704" cy="457200"/>
          </a:xfrm>
          <a:prstGeom prst="rect">
            <a:avLst/>
          </a:prstGeom>
          <a:noFill/>
          <a:ln/>
        </p:spPr>
        <p:txBody>
          <a:bodyPr wrap="square" rtlCol="0" anchor="ctr"/>
          <a:lstStyle/>
          <a:p>
            <a:pPr algn="ctr" indent="0" marL="0">
              <a:buNone/>
            </a:pPr>
            <a:r>
              <a:rPr lang="en-US" sz="2400" b="1" dirty="0">
                <a:solidFill>
                  <a:srgbClr val="1B4332"/>
                </a:solidFill>
                <a:latin typeface="Cambria Math" pitchFamily="34" charset="0"/>
                <a:ea typeface="Cambria Math" pitchFamily="34" charset="-122"/>
                <a:cs typeface="Cambria Math" pitchFamily="34" charset="-120"/>
              </a:rPr>
              <a:t>PV = nRT</a:t>
            </a:r>
            <a:endParaRPr lang="en-US" sz="2400" dirty="0"/>
          </a:p>
        </p:txBody>
      </p:sp>
      <p:sp>
        <p:nvSpPr>
          <p:cNvPr id="14" name="Text 12"/>
          <p:cNvSpPr/>
          <p:nvPr/>
        </p:nvSpPr>
        <p:spPr>
          <a:xfrm>
            <a:off x="612648" y="3657600"/>
            <a:ext cx="7918704" cy="274320"/>
          </a:xfrm>
          <a:prstGeom prst="rect">
            <a:avLst/>
          </a:prstGeom>
          <a:noFill/>
          <a:ln/>
        </p:spPr>
        <p:txBody>
          <a:bodyPr wrap="square" rtlCol="0" anchor="ctr"/>
          <a:lstStyle/>
          <a:p>
            <a:pPr indent="0" marL="0">
              <a:buNone/>
            </a:pPr>
            <a:r>
              <a:rPr lang="en-US" sz="1300" dirty="0">
                <a:solidFill>
                  <a:srgbClr val="2E6B4F"/>
                </a:solidFill>
              </a:rPr>
              <a:t>R = 8.314 J·K⁻¹·mol⁻¹ (constante universelle des gaz parfaits)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Lois Particulières des Gaz Parfaits</a:t>
            </a:r>
            <a:endParaRPr lang="en-US" sz="2200" dirty="0"/>
          </a:p>
        </p:txBody>
      </p:sp>
      <p:sp>
        <p:nvSpPr>
          <p:cNvPr id="4" name="Shape 2"/>
          <p:cNvSpPr/>
          <p:nvPr/>
        </p:nvSpPr>
        <p:spPr>
          <a:xfrm>
            <a:off x="612648" y="1005840"/>
            <a:ext cx="7918704" cy="777240"/>
          </a:xfrm>
          <a:prstGeom prst="rect">
            <a:avLst/>
          </a:prstGeom>
          <a:solidFill>
            <a:srgbClr val="EEF7F1"/>
          </a:solidFill>
          <a:ln w="12700">
            <a:solidFill>
              <a:srgbClr val="A8D4BC"/>
            </a:solidFill>
            <a:prstDash val="solid"/>
          </a:ln>
        </p:spPr>
      </p:sp>
      <p:sp>
        <p:nvSpPr>
          <p:cNvPr id="5" name="Text 3"/>
          <p:cNvSpPr/>
          <p:nvPr/>
        </p:nvSpPr>
        <p:spPr>
          <a:xfrm>
            <a:off x="795528" y="1097280"/>
            <a:ext cx="2743200" cy="274320"/>
          </a:xfrm>
          <a:prstGeom prst="rect">
            <a:avLst/>
          </a:prstGeom>
          <a:noFill/>
          <a:ln/>
        </p:spPr>
        <p:txBody>
          <a:bodyPr wrap="square" rtlCol="0" anchor="ctr"/>
          <a:lstStyle/>
          <a:p>
            <a:pPr indent="0" marL="0">
              <a:buNone/>
            </a:pPr>
            <a:r>
              <a:rPr lang="en-US" sz="1400" b="1" dirty="0">
                <a:solidFill>
                  <a:srgbClr val="1B4332"/>
                </a:solidFill>
              </a:rPr>
              <a:t>Loi de Mariotte</a:t>
            </a:r>
            <a:endParaRPr lang="en-US" sz="1400" dirty="0"/>
          </a:p>
        </p:txBody>
      </p:sp>
      <p:sp>
        <p:nvSpPr>
          <p:cNvPr id="6" name="Text 4"/>
          <p:cNvSpPr/>
          <p:nvPr/>
        </p:nvSpPr>
        <p:spPr>
          <a:xfrm>
            <a:off x="795528" y="1417320"/>
            <a:ext cx="2743200" cy="228600"/>
          </a:xfrm>
          <a:prstGeom prst="rect">
            <a:avLst/>
          </a:prstGeom>
          <a:noFill/>
          <a:ln/>
        </p:spPr>
        <p:txBody>
          <a:bodyPr wrap="square" rtlCol="0" anchor="ctr"/>
          <a:lstStyle/>
          <a:p>
            <a:pPr indent="0" marL="0">
              <a:buNone/>
            </a:pPr>
            <a:r>
              <a:rPr lang="en-US" sz="1100" dirty="0">
                <a:solidFill>
                  <a:srgbClr val="60A882"/>
                </a:solidFill>
              </a:rPr>
              <a:t>Condition : T = cste</a:t>
            </a:r>
            <a:endParaRPr lang="en-US" sz="1100" dirty="0"/>
          </a:p>
        </p:txBody>
      </p:sp>
      <p:sp>
        <p:nvSpPr>
          <p:cNvPr id="7" name="Text 5"/>
          <p:cNvSpPr/>
          <p:nvPr/>
        </p:nvSpPr>
        <p:spPr>
          <a:xfrm>
            <a:off x="4572000" y="1188720"/>
            <a:ext cx="2743200" cy="411480"/>
          </a:xfrm>
          <a:prstGeom prst="rect">
            <a:avLst/>
          </a:prstGeom>
          <a:noFill/>
          <a:ln/>
        </p:spPr>
        <p:txBody>
          <a:bodyPr wrap="square" rtlCol="0" anchor="ctr"/>
          <a:lstStyle/>
          <a:p>
            <a:pPr algn="ctr" indent="0" marL="0">
              <a:buNone/>
            </a:pPr>
            <a:r>
              <a:rPr lang="en-US" sz="1800" b="1" dirty="0">
                <a:solidFill>
                  <a:srgbClr val="DCBD74"/>
                </a:solidFill>
                <a:latin typeface="Cambria Math" pitchFamily="34" charset="0"/>
                <a:ea typeface="Cambria Math" pitchFamily="34" charset="-122"/>
                <a:cs typeface="Cambria Math" pitchFamily="34" charset="-120"/>
              </a:rPr>
              <a:t>P₁V₁ = P₂V₂</a:t>
            </a:r>
            <a:endParaRPr lang="en-US" sz="1800" dirty="0"/>
          </a:p>
        </p:txBody>
      </p:sp>
      <p:sp>
        <p:nvSpPr>
          <p:cNvPr id="8" name="Shape 6"/>
          <p:cNvSpPr/>
          <p:nvPr/>
        </p:nvSpPr>
        <p:spPr>
          <a:xfrm>
            <a:off x="612648" y="1874520"/>
            <a:ext cx="7918704" cy="777240"/>
          </a:xfrm>
          <a:prstGeom prst="rect">
            <a:avLst/>
          </a:prstGeom>
          <a:solidFill>
            <a:srgbClr val="EEF7F1"/>
          </a:solidFill>
          <a:ln w="12700">
            <a:solidFill>
              <a:srgbClr val="A8D4BC"/>
            </a:solidFill>
            <a:prstDash val="solid"/>
          </a:ln>
        </p:spPr>
      </p:sp>
      <p:sp>
        <p:nvSpPr>
          <p:cNvPr id="9" name="Text 7"/>
          <p:cNvSpPr/>
          <p:nvPr/>
        </p:nvSpPr>
        <p:spPr>
          <a:xfrm>
            <a:off x="795528" y="1965960"/>
            <a:ext cx="2743200" cy="274320"/>
          </a:xfrm>
          <a:prstGeom prst="rect">
            <a:avLst/>
          </a:prstGeom>
          <a:noFill/>
          <a:ln/>
        </p:spPr>
        <p:txBody>
          <a:bodyPr wrap="square" rtlCol="0" anchor="ctr"/>
          <a:lstStyle/>
          <a:p>
            <a:pPr indent="0" marL="0">
              <a:buNone/>
            </a:pPr>
            <a:r>
              <a:rPr lang="en-US" sz="1400" b="1" dirty="0">
                <a:solidFill>
                  <a:srgbClr val="1B4332"/>
                </a:solidFill>
              </a:rPr>
              <a:t>Loi de Charles</a:t>
            </a:r>
            <a:endParaRPr lang="en-US" sz="1400" dirty="0"/>
          </a:p>
        </p:txBody>
      </p:sp>
      <p:sp>
        <p:nvSpPr>
          <p:cNvPr id="10" name="Text 8"/>
          <p:cNvSpPr/>
          <p:nvPr/>
        </p:nvSpPr>
        <p:spPr>
          <a:xfrm>
            <a:off x="795528" y="2286000"/>
            <a:ext cx="2743200" cy="228600"/>
          </a:xfrm>
          <a:prstGeom prst="rect">
            <a:avLst/>
          </a:prstGeom>
          <a:noFill/>
          <a:ln/>
        </p:spPr>
        <p:txBody>
          <a:bodyPr wrap="square" rtlCol="0" anchor="ctr"/>
          <a:lstStyle/>
          <a:p>
            <a:pPr indent="0" marL="0">
              <a:buNone/>
            </a:pPr>
            <a:r>
              <a:rPr lang="en-US" sz="1100" dirty="0">
                <a:solidFill>
                  <a:srgbClr val="60A882"/>
                </a:solidFill>
              </a:rPr>
              <a:t>Condition : V = cste</a:t>
            </a:r>
            <a:endParaRPr lang="en-US" sz="1100" dirty="0"/>
          </a:p>
        </p:txBody>
      </p:sp>
      <p:sp>
        <p:nvSpPr>
          <p:cNvPr id="11" name="Text 9"/>
          <p:cNvSpPr/>
          <p:nvPr/>
        </p:nvSpPr>
        <p:spPr>
          <a:xfrm>
            <a:off x="4572000" y="2057400"/>
            <a:ext cx="2743200" cy="411480"/>
          </a:xfrm>
          <a:prstGeom prst="rect">
            <a:avLst/>
          </a:prstGeom>
          <a:noFill/>
          <a:ln/>
        </p:spPr>
        <p:txBody>
          <a:bodyPr wrap="square" rtlCol="0" anchor="ctr"/>
          <a:lstStyle/>
          <a:p>
            <a:pPr algn="ctr" indent="0" marL="0">
              <a:buNone/>
            </a:pPr>
            <a:r>
              <a:rPr lang="en-US" sz="1800" b="1" dirty="0">
                <a:solidFill>
                  <a:srgbClr val="DCBD74"/>
                </a:solidFill>
                <a:latin typeface="Cambria Math" pitchFamily="34" charset="0"/>
                <a:ea typeface="Cambria Math" pitchFamily="34" charset="-122"/>
                <a:cs typeface="Cambria Math" pitchFamily="34" charset="-120"/>
              </a:rPr>
              <a:t>P₁/T₁ = P₂/T₂</a:t>
            </a:r>
            <a:endParaRPr lang="en-US" sz="1800" dirty="0"/>
          </a:p>
        </p:txBody>
      </p:sp>
      <p:sp>
        <p:nvSpPr>
          <p:cNvPr id="12" name="Shape 10"/>
          <p:cNvSpPr/>
          <p:nvPr/>
        </p:nvSpPr>
        <p:spPr>
          <a:xfrm>
            <a:off x="612648" y="2743200"/>
            <a:ext cx="7918704" cy="777240"/>
          </a:xfrm>
          <a:prstGeom prst="rect">
            <a:avLst/>
          </a:prstGeom>
          <a:solidFill>
            <a:srgbClr val="EEF7F1"/>
          </a:solidFill>
          <a:ln w="12700">
            <a:solidFill>
              <a:srgbClr val="A8D4BC"/>
            </a:solidFill>
            <a:prstDash val="solid"/>
          </a:ln>
        </p:spPr>
      </p:sp>
      <p:sp>
        <p:nvSpPr>
          <p:cNvPr id="13" name="Text 11"/>
          <p:cNvSpPr/>
          <p:nvPr/>
        </p:nvSpPr>
        <p:spPr>
          <a:xfrm>
            <a:off x="795528" y="2834640"/>
            <a:ext cx="2743200" cy="274320"/>
          </a:xfrm>
          <a:prstGeom prst="rect">
            <a:avLst/>
          </a:prstGeom>
          <a:noFill/>
          <a:ln/>
        </p:spPr>
        <p:txBody>
          <a:bodyPr wrap="square" rtlCol="0" anchor="ctr"/>
          <a:lstStyle/>
          <a:p>
            <a:pPr indent="0" marL="0">
              <a:buNone/>
            </a:pPr>
            <a:r>
              <a:rPr lang="en-US" sz="1400" b="1" dirty="0">
                <a:solidFill>
                  <a:srgbClr val="1B4332"/>
                </a:solidFill>
              </a:rPr>
              <a:t>Loi de Gay-Lussac</a:t>
            </a:r>
            <a:endParaRPr lang="en-US" sz="1400" dirty="0"/>
          </a:p>
        </p:txBody>
      </p:sp>
      <p:sp>
        <p:nvSpPr>
          <p:cNvPr id="14" name="Text 12"/>
          <p:cNvSpPr/>
          <p:nvPr/>
        </p:nvSpPr>
        <p:spPr>
          <a:xfrm>
            <a:off x="795528" y="3154680"/>
            <a:ext cx="2743200" cy="228600"/>
          </a:xfrm>
          <a:prstGeom prst="rect">
            <a:avLst/>
          </a:prstGeom>
          <a:noFill/>
          <a:ln/>
        </p:spPr>
        <p:txBody>
          <a:bodyPr wrap="square" rtlCol="0" anchor="ctr"/>
          <a:lstStyle/>
          <a:p>
            <a:pPr indent="0" marL="0">
              <a:buNone/>
            </a:pPr>
            <a:r>
              <a:rPr lang="en-US" sz="1100" dirty="0">
                <a:solidFill>
                  <a:srgbClr val="60A882"/>
                </a:solidFill>
              </a:rPr>
              <a:t>Condition : P = cste</a:t>
            </a:r>
            <a:endParaRPr lang="en-US" sz="1100" dirty="0"/>
          </a:p>
        </p:txBody>
      </p:sp>
      <p:sp>
        <p:nvSpPr>
          <p:cNvPr id="15" name="Text 13"/>
          <p:cNvSpPr/>
          <p:nvPr/>
        </p:nvSpPr>
        <p:spPr>
          <a:xfrm>
            <a:off x="4572000" y="2926080"/>
            <a:ext cx="2743200" cy="411480"/>
          </a:xfrm>
          <a:prstGeom prst="rect">
            <a:avLst/>
          </a:prstGeom>
          <a:noFill/>
          <a:ln/>
        </p:spPr>
        <p:txBody>
          <a:bodyPr wrap="square" rtlCol="0" anchor="ctr"/>
          <a:lstStyle/>
          <a:p>
            <a:pPr algn="ctr" indent="0" marL="0">
              <a:buNone/>
            </a:pPr>
            <a:r>
              <a:rPr lang="en-US" sz="1800" b="1" dirty="0">
                <a:solidFill>
                  <a:srgbClr val="DCBD74"/>
                </a:solidFill>
                <a:latin typeface="Cambria Math" pitchFamily="34" charset="0"/>
                <a:ea typeface="Cambria Math" pitchFamily="34" charset="-122"/>
                <a:cs typeface="Cambria Math" pitchFamily="34" charset="-120"/>
              </a:rPr>
              <a:t>V₁/T₁ = V₂/T₂</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Théorie Cinétique - Vue Microscopique</a:t>
            </a:r>
            <a:endParaRPr lang="en-US" sz="2200" dirty="0"/>
          </a:p>
        </p:txBody>
      </p:sp>
      <p:sp>
        <p:nvSpPr>
          <p:cNvPr id="4" name="Text 2"/>
          <p:cNvSpPr/>
          <p:nvPr/>
        </p:nvSpPr>
        <p:spPr>
          <a:xfrm>
            <a:off x="612648" y="1005840"/>
            <a:ext cx="7918704" cy="274320"/>
          </a:xfrm>
          <a:prstGeom prst="rect">
            <a:avLst/>
          </a:prstGeom>
          <a:noFill/>
          <a:ln/>
        </p:spPr>
        <p:txBody>
          <a:bodyPr wrap="square" rtlCol="0" anchor="ctr"/>
          <a:lstStyle/>
          <a:p>
            <a:pPr indent="0" marL="0">
              <a:buNone/>
            </a:pPr>
            <a:r>
              <a:rPr lang="en-US" sz="1400" b="1" dirty="0">
                <a:solidFill>
                  <a:srgbClr val="1B4332"/>
                </a:solidFill>
              </a:rPr>
              <a:t>L'énergie cinétique moyenne d'une molécule :</a:t>
            </a:r>
            <a:endParaRPr lang="en-US" sz="1400" dirty="0"/>
          </a:p>
        </p:txBody>
      </p:sp>
      <p:sp>
        <p:nvSpPr>
          <p:cNvPr id="5" name="Shape 3"/>
          <p:cNvSpPr/>
          <p:nvPr/>
        </p:nvSpPr>
        <p:spPr>
          <a:xfrm>
            <a:off x="612648" y="1371600"/>
            <a:ext cx="7918704" cy="640080"/>
          </a:xfrm>
          <a:prstGeom prst="rect">
            <a:avLst/>
          </a:prstGeom>
          <a:solidFill>
            <a:srgbClr val="EEF7F1"/>
          </a:solidFill>
          <a:ln w="25400">
            <a:solidFill>
              <a:srgbClr val="DCBD74"/>
            </a:solidFill>
            <a:prstDash val="solid"/>
          </a:ln>
        </p:spPr>
      </p:sp>
      <p:sp>
        <p:nvSpPr>
          <p:cNvPr id="6" name="Text 4"/>
          <p:cNvSpPr/>
          <p:nvPr/>
        </p:nvSpPr>
        <p:spPr>
          <a:xfrm>
            <a:off x="612648" y="1417320"/>
            <a:ext cx="7918704" cy="548640"/>
          </a:xfrm>
          <a:prstGeom prst="rect">
            <a:avLst/>
          </a:prstGeom>
          <a:noFill/>
          <a:ln/>
        </p:spPr>
        <p:txBody>
          <a:bodyPr wrap="square" rtlCol="0" anchor="ctr"/>
          <a:lstStyle/>
          <a:p>
            <a:pPr algn="ctr" indent="0" marL="0">
              <a:buNone/>
            </a:pPr>
            <a:r>
              <a:rPr lang="en-US" sz="2200" b="1" dirty="0">
                <a:solidFill>
                  <a:srgbClr val="1B4332"/>
                </a:solidFill>
                <a:latin typeface="Cambria Math" pitchFamily="34" charset="0"/>
                <a:ea typeface="Cambria Math" pitchFamily="34" charset="-122"/>
                <a:cs typeface="Cambria Math" pitchFamily="34" charset="-120"/>
              </a:rPr>
              <a:t>(1/2)m&lt;v²&gt; = (3/2)kT</a:t>
            </a:r>
            <a:endParaRPr lang="en-US" sz="2200" dirty="0"/>
          </a:p>
        </p:txBody>
      </p:sp>
      <p:sp>
        <p:nvSpPr>
          <p:cNvPr id="7" name="Text 5"/>
          <p:cNvSpPr/>
          <p:nvPr/>
        </p:nvSpPr>
        <p:spPr>
          <a:xfrm>
            <a:off x="612648" y="2194560"/>
            <a:ext cx="7918704" cy="274320"/>
          </a:xfrm>
          <a:prstGeom prst="rect">
            <a:avLst/>
          </a:prstGeom>
          <a:noFill/>
          <a:ln/>
        </p:spPr>
        <p:txBody>
          <a:bodyPr wrap="square" rtlCol="0" anchor="ctr"/>
          <a:lstStyle/>
          <a:p>
            <a:pPr indent="0" marL="0">
              <a:buNone/>
            </a:pPr>
            <a:r>
              <a:rPr lang="en-US" sz="1200" dirty="0">
                <a:solidFill>
                  <a:srgbClr val="60A882"/>
                </a:solidFill>
              </a:rPr>
              <a:t>k = 1.38×10⁻²³ J/K (constante de Boltzmann)</a:t>
            </a:r>
            <a:endParaRPr lang="en-US" sz="1200" dirty="0"/>
          </a:p>
        </p:txBody>
      </p:sp>
      <p:sp>
        <p:nvSpPr>
          <p:cNvPr id="8" name="Text 6"/>
          <p:cNvSpPr/>
          <p:nvPr/>
        </p:nvSpPr>
        <p:spPr>
          <a:xfrm>
            <a:off x="612648" y="2651760"/>
            <a:ext cx="7918704" cy="274320"/>
          </a:xfrm>
          <a:prstGeom prst="rect">
            <a:avLst/>
          </a:prstGeom>
          <a:noFill/>
          <a:ln/>
        </p:spPr>
        <p:txBody>
          <a:bodyPr wrap="square" rtlCol="0" anchor="ctr"/>
          <a:lstStyle/>
          <a:p>
            <a:pPr indent="0" marL="0">
              <a:buNone/>
            </a:pPr>
            <a:r>
              <a:rPr lang="en-US" sz="1400" b="1" dirty="0">
                <a:solidFill>
                  <a:srgbClr val="1B4332"/>
                </a:solidFill>
              </a:rPr>
              <a:t>Théorème d'équipartition : (1/2)kT par degré de liberté</a:t>
            </a:r>
            <a:endParaRPr lang="en-US" sz="1400" dirty="0"/>
          </a:p>
        </p:txBody>
      </p:sp>
      <p:sp>
        <p:nvSpPr>
          <p:cNvPr id="9" name="Text 7"/>
          <p:cNvSpPr/>
          <p:nvPr/>
        </p:nvSpPr>
        <p:spPr>
          <a:xfrm>
            <a:off x="612648" y="3017520"/>
            <a:ext cx="7918704" cy="548640"/>
          </a:xfrm>
          <a:prstGeom prst="rect">
            <a:avLst/>
          </a:prstGeom>
          <a:noFill/>
          <a:ln/>
        </p:spPr>
        <p:txBody>
          <a:bodyPr wrap="square" rtlCol="0" anchor="ctr"/>
          <a:lstStyle/>
          <a:p>
            <a:pPr indent="0" marL="0">
              <a:buNone/>
            </a:pPr>
            <a:r>
              <a:rPr lang="en-US" sz="1300" dirty="0">
                <a:solidFill>
                  <a:srgbClr val="2E6B4F"/>
                </a:solidFill>
              </a:rPr>
              <a:t>• Gaz monoatomique (3 ddl) : Ec = (3/2)kT</a:t>
            </a:r>
            <a:endParaRPr lang="en-US" sz="1300" dirty="0"/>
          </a:p>
          <a:p>
            <a:pPr indent="0" marL="0">
              <a:buNone/>
            </a:pPr>
            <a:r>
              <a:rPr lang="en-US" sz="1300" dirty="0">
                <a:solidFill>
                  <a:srgbClr val="2E6B4F"/>
                </a:solidFill>
              </a:rPr>
              <a:t>• Gaz diatomique (5 ddl) : Ec = (5/2)kT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Dilatation Thermique</a:t>
            </a:r>
            <a:endParaRPr lang="en-US" sz="2200" dirty="0"/>
          </a:p>
        </p:txBody>
      </p:sp>
      <p:sp>
        <p:nvSpPr>
          <p:cNvPr id="4" name="Text 2"/>
          <p:cNvSpPr/>
          <p:nvPr/>
        </p:nvSpPr>
        <p:spPr>
          <a:xfrm>
            <a:off x="612648" y="1005840"/>
            <a:ext cx="7918704" cy="320040"/>
          </a:xfrm>
          <a:prstGeom prst="rect">
            <a:avLst/>
          </a:prstGeom>
          <a:noFill/>
          <a:ln/>
        </p:spPr>
        <p:txBody>
          <a:bodyPr wrap="square" rtlCol="0" anchor="ctr"/>
          <a:lstStyle/>
          <a:p>
            <a:pPr indent="0" marL="0">
              <a:buNone/>
            </a:pPr>
            <a:r>
              <a:rPr lang="en-US" sz="1400" dirty="0">
                <a:solidFill>
                  <a:srgbClr val="2E6B4F"/>
                </a:solidFill>
              </a:rPr>
              <a:t>L'amplitude des oscillations atomiques augmente avec la température → dilatation.</a:t>
            </a:r>
            <a:endParaRPr lang="en-US" sz="1400" dirty="0"/>
          </a:p>
        </p:txBody>
      </p:sp>
      <p:sp>
        <p:nvSpPr>
          <p:cNvPr id="5" name="Shape 3"/>
          <p:cNvSpPr/>
          <p:nvPr/>
        </p:nvSpPr>
        <p:spPr>
          <a:xfrm>
            <a:off x="612648" y="1417320"/>
            <a:ext cx="3657600" cy="1371600"/>
          </a:xfrm>
          <a:prstGeom prst="rect">
            <a:avLst/>
          </a:prstGeom>
          <a:solidFill>
            <a:srgbClr val="EEF7F1"/>
          </a:solidFill>
          <a:ln/>
        </p:spPr>
      </p:sp>
      <p:sp>
        <p:nvSpPr>
          <p:cNvPr id="6" name="Text 4"/>
          <p:cNvSpPr/>
          <p:nvPr/>
        </p:nvSpPr>
        <p:spPr>
          <a:xfrm>
            <a:off x="795528" y="1508760"/>
            <a:ext cx="3291840" cy="274320"/>
          </a:xfrm>
          <a:prstGeom prst="rect">
            <a:avLst/>
          </a:prstGeom>
          <a:noFill/>
          <a:ln/>
        </p:spPr>
        <p:txBody>
          <a:bodyPr wrap="square" rtlCol="0" anchor="ctr"/>
          <a:lstStyle/>
          <a:p>
            <a:pPr indent="0" marL="0">
              <a:buNone/>
            </a:pPr>
            <a:r>
              <a:rPr lang="en-US" sz="1400" b="1" dirty="0">
                <a:solidFill>
                  <a:srgbClr val="1B4332"/>
                </a:solidFill>
              </a:rPr>
              <a:t>Dilatation Linéaire</a:t>
            </a:r>
            <a:endParaRPr lang="en-US" sz="1400" dirty="0"/>
          </a:p>
        </p:txBody>
      </p:sp>
      <p:sp>
        <p:nvSpPr>
          <p:cNvPr id="7" name="Text 5"/>
          <p:cNvSpPr/>
          <p:nvPr/>
        </p:nvSpPr>
        <p:spPr>
          <a:xfrm>
            <a:off x="795528" y="1874520"/>
            <a:ext cx="3291840" cy="822960"/>
          </a:xfrm>
          <a:prstGeom prst="rect">
            <a:avLst/>
          </a:prstGeom>
          <a:noFill/>
          <a:ln/>
        </p:spPr>
        <p:txBody>
          <a:bodyPr wrap="square" rtlCol="0" anchor="ctr"/>
          <a:lstStyle/>
          <a:p>
            <a:pPr indent="0" marL="0">
              <a:buNone/>
            </a:pPr>
            <a:r>
              <a:rPr lang="en-US" sz="1200" dirty="0">
                <a:solidFill>
                  <a:srgbClr val="2E6B4F"/>
                </a:solidFill>
                <a:latin typeface="Cambria Math" pitchFamily="34" charset="0"/>
                <a:ea typeface="Cambria Math" pitchFamily="34" charset="-122"/>
                <a:cs typeface="Cambria Math" pitchFamily="34" charset="-120"/>
              </a:rPr>
              <a:t>L = L₀(1 + αl·ΔT)</a:t>
            </a:r>
            <a:endParaRPr lang="en-US" sz="1200" dirty="0"/>
          </a:p>
          <a:p>
            <a:pPr indent="0" marL="0">
              <a:buNone/>
            </a:pPr>
            <a:endParaRPr lang="en-US" sz="1200" dirty="0"/>
          </a:p>
          <a:p>
            <a:pPr indent="0" marL="0">
              <a:buNone/>
            </a:pPr>
            <a:r>
              <a:rPr lang="en-US" sz="1200" dirty="0">
                <a:solidFill>
                  <a:srgbClr val="2E6B4F"/>
                </a:solidFill>
                <a:latin typeface="Cambria Math" pitchFamily="34" charset="0"/>
                <a:ea typeface="Cambria Math" pitchFamily="34" charset="-122"/>
                <a:cs typeface="Cambria Math" pitchFamily="34" charset="-120"/>
              </a:rPr>
              <a:t>αl : coefficient de dilatation linéaire (K⁻¹)</a:t>
            </a:r>
            <a:endParaRPr lang="en-US" sz="1200" dirty="0"/>
          </a:p>
        </p:txBody>
      </p:sp>
      <p:sp>
        <p:nvSpPr>
          <p:cNvPr id="8" name="Shape 6"/>
          <p:cNvSpPr/>
          <p:nvPr/>
        </p:nvSpPr>
        <p:spPr>
          <a:xfrm>
            <a:off x="4873752" y="1417320"/>
            <a:ext cx="3657600" cy="1371600"/>
          </a:xfrm>
          <a:prstGeom prst="rect">
            <a:avLst/>
          </a:prstGeom>
          <a:solidFill>
            <a:srgbClr val="EEF7F1"/>
          </a:solidFill>
          <a:ln/>
        </p:spPr>
      </p:sp>
      <p:sp>
        <p:nvSpPr>
          <p:cNvPr id="9" name="Text 7"/>
          <p:cNvSpPr/>
          <p:nvPr/>
        </p:nvSpPr>
        <p:spPr>
          <a:xfrm>
            <a:off x="5056632" y="1508760"/>
            <a:ext cx="3291840" cy="274320"/>
          </a:xfrm>
          <a:prstGeom prst="rect">
            <a:avLst/>
          </a:prstGeom>
          <a:noFill/>
          <a:ln/>
        </p:spPr>
        <p:txBody>
          <a:bodyPr wrap="square" rtlCol="0" anchor="ctr"/>
          <a:lstStyle/>
          <a:p>
            <a:pPr indent="0" marL="0">
              <a:buNone/>
            </a:pPr>
            <a:r>
              <a:rPr lang="en-US" sz="1400" b="1" dirty="0">
                <a:solidFill>
                  <a:srgbClr val="1B4332"/>
                </a:solidFill>
              </a:rPr>
              <a:t>Dilatation Volumique</a:t>
            </a:r>
            <a:endParaRPr lang="en-US" sz="1400" dirty="0"/>
          </a:p>
        </p:txBody>
      </p:sp>
      <p:sp>
        <p:nvSpPr>
          <p:cNvPr id="10" name="Text 8"/>
          <p:cNvSpPr/>
          <p:nvPr/>
        </p:nvSpPr>
        <p:spPr>
          <a:xfrm>
            <a:off x="5056632" y="1874520"/>
            <a:ext cx="3291840" cy="822960"/>
          </a:xfrm>
          <a:prstGeom prst="rect">
            <a:avLst/>
          </a:prstGeom>
          <a:noFill/>
          <a:ln/>
        </p:spPr>
        <p:txBody>
          <a:bodyPr wrap="square" rtlCol="0" anchor="ctr"/>
          <a:lstStyle/>
          <a:p>
            <a:pPr indent="0" marL="0">
              <a:buNone/>
            </a:pPr>
            <a:r>
              <a:rPr lang="en-US" sz="1200" dirty="0">
                <a:solidFill>
                  <a:srgbClr val="2E6B4F"/>
                </a:solidFill>
                <a:latin typeface="Cambria Math" pitchFamily="34" charset="0"/>
                <a:ea typeface="Cambria Math" pitchFamily="34" charset="-122"/>
                <a:cs typeface="Cambria Math" pitchFamily="34" charset="-120"/>
              </a:rPr>
              <a:t>V = V₀(1 + αV·ΔT)</a:t>
            </a:r>
            <a:endParaRPr lang="en-US" sz="1200" dirty="0"/>
          </a:p>
          <a:p>
            <a:pPr indent="0" marL="0">
              <a:buNone/>
            </a:pPr>
            <a:endParaRPr lang="en-US" sz="1200" dirty="0"/>
          </a:p>
          <a:p>
            <a:pPr indent="0" marL="0">
              <a:buNone/>
            </a:pPr>
            <a:r>
              <a:rPr lang="en-US" sz="1200" dirty="0">
                <a:solidFill>
                  <a:srgbClr val="2E6B4F"/>
                </a:solidFill>
                <a:latin typeface="Cambria Math" pitchFamily="34" charset="0"/>
                <a:ea typeface="Cambria Math" pitchFamily="34" charset="-122"/>
                <a:cs typeface="Cambria Math" pitchFamily="34" charset="-120"/>
              </a:rPr>
              <a:t>αV : coefficient de dilatation volumique (K⁻¹)</a:t>
            </a:r>
            <a:endParaRPr lang="en-US" sz="1200" dirty="0"/>
          </a:p>
        </p:txBody>
      </p:sp>
      <p:sp>
        <p:nvSpPr>
          <p:cNvPr id="11" name="Text 9"/>
          <p:cNvSpPr/>
          <p:nvPr/>
        </p:nvSpPr>
        <p:spPr>
          <a:xfrm>
            <a:off x="612648" y="3017520"/>
            <a:ext cx="7918704" cy="274320"/>
          </a:xfrm>
          <a:prstGeom prst="rect">
            <a:avLst/>
          </a:prstGeom>
          <a:noFill/>
          <a:ln/>
        </p:spPr>
        <p:txBody>
          <a:bodyPr wrap="square" rtlCol="0" anchor="ctr"/>
          <a:lstStyle/>
          <a:p>
            <a:pPr indent="0" marL="0">
              <a:buNone/>
            </a:pPr>
            <a:r>
              <a:rPr lang="en-US" sz="1400" b="1" dirty="0">
                <a:solidFill>
                  <a:srgbClr val="DCBD74"/>
                </a:solidFill>
                <a:latin typeface="Cambria Math" pitchFamily="34" charset="0"/>
                <a:ea typeface="Cambria Math" pitchFamily="34" charset="-122"/>
                <a:cs typeface="Cambria Math" pitchFamily="34" charset="-120"/>
              </a:rPr>
              <a:t>Pour un corps isotrope : αV = 3αl</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4332"/>
          </a:solidFill>
          <a:ln/>
        </p:spPr>
      </p:sp>
      <p:sp>
        <p:nvSpPr>
          <p:cNvPr id="3" name="Shape 1"/>
          <p:cNvSpPr/>
          <p:nvPr/>
        </p:nvSpPr>
        <p:spPr>
          <a:xfrm>
            <a:off x="0" y="0"/>
            <a:ext cx="3657600" cy="5143500"/>
          </a:xfrm>
          <a:prstGeom prst="rect">
            <a:avLst/>
          </a:prstGeom>
          <a:solidFill>
            <a:srgbClr val="122D1F"/>
          </a:solidFill>
          <a:ln/>
        </p:spPr>
      </p:sp>
      <p:sp>
        <p:nvSpPr>
          <p:cNvPr id="4" name="Text 2"/>
          <p:cNvSpPr/>
          <p:nvPr/>
        </p:nvSpPr>
        <p:spPr>
          <a:xfrm>
            <a:off x="457200" y="1371600"/>
            <a:ext cx="2743200" cy="457200"/>
          </a:xfrm>
          <a:prstGeom prst="rect">
            <a:avLst/>
          </a:prstGeom>
          <a:noFill/>
          <a:ln/>
        </p:spPr>
        <p:txBody>
          <a:bodyPr wrap="square" rtlCol="0" anchor="ctr"/>
          <a:lstStyle/>
          <a:p>
            <a:pPr indent="0" marL="0">
              <a:buNone/>
            </a:pPr>
            <a:r>
              <a:rPr lang="en-US" sz="1400" b="1" dirty="0">
                <a:solidFill>
                  <a:srgbClr val="DCBD74"/>
                </a:solidFill>
              </a:rPr>
              <a:t>SÉANCE 3</a:t>
            </a:r>
            <a:endParaRPr lang="en-US" sz="1400" dirty="0"/>
          </a:p>
        </p:txBody>
      </p:sp>
      <p:sp>
        <p:nvSpPr>
          <p:cNvPr id="5" name="Text 3"/>
          <p:cNvSpPr/>
          <p:nvPr/>
        </p:nvSpPr>
        <p:spPr>
          <a:xfrm>
            <a:off x="457200" y="1828800"/>
            <a:ext cx="2743200" cy="1645920"/>
          </a:xfrm>
          <a:prstGeom prst="rect">
            <a:avLst/>
          </a:prstGeom>
          <a:noFill/>
          <a:ln/>
        </p:spPr>
        <p:txBody>
          <a:bodyPr wrap="square" rtlCol="0" anchor="ctr"/>
          <a:lstStyle/>
          <a:p>
            <a:pPr indent="0" marL="0">
              <a:buNone/>
            </a:pPr>
            <a:r>
              <a:rPr lang="en-US" sz="2400" b="1" dirty="0">
                <a:solidFill>
                  <a:srgbClr val="FFFFFF"/>
                </a:solidFill>
              </a:rPr>
              <a:t>Travail</a:t>
            </a:r>
            <a:endParaRPr lang="en-US" sz="2400" dirty="0"/>
          </a:p>
          <a:p>
            <a:pPr indent="0" marL="0">
              <a:buNone/>
            </a:pPr>
            <a:r>
              <a:rPr lang="en-US" sz="2400" b="1" dirty="0">
                <a:solidFill>
                  <a:srgbClr val="FFFFFF"/>
                </a:solidFill>
              </a:rPr>
              <a:t>et</a:t>
            </a:r>
            <a:endParaRPr lang="en-US" sz="2400" dirty="0"/>
          </a:p>
          <a:p>
            <a:pPr indent="0" marL="0">
              <a:buNone/>
            </a:pPr>
            <a:r>
              <a:rPr lang="en-US" sz="2400" b="1" dirty="0">
                <a:solidFill>
                  <a:srgbClr val="FFFFFF"/>
                </a:solidFill>
              </a:rPr>
              <a:t>Chaleur</a:t>
            </a:r>
            <a:endParaRPr lang="en-US" sz="2400" dirty="0"/>
          </a:p>
        </p:txBody>
      </p:sp>
      <p:sp>
        <p:nvSpPr>
          <p:cNvPr id="6" name="Text 4"/>
          <p:cNvSpPr/>
          <p:nvPr/>
        </p:nvSpPr>
        <p:spPr>
          <a:xfrm>
            <a:off x="457200" y="3657600"/>
            <a:ext cx="2743200" cy="274320"/>
          </a:xfrm>
          <a:prstGeom prst="rect">
            <a:avLst/>
          </a:prstGeom>
          <a:noFill/>
          <a:ln/>
        </p:spPr>
        <p:txBody>
          <a:bodyPr wrap="square" rtlCol="0" anchor="ctr"/>
          <a:lstStyle/>
          <a:p>
            <a:pPr indent="0" marL="0">
              <a:buNone/>
            </a:pPr>
            <a:r>
              <a:rPr lang="en-US" sz="1200" dirty="0">
                <a:solidFill>
                  <a:srgbClr val="7EC8B0"/>
                </a:solidFill>
              </a:rPr>
              <a:t>2 heures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La Chaleur : Définition</a:t>
            </a:r>
            <a:endParaRPr lang="en-US" sz="2200" dirty="0"/>
          </a:p>
        </p:txBody>
      </p:sp>
      <p:sp>
        <p:nvSpPr>
          <p:cNvPr id="4" name="Shape 2"/>
          <p:cNvSpPr/>
          <p:nvPr/>
        </p:nvSpPr>
        <p:spPr>
          <a:xfrm>
            <a:off x="612648" y="1005840"/>
            <a:ext cx="7918704" cy="1188720"/>
          </a:xfrm>
          <a:prstGeom prst="rect">
            <a:avLst/>
          </a:prstGeom>
          <a:solidFill>
            <a:srgbClr val="D8EEE2"/>
          </a:solidFill>
          <a:ln w="25400">
            <a:solidFill>
              <a:srgbClr val="DCBD74"/>
            </a:solidFill>
            <a:prstDash val="solid"/>
          </a:ln>
        </p:spPr>
      </p:sp>
      <p:sp>
        <p:nvSpPr>
          <p:cNvPr id="5" name="Text 3"/>
          <p:cNvSpPr/>
          <p:nvPr/>
        </p:nvSpPr>
        <p:spPr>
          <a:xfrm>
            <a:off x="795528" y="1097280"/>
            <a:ext cx="7552944" cy="274320"/>
          </a:xfrm>
          <a:prstGeom prst="rect">
            <a:avLst/>
          </a:prstGeom>
          <a:noFill/>
          <a:ln/>
        </p:spPr>
        <p:txBody>
          <a:bodyPr wrap="square" rtlCol="0" anchor="ctr"/>
          <a:lstStyle/>
          <a:p>
            <a:pPr indent="0" marL="0">
              <a:buNone/>
            </a:pPr>
            <a:r>
              <a:rPr lang="en-US" sz="1400" b="1" dirty="0">
                <a:solidFill>
                  <a:srgbClr val="1B4332"/>
                </a:solidFill>
              </a:rPr>
              <a:t>DÉFINITION</a:t>
            </a:r>
            <a:endParaRPr lang="en-US" sz="1400" dirty="0"/>
          </a:p>
        </p:txBody>
      </p:sp>
      <p:sp>
        <p:nvSpPr>
          <p:cNvPr id="6" name="Text 4"/>
          <p:cNvSpPr/>
          <p:nvPr/>
        </p:nvSpPr>
        <p:spPr>
          <a:xfrm>
            <a:off x="795528" y="1371600"/>
            <a:ext cx="7552944" cy="731520"/>
          </a:xfrm>
          <a:prstGeom prst="rect">
            <a:avLst/>
          </a:prstGeom>
          <a:noFill/>
          <a:ln/>
        </p:spPr>
        <p:txBody>
          <a:bodyPr wrap="square" rtlCol="0" anchor="ctr"/>
          <a:lstStyle/>
          <a:p>
            <a:pPr indent="0" marL="0">
              <a:buNone/>
            </a:pPr>
            <a:r>
              <a:rPr lang="en-US" sz="1300" dirty="0">
                <a:solidFill>
                  <a:srgbClr val="2E6B4F"/>
                </a:solidFill>
              </a:rPr>
              <a:t>Énergie échangée entre deux corps de températures différentes mis en contact. À l'échelle microscopique, c'est une énergie cinétique échangée par agitation moléculaire.</a:t>
            </a:r>
            <a:endParaRPr lang="en-US" sz="1300" dirty="0"/>
          </a:p>
        </p:txBody>
      </p:sp>
      <p:sp>
        <p:nvSpPr>
          <p:cNvPr id="7" name="Text 5"/>
          <p:cNvSpPr/>
          <p:nvPr/>
        </p:nvSpPr>
        <p:spPr>
          <a:xfrm>
            <a:off x="612648" y="2377440"/>
            <a:ext cx="7918704" cy="274320"/>
          </a:xfrm>
          <a:prstGeom prst="rect">
            <a:avLst/>
          </a:prstGeom>
          <a:noFill/>
          <a:ln/>
        </p:spPr>
        <p:txBody>
          <a:bodyPr wrap="square" rtlCol="0" anchor="ctr"/>
          <a:lstStyle/>
          <a:p>
            <a:pPr indent="0" marL="0">
              <a:buNone/>
            </a:pPr>
            <a:r>
              <a:rPr lang="en-US" sz="1400" b="1" dirty="0">
                <a:solidFill>
                  <a:srgbClr val="1B4332"/>
                </a:solidFill>
              </a:rPr>
              <a:t>Unités : Joule [J] ou calorie [cal]     |     1 cal = 4.186 J</a:t>
            </a:r>
            <a:endParaRPr lang="en-US" sz="1400" dirty="0"/>
          </a:p>
        </p:txBody>
      </p:sp>
      <p:sp>
        <p:nvSpPr>
          <p:cNvPr id="8" name="Shape 6"/>
          <p:cNvSpPr/>
          <p:nvPr/>
        </p:nvSpPr>
        <p:spPr>
          <a:xfrm>
            <a:off x="612648" y="2834640"/>
            <a:ext cx="7918704" cy="640080"/>
          </a:xfrm>
          <a:prstGeom prst="rect">
            <a:avLst/>
          </a:prstGeom>
          <a:solidFill>
            <a:srgbClr val="E18C70"/>
          </a:solidFill>
          <a:ln/>
        </p:spPr>
      </p:sp>
      <p:sp>
        <p:nvSpPr>
          <p:cNvPr id="9" name="Text 7"/>
          <p:cNvSpPr/>
          <p:nvPr/>
        </p:nvSpPr>
        <p:spPr>
          <a:xfrm>
            <a:off x="795528" y="2926080"/>
            <a:ext cx="7552944" cy="228600"/>
          </a:xfrm>
          <a:prstGeom prst="rect">
            <a:avLst/>
          </a:prstGeom>
          <a:noFill/>
          <a:ln/>
        </p:spPr>
        <p:txBody>
          <a:bodyPr wrap="square" rtlCol="0" anchor="ctr"/>
          <a:lstStyle/>
          <a:p>
            <a:pPr indent="0" marL="0">
              <a:buNone/>
            </a:pPr>
            <a:r>
              <a:rPr lang="en-US" sz="1300" b="1" dirty="0">
                <a:solidFill>
                  <a:srgbClr val="1B4332"/>
                </a:solidFill>
              </a:rPr>
              <a:t>Attention : La chaleur et la température sont deux grandeurs différentes !</a:t>
            </a:r>
            <a:endParaRPr lang="en-US" sz="1300" dirty="0"/>
          </a:p>
        </p:txBody>
      </p:sp>
      <p:sp>
        <p:nvSpPr>
          <p:cNvPr id="10" name="Text 8"/>
          <p:cNvSpPr/>
          <p:nvPr/>
        </p:nvSpPr>
        <p:spPr>
          <a:xfrm>
            <a:off x="795528" y="3200400"/>
            <a:ext cx="7552944" cy="182880"/>
          </a:xfrm>
          <a:prstGeom prst="rect">
            <a:avLst/>
          </a:prstGeom>
          <a:noFill/>
          <a:ln/>
        </p:spPr>
        <p:txBody>
          <a:bodyPr wrap="square" rtlCol="0" anchor="ctr"/>
          <a:lstStyle/>
          <a:p>
            <a:pPr indent="0" marL="0">
              <a:buNone/>
            </a:pPr>
            <a:r>
              <a:rPr lang="en-US" sz="1100" dirty="0">
                <a:solidFill>
                  <a:srgbClr val="2E6B4F"/>
                </a:solidFill>
              </a:rPr>
              <a:t>Un échange de chaleur peut s'effectuer sans variation de température (changement d'état).</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Les Trois Modes de Transfert de Chaleur</a:t>
            </a:r>
            <a:endParaRPr lang="en-US" sz="2200" dirty="0"/>
          </a:p>
        </p:txBody>
      </p:sp>
      <p:sp>
        <p:nvSpPr>
          <p:cNvPr id="4" name="Shape 2"/>
          <p:cNvSpPr/>
          <p:nvPr/>
        </p:nvSpPr>
        <p:spPr>
          <a:xfrm>
            <a:off x="612648" y="1005840"/>
            <a:ext cx="7918704" cy="822960"/>
          </a:xfrm>
          <a:prstGeom prst="rect">
            <a:avLst/>
          </a:prstGeom>
          <a:solidFill>
            <a:srgbClr val="EEF7F1"/>
          </a:solidFill>
          <a:ln w="12700">
            <a:solidFill>
              <a:srgbClr val="A8D4BC"/>
            </a:solidFill>
            <a:prstDash val="solid"/>
          </a:ln>
        </p:spPr>
      </p:sp>
      <p:sp>
        <p:nvSpPr>
          <p:cNvPr id="5" name="Shape 3"/>
          <p:cNvSpPr/>
          <p:nvPr/>
        </p:nvSpPr>
        <p:spPr>
          <a:xfrm>
            <a:off x="612648" y="1005840"/>
            <a:ext cx="45720" cy="822960"/>
          </a:xfrm>
          <a:prstGeom prst="rect">
            <a:avLst/>
          </a:prstGeom>
          <a:solidFill>
            <a:srgbClr val="DCBD74"/>
          </a:solidFill>
          <a:ln/>
        </p:spPr>
      </p:sp>
      <p:sp>
        <p:nvSpPr>
          <p:cNvPr id="6" name="Text 4"/>
          <p:cNvSpPr/>
          <p:nvPr/>
        </p:nvSpPr>
        <p:spPr>
          <a:xfrm>
            <a:off x="795528" y="1097280"/>
            <a:ext cx="2286000" cy="274320"/>
          </a:xfrm>
          <a:prstGeom prst="rect">
            <a:avLst/>
          </a:prstGeom>
          <a:noFill/>
          <a:ln/>
        </p:spPr>
        <p:txBody>
          <a:bodyPr wrap="square" rtlCol="0" anchor="ctr"/>
          <a:lstStyle/>
          <a:p>
            <a:pPr indent="0" marL="0">
              <a:buNone/>
            </a:pPr>
            <a:r>
              <a:rPr lang="en-US" sz="1500" b="1" dirty="0">
                <a:solidFill>
                  <a:srgbClr val="1B4332"/>
                </a:solidFill>
              </a:rPr>
              <a:t>Conduction</a:t>
            </a:r>
            <a:endParaRPr lang="en-US" sz="1500" dirty="0"/>
          </a:p>
        </p:txBody>
      </p:sp>
      <p:sp>
        <p:nvSpPr>
          <p:cNvPr id="7" name="Text 5"/>
          <p:cNvSpPr/>
          <p:nvPr/>
        </p:nvSpPr>
        <p:spPr>
          <a:xfrm>
            <a:off x="795528" y="1417320"/>
            <a:ext cx="3657600" cy="274320"/>
          </a:xfrm>
          <a:prstGeom prst="rect">
            <a:avLst/>
          </a:prstGeom>
          <a:noFill/>
          <a:ln/>
        </p:spPr>
        <p:txBody>
          <a:bodyPr wrap="square" rtlCol="0" anchor="ctr"/>
          <a:lstStyle/>
          <a:p>
            <a:pPr indent="0" marL="0">
              <a:buNone/>
            </a:pPr>
            <a:r>
              <a:rPr lang="en-US" sz="1200" dirty="0">
                <a:solidFill>
                  <a:srgbClr val="2E6B4F"/>
                </a:solidFill>
              </a:rPr>
              <a:t>Transfert par contact matériel direct</a:t>
            </a:r>
            <a:endParaRPr lang="en-US" sz="1200" dirty="0"/>
          </a:p>
        </p:txBody>
      </p:sp>
      <p:sp>
        <p:nvSpPr>
          <p:cNvPr id="8" name="Text 6"/>
          <p:cNvSpPr/>
          <p:nvPr/>
        </p:nvSpPr>
        <p:spPr>
          <a:xfrm>
            <a:off x="5029200" y="1234440"/>
            <a:ext cx="2743200" cy="365760"/>
          </a:xfrm>
          <a:prstGeom prst="rect">
            <a:avLst/>
          </a:prstGeom>
          <a:noFill/>
          <a:ln/>
        </p:spPr>
        <p:txBody>
          <a:bodyPr wrap="square" rtlCol="0" anchor="ctr"/>
          <a:lstStyle/>
          <a:p>
            <a:pPr indent="0" marL="0">
              <a:buNone/>
            </a:pPr>
            <a:r>
              <a:rPr lang="en-US" sz="1400" b="1" dirty="0">
                <a:solidFill>
                  <a:srgbClr val="DCBD74"/>
                </a:solidFill>
                <a:latin typeface="Cambria Math" pitchFamily="34" charset="0"/>
                <a:ea typeface="Cambria Math" pitchFamily="34" charset="-122"/>
                <a:cs typeface="Cambria Math" pitchFamily="34" charset="-120"/>
              </a:rPr>
              <a:t>Q = λSΔT/e</a:t>
            </a:r>
            <a:endParaRPr lang="en-US" sz="1400" dirty="0"/>
          </a:p>
        </p:txBody>
      </p:sp>
      <p:sp>
        <p:nvSpPr>
          <p:cNvPr id="9" name="Shape 7"/>
          <p:cNvSpPr/>
          <p:nvPr/>
        </p:nvSpPr>
        <p:spPr>
          <a:xfrm>
            <a:off x="612648" y="1920240"/>
            <a:ext cx="7918704" cy="822960"/>
          </a:xfrm>
          <a:prstGeom prst="rect">
            <a:avLst/>
          </a:prstGeom>
          <a:solidFill>
            <a:srgbClr val="EEF7F1"/>
          </a:solidFill>
          <a:ln w="12700">
            <a:solidFill>
              <a:srgbClr val="A8D4BC"/>
            </a:solidFill>
            <a:prstDash val="solid"/>
          </a:ln>
        </p:spPr>
      </p:sp>
      <p:sp>
        <p:nvSpPr>
          <p:cNvPr id="10" name="Shape 8"/>
          <p:cNvSpPr/>
          <p:nvPr/>
        </p:nvSpPr>
        <p:spPr>
          <a:xfrm>
            <a:off x="612648" y="1920240"/>
            <a:ext cx="45720" cy="822960"/>
          </a:xfrm>
          <a:prstGeom prst="rect">
            <a:avLst/>
          </a:prstGeom>
          <a:solidFill>
            <a:srgbClr val="DCBD74"/>
          </a:solidFill>
          <a:ln/>
        </p:spPr>
      </p:sp>
      <p:sp>
        <p:nvSpPr>
          <p:cNvPr id="11" name="Text 9"/>
          <p:cNvSpPr/>
          <p:nvPr/>
        </p:nvSpPr>
        <p:spPr>
          <a:xfrm>
            <a:off x="795528" y="2011680"/>
            <a:ext cx="2286000" cy="274320"/>
          </a:xfrm>
          <a:prstGeom prst="rect">
            <a:avLst/>
          </a:prstGeom>
          <a:noFill/>
          <a:ln/>
        </p:spPr>
        <p:txBody>
          <a:bodyPr wrap="square" rtlCol="0" anchor="ctr"/>
          <a:lstStyle/>
          <a:p>
            <a:pPr indent="0" marL="0">
              <a:buNone/>
            </a:pPr>
            <a:r>
              <a:rPr lang="en-US" sz="1500" b="1" dirty="0">
                <a:solidFill>
                  <a:srgbClr val="1B4332"/>
                </a:solidFill>
              </a:rPr>
              <a:t>Convection</a:t>
            </a:r>
            <a:endParaRPr lang="en-US" sz="1500" dirty="0"/>
          </a:p>
        </p:txBody>
      </p:sp>
      <p:sp>
        <p:nvSpPr>
          <p:cNvPr id="12" name="Text 10"/>
          <p:cNvSpPr/>
          <p:nvPr/>
        </p:nvSpPr>
        <p:spPr>
          <a:xfrm>
            <a:off x="795528" y="2331720"/>
            <a:ext cx="3657600" cy="274320"/>
          </a:xfrm>
          <a:prstGeom prst="rect">
            <a:avLst/>
          </a:prstGeom>
          <a:noFill/>
          <a:ln/>
        </p:spPr>
        <p:txBody>
          <a:bodyPr wrap="square" rtlCol="0" anchor="ctr"/>
          <a:lstStyle/>
          <a:p>
            <a:pPr indent="0" marL="0">
              <a:buNone/>
            </a:pPr>
            <a:r>
              <a:rPr lang="en-US" sz="1200" dirty="0">
                <a:solidFill>
                  <a:srgbClr val="2E6B4F"/>
                </a:solidFill>
              </a:rPr>
              <a:t>Transfert par mouvement de fluide</a:t>
            </a:r>
            <a:endParaRPr lang="en-US" sz="1200" dirty="0"/>
          </a:p>
        </p:txBody>
      </p:sp>
      <p:sp>
        <p:nvSpPr>
          <p:cNvPr id="13" name="Text 11"/>
          <p:cNvSpPr/>
          <p:nvPr/>
        </p:nvSpPr>
        <p:spPr>
          <a:xfrm>
            <a:off x="5029200" y="2148840"/>
            <a:ext cx="2743200" cy="365760"/>
          </a:xfrm>
          <a:prstGeom prst="rect">
            <a:avLst/>
          </a:prstGeom>
          <a:noFill/>
          <a:ln/>
        </p:spPr>
        <p:txBody>
          <a:bodyPr wrap="square" rtlCol="0" anchor="ctr"/>
          <a:lstStyle/>
          <a:p>
            <a:pPr indent="0" marL="0">
              <a:buNone/>
            </a:pPr>
            <a:r>
              <a:rPr lang="en-US" sz="1400" b="1" dirty="0">
                <a:solidFill>
                  <a:srgbClr val="DCBD74"/>
                </a:solidFill>
                <a:latin typeface="Cambria Math" pitchFamily="34" charset="0"/>
                <a:ea typeface="Cambria Math" pitchFamily="34" charset="-122"/>
                <a:cs typeface="Cambria Math" pitchFamily="34" charset="-120"/>
              </a:rPr>
              <a:t>Q = hSΔT</a:t>
            </a:r>
            <a:endParaRPr lang="en-US" sz="1400" dirty="0"/>
          </a:p>
        </p:txBody>
      </p:sp>
      <p:sp>
        <p:nvSpPr>
          <p:cNvPr id="14" name="Shape 12"/>
          <p:cNvSpPr/>
          <p:nvPr/>
        </p:nvSpPr>
        <p:spPr>
          <a:xfrm>
            <a:off x="612648" y="2834640"/>
            <a:ext cx="7918704" cy="822960"/>
          </a:xfrm>
          <a:prstGeom prst="rect">
            <a:avLst/>
          </a:prstGeom>
          <a:solidFill>
            <a:srgbClr val="EEF7F1"/>
          </a:solidFill>
          <a:ln w="12700">
            <a:solidFill>
              <a:srgbClr val="A8D4BC"/>
            </a:solidFill>
            <a:prstDash val="solid"/>
          </a:ln>
        </p:spPr>
      </p:sp>
      <p:sp>
        <p:nvSpPr>
          <p:cNvPr id="15" name="Shape 13"/>
          <p:cNvSpPr/>
          <p:nvPr/>
        </p:nvSpPr>
        <p:spPr>
          <a:xfrm>
            <a:off x="612648" y="2834640"/>
            <a:ext cx="45720" cy="822960"/>
          </a:xfrm>
          <a:prstGeom prst="rect">
            <a:avLst/>
          </a:prstGeom>
          <a:solidFill>
            <a:srgbClr val="DCBD74"/>
          </a:solidFill>
          <a:ln/>
        </p:spPr>
      </p:sp>
      <p:sp>
        <p:nvSpPr>
          <p:cNvPr id="16" name="Text 14"/>
          <p:cNvSpPr/>
          <p:nvPr/>
        </p:nvSpPr>
        <p:spPr>
          <a:xfrm>
            <a:off x="795528" y="2926080"/>
            <a:ext cx="2286000" cy="274320"/>
          </a:xfrm>
          <a:prstGeom prst="rect">
            <a:avLst/>
          </a:prstGeom>
          <a:noFill/>
          <a:ln/>
        </p:spPr>
        <p:txBody>
          <a:bodyPr wrap="square" rtlCol="0" anchor="ctr"/>
          <a:lstStyle/>
          <a:p>
            <a:pPr indent="0" marL="0">
              <a:buNone/>
            </a:pPr>
            <a:r>
              <a:rPr lang="en-US" sz="1500" b="1" dirty="0">
                <a:solidFill>
                  <a:srgbClr val="1B4332"/>
                </a:solidFill>
              </a:rPr>
              <a:t>Rayonnement</a:t>
            </a:r>
            <a:endParaRPr lang="en-US" sz="1500" dirty="0"/>
          </a:p>
        </p:txBody>
      </p:sp>
      <p:sp>
        <p:nvSpPr>
          <p:cNvPr id="17" name="Text 15"/>
          <p:cNvSpPr/>
          <p:nvPr/>
        </p:nvSpPr>
        <p:spPr>
          <a:xfrm>
            <a:off x="795528" y="3246120"/>
            <a:ext cx="3657600" cy="274320"/>
          </a:xfrm>
          <a:prstGeom prst="rect">
            <a:avLst/>
          </a:prstGeom>
          <a:noFill/>
          <a:ln/>
        </p:spPr>
        <p:txBody>
          <a:bodyPr wrap="square" rtlCol="0" anchor="ctr"/>
          <a:lstStyle/>
          <a:p>
            <a:pPr indent="0" marL="0">
              <a:buNone/>
            </a:pPr>
            <a:r>
              <a:rPr lang="en-US" sz="1200" dirty="0">
                <a:solidFill>
                  <a:srgbClr val="2E6B4F"/>
                </a:solidFill>
              </a:rPr>
              <a:t>Transfert par ondes EM (sans contact)</a:t>
            </a:r>
            <a:endParaRPr lang="en-US" sz="1200" dirty="0"/>
          </a:p>
        </p:txBody>
      </p:sp>
      <p:sp>
        <p:nvSpPr>
          <p:cNvPr id="18" name="Text 16"/>
          <p:cNvSpPr/>
          <p:nvPr/>
        </p:nvSpPr>
        <p:spPr>
          <a:xfrm>
            <a:off x="5029200" y="3063240"/>
            <a:ext cx="2743200" cy="365760"/>
          </a:xfrm>
          <a:prstGeom prst="rect">
            <a:avLst/>
          </a:prstGeom>
          <a:noFill/>
          <a:ln/>
        </p:spPr>
        <p:txBody>
          <a:bodyPr wrap="square" rtlCol="0" anchor="ctr"/>
          <a:lstStyle/>
          <a:p>
            <a:pPr indent="0" marL="0">
              <a:buNone/>
            </a:pPr>
            <a:r>
              <a:rPr lang="en-US" sz="1400" b="1" dirty="0">
                <a:solidFill>
                  <a:srgbClr val="DCBD74"/>
                </a:solidFill>
                <a:latin typeface="Cambria Math" pitchFamily="34" charset="0"/>
                <a:ea typeface="Cambria Math" pitchFamily="34" charset="-122"/>
                <a:cs typeface="Cambria Math" pitchFamily="34" charset="-120"/>
              </a:rPr>
              <a:t>Q = εσST⁴</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Expression de la Quantité de Chaleur</a:t>
            </a:r>
            <a:endParaRPr lang="en-US" sz="2200" dirty="0"/>
          </a:p>
        </p:txBody>
      </p:sp>
      <p:sp>
        <p:nvSpPr>
          <p:cNvPr id="4" name="Text 2"/>
          <p:cNvSpPr/>
          <p:nvPr/>
        </p:nvSpPr>
        <p:spPr>
          <a:xfrm>
            <a:off x="612648" y="1005840"/>
            <a:ext cx="7918704" cy="320040"/>
          </a:xfrm>
          <a:prstGeom prst="rect">
            <a:avLst/>
          </a:prstGeom>
          <a:noFill/>
          <a:ln/>
        </p:spPr>
        <p:txBody>
          <a:bodyPr wrap="square" rtlCol="0" anchor="ctr"/>
          <a:lstStyle/>
          <a:p>
            <a:pPr indent="0" marL="0">
              <a:buNone/>
            </a:pPr>
            <a:r>
              <a:rPr lang="en-US" sz="1400" dirty="0">
                <a:solidFill>
                  <a:srgbClr val="2E6B4F"/>
                </a:solidFill>
              </a:rPr>
              <a:t>La chaleur élémentaire selon les variables choisies :</a:t>
            </a:r>
            <a:endParaRPr lang="en-US" sz="1400" dirty="0"/>
          </a:p>
        </p:txBody>
      </p:sp>
      <p:sp>
        <p:nvSpPr>
          <p:cNvPr id="5" name="Shape 3"/>
          <p:cNvSpPr/>
          <p:nvPr/>
        </p:nvSpPr>
        <p:spPr>
          <a:xfrm>
            <a:off x="612648" y="1417320"/>
            <a:ext cx="2560320" cy="914400"/>
          </a:xfrm>
          <a:prstGeom prst="rect">
            <a:avLst/>
          </a:prstGeom>
          <a:solidFill>
            <a:srgbClr val="EEF7F1"/>
          </a:solidFill>
          <a:ln w="12700">
            <a:solidFill>
              <a:srgbClr val="DCBD74"/>
            </a:solidFill>
            <a:prstDash val="solid"/>
          </a:ln>
        </p:spPr>
      </p:sp>
      <p:sp>
        <p:nvSpPr>
          <p:cNvPr id="6" name="Text 4"/>
          <p:cNvSpPr/>
          <p:nvPr/>
        </p:nvSpPr>
        <p:spPr>
          <a:xfrm>
            <a:off x="704088" y="1508760"/>
            <a:ext cx="2377440" cy="274320"/>
          </a:xfrm>
          <a:prstGeom prst="rect">
            <a:avLst/>
          </a:prstGeom>
          <a:noFill/>
          <a:ln/>
        </p:spPr>
        <p:txBody>
          <a:bodyPr wrap="square" rtlCol="0" anchor="ctr"/>
          <a:lstStyle/>
          <a:p>
            <a:pPr algn="ctr" indent="0" marL="0">
              <a:buNone/>
            </a:pPr>
            <a:r>
              <a:rPr lang="en-US" sz="1400" b="1" dirty="0">
                <a:solidFill>
                  <a:srgbClr val="1B4332"/>
                </a:solidFill>
              </a:rPr>
              <a:t>(T, V)</a:t>
            </a:r>
            <a:endParaRPr lang="en-US" sz="1400" dirty="0"/>
          </a:p>
        </p:txBody>
      </p:sp>
      <p:sp>
        <p:nvSpPr>
          <p:cNvPr id="7" name="Text 5"/>
          <p:cNvSpPr/>
          <p:nvPr/>
        </p:nvSpPr>
        <p:spPr>
          <a:xfrm>
            <a:off x="704088" y="1874520"/>
            <a:ext cx="2377440" cy="365760"/>
          </a:xfrm>
          <a:prstGeom prst="rect">
            <a:avLst/>
          </a:prstGeom>
          <a:noFill/>
          <a:ln/>
        </p:spPr>
        <p:txBody>
          <a:bodyPr wrap="square" rtlCol="0" anchor="ctr"/>
          <a:lstStyle/>
          <a:p>
            <a:pPr algn="ctr" indent="0" marL="0">
              <a:buNone/>
            </a:pPr>
            <a:r>
              <a:rPr lang="en-US" sz="1300" dirty="0">
                <a:solidFill>
                  <a:srgbClr val="DCBD74"/>
                </a:solidFill>
                <a:latin typeface="Cambria Math" pitchFamily="34" charset="0"/>
                <a:ea typeface="Cambria Math" pitchFamily="34" charset="-122"/>
                <a:cs typeface="Cambria Math" pitchFamily="34" charset="-120"/>
              </a:rPr>
              <a:t>δQ = ldV + CVdT</a:t>
            </a:r>
            <a:endParaRPr lang="en-US" sz="1300" dirty="0"/>
          </a:p>
        </p:txBody>
      </p:sp>
      <p:sp>
        <p:nvSpPr>
          <p:cNvPr id="8" name="Shape 6"/>
          <p:cNvSpPr/>
          <p:nvPr/>
        </p:nvSpPr>
        <p:spPr>
          <a:xfrm>
            <a:off x="3355848" y="1417320"/>
            <a:ext cx="2560320" cy="914400"/>
          </a:xfrm>
          <a:prstGeom prst="rect">
            <a:avLst/>
          </a:prstGeom>
          <a:solidFill>
            <a:srgbClr val="EEF7F1"/>
          </a:solidFill>
          <a:ln w="12700">
            <a:solidFill>
              <a:srgbClr val="DCBD74"/>
            </a:solidFill>
            <a:prstDash val="solid"/>
          </a:ln>
        </p:spPr>
      </p:sp>
      <p:sp>
        <p:nvSpPr>
          <p:cNvPr id="9" name="Text 7"/>
          <p:cNvSpPr/>
          <p:nvPr/>
        </p:nvSpPr>
        <p:spPr>
          <a:xfrm>
            <a:off x="3447288" y="1508760"/>
            <a:ext cx="2377440" cy="274320"/>
          </a:xfrm>
          <a:prstGeom prst="rect">
            <a:avLst/>
          </a:prstGeom>
          <a:noFill/>
          <a:ln/>
        </p:spPr>
        <p:txBody>
          <a:bodyPr wrap="square" rtlCol="0" anchor="ctr"/>
          <a:lstStyle/>
          <a:p>
            <a:pPr algn="ctr" indent="0" marL="0">
              <a:buNone/>
            </a:pPr>
            <a:r>
              <a:rPr lang="en-US" sz="1400" b="1" dirty="0">
                <a:solidFill>
                  <a:srgbClr val="1B4332"/>
                </a:solidFill>
              </a:rPr>
              <a:t>(T, P)</a:t>
            </a:r>
            <a:endParaRPr lang="en-US" sz="1400" dirty="0"/>
          </a:p>
        </p:txBody>
      </p:sp>
      <p:sp>
        <p:nvSpPr>
          <p:cNvPr id="10" name="Text 8"/>
          <p:cNvSpPr/>
          <p:nvPr/>
        </p:nvSpPr>
        <p:spPr>
          <a:xfrm>
            <a:off x="3447288" y="1874520"/>
            <a:ext cx="2377440" cy="365760"/>
          </a:xfrm>
          <a:prstGeom prst="rect">
            <a:avLst/>
          </a:prstGeom>
          <a:noFill/>
          <a:ln/>
        </p:spPr>
        <p:txBody>
          <a:bodyPr wrap="square" rtlCol="0" anchor="ctr"/>
          <a:lstStyle/>
          <a:p>
            <a:pPr algn="ctr" indent="0" marL="0">
              <a:buNone/>
            </a:pPr>
            <a:r>
              <a:rPr lang="en-US" sz="1300" dirty="0">
                <a:solidFill>
                  <a:srgbClr val="DCBD74"/>
                </a:solidFill>
                <a:latin typeface="Cambria Math" pitchFamily="34" charset="0"/>
                <a:ea typeface="Cambria Math" pitchFamily="34" charset="-122"/>
                <a:cs typeface="Cambria Math" pitchFamily="34" charset="-120"/>
              </a:rPr>
              <a:t>δQ = hdP + CPdT</a:t>
            </a:r>
            <a:endParaRPr lang="en-US" sz="1300" dirty="0"/>
          </a:p>
        </p:txBody>
      </p:sp>
      <p:sp>
        <p:nvSpPr>
          <p:cNvPr id="11" name="Shape 9"/>
          <p:cNvSpPr/>
          <p:nvPr/>
        </p:nvSpPr>
        <p:spPr>
          <a:xfrm>
            <a:off x="6099048" y="1417320"/>
            <a:ext cx="2560320" cy="914400"/>
          </a:xfrm>
          <a:prstGeom prst="rect">
            <a:avLst/>
          </a:prstGeom>
          <a:solidFill>
            <a:srgbClr val="EEF7F1"/>
          </a:solidFill>
          <a:ln w="12700">
            <a:solidFill>
              <a:srgbClr val="DCBD74"/>
            </a:solidFill>
            <a:prstDash val="solid"/>
          </a:ln>
        </p:spPr>
      </p:sp>
      <p:sp>
        <p:nvSpPr>
          <p:cNvPr id="12" name="Text 10"/>
          <p:cNvSpPr/>
          <p:nvPr/>
        </p:nvSpPr>
        <p:spPr>
          <a:xfrm>
            <a:off x="6190488" y="1508760"/>
            <a:ext cx="2377440" cy="274320"/>
          </a:xfrm>
          <a:prstGeom prst="rect">
            <a:avLst/>
          </a:prstGeom>
          <a:noFill/>
          <a:ln/>
        </p:spPr>
        <p:txBody>
          <a:bodyPr wrap="square" rtlCol="0" anchor="ctr"/>
          <a:lstStyle/>
          <a:p>
            <a:pPr algn="ctr" indent="0" marL="0">
              <a:buNone/>
            </a:pPr>
            <a:r>
              <a:rPr lang="en-US" sz="1400" b="1" dirty="0">
                <a:solidFill>
                  <a:srgbClr val="1B4332"/>
                </a:solidFill>
              </a:rPr>
              <a:t>(P, V)</a:t>
            </a:r>
            <a:endParaRPr lang="en-US" sz="1400" dirty="0"/>
          </a:p>
        </p:txBody>
      </p:sp>
      <p:sp>
        <p:nvSpPr>
          <p:cNvPr id="13" name="Text 11"/>
          <p:cNvSpPr/>
          <p:nvPr/>
        </p:nvSpPr>
        <p:spPr>
          <a:xfrm>
            <a:off x="6190488" y="1874520"/>
            <a:ext cx="2377440" cy="365760"/>
          </a:xfrm>
          <a:prstGeom prst="rect">
            <a:avLst/>
          </a:prstGeom>
          <a:noFill/>
          <a:ln/>
        </p:spPr>
        <p:txBody>
          <a:bodyPr wrap="square" rtlCol="0" anchor="ctr"/>
          <a:lstStyle/>
          <a:p>
            <a:pPr algn="ctr" indent="0" marL="0">
              <a:buNone/>
            </a:pPr>
            <a:r>
              <a:rPr lang="en-US" sz="1300" dirty="0">
                <a:solidFill>
                  <a:srgbClr val="DCBD74"/>
                </a:solidFill>
                <a:latin typeface="Cambria Math" pitchFamily="34" charset="0"/>
                <a:ea typeface="Cambria Math" pitchFamily="34" charset="-122"/>
                <a:cs typeface="Cambria Math" pitchFamily="34" charset="-120"/>
              </a:rPr>
              <a:t>δQ = λdP + μdV</a:t>
            </a:r>
            <a:endParaRPr lang="en-US" sz="1300" dirty="0"/>
          </a:p>
        </p:txBody>
      </p:sp>
      <p:sp>
        <p:nvSpPr>
          <p:cNvPr id="14" name="Text 12"/>
          <p:cNvSpPr/>
          <p:nvPr/>
        </p:nvSpPr>
        <p:spPr>
          <a:xfrm>
            <a:off x="612648" y="2560320"/>
            <a:ext cx="7918704" cy="274320"/>
          </a:xfrm>
          <a:prstGeom prst="rect">
            <a:avLst/>
          </a:prstGeom>
          <a:noFill/>
          <a:ln/>
        </p:spPr>
        <p:txBody>
          <a:bodyPr wrap="square" rtlCol="0" anchor="ctr"/>
          <a:lstStyle/>
          <a:p>
            <a:pPr indent="0" marL="0">
              <a:buNone/>
            </a:pPr>
            <a:r>
              <a:rPr lang="en-US" sz="1200" i="1" dirty="0">
                <a:solidFill>
                  <a:srgbClr val="E18C70"/>
                </a:solidFill>
              </a:rPr>
              <a:t>⚠️ Ces expressions ne sont valables que pour des transformations réversibles ou quasi-statiques !</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Capacités Thermiques</a:t>
            </a:r>
            <a:endParaRPr lang="en-US" sz="2200" dirty="0"/>
          </a:p>
        </p:txBody>
      </p:sp>
      <p:sp>
        <p:nvSpPr>
          <p:cNvPr id="4" name="Shape 2"/>
          <p:cNvSpPr/>
          <p:nvPr/>
        </p:nvSpPr>
        <p:spPr>
          <a:xfrm>
            <a:off x="612648" y="1005840"/>
            <a:ext cx="3657600" cy="2103120"/>
          </a:xfrm>
          <a:prstGeom prst="rect">
            <a:avLst/>
          </a:prstGeom>
          <a:solidFill>
            <a:srgbClr val="EEF7F1"/>
          </a:solidFill>
          <a:ln/>
        </p:spPr>
      </p:sp>
      <p:sp>
        <p:nvSpPr>
          <p:cNvPr id="5" name="Text 3"/>
          <p:cNvSpPr/>
          <p:nvPr/>
        </p:nvSpPr>
        <p:spPr>
          <a:xfrm>
            <a:off x="795528" y="1097280"/>
            <a:ext cx="3291840" cy="320040"/>
          </a:xfrm>
          <a:prstGeom prst="rect">
            <a:avLst/>
          </a:prstGeom>
          <a:noFill/>
          <a:ln/>
        </p:spPr>
        <p:txBody>
          <a:bodyPr wrap="square" rtlCol="0" anchor="ctr"/>
          <a:lstStyle/>
          <a:p>
            <a:pPr indent="0" marL="0">
              <a:buNone/>
            </a:pPr>
            <a:r>
              <a:rPr lang="en-US" sz="1400" b="1" dirty="0">
                <a:solidFill>
                  <a:srgbClr val="1B4332"/>
                </a:solidFill>
              </a:rPr>
              <a:t>À Volume Constant (CV)</a:t>
            </a:r>
            <a:endParaRPr lang="en-US" sz="1400" dirty="0"/>
          </a:p>
        </p:txBody>
      </p:sp>
      <p:sp>
        <p:nvSpPr>
          <p:cNvPr id="6" name="Text 4"/>
          <p:cNvSpPr/>
          <p:nvPr/>
        </p:nvSpPr>
        <p:spPr>
          <a:xfrm>
            <a:off x="795528" y="1463040"/>
            <a:ext cx="3291840" cy="1371600"/>
          </a:xfrm>
          <a:prstGeom prst="rect">
            <a:avLst/>
          </a:prstGeom>
          <a:noFill/>
          <a:ln/>
        </p:spPr>
        <p:txBody>
          <a:bodyPr wrap="square" rtlCol="0" anchor="ctr"/>
          <a:lstStyle/>
          <a:p>
            <a:pPr indent="0" marL="0">
              <a:buNone/>
            </a:pPr>
            <a:r>
              <a:rPr lang="en-US" sz="1200" dirty="0">
                <a:solidFill>
                  <a:srgbClr val="2E6B4F"/>
                </a:solidFill>
                <a:latin typeface="Cambria Math" pitchFamily="34" charset="0"/>
                <a:ea typeface="Cambria Math" pitchFamily="34" charset="-122"/>
                <a:cs typeface="Cambria Math" pitchFamily="34" charset="-120"/>
              </a:rPr>
              <a:t>δQV = CV dT</a:t>
            </a:r>
            <a:endParaRPr lang="en-US" sz="1200" dirty="0"/>
          </a:p>
          <a:p>
            <a:pPr indent="0" marL="0">
              <a:buNone/>
            </a:pPr>
            <a:endParaRPr lang="en-US" sz="1200" dirty="0"/>
          </a:p>
          <a:p>
            <a:pPr indent="0" marL="0">
              <a:buNone/>
            </a:pPr>
            <a:r>
              <a:rPr lang="en-US" sz="1200" dirty="0">
                <a:solidFill>
                  <a:srgbClr val="2E6B4F"/>
                </a:solidFill>
                <a:latin typeface="Cambria Math" pitchFamily="34" charset="0"/>
                <a:ea typeface="Cambria Math" pitchFamily="34" charset="-122"/>
                <a:cs typeface="Cambria Math" pitchFamily="34" charset="-120"/>
              </a:rPr>
              <a:t>QV = m·cV·(T₂-T₁)</a:t>
            </a:r>
            <a:endParaRPr lang="en-US" sz="1200" dirty="0"/>
          </a:p>
          <a:p>
            <a:pPr indent="0" marL="0">
              <a:buNone/>
            </a:pPr>
            <a:endParaRPr lang="en-US" sz="1200" dirty="0"/>
          </a:p>
          <a:p>
            <a:pPr indent="0" marL="0">
              <a:buNone/>
            </a:pPr>
            <a:r>
              <a:rPr lang="en-US" sz="1200" dirty="0">
                <a:solidFill>
                  <a:srgbClr val="2E6B4F"/>
                </a:solidFill>
                <a:latin typeface="Cambria Math" pitchFamily="34" charset="0"/>
                <a:ea typeface="Cambria Math" pitchFamily="34" charset="-122"/>
                <a:cs typeface="Cambria Math" pitchFamily="34" charset="-120"/>
              </a:rPr>
              <a:t>cV : chaleur massique [J/kg·K]</a:t>
            </a:r>
            <a:endParaRPr lang="en-US" sz="1200" dirty="0"/>
          </a:p>
          <a:p>
            <a:pPr indent="0" marL="0">
              <a:buNone/>
            </a:pPr>
            <a:r>
              <a:rPr lang="en-US" sz="1200" dirty="0">
                <a:solidFill>
                  <a:srgbClr val="2E6B4F"/>
                </a:solidFill>
                <a:latin typeface="Cambria Math" pitchFamily="34" charset="0"/>
                <a:ea typeface="Cambria Math" pitchFamily="34" charset="-122"/>
                <a:cs typeface="Cambria Math" pitchFamily="34" charset="-120"/>
              </a:rPr>
              <a:t>cᵥ : chaleur molaire [J/mol·K]</a:t>
            </a:r>
            <a:endParaRPr lang="en-US" sz="1200" dirty="0"/>
          </a:p>
        </p:txBody>
      </p:sp>
      <p:sp>
        <p:nvSpPr>
          <p:cNvPr id="7" name="Shape 5"/>
          <p:cNvSpPr/>
          <p:nvPr/>
        </p:nvSpPr>
        <p:spPr>
          <a:xfrm>
            <a:off x="4873752" y="1005840"/>
            <a:ext cx="3657600" cy="2103120"/>
          </a:xfrm>
          <a:prstGeom prst="rect">
            <a:avLst/>
          </a:prstGeom>
          <a:solidFill>
            <a:srgbClr val="EEF7F1"/>
          </a:solidFill>
          <a:ln/>
        </p:spPr>
      </p:sp>
      <p:sp>
        <p:nvSpPr>
          <p:cNvPr id="8" name="Text 6"/>
          <p:cNvSpPr/>
          <p:nvPr/>
        </p:nvSpPr>
        <p:spPr>
          <a:xfrm>
            <a:off x="5056632" y="1097280"/>
            <a:ext cx="3291840" cy="320040"/>
          </a:xfrm>
          <a:prstGeom prst="rect">
            <a:avLst/>
          </a:prstGeom>
          <a:noFill/>
          <a:ln/>
        </p:spPr>
        <p:txBody>
          <a:bodyPr wrap="square" rtlCol="0" anchor="ctr"/>
          <a:lstStyle/>
          <a:p>
            <a:pPr indent="0" marL="0">
              <a:buNone/>
            </a:pPr>
            <a:r>
              <a:rPr lang="en-US" sz="1400" b="1" dirty="0">
                <a:solidFill>
                  <a:srgbClr val="1B4332"/>
                </a:solidFill>
              </a:rPr>
              <a:t>À Pression Constante (CP)</a:t>
            </a:r>
            <a:endParaRPr lang="en-US" sz="1400" dirty="0"/>
          </a:p>
        </p:txBody>
      </p:sp>
      <p:sp>
        <p:nvSpPr>
          <p:cNvPr id="9" name="Text 7"/>
          <p:cNvSpPr/>
          <p:nvPr/>
        </p:nvSpPr>
        <p:spPr>
          <a:xfrm>
            <a:off x="5056632" y="1463040"/>
            <a:ext cx="3291840" cy="1371600"/>
          </a:xfrm>
          <a:prstGeom prst="rect">
            <a:avLst/>
          </a:prstGeom>
          <a:noFill/>
          <a:ln/>
        </p:spPr>
        <p:txBody>
          <a:bodyPr wrap="square" rtlCol="0" anchor="ctr"/>
          <a:lstStyle/>
          <a:p>
            <a:pPr indent="0" marL="0">
              <a:buNone/>
            </a:pPr>
            <a:r>
              <a:rPr lang="en-US" sz="1200" dirty="0">
                <a:solidFill>
                  <a:srgbClr val="2E6B4F"/>
                </a:solidFill>
                <a:latin typeface="Cambria Math" pitchFamily="34" charset="0"/>
                <a:ea typeface="Cambria Math" pitchFamily="34" charset="-122"/>
                <a:cs typeface="Cambria Math" pitchFamily="34" charset="-120"/>
              </a:rPr>
              <a:t>δQP = CP dT</a:t>
            </a:r>
            <a:endParaRPr lang="en-US" sz="1200" dirty="0"/>
          </a:p>
          <a:p>
            <a:pPr indent="0" marL="0">
              <a:buNone/>
            </a:pPr>
            <a:endParaRPr lang="en-US" sz="1200" dirty="0"/>
          </a:p>
          <a:p>
            <a:pPr indent="0" marL="0">
              <a:buNone/>
            </a:pPr>
            <a:r>
              <a:rPr lang="en-US" sz="1200" dirty="0">
                <a:solidFill>
                  <a:srgbClr val="2E6B4F"/>
                </a:solidFill>
                <a:latin typeface="Cambria Math" pitchFamily="34" charset="0"/>
                <a:ea typeface="Cambria Math" pitchFamily="34" charset="-122"/>
                <a:cs typeface="Cambria Math" pitchFamily="34" charset="-120"/>
              </a:rPr>
              <a:t>QP = m·cP·(T₂-T₁)</a:t>
            </a:r>
            <a:endParaRPr lang="en-US" sz="1200" dirty="0"/>
          </a:p>
          <a:p>
            <a:pPr indent="0" marL="0">
              <a:buNone/>
            </a:pPr>
            <a:endParaRPr lang="en-US" sz="1200" dirty="0"/>
          </a:p>
          <a:p>
            <a:pPr indent="0" marL="0">
              <a:buNone/>
            </a:pPr>
            <a:r>
              <a:rPr lang="en-US" sz="1200" dirty="0">
                <a:solidFill>
                  <a:srgbClr val="2E6B4F"/>
                </a:solidFill>
                <a:latin typeface="Cambria Math" pitchFamily="34" charset="0"/>
                <a:ea typeface="Cambria Math" pitchFamily="34" charset="-122"/>
                <a:cs typeface="Cambria Math" pitchFamily="34" charset="-120"/>
              </a:rPr>
              <a:t>cP : chaleur massique [J/kg·K]</a:t>
            </a:r>
            <a:endParaRPr lang="en-US" sz="1200" dirty="0"/>
          </a:p>
          <a:p>
            <a:pPr indent="0" marL="0">
              <a:buNone/>
            </a:pPr>
            <a:r>
              <a:rPr lang="en-US" sz="1200" dirty="0">
                <a:solidFill>
                  <a:srgbClr val="2E6B4F"/>
                </a:solidFill>
                <a:latin typeface="Cambria Math" pitchFamily="34" charset="0"/>
                <a:ea typeface="Cambria Math" pitchFamily="34" charset="-122"/>
                <a:cs typeface="Cambria Math" pitchFamily="34" charset="-120"/>
              </a:rPr>
              <a:t>cₚ : chaleur molaire [J/mol·K]</a:t>
            </a:r>
            <a:endParaRPr lang="en-US" sz="1200" dirty="0"/>
          </a:p>
        </p:txBody>
      </p:sp>
      <p:sp>
        <p:nvSpPr>
          <p:cNvPr id="10" name="Text 8"/>
          <p:cNvSpPr/>
          <p:nvPr/>
        </p:nvSpPr>
        <p:spPr>
          <a:xfrm>
            <a:off x="612648" y="3291840"/>
            <a:ext cx="7918704" cy="274320"/>
          </a:xfrm>
          <a:prstGeom prst="rect">
            <a:avLst/>
          </a:prstGeom>
          <a:noFill/>
          <a:ln/>
        </p:spPr>
        <p:txBody>
          <a:bodyPr wrap="square" rtlCol="0" anchor="ctr"/>
          <a:lstStyle/>
          <a:p>
            <a:pPr indent="0" marL="0">
              <a:buNone/>
            </a:pPr>
            <a:r>
              <a:rPr lang="en-US" sz="1400" b="1" dirty="0">
                <a:solidFill>
                  <a:srgbClr val="DCBD74"/>
                </a:solidFill>
                <a:latin typeface="Cambria Math" pitchFamily="34" charset="0"/>
                <a:ea typeface="Cambria Math" pitchFamily="34" charset="-122"/>
                <a:cs typeface="Cambria Math" pitchFamily="34" charset="-120"/>
              </a:rPr>
              <a:t>Relation de Mayer : CP - CV = nR</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Chaleur Latente de Changement d'État</a:t>
            </a:r>
            <a:endParaRPr lang="en-US" sz="2200" dirty="0"/>
          </a:p>
        </p:txBody>
      </p:sp>
      <p:sp>
        <p:nvSpPr>
          <p:cNvPr id="4" name="Shape 2"/>
          <p:cNvSpPr/>
          <p:nvPr/>
        </p:nvSpPr>
        <p:spPr>
          <a:xfrm>
            <a:off x="612648" y="1005840"/>
            <a:ext cx="7918704" cy="822960"/>
          </a:xfrm>
          <a:prstGeom prst="rect">
            <a:avLst/>
          </a:prstGeom>
          <a:solidFill>
            <a:srgbClr val="D8EEE2"/>
          </a:solidFill>
          <a:ln w="25400">
            <a:solidFill>
              <a:srgbClr val="DCBD74"/>
            </a:solidFill>
            <a:prstDash val="solid"/>
          </a:ln>
        </p:spPr>
      </p:sp>
      <p:sp>
        <p:nvSpPr>
          <p:cNvPr id="5" name="Text 3"/>
          <p:cNvSpPr/>
          <p:nvPr/>
        </p:nvSpPr>
        <p:spPr>
          <a:xfrm>
            <a:off x="795528" y="1097280"/>
            <a:ext cx="7552944" cy="228600"/>
          </a:xfrm>
          <a:prstGeom prst="rect">
            <a:avLst/>
          </a:prstGeom>
          <a:noFill/>
          <a:ln/>
        </p:spPr>
        <p:txBody>
          <a:bodyPr wrap="square" rtlCol="0" anchor="ctr"/>
          <a:lstStyle/>
          <a:p>
            <a:pPr indent="0" marL="0">
              <a:buNone/>
            </a:pPr>
            <a:r>
              <a:rPr lang="en-US" sz="1400" b="1" dirty="0">
                <a:solidFill>
                  <a:srgbClr val="1B4332"/>
                </a:solidFill>
              </a:rPr>
              <a:t>DÉFINITION</a:t>
            </a:r>
            <a:endParaRPr lang="en-US" sz="1400" dirty="0"/>
          </a:p>
        </p:txBody>
      </p:sp>
      <p:sp>
        <p:nvSpPr>
          <p:cNvPr id="6" name="Text 4"/>
          <p:cNvSpPr/>
          <p:nvPr/>
        </p:nvSpPr>
        <p:spPr>
          <a:xfrm>
            <a:off x="795528" y="1325880"/>
            <a:ext cx="7552944" cy="457200"/>
          </a:xfrm>
          <a:prstGeom prst="rect">
            <a:avLst/>
          </a:prstGeom>
          <a:noFill/>
          <a:ln/>
        </p:spPr>
        <p:txBody>
          <a:bodyPr wrap="square" rtlCol="0" anchor="ctr"/>
          <a:lstStyle/>
          <a:p>
            <a:pPr indent="0" marL="0">
              <a:buNone/>
            </a:pPr>
            <a:r>
              <a:rPr lang="en-US" sz="1300" dirty="0">
                <a:solidFill>
                  <a:srgbClr val="2E6B4F"/>
                </a:solidFill>
              </a:rPr>
              <a:t>Quantité de chaleur nécessaire pour faire passer l'unité de masse d'un corps d'un état à un autre, à température constante.</a:t>
            </a:r>
            <a:endParaRPr lang="en-US" sz="1300" dirty="0"/>
          </a:p>
        </p:txBody>
      </p:sp>
      <p:sp>
        <p:nvSpPr>
          <p:cNvPr id="7" name="Shape 5"/>
          <p:cNvSpPr/>
          <p:nvPr/>
        </p:nvSpPr>
        <p:spPr>
          <a:xfrm>
            <a:off x="612648" y="1920240"/>
            <a:ext cx="7918704" cy="548640"/>
          </a:xfrm>
          <a:prstGeom prst="rect">
            <a:avLst/>
          </a:prstGeom>
          <a:solidFill>
            <a:srgbClr val="EEF7F1"/>
          </a:solidFill>
          <a:ln w="12700">
            <a:solidFill>
              <a:srgbClr val="A8D4BC"/>
            </a:solidFill>
            <a:prstDash val="solid"/>
          </a:ln>
        </p:spPr>
      </p:sp>
      <p:sp>
        <p:nvSpPr>
          <p:cNvPr id="8" name="Text 6"/>
          <p:cNvSpPr/>
          <p:nvPr/>
        </p:nvSpPr>
        <p:spPr>
          <a:xfrm>
            <a:off x="612648" y="2011680"/>
            <a:ext cx="7918704" cy="365760"/>
          </a:xfrm>
          <a:prstGeom prst="rect">
            <a:avLst/>
          </a:prstGeom>
          <a:noFill/>
          <a:ln/>
        </p:spPr>
        <p:txBody>
          <a:bodyPr wrap="square" rtlCol="0" anchor="ctr"/>
          <a:lstStyle/>
          <a:p>
            <a:pPr algn="ctr" indent="0" marL="0">
              <a:buNone/>
            </a:pPr>
            <a:r>
              <a:rPr lang="en-US" sz="2000" b="1" dirty="0">
                <a:solidFill>
                  <a:srgbClr val="1B4332"/>
                </a:solidFill>
                <a:latin typeface="Cambria Math" pitchFamily="34" charset="0"/>
                <a:ea typeface="Cambria Math" pitchFamily="34" charset="-122"/>
                <a:cs typeface="Cambria Math" pitchFamily="34" charset="-120"/>
              </a:rPr>
              <a:t>Q = m × L</a:t>
            </a:r>
            <a:endParaRPr lang="en-US" sz="2000" dirty="0"/>
          </a:p>
        </p:txBody>
      </p:sp>
      <p:sp>
        <p:nvSpPr>
          <p:cNvPr id="9" name="Text 7"/>
          <p:cNvSpPr/>
          <p:nvPr/>
        </p:nvSpPr>
        <p:spPr>
          <a:xfrm>
            <a:off x="612648" y="2651760"/>
            <a:ext cx="7918704" cy="274320"/>
          </a:xfrm>
          <a:prstGeom prst="rect">
            <a:avLst/>
          </a:prstGeom>
          <a:noFill/>
          <a:ln/>
        </p:spPr>
        <p:txBody>
          <a:bodyPr wrap="square" rtlCol="0" anchor="ctr"/>
          <a:lstStyle/>
          <a:p>
            <a:pPr indent="0" marL="0">
              <a:buNone/>
            </a:pPr>
            <a:r>
              <a:rPr lang="en-US" sz="1400" b="1" dirty="0">
                <a:solidFill>
                  <a:srgbClr val="1B4332"/>
                </a:solidFill>
              </a:rPr>
              <a:t>Exemples :</a:t>
            </a:r>
            <a:endParaRPr lang="en-US" sz="1400" dirty="0"/>
          </a:p>
        </p:txBody>
      </p:sp>
      <p:sp>
        <p:nvSpPr>
          <p:cNvPr id="10" name="Text 8"/>
          <p:cNvSpPr/>
          <p:nvPr/>
        </p:nvSpPr>
        <p:spPr>
          <a:xfrm>
            <a:off x="612648" y="2971800"/>
            <a:ext cx="7918704" cy="548640"/>
          </a:xfrm>
          <a:prstGeom prst="rect">
            <a:avLst/>
          </a:prstGeom>
          <a:noFill/>
          <a:ln/>
        </p:spPr>
        <p:txBody>
          <a:bodyPr wrap="square" rtlCol="0" anchor="ctr"/>
          <a:lstStyle/>
          <a:p>
            <a:pPr indent="0" marL="0">
              <a:buNone/>
            </a:pPr>
            <a:r>
              <a:rPr lang="en-US" sz="1300" dirty="0">
                <a:solidFill>
                  <a:srgbClr val="2E6B4F"/>
                </a:solidFill>
              </a:rPr>
              <a:t>• Fusion de la glace : L = 334 kJ/kg à 0°C</a:t>
            </a:r>
            <a:endParaRPr lang="en-US" sz="1300" dirty="0"/>
          </a:p>
          <a:p>
            <a:pPr indent="0" marL="0">
              <a:buNone/>
            </a:pPr>
            <a:r>
              <a:rPr lang="en-US" sz="1300" dirty="0">
                <a:solidFill>
                  <a:srgbClr val="2E6B4F"/>
                </a:solidFill>
              </a:rPr>
              <a:t>• Vaporisation de l'eau : L = 2260 kJ/kg à 100°C</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Calorimétrie - Principe</a:t>
            </a:r>
            <a:endParaRPr lang="en-US" sz="2200" dirty="0"/>
          </a:p>
        </p:txBody>
      </p:sp>
      <p:sp>
        <p:nvSpPr>
          <p:cNvPr id="4" name="Text 2"/>
          <p:cNvSpPr/>
          <p:nvPr/>
        </p:nvSpPr>
        <p:spPr>
          <a:xfrm>
            <a:off x="612648" y="1005840"/>
            <a:ext cx="7918704" cy="365760"/>
          </a:xfrm>
          <a:prstGeom prst="rect">
            <a:avLst/>
          </a:prstGeom>
          <a:noFill/>
          <a:ln/>
        </p:spPr>
        <p:txBody>
          <a:bodyPr wrap="square" rtlCol="0" anchor="ctr"/>
          <a:lstStyle/>
          <a:p>
            <a:pPr indent="0" marL="0">
              <a:buNone/>
            </a:pPr>
            <a:r>
              <a:rPr lang="en-US" sz="1400" b="1" dirty="0">
                <a:solidFill>
                  <a:srgbClr val="1B4332"/>
                </a:solidFill>
              </a:rPr>
              <a:t>Principe : La somme des chaleurs échangées dans un système isolé est nulle.</a:t>
            </a:r>
            <a:endParaRPr lang="en-US" sz="1400" dirty="0"/>
          </a:p>
        </p:txBody>
      </p:sp>
      <p:sp>
        <p:nvSpPr>
          <p:cNvPr id="5" name="Shape 3"/>
          <p:cNvSpPr/>
          <p:nvPr/>
        </p:nvSpPr>
        <p:spPr>
          <a:xfrm>
            <a:off x="612648" y="1463040"/>
            <a:ext cx="7918704" cy="640080"/>
          </a:xfrm>
          <a:prstGeom prst="rect">
            <a:avLst/>
          </a:prstGeom>
          <a:solidFill>
            <a:srgbClr val="D8EEE2"/>
          </a:solidFill>
          <a:ln w="25400">
            <a:solidFill>
              <a:srgbClr val="DCBD74"/>
            </a:solidFill>
            <a:prstDash val="solid"/>
          </a:ln>
        </p:spPr>
      </p:sp>
      <p:sp>
        <p:nvSpPr>
          <p:cNvPr id="6" name="Text 4"/>
          <p:cNvSpPr/>
          <p:nvPr/>
        </p:nvSpPr>
        <p:spPr>
          <a:xfrm>
            <a:off x="612648" y="1554480"/>
            <a:ext cx="7918704" cy="457200"/>
          </a:xfrm>
          <a:prstGeom prst="rect">
            <a:avLst/>
          </a:prstGeom>
          <a:noFill/>
          <a:ln/>
        </p:spPr>
        <p:txBody>
          <a:bodyPr wrap="square" rtlCol="0" anchor="ctr"/>
          <a:lstStyle/>
          <a:p>
            <a:pPr algn="ctr" indent="0" marL="0">
              <a:buNone/>
            </a:pPr>
            <a:r>
              <a:rPr lang="en-US" sz="1800" b="1" dirty="0">
                <a:solidFill>
                  <a:srgbClr val="1B4332"/>
                </a:solidFill>
                <a:latin typeface="Cambria Math" pitchFamily="34" charset="0"/>
                <a:ea typeface="Cambria Math" pitchFamily="34" charset="-122"/>
                <a:cs typeface="Cambria Math" pitchFamily="34" charset="-120"/>
              </a:rPr>
              <a:t>ΣQi = Qcalorimètre + Qcorps + Qeau = 0</a:t>
            </a:r>
            <a:endParaRPr lang="en-US" sz="1800" dirty="0"/>
          </a:p>
        </p:txBody>
      </p:sp>
      <p:sp>
        <p:nvSpPr>
          <p:cNvPr id="7" name="Text 5"/>
          <p:cNvSpPr/>
          <p:nvPr/>
        </p:nvSpPr>
        <p:spPr>
          <a:xfrm>
            <a:off x="612648" y="2286000"/>
            <a:ext cx="7918704" cy="274320"/>
          </a:xfrm>
          <a:prstGeom prst="rect">
            <a:avLst/>
          </a:prstGeom>
          <a:noFill/>
          <a:ln/>
        </p:spPr>
        <p:txBody>
          <a:bodyPr wrap="square" rtlCol="0" anchor="ctr"/>
          <a:lstStyle/>
          <a:p>
            <a:pPr indent="0" marL="0">
              <a:buNone/>
            </a:pPr>
            <a:r>
              <a:rPr lang="en-US" sz="1400" b="1" dirty="0">
                <a:solidFill>
                  <a:srgbClr val="1B4332"/>
                </a:solidFill>
              </a:rPr>
              <a:t>Valeur en eau du calorimètre : μ = Σ(mi·ci)</a:t>
            </a:r>
            <a:endParaRPr lang="en-US" sz="1400" dirty="0"/>
          </a:p>
        </p:txBody>
      </p:sp>
      <p:sp>
        <p:nvSpPr>
          <p:cNvPr id="8" name="Text 6"/>
          <p:cNvSpPr/>
          <p:nvPr/>
        </p:nvSpPr>
        <p:spPr>
          <a:xfrm>
            <a:off x="612648" y="2651760"/>
            <a:ext cx="7918704" cy="457200"/>
          </a:xfrm>
          <a:prstGeom prst="rect">
            <a:avLst/>
          </a:prstGeom>
          <a:noFill/>
          <a:ln/>
        </p:spPr>
        <p:txBody>
          <a:bodyPr wrap="square" rtlCol="0" anchor="ctr"/>
          <a:lstStyle/>
          <a:p>
            <a:pPr indent="0" marL="0">
              <a:buNone/>
            </a:pPr>
            <a:r>
              <a:rPr lang="en-US" sz="1200" dirty="0">
                <a:solidFill>
                  <a:srgbClr val="2E6B4F"/>
                </a:solidFill>
              </a:rPr>
              <a:t>C'est la masse d'eau équivalente qui aurait la même capacité thermique que le calorimètre et ses accessoires (thermomètre, agitateur, vase).</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Travail des Forces de Pression</a:t>
            </a:r>
            <a:endParaRPr lang="en-US" sz="2200" dirty="0"/>
          </a:p>
        </p:txBody>
      </p:sp>
      <p:sp>
        <p:nvSpPr>
          <p:cNvPr id="4" name="Shape 2"/>
          <p:cNvSpPr/>
          <p:nvPr/>
        </p:nvSpPr>
        <p:spPr>
          <a:xfrm>
            <a:off x="612648" y="1005840"/>
            <a:ext cx="7918704" cy="822960"/>
          </a:xfrm>
          <a:prstGeom prst="rect">
            <a:avLst/>
          </a:prstGeom>
          <a:solidFill>
            <a:srgbClr val="D8EEE2"/>
          </a:solidFill>
          <a:ln w="25400">
            <a:solidFill>
              <a:srgbClr val="DCBD74"/>
            </a:solidFill>
            <a:prstDash val="solid"/>
          </a:ln>
        </p:spPr>
      </p:sp>
      <p:sp>
        <p:nvSpPr>
          <p:cNvPr id="5" name="Text 3"/>
          <p:cNvSpPr/>
          <p:nvPr/>
        </p:nvSpPr>
        <p:spPr>
          <a:xfrm>
            <a:off x="795528" y="1097280"/>
            <a:ext cx="7552944" cy="228600"/>
          </a:xfrm>
          <a:prstGeom prst="rect">
            <a:avLst/>
          </a:prstGeom>
          <a:noFill/>
          <a:ln/>
        </p:spPr>
        <p:txBody>
          <a:bodyPr wrap="square" rtlCol="0" anchor="ctr"/>
          <a:lstStyle/>
          <a:p>
            <a:pPr indent="0" marL="0">
              <a:buNone/>
            </a:pPr>
            <a:r>
              <a:rPr lang="en-US" sz="1400" b="1" dirty="0">
                <a:solidFill>
                  <a:srgbClr val="1B4332"/>
                </a:solidFill>
              </a:rPr>
              <a:t>DÉFINITION</a:t>
            </a:r>
            <a:endParaRPr lang="en-US" sz="1400" dirty="0"/>
          </a:p>
        </p:txBody>
      </p:sp>
      <p:sp>
        <p:nvSpPr>
          <p:cNvPr id="6" name="Text 4"/>
          <p:cNvSpPr/>
          <p:nvPr/>
        </p:nvSpPr>
        <p:spPr>
          <a:xfrm>
            <a:off x="795528" y="1325880"/>
            <a:ext cx="7552944" cy="457200"/>
          </a:xfrm>
          <a:prstGeom prst="rect">
            <a:avLst/>
          </a:prstGeom>
          <a:noFill/>
          <a:ln/>
        </p:spPr>
        <p:txBody>
          <a:bodyPr wrap="square" rtlCol="0" anchor="ctr"/>
          <a:lstStyle/>
          <a:p>
            <a:pPr indent="0" marL="0">
              <a:buNone/>
            </a:pPr>
            <a:r>
              <a:rPr lang="en-US" sz="1300" dirty="0">
                <a:solidFill>
                  <a:srgbClr val="2E6B4F"/>
                </a:solidFill>
              </a:rPr>
              <a:t>Énergie échangée entre le système et le milieu extérieur par les forces de pression. Le travail est reçu par le système (W &gt; 0) si le volume diminue.</a:t>
            </a:r>
            <a:endParaRPr lang="en-US" sz="1300" dirty="0"/>
          </a:p>
        </p:txBody>
      </p:sp>
      <p:sp>
        <p:nvSpPr>
          <p:cNvPr id="7" name="Text 5"/>
          <p:cNvSpPr/>
          <p:nvPr/>
        </p:nvSpPr>
        <p:spPr>
          <a:xfrm>
            <a:off x="612648" y="2011680"/>
            <a:ext cx="7918704" cy="274320"/>
          </a:xfrm>
          <a:prstGeom prst="rect">
            <a:avLst/>
          </a:prstGeom>
          <a:noFill/>
          <a:ln/>
        </p:spPr>
        <p:txBody>
          <a:bodyPr wrap="square" rtlCol="0" anchor="ctr"/>
          <a:lstStyle/>
          <a:p>
            <a:pPr indent="0" marL="0">
              <a:buNone/>
            </a:pPr>
            <a:r>
              <a:rPr lang="en-US" sz="1400" b="1" dirty="0">
                <a:solidFill>
                  <a:srgbClr val="1B4332"/>
                </a:solidFill>
              </a:rPr>
              <a:t>Travail élémentaire :</a:t>
            </a:r>
            <a:endParaRPr lang="en-US" sz="1400" dirty="0"/>
          </a:p>
        </p:txBody>
      </p:sp>
      <p:sp>
        <p:nvSpPr>
          <p:cNvPr id="8" name="Shape 6"/>
          <p:cNvSpPr/>
          <p:nvPr/>
        </p:nvSpPr>
        <p:spPr>
          <a:xfrm>
            <a:off x="612648" y="2331720"/>
            <a:ext cx="7918704" cy="548640"/>
          </a:xfrm>
          <a:prstGeom prst="rect">
            <a:avLst/>
          </a:prstGeom>
          <a:solidFill>
            <a:srgbClr val="EEF7F1"/>
          </a:solidFill>
          <a:ln w="12700">
            <a:solidFill>
              <a:srgbClr val="A8D4BC"/>
            </a:solidFill>
            <a:prstDash val="solid"/>
          </a:ln>
        </p:spPr>
      </p:sp>
      <p:sp>
        <p:nvSpPr>
          <p:cNvPr id="9" name="Text 7"/>
          <p:cNvSpPr/>
          <p:nvPr/>
        </p:nvSpPr>
        <p:spPr>
          <a:xfrm>
            <a:off x="612648" y="2377440"/>
            <a:ext cx="7918704" cy="457200"/>
          </a:xfrm>
          <a:prstGeom prst="rect">
            <a:avLst/>
          </a:prstGeom>
          <a:noFill/>
          <a:ln/>
        </p:spPr>
        <p:txBody>
          <a:bodyPr wrap="square" rtlCol="0" anchor="ctr"/>
          <a:lstStyle/>
          <a:p>
            <a:pPr algn="ctr" indent="0" marL="0">
              <a:buNone/>
            </a:pPr>
            <a:r>
              <a:rPr lang="en-US" sz="2000" b="1" dirty="0">
                <a:solidFill>
                  <a:srgbClr val="1B4332"/>
                </a:solidFill>
                <a:latin typeface="Cambria Math" pitchFamily="34" charset="0"/>
                <a:ea typeface="Cambria Math" pitchFamily="34" charset="-122"/>
                <a:cs typeface="Cambria Math" pitchFamily="34" charset="-120"/>
              </a:rPr>
              <a:t>δW = -Pext · dV</a:t>
            </a:r>
            <a:endParaRPr lang="en-US" sz="2000" dirty="0"/>
          </a:p>
        </p:txBody>
      </p:sp>
      <p:sp>
        <p:nvSpPr>
          <p:cNvPr id="10" name="Text 8"/>
          <p:cNvSpPr/>
          <p:nvPr/>
        </p:nvSpPr>
        <p:spPr>
          <a:xfrm>
            <a:off x="612648" y="3017520"/>
            <a:ext cx="7918704" cy="274320"/>
          </a:xfrm>
          <a:prstGeom prst="rect">
            <a:avLst/>
          </a:prstGeom>
          <a:noFill/>
          <a:ln/>
        </p:spPr>
        <p:txBody>
          <a:bodyPr wrap="square" rtlCol="0" anchor="ctr"/>
          <a:lstStyle/>
          <a:p>
            <a:pPr indent="0" marL="0">
              <a:buNone/>
            </a:pPr>
            <a:r>
              <a:rPr lang="en-US" sz="1400" b="1" dirty="0">
                <a:solidFill>
                  <a:srgbClr val="1B4332"/>
                </a:solidFill>
              </a:rPr>
              <a:t>Travail total : W = -∫Pext dV</a:t>
            </a:r>
            <a:endParaRPr lang="en-US" sz="1400" dirty="0"/>
          </a:p>
        </p:txBody>
      </p:sp>
      <p:sp>
        <p:nvSpPr>
          <p:cNvPr id="11" name="Text 9"/>
          <p:cNvSpPr/>
          <p:nvPr/>
        </p:nvSpPr>
        <p:spPr>
          <a:xfrm>
            <a:off x="612648" y="3474720"/>
            <a:ext cx="7918704" cy="365760"/>
          </a:xfrm>
          <a:prstGeom prst="rect">
            <a:avLst/>
          </a:prstGeom>
          <a:noFill/>
          <a:ln/>
        </p:spPr>
        <p:txBody>
          <a:bodyPr wrap="square" rtlCol="0" anchor="ctr"/>
          <a:lstStyle/>
          <a:p>
            <a:pPr indent="0" marL="0">
              <a:buNone/>
            </a:pPr>
            <a:r>
              <a:rPr lang="en-US" sz="1200" i="1" dirty="0">
                <a:solidFill>
                  <a:srgbClr val="60A882"/>
                </a:solidFill>
              </a:rPr>
              <a:t>Interprétation : |W| est donné par l'aire sous la courbe P(V) dans le diagramme de Clapeyron.</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Travail dans les Transformations Particulières</a:t>
            </a:r>
            <a:endParaRPr lang="en-US" sz="2200" dirty="0"/>
          </a:p>
        </p:txBody>
      </p:sp>
      <p:sp>
        <p:nvSpPr>
          <p:cNvPr id="4" name="Shape 2"/>
          <p:cNvSpPr/>
          <p:nvPr/>
        </p:nvSpPr>
        <p:spPr>
          <a:xfrm>
            <a:off x="612648" y="1005840"/>
            <a:ext cx="7918704" cy="685800"/>
          </a:xfrm>
          <a:prstGeom prst="rect">
            <a:avLst/>
          </a:prstGeom>
          <a:solidFill>
            <a:srgbClr val="EEF7F1"/>
          </a:solidFill>
          <a:ln w="12700">
            <a:solidFill>
              <a:srgbClr val="A8D4BC"/>
            </a:solidFill>
            <a:prstDash val="solid"/>
          </a:ln>
        </p:spPr>
      </p:sp>
      <p:sp>
        <p:nvSpPr>
          <p:cNvPr id="5" name="Text 3"/>
          <p:cNvSpPr/>
          <p:nvPr/>
        </p:nvSpPr>
        <p:spPr>
          <a:xfrm>
            <a:off x="795528" y="1097280"/>
            <a:ext cx="3657600" cy="228600"/>
          </a:xfrm>
          <a:prstGeom prst="rect">
            <a:avLst/>
          </a:prstGeom>
          <a:noFill/>
          <a:ln/>
        </p:spPr>
        <p:txBody>
          <a:bodyPr wrap="square" rtlCol="0" anchor="ctr"/>
          <a:lstStyle/>
          <a:p>
            <a:pPr indent="0" marL="0">
              <a:buNone/>
            </a:pPr>
            <a:r>
              <a:rPr lang="en-US" sz="1300" b="1" dirty="0">
                <a:solidFill>
                  <a:srgbClr val="1B4332"/>
                </a:solidFill>
              </a:rPr>
              <a:t>Isobare</a:t>
            </a:r>
            <a:endParaRPr lang="en-US" sz="1300" dirty="0"/>
          </a:p>
        </p:txBody>
      </p:sp>
      <p:sp>
        <p:nvSpPr>
          <p:cNvPr id="6" name="Text 4"/>
          <p:cNvSpPr/>
          <p:nvPr/>
        </p:nvSpPr>
        <p:spPr>
          <a:xfrm>
            <a:off x="795528" y="1353312"/>
            <a:ext cx="7315200" cy="274320"/>
          </a:xfrm>
          <a:prstGeom prst="rect">
            <a:avLst/>
          </a:prstGeom>
          <a:noFill/>
          <a:ln/>
        </p:spPr>
        <p:txBody>
          <a:bodyPr wrap="square" rtlCol="0" anchor="ctr"/>
          <a:lstStyle/>
          <a:p>
            <a:pPr indent="0" marL="0">
              <a:buNone/>
            </a:pPr>
            <a:r>
              <a:rPr lang="en-US" sz="1500" dirty="0">
                <a:solidFill>
                  <a:srgbClr val="DCBD74"/>
                </a:solidFill>
                <a:latin typeface="Cambria Math" pitchFamily="34" charset="0"/>
                <a:ea typeface="Cambria Math" pitchFamily="34" charset="-122"/>
                <a:cs typeface="Cambria Math" pitchFamily="34" charset="-120"/>
              </a:rPr>
              <a:t>W = -P(V₂-V₁)</a:t>
            </a:r>
            <a:endParaRPr lang="en-US" sz="1500" dirty="0"/>
          </a:p>
        </p:txBody>
      </p:sp>
      <p:sp>
        <p:nvSpPr>
          <p:cNvPr id="7" name="Shape 5"/>
          <p:cNvSpPr/>
          <p:nvPr/>
        </p:nvSpPr>
        <p:spPr>
          <a:xfrm>
            <a:off x="612648" y="1783080"/>
            <a:ext cx="7918704" cy="685800"/>
          </a:xfrm>
          <a:prstGeom prst="rect">
            <a:avLst/>
          </a:prstGeom>
          <a:solidFill>
            <a:srgbClr val="EEF7F1"/>
          </a:solidFill>
          <a:ln w="12700">
            <a:solidFill>
              <a:srgbClr val="A8D4BC"/>
            </a:solidFill>
            <a:prstDash val="solid"/>
          </a:ln>
        </p:spPr>
      </p:sp>
      <p:sp>
        <p:nvSpPr>
          <p:cNvPr id="8" name="Text 6"/>
          <p:cNvSpPr/>
          <p:nvPr/>
        </p:nvSpPr>
        <p:spPr>
          <a:xfrm>
            <a:off x="795528" y="1874520"/>
            <a:ext cx="3657600" cy="228600"/>
          </a:xfrm>
          <a:prstGeom prst="rect">
            <a:avLst/>
          </a:prstGeom>
          <a:noFill/>
          <a:ln/>
        </p:spPr>
        <p:txBody>
          <a:bodyPr wrap="square" rtlCol="0" anchor="ctr"/>
          <a:lstStyle/>
          <a:p>
            <a:pPr indent="0" marL="0">
              <a:buNone/>
            </a:pPr>
            <a:r>
              <a:rPr lang="en-US" sz="1300" b="1" dirty="0">
                <a:solidFill>
                  <a:srgbClr val="1B4332"/>
                </a:solidFill>
              </a:rPr>
              <a:t>Isochore</a:t>
            </a:r>
            <a:endParaRPr lang="en-US" sz="1300" dirty="0"/>
          </a:p>
        </p:txBody>
      </p:sp>
      <p:sp>
        <p:nvSpPr>
          <p:cNvPr id="9" name="Text 7"/>
          <p:cNvSpPr/>
          <p:nvPr/>
        </p:nvSpPr>
        <p:spPr>
          <a:xfrm>
            <a:off x="795528" y="2130552"/>
            <a:ext cx="7315200" cy="274320"/>
          </a:xfrm>
          <a:prstGeom prst="rect">
            <a:avLst/>
          </a:prstGeom>
          <a:noFill/>
          <a:ln/>
        </p:spPr>
        <p:txBody>
          <a:bodyPr wrap="square" rtlCol="0" anchor="ctr"/>
          <a:lstStyle/>
          <a:p>
            <a:pPr indent="0" marL="0">
              <a:buNone/>
            </a:pPr>
            <a:r>
              <a:rPr lang="en-US" sz="1500" dirty="0">
                <a:solidFill>
                  <a:srgbClr val="DCBD74"/>
                </a:solidFill>
                <a:latin typeface="Cambria Math" pitchFamily="34" charset="0"/>
                <a:ea typeface="Cambria Math" pitchFamily="34" charset="-122"/>
                <a:cs typeface="Cambria Math" pitchFamily="34" charset="-120"/>
              </a:rPr>
              <a:t>W = 0</a:t>
            </a:r>
            <a:endParaRPr lang="en-US" sz="1500" dirty="0"/>
          </a:p>
        </p:txBody>
      </p:sp>
      <p:sp>
        <p:nvSpPr>
          <p:cNvPr id="10" name="Shape 8"/>
          <p:cNvSpPr/>
          <p:nvPr/>
        </p:nvSpPr>
        <p:spPr>
          <a:xfrm>
            <a:off x="612648" y="2560320"/>
            <a:ext cx="7918704" cy="685800"/>
          </a:xfrm>
          <a:prstGeom prst="rect">
            <a:avLst/>
          </a:prstGeom>
          <a:solidFill>
            <a:srgbClr val="EEF7F1"/>
          </a:solidFill>
          <a:ln w="12700">
            <a:solidFill>
              <a:srgbClr val="A8D4BC"/>
            </a:solidFill>
            <a:prstDash val="solid"/>
          </a:ln>
        </p:spPr>
      </p:sp>
      <p:sp>
        <p:nvSpPr>
          <p:cNvPr id="11" name="Text 9"/>
          <p:cNvSpPr/>
          <p:nvPr/>
        </p:nvSpPr>
        <p:spPr>
          <a:xfrm>
            <a:off x="795528" y="2651760"/>
            <a:ext cx="3657600" cy="228600"/>
          </a:xfrm>
          <a:prstGeom prst="rect">
            <a:avLst/>
          </a:prstGeom>
          <a:noFill/>
          <a:ln/>
        </p:spPr>
        <p:txBody>
          <a:bodyPr wrap="square" rtlCol="0" anchor="ctr"/>
          <a:lstStyle/>
          <a:p>
            <a:pPr indent="0" marL="0">
              <a:buNone/>
            </a:pPr>
            <a:r>
              <a:rPr lang="en-US" sz="1300" b="1" dirty="0">
                <a:solidFill>
                  <a:srgbClr val="1B4332"/>
                </a:solidFill>
              </a:rPr>
              <a:t>Isotherme réversible (gaz parfait)</a:t>
            </a:r>
            <a:endParaRPr lang="en-US" sz="1300" dirty="0"/>
          </a:p>
        </p:txBody>
      </p:sp>
      <p:sp>
        <p:nvSpPr>
          <p:cNvPr id="12" name="Text 10"/>
          <p:cNvSpPr/>
          <p:nvPr/>
        </p:nvSpPr>
        <p:spPr>
          <a:xfrm>
            <a:off x="795528" y="2907792"/>
            <a:ext cx="7315200" cy="274320"/>
          </a:xfrm>
          <a:prstGeom prst="rect">
            <a:avLst/>
          </a:prstGeom>
          <a:noFill/>
          <a:ln/>
        </p:spPr>
        <p:txBody>
          <a:bodyPr wrap="square" rtlCol="0" anchor="ctr"/>
          <a:lstStyle/>
          <a:p>
            <a:pPr indent="0" marL="0">
              <a:buNone/>
            </a:pPr>
            <a:r>
              <a:rPr lang="en-US" sz="1500" dirty="0">
                <a:solidFill>
                  <a:srgbClr val="DCBD74"/>
                </a:solidFill>
                <a:latin typeface="Cambria Math" pitchFamily="34" charset="0"/>
                <a:ea typeface="Cambria Math" pitchFamily="34" charset="-122"/>
                <a:cs typeface="Cambria Math" pitchFamily="34" charset="-120"/>
              </a:rPr>
              <a:t>W = nRT·ln(V₂/V₁)</a:t>
            </a:r>
            <a:endParaRPr lang="en-US" sz="1500" dirty="0"/>
          </a:p>
        </p:txBody>
      </p:sp>
      <p:sp>
        <p:nvSpPr>
          <p:cNvPr id="13" name="Shape 11"/>
          <p:cNvSpPr/>
          <p:nvPr/>
        </p:nvSpPr>
        <p:spPr>
          <a:xfrm>
            <a:off x="612648" y="3337560"/>
            <a:ext cx="7918704" cy="685800"/>
          </a:xfrm>
          <a:prstGeom prst="rect">
            <a:avLst/>
          </a:prstGeom>
          <a:solidFill>
            <a:srgbClr val="EEF7F1"/>
          </a:solidFill>
          <a:ln w="12700">
            <a:solidFill>
              <a:srgbClr val="A8D4BC"/>
            </a:solidFill>
            <a:prstDash val="solid"/>
          </a:ln>
        </p:spPr>
      </p:sp>
      <p:sp>
        <p:nvSpPr>
          <p:cNvPr id="14" name="Text 12"/>
          <p:cNvSpPr/>
          <p:nvPr/>
        </p:nvSpPr>
        <p:spPr>
          <a:xfrm>
            <a:off x="795528" y="3429000"/>
            <a:ext cx="3657600" cy="228600"/>
          </a:xfrm>
          <a:prstGeom prst="rect">
            <a:avLst/>
          </a:prstGeom>
          <a:noFill/>
          <a:ln/>
        </p:spPr>
        <p:txBody>
          <a:bodyPr wrap="square" rtlCol="0" anchor="ctr"/>
          <a:lstStyle/>
          <a:p>
            <a:pPr indent="0" marL="0">
              <a:buNone/>
            </a:pPr>
            <a:r>
              <a:rPr lang="en-US" sz="1300" b="1" dirty="0">
                <a:solidFill>
                  <a:srgbClr val="1B4332"/>
                </a:solidFill>
              </a:rPr>
              <a:t>Irréversible</a:t>
            </a:r>
            <a:endParaRPr lang="en-US" sz="1300" dirty="0"/>
          </a:p>
        </p:txBody>
      </p:sp>
      <p:sp>
        <p:nvSpPr>
          <p:cNvPr id="15" name="Text 13"/>
          <p:cNvSpPr/>
          <p:nvPr/>
        </p:nvSpPr>
        <p:spPr>
          <a:xfrm>
            <a:off x="795528" y="3685032"/>
            <a:ext cx="7315200" cy="274320"/>
          </a:xfrm>
          <a:prstGeom prst="rect">
            <a:avLst/>
          </a:prstGeom>
          <a:noFill/>
          <a:ln/>
        </p:spPr>
        <p:txBody>
          <a:bodyPr wrap="square" rtlCol="0" anchor="ctr"/>
          <a:lstStyle/>
          <a:p>
            <a:pPr indent="0" marL="0">
              <a:buNone/>
            </a:pPr>
            <a:r>
              <a:rPr lang="en-US" sz="1500" dirty="0">
                <a:solidFill>
                  <a:srgbClr val="DCBD74"/>
                </a:solidFill>
                <a:latin typeface="Cambria Math" pitchFamily="34" charset="0"/>
                <a:ea typeface="Cambria Math" pitchFamily="34" charset="-122"/>
                <a:cs typeface="Cambria Math" pitchFamily="34" charset="-120"/>
              </a:rPr>
              <a:t>W = -Pext(V₂-V₁)</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Le Travail n'est pas une Fonction d'État</a:t>
            </a:r>
            <a:endParaRPr lang="en-US" sz="2200" dirty="0"/>
          </a:p>
        </p:txBody>
      </p:sp>
      <p:sp>
        <p:nvSpPr>
          <p:cNvPr id="4" name="Text 2"/>
          <p:cNvSpPr/>
          <p:nvPr/>
        </p:nvSpPr>
        <p:spPr>
          <a:xfrm>
            <a:off x="612648" y="1005840"/>
            <a:ext cx="7918704" cy="320040"/>
          </a:xfrm>
          <a:prstGeom prst="rect">
            <a:avLst/>
          </a:prstGeom>
          <a:noFill/>
          <a:ln/>
        </p:spPr>
        <p:txBody>
          <a:bodyPr wrap="square" rtlCol="0" anchor="ctr"/>
          <a:lstStyle/>
          <a:p>
            <a:pPr indent="0" marL="0">
              <a:buNone/>
            </a:pPr>
            <a:r>
              <a:rPr lang="en-US" sz="1400" dirty="0">
                <a:solidFill>
                  <a:srgbClr val="2E6B4F"/>
                </a:solidFill>
              </a:rPr>
              <a:t>Démonstration par deux chemins différents :</a:t>
            </a:r>
            <a:endParaRPr lang="en-US" sz="1400" dirty="0"/>
          </a:p>
        </p:txBody>
      </p:sp>
      <p:sp>
        <p:nvSpPr>
          <p:cNvPr id="5" name="Shape 3"/>
          <p:cNvSpPr/>
          <p:nvPr/>
        </p:nvSpPr>
        <p:spPr>
          <a:xfrm>
            <a:off x="612648" y="1417320"/>
            <a:ext cx="3657600" cy="1188720"/>
          </a:xfrm>
          <a:prstGeom prst="rect">
            <a:avLst/>
          </a:prstGeom>
          <a:solidFill>
            <a:srgbClr val="EEF7F1"/>
          </a:solidFill>
          <a:ln w="12700">
            <a:solidFill>
              <a:srgbClr val="DCBD74"/>
            </a:solidFill>
            <a:prstDash val="solid"/>
          </a:ln>
        </p:spPr>
      </p:sp>
      <p:sp>
        <p:nvSpPr>
          <p:cNvPr id="6" name="Text 4"/>
          <p:cNvSpPr/>
          <p:nvPr/>
        </p:nvSpPr>
        <p:spPr>
          <a:xfrm>
            <a:off x="704088" y="1508760"/>
            <a:ext cx="3474720" cy="228600"/>
          </a:xfrm>
          <a:prstGeom prst="rect">
            <a:avLst/>
          </a:prstGeom>
          <a:noFill/>
          <a:ln/>
        </p:spPr>
        <p:txBody>
          <a:bodyPr wrap="square" rtlCol="0" anchor="ctr"/>
          <a:lstStyle/>
          <a:p>
            <a:pPr indent="0" marL="0">
              <a:buNone/>
            </a:pPr>
            <a:r>
              <a:rPr lang="en-US" sz="1200" b="1" dirty="0">
                <a:solidFill>
                  <a:srgbClr val="1B4332"/>
                </a:solidFill>
              </a:rPr>
              <a:t>Chemin 1 : A → B → C</a:t>
            </a:r>
            <a:endParaRPr lang="en-US" sz="1200" dirty="0"/>
          </a:p>
        </p:txBody>
      </p:sp>
      <p:sp>
        <p:nvSpPr>
          <p:cNvPr id="7" name="Text 5"/>
          <p:cNvSpPr/>
          <p:nvPr/>
        </p:nvSpPr>
        <p:spPr>
          <a:xfrm>
            <a:off x="704088" y="1828800"/>
            <a:ext cx="3474720" cy="685800"/>
          </a:xfrm>
          <a:prstGeom prst="rect">
            <a:avLst/>
          </a:prstGeom>
          <a:noFill/>
          <a:ln/>
        </p:spPr>
        <p:txBody>
          <a:bodyPr wrap="square" rtlCol="0" anchor="ctr"/>
          <a:lstStyle/>
          <a:p>
            <a:pPr indent="0" marL="0">
              <a:buNone/>
            </a:pPr>
            <a:r>
              <a:rPr lang="en-US" sz="1100" dirty="0">
                <a:solidFill>
                  <a:srgbClr val="2E6B4F"/>
                </a:solidFill>
                <a:latin typeface="Cambria Math" pitchFamily="34" charset="0"/>
                <a:ea typeface="Cambria Math" pitchFamily="34" charset="-122"/>
                <a:cs typeface="Cambria Math" pitchFamily="34" charset="-120"/>
              </a:rPr>
              <a:t>WAB = -P1(V2-V1)</a:t>
            </a:r>
            <a:endParaRPr lang="en-US" sz="1100" dirty="0"/>
          </a:p>
          <a:p>
            <a:pPr indent="0" marL="0">
              <a:buNone/>
            </a:pPr>
            <a:r>
              <a:rPr lang="en-US" sz="1100" dirty="0">
                <a:solidFill>
                  <a:srgbClr val="2E6B4F"/>
                </a:solidFill>
                <a:latin typeface="Cambria Math" pitchFamily="34" charset="0"/>
                <a:ea typeface="Cambria Math" pitchFamily="34" charset="-122"/>
                <a:cs typeface="Cambria Math" pitchFamily="34" charset="-120"/>
              </a:rPr>
              <a:t>WBC = 0</a:t>
            </a:r>
            <a:endParaRPr lang="en-US" sz="1100" dirty="0"/>
          </a:p>
          <a:p>
            <a:pPr indent="0" marL="0">
              <a:buNone/>
            </a:pPr>
            <a:endParaRPr lang="en-US" sz="1100" dirty="0"/>
          </a:p>
          <a:p>
            <a:pPr indent="0" marL="0">
              <a:buNone/>
            </a:pPr>
            <a:r>
              <a:rPr lang="en-US" sz="1100" dirty="0">
                <a:solidFill>
                  <a:srgbClr val="2E6B4F"/>
                </a:solidFill>
                <a:latin typeface="Cambria Math" pitchFamily="34" charset="0"/>
                <a:ea typeface="Cambria Math" pitchFamily="34" charset="-122"/>
                <a:cs typeface="Cambria Math" pitchFamily="34" charset="-120"/>
              </a:rPr>
              <a:t>W1 = -P1(V2-V1)</a:t>
            </a:r>
            <a:endParaRPr lang="en-US" sz="1100" dirty="0"/>
          </a:p>
        </p:txBody>
      </p:sp>
      <p:sp>
        <p:nvSpPr>
          <p:cNvPr id="8" name="Shape 6"/>
          <p:cNvSpPr/>
          <p:nvPr/>
        </p:nvSpPr>
        <p:spPr>
          <a:xfrm>
            <a:off x="4873752" y="1417320"/>
            <a:ext cx="3657600" cy="1188720"/>
          </a:xfrm>
          <a:prstGeom prst="rect">
            <a:avLst/>
          </a:prstGeom>
          <a:solidFill>
            <a:srgbClr val="EEF7F1"/>
          </a:solidFill>
          <a:ln w="12700">
            <a:solidFill>
              <a:srgbClr val="E18C70"/>
            </a:solidFill>
            <a:prstDash val="solid"/>
          </a:ln>
        </p:spPr>
      </p:sp>
      <p:sp>
        <p:nvSpPr>
          <p:cNvPr id="9" name="Text 7"/>
          <p:cNvSpPr/>
          <p:nvPr/>
        </p:nvSpPr>
        <p:spPr>
          <a:xfrm>
            <a:off x="4965192" y="1508760"/>
            <a:ext cx="3474720" cy="228600"/>
          </a:xfrm>
          <a:prstGeom prst="rect">
            <a:avLst/>
          </a:prstGeom>
          <a:noFill/>
          <a:ln/>
        </p:spPr>
        <p:txBody>
          <a:bodyPr wrap="square" rtlCol="0" anchor="ctr"/>
          <a:lstStyle/>
          <a:p>
            <a:pPr indent="0" marL="0">
              <a:buNone/>
            </a:pPr>
            <a:r>
              <a:rPr lang="en-US" sz="1200" b="1" dirty="0">
                <a:solidFill>
                  <a:srgbClr val="1B4332"/>
                </a:solidFill>
              </a:rPr>
              <a:t>Chemin 2 : A → D → C</a:t>
            </a:r>
            <a:endParaRPr lang="en-US" sz="1200" dirty="0"/>
          </a:p>
        </p:txBody>
      </p:sp>
      <p:sp>
        <p:nvSpPr>
          <p:cNvPr id="10" name="Text 8"/>
          <p:cNvSpPr/>
          <p:nvPr/>
        </p:nvSpPr>
        <p:spPr>
          <a:xfrm>
            <a:off x="4965192" y="1828800"/>
            <a:ext cx="3474720" cy="685800"/>
          </a:xfrm>
          <a:prstGeom prst="rect">
            <a:avLst/>
          </a:prstGeom>
          <a:noFill/>
          <a:ln/>
        </p:spPr>
        <p:txBody>
          <a:bodyPr wrap="square" rtlCol="0" anchor="ctr"/>
          <a:lstStyle/>
          <a:p>
            <a:pPr indent="0" marL="0">
              <a:buNone/>
            </a:pPr>
            <a:r>
              <a:rPr lang="en-US" sz="1100" dirty="0">
                <a:solidFill>
                  <a:srgbClr val="2E6B4F"/>
                </a:solidFill>
                <a:latin typeface="Cambria Math" pitchFamily="34" charset="0"/>
                <a:ea typeface="Cambria Math" pitchFamily="34" charset="-122"/>
                <a:cs typeface="Cambria Math" pitchFamily="34" charset="-120"/>
              </a:rPr>
              <a:t>WAD = 0</a:t>
            </a:r>
            <a:endParaRPr lang="en-US" sz="1100" dirty="0"/>
          </a:p>
          <a:p>
            <a:pPr indent="0" marL="0">
              <a:buNone/>
            </a:pPr>
            <a:r>
              <a:rPr lang="en-US" sz="1100" dirty="0">
                <a:solidFill>
                  <a:srgbClr val="2E6B4F"/>
                </a:solidFill>
                <a:latin typeface="Cambria Math" pitchFamily="34" charset="0"/>
                <a:ea typeface="Cambria Math" pitchFamily="34" charset="-122"/>
                <a:cs typeface="Cambria Math" pitchFamily="34" charset="-120"/>
              </a:rPr>
              <a:t>WDC = -P2(V2-V1)</a:t>
            </a:r>
            <a:endParaRPr lang="en-US" sz="1100" dirty="0"/>
          </a:p>
          <a:p>
            <a:pPr indent="0" marL="0">
              <a:buNone/>
            </a:pPr>
            <a:endParaRPr lang="en-US" sz="1100" dirty="0"/>
          </a:p>
          <a:p>
            <a:pPr indent="0" marL="0">
              <a:buNone/>
            </a:pPr>
            <a:r>
              <a:rPr lang="en-US" sz="1100" dirty="0">
                <a:solidFill>
                  <a:srgbClr val="2E6B4F"/>
                </a:solidFill>
                <a:latin typeface="Cambria Math" pitchFamily="34" charset="0"/>
                <a:ea typeface="Cambria Math" pitchFamily="34" charset="-122"/>
                <a:cs typeface="Cambria Math" pitchFamily="34" charset="-120"/>
              </a:rPr>
              <a:t>W2 = -P2(V2-V1)</a:t>
            </a:r>
            <a:endParaRPr lang="en-US" sz="1100" dirty="0"/>
          </a:p>
        </p:txBody>
      </p:sp>
      <p:sp>
        <p:nvSpPr>
          <p:cNvPr id="11" name="Shape 9"/>
          <p:cNvSpPr/>
          <p:nvPr/>
        </p:nvSpPr>
        <p:spPr>
          <a:xfrm>
            <a:off x="612648" y="2834640"/>
            <a:ext cx="7918704" cy="640080"/>
          </a:xfrm>
          <a:prstGeom prst="rect">
            <a:avLst/>
          </a:prstGeom>
          <a:solidFill>
            <a:srgbClr val="E18C70"/>
          </a:solidFill>
          <a:ln/>
        </p:spPr>
      </p:sp>
      <p:sp>
        <p:nvSpPr>
          <p:cNvPr id="12" name="Text 10"/>
          <p:cNvSpPr/>
          <p:nvPr/>
        </p:nvSpPr>
        <p:spPr>
          <a:xfrm>
            <a:off x="795528" y="2926080"/>
            <a:ext cx="7552944" cy="228600"/>
          </a:xfrm>
          <a:prstGeom prst="rect">
            <a:avLst/>
          </a:prstGeom>
          <a:noFill/>
          <a:ln/>
        </p:spPr>
        <p:txBody>
          <a:bodyPr wrap="square" rtlCol="0" anchor="ctr"/>
          <a:lstStyle/>
          <a:p>
            <a:pPr algn="ctr" indent="0" marL="0">
              <a:buNone/>
            </a:pPr>
            <a:r>
              <a:rPr lang="en-US" sz="1400" b="1" dirty="0">
                <a:solidFill>
                  <a:srgbClr val="1B4332"/>
                </a:solidFill>
                <a:latin typeface="Cambria Math" pitchFamily="34" charset="0"/>
                <a:ea typeface="Cambria Math" pitchFamily="34" charset="-122"/>
                <a:cs typeface="Cambria Math" pitchFamily="34" charset="-120"/>
              </a:rPr>
              <a:t>W₁ = -P1(V2-V1) ≠ W₂ = -P2(V2-V1)</a:t>
            </a:r>
            <a:endParaRPr lang="en-US" sz="1400" dirty="0"/>
          </a:p>
        </p:txBody>
      </p:sp>
      <p:sp>
        <p:nvSpPr>
          <p:cNvPr id="13" name="Text 11"/>
          <p:cNvSpPr/>
          <p:nvPr/>
        </p:nvSpPr>
        <p:spPr>
          <a:xfrm>
            <a:off x="795528" y="3200400"/>
            <a:ext cx="7552944" cy="182880"/>
          </a:xfrm>
          <a:prstGeom prst="rect">
            <a:avLst/>
          </a:prstGeom>
          <a:noFill/>
          <a:ln/>
        </p:spPr>
        <p:txBody>
          <a:bodyPr wrap="square" rtlCol="0" anchor="ctr"/>
          <a:lstStyle/>
          <a:p>
            <a:pPr algn="ctr" indent="0" marL="0">
              <a:buNone/>
            </a:pPr>
            <a:r>
              <a:rPr lang="en-US" sz="1100" dirty="0">
                <a:solidFill>
                  <a:srgbClr val="2E6B4F"/>
                </a:solidFill>
              </a:rPr>
              <a:t>Le travail dépend du chemin → Ce n'est PAS une fonction d'état !</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22D1F"/>
          </a:solidFill>
          <a:ln/>
        </p:spPr>
      </p:sp>
      <p:sp>
        <p:nvSpPr>
          <p:cNvPr id="3" name="Shape 1"/>
          <p:cNvSpPr/>
          <p:nvPr/>
        </p:nvSpPr>
        <p:spPr>
          <a:xfrm>
            <a:off x="0" y="0"/>
            <a:ext cx="9144000" cy="54864"/>
          </a:xfrm>
          <a:prstGeom prst="rect">
            <a:avLst/>
          </a:prstGeom>
          <a:solidFill>
            <a:srgbClr val="DCBD74"/>
          </a:solidFill>
          <a:ln/>
        </p:spPr>
      </p:sp>
      <p:sp>
        <p:nvSpPr>
          <p:cNvPr id="4" name="Text 2"/>
          <p:cNvSpPr/>
          <p:nvPr/>
        </p:nvSpPr>
        <p:spPr>
          <a:xfrm>
            <a:off x="457200" y="1097280"/>
            <a:ext cx="8229600" cy="548640"/>
          </a:xfrm>
          <a:prstGeom prst="rect">
            <a:avLst/>
          </a:prstGeom>
          <a:noFill/>
          <a:ln/>
        </p:spPr>
        <p:txBody>
          <a:bodyPr wrap="square" rtlCol="0" anchor="ctr"/>
          <a:lstStyle/>
          <a:p>
            <a:pPr algn="ctr" indent="0" marL="0">
              <a:buNone/>
            </a:pPr>
            <a:r>
              <a:rPr lang="en-US" sz="3600" b="1" dirty="0">
                <a:solidFill>
                  <a:srgbClr val="FFFFFF"/>
                </a:solidFill>
              </a:rPr>
              <a:t>SYNTHÈSE GLOBALE</a:t>
            </a:r>
            <a:endParaRPr lang="en-US" sz="3600" dirty="0"/>
          </a:p>
        </p:txBody>
      </p:sp>
      <p:sp>
        <p:nvSpPr>
          <p:cNvPr id="5" name="Text 3"/>
          <p:cNvSpPr/>
          <p:nvPr/>
        </p:nvSpPr>
        <p:spPr>
          <a:xfrm>
            <a:off x="457200" y="1737360"/>
            <a:ext cx="8229600" cy="365760"/>
          </a:xfrm>
          <a:prstGeom prst="rect">
            <a:avLst/>
          </a:prstGeom>
          <a:noFill/>
          <a:ln/>
        </p:spPr>
        <p:txBody>
          <a:bodyPr wrap="square" rtlCol="0" anchor="ctr"/>
          <a:lstStyle/>
          <a:p>
            <a:pPr algn="ctr" indent="0" marL="0">
              <a:buNone/>
            </a:pPr>
            <a:r>
              <a:rPr lang="en-US" sz="1800" dirty="0">
                <a:solidFill>
                  <a:srgbClr val="7EC8B0"/>
                </a:solidFill>
              </a:rPr>
              <a:t>Connexions entre les trois séances</a:t>
            </a:r>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Vue d'Ensemble du Cours</a:t>
            </a:r>
            <a:endParaRPr lang="en-US" sz="2200" dirty="0"/>
          </a:p>
        </p:txBody>
      </p:sp>
      <p:sp>
        <p:nvSpPr>
          <p:cNvPr id="4" name="Shape 2"/>
          <p:cNvSpPr/>
          <p:nvPr/>
        </p:nvSpPr>
        <p:spPr>
          <a:xfrm>
            <a:off x="612648" y="1005840"/>
            <a:ext cx="2651760" cy="2011680"/>
          </a:xfrm>
          <a:prstGeom prst="rect">
            <a:avLst/>
          </a:prstGeom>
          <a:solidFill>
            <a:srgbClr val="EEF7F1"/>
          </a:solidFill>
          <a:ln w="12700">
            <a:solidFill>
              <a:srgbClr val="A8D4BC"/>
            </a:solidFill>
            <a:prstDash val="solid"/>
          </a:ln>
        </p:spPr>
      </p:sp>
      <p:sp>
        <p:nvSpPr>
          <p:cNvPr id="5" name="Shape 3"/>
          <p:cNvSpPr/>
          <p:nvPr/>
        </p:nvSpPr>
        <p:spPr>
          <a:xfrm>
            <a:off x="1572768" y="1097280"/>
            <a:ext cx="731520" cy="457200"/>
          </a:xfrm>
          <a:prstGeom prst="ellipse">
            <a:avLst/>
          </a:prstGeom>
          <a:solidFill>
            <a:srgbClr val="DCBD74"/>
          </a:solidFill>
          <a:ln/>
        </p:spPr>
      </p:sp>
      <p:sp>
        <p:nvSpPr>
          <p:cNvPr id="6" name="Text 4"/>
          <p:cNvSpPr/>
          <p:nvPr/>
        </p:nvSpPr>
        <p:spPr>
          <a:xfrm>
            <a:off x="1572768" y="1143000"/>
            <a:ext cx="731520" cy="365760"/>
          </a:xfrm>
          <a:prstGeom prst="rect">
            <a:avLst/>
          </a:prstGeom>
          <a:noFill/>
          <a:ln/>
        </p:spPr>
        <p:txBody>
          <a:bodyPr wrap="square" rtlCol="0" anchor="ctr"/>
          <a:lstStyle/>
          <a:p>
            <a:pPr algn="ctr" indent="0" marL="0">
              <a:buNone/>
            </a:pPr>
            <a:r>
              <a:rPr lang="en-US" sz="1800" b="1" dirty="0">
                <a:solidFill>
                  <a:srgbClr val="FFFFFF"/>
                </a:solidFill>
              </a:rPr>
              <a:t>1</a:t>
            </a:r>
            <a:endParaRPr lang="en-US" sz="1800" dirty="0"/>
          </a:p>
        </p:txBody>
      </p:sp>
      <p:sp>
        <p:nvSpPr>
          <p:cNvPr id="7" name="Text 5"/>
          <p:cNvSpPr/>
          <p:nvPr/>
        </p:nvSpPr>
        <p:spPr>
          <a:xfrm>
            <a:off x="704088" y="1645920"/>
            <a:ext cx="2468880" cy="548640"/>
          </a:xfrm>
          <a:prstGeom prst="rect">
            <a:avLst/>
          </a:prstGeom>
          <a:noFill/>
          <a:ln/>
        </p:spPr>
        <p:txBody>
          <a:bodyPr wrap="square" rtlCol="0" anchor="ctr"/>
          <a:lstStyle/>
          <a:p>
            <a:pPr algn="ctr" indent="0" marL="0">
              <a:buNone/>
            </a:pPr>
            <a:r>
              <a:rPr lang="en-US" sz="1300" b="1" dirty="0">
                <a:solidFill>
                  <a:srgbClr val="1B4332"/>
                </a:solidFill>
              </a:rPr>
              <a:t>Concepts</a:t>
            </a:r>
            <a:endParaRPr lang="en-US" sz="1300" dirty="0"/>
          </a:p>
          <a:p>
            <a:pPr algn="ctr" indent="0" marL="0">
              <a:buNone/>
            </a:pPr>
            <a:r>
              <a:rPr lang="en-US" sz="1300" b="1" dirty="0">
                <a:solidFill>
                  <a:srgbClr val="1B4332"/>
                </a:solidFill>
              </a:rPr>
              <a:t>Fondamentaux</a:t>
            </a:r>
            <a:endParaRPr lang="en-US" sz="1300" dirty="0"/>
          </a:p>
        </p:txBody>
      </p:sp>
      <p:sp>
        <p:nvSpPr>
          <p:cNvPr id="8" name="Text 6"/>
          <p:cNvSpPr/>
          <p:nvPr/>
        </p:nvSpPr>
        <p:spPr>
          <a:xfrm>
            <a:off x="704088" y="2286000"/>
            <a:ext cx="2468880" cy="640080"/>
          </a:xfrm>
          <a:prstGeom prst="rect">
            <a:avLst/>
          </a:prstGeom>
          <a:noFill/>
          <a:ln/>
        </p:spPr>
        <p:txBody>
          <a:bodyPr wrap="square" rtlCol="0" anchor="ctr"/>
          <a:lstStyle/>
          <a:p>
            <a:pPr algn="ctr" indent="0" marL="0">
              <a:buNone/>
            </a:pPr>
            <a:r>
              <a:rPr lang="en-US" sz="1100" dirty="0">
                <a:solidFill>
                  <a:srgbClr val="2E6B4F"/>
                </a:solidFill>
              </a:rPr>
              <a:t>Systèmes, Variables</a:t>
            </a:r>
            <a:endParaRPr lang="en-US" sz="1100" dirty="0"/>
          </a:p>
          <a:p>
            <a:pPr algn="ctr" indent="0" marL="0">
              <a:buNone/>
            </a:pPr>
            <a:r>
              <a:rPr lang="en-US" sz="1100" dirty="0">
                <a:solidFill>
                  <a:srgbClr val="2E6B4F"/>
                </a:solidFill>
              </a:rPr>
              <a:t>Transformations</a:t>
            </a:r>
            <a:endParaRPr lang="en-US" sz="1100" dirty="0"/>
          </a:p>
        </p:txBody>
      </p:sp>
      <p:sp>
        <p:nvSpPr>
          <p:cNvPr id="9" name="Text 7"/>
          <p:cNvSpPr/>
          <p:nvPr/>
        </p:nvSpPr>
        <p:spPr>
          <a:xfrm>
            <a:off x="3264408" y="1737360"/>
            <a:ext cx="274320" cy="365760"/>
          </a:xfrm>
          <a:prstGeom prst="rect">
            <a:avLst/>
          </a:prstGeom>
          <a:noFill/>
          <a:ln/>
        </p:spPr>
        <p:txBody>
          <a:bodyPr wrap="square" rtlCol="0" anchor="ctr"/>
          <a:lstStyle/>
          <a:p>
            <a:pPr algn="ctr" indent="0" marL="0">
              <a:buNone/>
            </a:pPr>
            <a:r>
              <a:rPr lang="en-US" sz="2000" b="1" dirty="0">
                <a:solidFill>
                  <a:srgbClr val="DCBD74"/>
                </a:solidFill>
              </a:rPr>
              <a:t>→</a:t>
            </a:r>
            <a:endParaRPr lang="en-US" sz="2000" dirty="0"/>
          </a:p>
        </p:txBody>
      </p:sp>
      <p:sp>
        <p:nvSpPr>
          <p:cNvPr id="10" name="Shape 8"/>
          <p:cNvSpPr/>
          <p:nvPr/>
        </p:nvSpPr>
        <p:spPr>
          <a:xfrm>
            <a:off x="3538728" y="1005840"/>
            <a:ext cx="2651760" cy="2011680"/>
          </a:xfrm>
          <a:prstGeom prst="rect">
            <a:avLst/>
          </a:prstGeom>
          <a:solidFill>
            <a:srgbClr val="EEF7F1"/>
          </a:solidFill>
          <a:ln w="12700">
            <a:solidFill>
              <a:srgbClr val="A8D4BC"/>
            </a:solidFill>
            <a:prstDash val="solid"/>
          </a:ln>
        </p:spPr>
      </p:sp>
      <p:sp>
        <p:nvSpPr>
          <p:cNvPr id="11" name="Shape 9"/>
          <p:cNvSpPr/>
          <p:nvPr/>
        </p:nvSpPr>
        <p:spPr>
          <a:xfrm>
            <a:off x="4498848" y="1097280"/>
            <a:ext cx="731520" cy="457200"/>
          </a:xfrm>
          <a:prstGeom prst="ellipse">
            <a:avLst/>
          </a:prstGeom>
          <a:solidFill>
            <a:srgbClr val="DCBD74"/>
          </a:solidFill>
          <a:ln/>
        </p:spPr>
      </p:sp>
      <p:sp>
        <p:nvSpPr>
          <p:cNvPr id="12" name="Text 10"/>
          <p:cNvSpPr/>
          <p:nvPr/>
        </p:nvSpPr>
        <p:spPr>
          <a:xfrm>
            <a:off x="4498848" y="1143000"/>
            <a:ext cx="731520" cy="365760"/>
          </a:xfrm>
          <a:prstGeom prst="rect">
            <a:avLst/>
          </a:prstGeom>
          <a:noFill/>
          <a:ln/>
        </p:spPr>
        <p:txBody>
          <a:bodyPr wrap="square" rtlCol="0" anchor="ctr"/>
          <a:lstStyle/>
          <a:p>
            <a:pPr algn="ctr" indent="0" marL="0">
              <a:buNone/>
            </a:pPr>
            <a:r>
              <a:rPr lang="en-US" sz="1800" b="1" dirty="0">
                <a:solidFill>
                  <a:srgbClr val="FFFFFF"/>
                </a:solidFill>
              </a:rPr>
              <a:t>2</a:t>
            </a:r>
            <a:endParaRPr lang="en-US" sz="1800" dirty="0"/>
          </a:p>
        </p:txBody>
      </p:sp>
      <p:sp>
        <p:nvSpPr>
          <p:cNvPr id="13" name="Text 11"/>
          <p:cNvSpPr/>
          <p:nvPr/>
        </p:nvSpPr>
        <p:spPr>
          <a:xfrm>
            <a:off x="3630168" y="1645920"/>
            <a:ext cx="2468880" cy="548640"/>
          </a:xfrm>
          <a:prstGeom prst="rect">
            <a:avLst/>
          </a:prstGeom>
          <a:noFill/>
          <a:ln/>
        </p:spPr>
        <p:txBody>
          <a:bodyPr wrap="square" rtlCol="0" anchor="ctr"/>
          <a:lstStyle/>
          <a:p>
            <a:pPr algn="ctr" indent="0" marL="0">
              <a:buNone/>
            </a:pPr>
            <a:r>
              <a:rPr lang="en-US" sz="1300" b="1" dirty="0">
                <a:solidFill>
                  <a:srgbClr val="1B4332"/>
                </a:solidFill>
              </a:rPr>
              <a:t>Température</a:t>
            </a:r>
            <a:endParaRPr lang="en-US" sz="1300" dirty="0"/>
          </a:p>
          <a:p>
            <a:pPr algn="ctr" indent="0" marL="0">
              <a:buNone/>
            </a:pPr>
            <a:r>
              <a:rPr lang="en-US" sz="1300" b="1" dirty="0">
                <a:solidFill>
                  <a:srgbClr val="1B4332"/>
                </a:solidFill>
              </a:rPr>
              <a:t>et Mesure</a:t>
            </a:r>
            <a:endParaRPr lang="en-US" sz="1300" dirty="0"/>
          </a:p>
        </p:txBody>
      </p:sp>
      <p:sp>
        <p:nvSpPr>
          <p:cNvPr id="14" name="Text 12"/>
          <p:cNvSpPr/>
          <p:nvPr/>
        </p:nvSpPr>
        <p:spPr>
          <a:xfrm>
            <a:off x="3630168" y="2286000"/>
            <a:ext cx="2468880" cy="640080"/>
          </a:xfrm>
          <a:prstGeom prst="rect">
            <a:avLst/>
          </a:prstGeom>
          <a:noFill/>
          <a:ln/>
        </p:spPr>
        <p:txBody>
          <a:bodyPr wrap="square" rtlCol="0" anchor="ctr"/>
          <a:lstStyle/>
          <a:p>
            <a:pPr algn="ctr" indent="0" marL="0">
              <a:buNone/>
            </a:pPr>
            <a:r>
              <a:rPr lang="en-US" sz="1100" dirty="0">
                <a:solidFill>
                  <a:srgbClr val="2E6B4F"/>
                </a:solidFill>
              </a:rPr>
              <a:t>Échelles, Gaz parfait</a:t>
            </a:r>
            <a:endParaRPr lang="en-US" sz="1100" dirty="0"/>
          </a:p>
          <a:p>
            <a:pPr algn="ctr" indent="0" marL="0">
              <a:buNone/>
            </a:pPr>
            <a:r>
              <a:rPr lang="en-US" sz="1100" dirty="0">
                <a:solidFill>
                  <a:srgbClr val="2E6B4F"/>
                </a:solidFill>
              </a:rPr>
              <a:t>Principe zéro</a:t>
            </a:r>
            <a:endParaRPr lang="en-US" sz="1100" dirty="0"/>
          </a:p>
        </p:txBody>
      </p:sp>
      <p:sp>
        <p:nvSpPr>
          <p:cNvPr id="15" name="Text 13"/>
          <p:cNvSpPr/>
          <p:nvPr/>
        </p:nvSpPr>
        <p:spPr>
          <a:xfrm>
            <a:off x="6190488" y="1737360"/>
            <a:ext cx="274320" cy="365760"/>
          </a:xfrm>
          <a:prstGeom prst="rect">
            <a:avLst/>
          </a:prstGeom>
          <a:noFill/>
          <a:ln/>
        </p:spPr>
        <p:txBody>
          <a:bodyPr wrap="square" rtlCol="0" anchor="ctr"/>
          <a:lstStyle/>
          <a:p>
            <a:pPr algn="ctr" indent="0" marL="0">
              <a:buNone/>
            </a:pPr>
            <a:r>
              <a:rPr lang="en-US" sz="2000" b="1" dirty="0">
                <a:solidFill>
                  <a:srgbClr val="DCBD74"/>
                </a:solidFill>
              </a:rPr>
              <a:t>→</a:t>
            </a:r>
            <a:endParaRPr lang="en-US" sz="2000" dirty="0"/>
          </a:p>
        </p:txBody>
      </p:sp>
      <p:sp>
        <p:nvSpPr>
          <p:cNvPr id="16" name="Shape 14"/>
          <p:cNvSpPr/>
          <p:nvPr/>
        </p:nvSpPr>
        <p:spPr>
          <a:xfrm>
            <a:off x="6464808" y="1005840"/>
            <a:ext cx="2651760" cy="2011680"/>
          </a:xfrm>
          <a:prstGeom prst="rect">
            <a:avLst/>
          </a:prstGeom>
          <a:solidFill>
            <a:srgbClr val="EEF7F1"/>
          </a:solidFill>
          <a:ln w="12700">
            <a:solidFill>
              <a:srgbClr val="A8D4BC"/>
            </a:solidFill>
            <a:prstDash val="solid"/>
          </a:ln>
        </p:spPr>
      </p:sp>
      <p:sp>
        <p:nvSpPr>
          <p:cNvPr id="17" name="Shape 15"/>
          <p:cNvSpPr/>
          <p:nvPr/>
        </p:nvSpPr>
        <p:spPr>
          <a:xfrm>
            <a:off x="7424928" y="1097280"/>
            <a:ext cx="731520" cy="457200"/>
          </a:xfrm>
          <a:prstGeom prst="ellipse">
            <a:avLst/>
          </a:prstGeom>
          <a:solidFill>
            <a:srgbClr val="DCBD74"/>
          </a:solidFill>
          <a:ln/>
        </p:spPr>
      </p:sp>
      <p:sp>
        <p:nvSpPr>
          <p:cNvPr id="18" name="Text 16"/>
          <p:cNvSpPr/>
          <p:nvPr/>
        </p:nvSpPr>
        <p:spPr>
          <a:xfrm>
            <a:off x="7424928" y="1143000"/>
            <a:ext cx="731520" cy="365760"/>
          </a:xfrm>
          <a:prstGeom prst="rect">
            <a:avLst/>
          </a:prstGeom>
          <a:noFill/>
          <a:ln/>
        </p:spPr>
        <p:txBody>
          <a:bodyPr wrap="square" rtlCol="0" anchor="ctr"/>
          <a:lstStyle/>
          <a:p>
            <a:pPr algn="ctr" indent="0" marL="0">
              <a:buNone/>
            </a:pPr>
            <a:r>
              <a:rPr lang="en-US" sz="1800" b="1" dirty="0">
                <a:solidFill>
                  <a:srgbClr val="FFFFFF"/>
                </a:solidFill>
              </a:rPr>
              <a:t>3</a:t>
            </a:r>
            <a:endParaRPr lang="en-US" sz="1800" dirty="0"/>
          </a:p>
        </p:txBody>
      </p:sp>
      <p:sp>
        <p:nvSpPr>
          <p:cNvPr id="19" name="Text 17"/>
          <p:cNvSpPr/>
          <p:nvPr/>
        </p:nvSpPr>
        <p:spPr>
          <a:xfrm>
            <a:off x="6556248" y="1645920"/>
            <a:ext cx="2468880" cy="548640"/>
          </a:xfrm>
          <a:prstGeom prst="rect">
            <a:avLst/>
          </a:prstGeom>
          <a:noFill/>
          <a:ln/>
        </p:spPr>
        <p:txBody>
          <a:bodyPr wrap="square" rtlCol="0" anchor="ctr"/>
          <a:lstStyle/>
          <a:p>
            <a:pPr algn="ctr" indent="0" marL="0">
              <a:buNone/>
            </a:pPr>
            <a:r>
              <a:rPr lang="en-US" sz="1300" b="1" dirty="0">
                <a:solidFill>
                  <a:srgbClr val="1B4332"/>
                </a:solidFill>
              </a:rPr>
              <a:t>Échanges</a:t>
            </a:r>
            <a:endParaRPr lang="en-US" sz="1300" dirty="0"/>
          </a:p>
          <a:p>
            <a:pPr algn="ctr" indent="0" marL="0">
              <a:buNone/>
            </a:pPr>
            <a:r>
              <a:rPr lang="en-US" sz="1300" b="1" dirty="0">
                <a:solidFill>
                  <a:srgbClr val="1B4332"/>
                </a:solidFill>
              </a:rPr>
              <a:t>d'Énergie</a:t>
            </a:r>
            <a:endParaRPr lang="en-US" sz="1300" dirty="0"/>
          </a:p>
        </p:txBody>
      </p:sp>
      <p:sp>
        <p:nvSpPr>
          <p:cNvPr id="20" name="Text 18"/>
          <p:cNvSpPr/>
          <p:nvPr/>
        </p:nvSpPr>
        <p:spPr>
          <a:xfrm>
            <a:off x="6556248" y="2286000"/>
            <a:ext cx="2468880" cy="640080"/>
          </a:xfrm>
          <a:prstGeom prst="rect">
            <a:avLst/>
          </a:prstGeom>
          <a:noFill/>
          <a:ln/>
        </p:spPr>
        <p:txBody>
          <a:bodyPr wrap="square" rtlCol="0" anchor="ctr"/>
          <a:lstStyle/>
          <a:p>
            <a:pPr algn="ctr" indent="0" marL="0">
              <a:buNone/>
            </a:pPr>
            <a:r>
              <a:rPr lang="en-US" sz="1100" dirty="0">
                <a:solidFill>
                  <a:srgbClr val="2E6B4F"/>
                </a:solidFill>
              </a:rPr>
              <a:t>Travail W, Chaleur Q</a:t>
            </a:r>
            <a:endParaRPr lang="en-US" sz="1100" dirty="0"/>
          </a:p>
          <a:p>
            <a:pPr algn="ctr" indent="0" marL="0">
              <a:buNone/>
            </a:pPr>
            <a:r>
              <a:rPr lang="en-US" sz="1100" dirty="0">
                <a:solidFill>
                  <a:srgbClr val="2E6B4F"/>
                </a:solidFill>
              </a:rPr>
              <a:t>Calorimétrie</a:t>
            </a:r>
            <a:endParaRPr lang="en-US" sz="1100" dirty="0"/>
          </a:p>
        </p:txBody>
      </p:sp>
      <p:sp>
        <p:nvSpPr>
          <p:cNvPr id="21" name="Text 19"/>
          <p:cNvSpPr/>
          <p:nvPr/>
        </p:nvSpPr>
        <p:spPr>
          <a:xfrm>
            <a:off x="612648" y="3291840"/>
            <a:ext cx="7918704" cy="457200"/>
          </a:xfrm>
          <a:prstGeom prst="rect">
            <a:avLst/>
          </a:prstGeom>
          <a:noFill/>
          <a:ln/>
        </p:spPr>
        <p:txBody>
          <a:bodyPr wrap="square" rtlCol="0" anchor="ctr"/>
          <a:lstStyle/>
          <a:p>
            <a:pPr indent="0" marL="0">
              <a:buNone/>
            </a:pPr>
            <a:r>
              <a:rPr lang="en-US" sz="1200" i="1" dirty="0">
                <a:solidFill>
                  <a:srgbClr val="60A882"/>
                </a:solidFill>
              </a:rPr>
              <a:t>Progression : Les concepts de base permettent de définir la température, qui permet d'analyser les échanges d'énergie.</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22D1F"/>
          </a:solidFill>
          <a:ln/>
        </p:spPr>
      </p:sp>
      <p:sp>
        <p:nvSpPr>
          <p:cNvPr id="3" name="Text 1"/>
          <p:cNvSpPr/>
          <p:nvPr/>
        </p:nvSpPr>
        <p:spPr>
          <a:xfrm>
            <a:off x="612648" y="155448"/>
            <a:ext cx="8229600" cy="402336"/>
          </a:xfrm>
          <a:prstGeom prst="rect">
            <a:avLst/>
          </a:prstGeom>
          <a:noFill/>
          <a:ln/>
        </p:spPr>
        <p:txBody>
          <a:bodyPr wrap="square"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Formules Clés à Retenir</a:t>
            </a:r>
            <a:endParaRPr lang="en-US" sz="2200" dirty="0"/>
          </a:p>
        </p:txBody>
      </p:sp>
      <p:sp>
        <p:nvSpPr>
          <p:cNvPr id="4" name="Shape 2"/>
          <p:cNvSpPr/>
          <p:nvPr/>
        </p:nvSpPr>
        <p:spPr>
          <a:xfrm>
            <a:off x="612648" y="1005840"/>
            <a:ext cx="1828800" cy="685800"/>
          </a:xfrm>
          <a:prstGeom prst="rect">
            <a:avLst/>
          </a:prstGeom>
          <a:solidFill>
            <a:srgbClr val="DCBD74"/>
          </a:solidFill>
          <a:ln/>
        </p:spPr>
      </p:sp>
      <p:sp>
        <p:nvSpPr>
          <p:cNvPr id="5" name="Text 3"/>
          <p:cNvSpPr/>
          <p:nvPr/>
        </p:nvSpPr>
        <p:spPr>
          <a:xfrm>
            <a:off x="612648" y="1188720"/>
            <a:ext cx="1828800" cy="320040"/>
          </a:xfrm>
          <a:prstGeom prst="rect">
            <a:avLst/>
          </a:prstGeom>
          <a:noFill/>
          <a:ln/>
        </p:spPr>
        <p:txBody>
          <a:bodyPr wrap="square" rtlCol="0" anchor="ctr"/>
          <a:lstStyle/>
          <a:p>
            <a:pPr algn="ctr" indent="0" marL="0">
              <a:buNone/>
            </a:pPr>
            <a:r>
              <a:rPr lang="en-US" sz="1200" b="1" dirty="0">
                <a:solidFill>
                  <a:srgbClr val="FFFFFF"/>
                </a:solidFill>
              </a:rPr>
              <a:t>Général</a:t>
            </a:r>
            <a:endParaRPr lang="en-US" sz="1200" dirty="0"/>
          </a:p>
        </p:txBody>
      </p:sp>
      <p:sp>
        <p:nvSpPr>
          <p:cNvPr id="6" name="Text 4"/>
          <p:cNvSpPr/>
          <p:nvPr/>
        </p:nvSpPr>
        <p:spPr>
          <a:xfrm>
            <a:off x="2560320" y="1188720"/>
            <a:ext cx="5669280" cy="320040"/>
          </a:xfrm>
          <a:prstGeom prst="rect">
            <a:avLst/>
          </a:prstGeom>
          <a:noFill/>
          <a:ln/>
        </p:spPr>
        <p:txBody>
          <a:bodyPr wrap="square" rtlCol="0" anchor="ctr"/>
          <a:lstStyle/>
          <a:p>
            <a:pPr indent="0" marL="0">
              <a:buNone/>
            </a:pPr>
            <a:r>
              <a:rPr lang="en-US" sz="1300" dirty="0">
                <a:solidFill>
                  <a:srgbClr val="2E6B4F"/>
                </a:solidFill>
                <a:latin typeface="Cambria Math" pitchFamily="34" charset="0"/>
                <a:ea typeface="Cambria Math" pitchFamily="34" charset="-122"/>
                <a:cs typeface="Cambria Math" pitchFamily="34" charset="-120"/>
              </a:rPr>
              <a:t>PV = nRT | f(P,V,T) = 0</a:t>
            </a:r>
            <a:endParaRPr lang="en-US" sz="1300" dirty="0"/>
          </a:p>
        </p:txBody>
      </p:sp>
      <p:sp>
        <p:nvSpPr>
          <p:cNvPr id="7" name="Shape 5"/>
          <p:cNvSpPr/>
          <p:nvPr/>
        </p:nvSpPr>
        <p:spPr>
          <a:xfrm>
            <a:off x="612648" y="1783080"/>
            <a:ext cx="1828800" cy="685800"/>
          </a:xfrm>
          <a:prstGeom prst="rect">
            <a:avLst/>
          </a:prstGeom>
          <a:solidFill>
            <a:srgbClr val="DCBD74"/>
          </a:solidFill>
          <a:ln/>
        </p:spPr>
      </p:sp>
      <p:sp>
        <p:nvSpPr>
          <p:cNvPr id="8" name="Text 6"/>
          <p:cNvSpPr/>
          <p:nvPr/>
        </p:nvSpPr>
        <p:spPr>
          <a:xfrm>
            <a:off x="612648" y="1965960"/>
            <a:ext cx="1828800" cy="320040"/>
          </a:xfrm>
          <a:prstGeom prst="rect">
            <a:avLst/>
          </a:prstGeom>
          <a:noFill/>
          <a:ln/>
        </p:spPr>
        <p:txBody>
          <a:bodyPr wrap="square" rtlCol="0" anchor="ctr"/>
          <a:lstStyle/>
          <a:p>
            <a:pPr algn="ctr" indent="0" marL="0">
              <a:buNone/>
            </a:pPr>
            <a:r>
              <a:rPr lang="en-US" sz="1200" b="1" dirty="0">
                <a:solidFill>
                  <a:srgbClr val="FFFFFF"/>
                </a:solidFill>
              </a:rPr>
              <a:t>Température</a:t>
            </a:r>
            <a:endParaRPr lang="en-US" sz="1200" dirty="0"/>
          </a:p>
        </p:txBody>
      </p:sp>
      <p:sp>
        <p:nvSpPr>
          <p:cNvPr id="9" name="Text 7"/>
          <p:cNvSpPr/>
          <p:nvPr/>
        </p:nvSpPr>
        <p:spPr>
          <a:xfrm>
            <a:off x="2560320" y="1965960"/>
            <a:ext cx="5669280" cy="320040"/>
          </a:xfrm>
          <a:prstGeom prst="rect">
            <a:avLst/>
          </a:prstGeom>
          <a:noFill/>
          <a:ln/>
        </p:spPr>
        <p:txBody>
          <a:bodyPr wrap="square" rtlCol="0" anchor="ctr"/>
          <a:lstStyle/>
          <a:p>
            <a:pPr indent="0" marL="0">
              <a:buNone/>
            </a:pPr>
            <a:r>
              <a:rPr lang="en-US" sz="1300" dirty="0">
                <a:solidFill>
                  <a:srgbClr val="2E6B4F"/>
                </a:solidFill>
                <a:latin typeface="Cambria Math" pitchFamily="34" charset="0"/>
                <a:ea typeface="Cambria Math" pitchFamily="34" charset="-122"/>
                <a:cs typeface="Cambria Math" pitchFamily="34" charset="-120"/>
              </a:rPr>
              <a:t>T(K) = T(°C) + 273.15 | α = (1/V)(∂V/∂T)P</a:t>
            </a:r>
            <a:endParaRPr lang="en-US" sz="1300" dirty="0"/>
          </a:p>
        </p:txBody>
      </p:sp>
      <p:sp>
        <p:nvSpPr>
          <p:cNvPr id="10" name="Shape 8"/>
          <p:cNvSpPr/>
          <p:nvPr/>
        </p:nvSpPr>
        <p:spPr>
          <a:xfrm>
            <a:off x="612648" y="2560320"/>
            <a:ext cx="1828800" cy="685800"/>
          </a:xfrm>
          <a:prstGeom prst="rect">
            <a:avLst/>
          </a:prstGeom>
          <a:solidFill>
            <a:srgbClr val="DCBD74"/>
          </a:solidFill>
          <a:ln/>
        </p:spPr>
      </p:sp>
      <p:sp>
        <p:nvSpPr>
          <p:cNvPr id="11" name="Text 9"/>
          <p:cNvSpPr/>
          <p:nvPr/>
        </p:nvSpPr>
        <p:spPr>
          <a:xfrm>
            <a:off x="612648" y="2743200"/>
            <a:ext cx="1828800" cy="320040"/>
          </a:xfrm>
          <a:prstGeom prst="rect">
            <a:avLst/>
          </a:prstGeom>
          <a:noFill/>
          <a:ln/>
        </p:spPr>
        <p:txBody>
          <a:bodyPr wrap="square" rtlCol="0" anchor="ctr"/>
          <a:lstStyle/>
          <a:p>
            <a:pPr algn="ctr" indent="0" marL="0">
              <a:buNone/>
            </a:pPr>
            <a:r>
              <a:rPr lang="en-US" sz="1200" b="1" dirty="0">
                <a:solidFill>
                  <a:srgbClr val="FFFFFF"/>
                </a:solidFill>
              </a:rPr>
              <a:t>Travail</a:t>
            </a:r>
            <a:endParaRPr lang="en-US" sz="1200" dirty="0"/>
          </a:p>
        </p:txBody>
      </p:sp>
      <p:sp>
        <p:nvSpPr>
          <p:cNvPr id="12" name="Text 10"/>
          <p:cNvSpPr/>
          <p:nvPr/>
        </p:nvSpPr>
        <p:spPr>
          <a:xfrm>
            <a:off x="2560320" y="2743200"/>
            <a:ext cx="5669280" cy="320040"/>
          </a:xfrm>
          <a:prstGeom prst="rect">
            <a:avLst/>
          </a:prstGeom>
          <a:noFill/>
          <a:ln/>
        </p:spPr>
        <p:txBody>
          <a:bodyPr wrap="square" rtlCol="0" anchor="ctr"/>
          <a:lstStyle/>
          <a:p>
            <a:pPr indent="0" marL="0">
              <a:buNone/>
            </a:pPr>
            <a:r>
              <a:rPr lang="en-US" sz="1300" dirty="0">
                <a:solidFill>
                  <a:srgbClr val="2E6B4F"/>
                </a:solidFill>
                <a:latin typeface="Cambria Math" pitchFamily="34" charset="0"/>
                <a:ea typeface="Cambria Math" pitchFamily="34" charset="-122"/>
                <a:cs typeface="Cambria Math" pitchFamily="34" charset="-120"/>
              </a:rPr>
              <a:t>W = -∫P dV | Wisoth = nRT·ln(V₂/V₁)</a:t>
            </a:r>
            <a:endParaRPr lang="en-US" sz="1300" dirty="0"/>
          </a:p>
        </p:txBody>
      </p:sp>
      <p:sp>
        <p:nvSpPr>
          <p:cNvPr id="13" name="Shape 11"/>
          <p:cNvSpPr/>
          <p:nvPr/>
        </p:nvSpPr>
        <p:spPr>
          <a:xfrm>
            <a:off x="612648" y="3337560"/>
            <a:ext cx="1828800" cy="685800"/>
          </a:xfrm>
          <a:prstGeom prst="rect">
            <a:avLst/>
          </a:prstGeom>
          <a:solidFill>
            <a:srgbClr val="DCBD74"/>
          </a:solidFill>
          <a:ln/>
        </p:spPr>
      </p:sp>
      <p:sp>
        <p:nvSpPr>
          <p:cNvPr id="14" name="Text 12"/>
          <p:cNvSpPr/>
          <p:nvPr/>
        </p:nvSpPr>
        <p:spPr>
          <a:xfrm>
            <a:off x="612648" y="3520440"/>
            <a:ext cx="1828800" cy="320040"/>
          </a:xfrm>
          <a:prstGeom prst="rect">
            <a:avLst/>
          </a:prstGeom>
          <a:noFill/>
          <a:ln/>
        </p:spPr>
        <p:txBody>
          <a:bodyPr wrap="square" rtlCol="0" anchor="ctr"/>
          <a:lstStyle/>
          <a:p>
            <a:pPr algn="ctr" indent="0" marL="0">
              <a:buNone/>
            </a:pPr>
            <a:r>
              <a:rPr lang="en-US" sz="1200" b="1" dirty="0">
                <a:solidFill>
                  <a:srgbClr val="FFFFFF"/>
                </a:solidFill>
              </a:rPr>
              <a:t>Chaleur</a:t>
            </a:r>
            <a:endParaRPr lang="en-US" sz="1200" dirty="0"/>
          </a:p>
        </p:txBody>
      </p:sp>
      <p:sp>
        <p:nvSpPr>
          <p:cNvPr id="15" name="Text 13"/>
          <p:cNvSpPr/>
          <p:nvPr/>
        </p:nvSpPr>
        <p:spPr>
          <a:xfrm>
            <a:off x="2560320" y="3520440"/>
            <a:ext cx="5669280" cy="320040"/>
          </a:xfrm>
          <a:prstGeom prst="rect">
            <a:avLst/>
          </a:prstGeom>
          <a:noFill/>
          <a:ln/>
        </p:spPr>
        <p:txBody>
          <a:bodyPr wrap="square" rtlCol="0" anchor="ctr"/>
          <a:lstStyle/>
          <a:p>
            <a:pPr indent="0" marL="0">
              <a:buNone/>
            </a:pPr>
            <a:r>
              <a:rPr lang="en-US" sz="1300" dirty="0">
                <a:solidFill>
                  <a:srgbClr val="2E6B4F"/>
                </a:solidFill>
                <a:latin typeface="Cambria Math" pitchFamily="34" charset="0"/>
                <a:ea typeface="Cambria Math" pitchFamily="34" charset="-122"/>
                <a:cs typeface="Cambria Math" pitchFamily="34" charset="-120"/>
              </a:rPr>
              <a:t>Q = mcΔT | Q = mL</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EF7F1"/>
          </a:solidFill>
          <a:ln/>
        </p:spPr>
      </p:sp>
      <p:sp>
        <p:nvSpPr>
          <p:cNvPr id="3" name="Shape 1"/>
          <p:cNvSpPr/>
          <p:nvPr/>
        </p:nvSpPr>
        <p:spPr>
          <a:xfrm>
            <a:off x="0" y="0"/>
            <a:ext cx="9144000" cy="512064"/>
          </a:xfrm>
          <a:prstGeom prst="rect">
            <a:avLst/>
          </a:prstGeom>
          <a:solidFill>
            <a:srgbClr val="122D1F"/>
          </a:solidFill>
          <a:ln/>
        </p:spPr>
      </p:sp>
      <p:sp>
        <p:nvSpPr>
          <p:cNvPr id="4" name="Text 2"/>
          <p:cNvSpPr/>
          <p:nvPr/>
        </p:nvSpPr>
        <p:spPr>
          <a:xfrm>
            <a:off x="612648" y="118872"/>
            <a:ext cx="8229600" cy="274320"/>
          </a:xfrm>
          <a:prstGeom prst="rect">
            <a:avLst/>
          </a:prstGeom>
          <a:noFill/>
          <a:ln/>
        </p:spPr>
        <p:txBody>
          <a:bodyPr wrap="square" rtlCol="0" anchor="ctr"/>
          <a:lstStyle/>
          <a:p>
            <a:pPr indent="0" marL="0">
              <a:buNone/>
            </a:pPr>
            <a:r>
              <a:rPr lang="en-US" sz="2000" b="1" dirty="0">
                <a:solidFill>
                  <a:srgbClr val="FFFFFF"/>
                </a:solidFill>
              </a:rPr>
              <a:t>FICHE DE RÉVISION FINALE</a:t>
            </a:r>
            <a:endParaRPr lang="en-US" sz="2000" dirty="0"/>
          </a:p>
        </p:txBody>
      </p:sp>
      <p:sp>
        <p:nvSpPr>
          <p:cNvPr id="5" name="Shape 3"/>
          <p:cNvSpPr/>
          <p:nvPr/>
        </p:nvSpPr>
        <p:spPr>
          <a:xfrm>
            <a:off x="301752" y="685800"/>
            <a:ext cx="4270248" cy="685800"/>
          </a:xfrm>
          <a:prstGeom prst="rect">
            <a:avLst/>
          </a:prstGeom>
          <a:solidFill>
            <a:srgbClr val="FFFFFF"/>
          </a:solidFill>
          <a:ln w="12700">
            <a:solidFill>
              <a:srgbClr val="A8D4BC"/>
            </a:solidFill>
            <a:prstDash val="solid"/>
          </a:ln>
        </p:spPr>
      </p:sp>
      <p:sp>
        <p:nvSpPr>
          <p:cNvPr id="6" name="Shape 4"/>
          <p:cNvSpPr/>
          <p:nvPr/>
        </p:nvSpPr>
        <p:spPr>
          <a:xfrm>
            <a:off x="301752" y="685800"/>
            <a:ext cx="54864" cy="685800"/>
          </a:xfrm>
          <a:prstGeom prst="rect">
            <a:avLst/>
          </a:prstGeom>
          <a:solidFill>
            <a:srgbClr val="DCBD74"/>
          </a:solidFill>
          <a:ln/>
        </p:spPr>
      </p:sp>
      <p:sp>
        <p:nvSpPr>
          <p:cNvPr id="7" name="Text 5"/>
          <p:cNvSpPr/>
          <p:nvPr/>
        </p:nvSpPr>
        <p:spPr>
          <a:xfrm>
            <a:off x="457200" y="731520"/>
            <a:ext cx="3959352" cy="228600"/>
          </a:xfrm>
          <a:prstGeom prst="rect">
            <a:avLst/>
          </a:prstGeom>
          <a:noFill/>
          <a:ln/>
        </p:spPr>
        <p:txBody>
          <a:bodyPr wrap="square" rtlCol="0" anchor="ctr"/>
          <a:lstStyle/>
          <a:p>
            <a:pPr indent="0" marL="0">
              <a:buNone/>
            </a:pPr>
            <a:r>
              <a:rPr lang="en-US" sz="1100" b="1" dirty="0">
                <a:solidFill>
                  <a:srgbClr val="1B4332"/>
                </a:solidFill>
              </a:rPr>
              <a:t>Systèmes</a:t>
            </a:r>
            <a:endParaRPr lang="en-US" sz="1100" dirty="0"/>
          </a:p>
        </p:txBody>
      </p:sp>
      <p:sp>
        <p:nvSpPr>
          <p:cNvPr id="8" name="Text 6"/>
          <p:cNvSpPr/>
          <p:nvPr/>
        </p:nvSpPr>
        <p:spPr>
          <a:xfrm>
            <a:off x="457200" y="1005840"/>
            <a:ext cx="3959352" cy="320040"/>
          </a:xfrm>
          <a:prstGeom prst="rect">
            <a:avLst/>
          </a:prstGeom>
          <a:noFill/>
          <a:ln/>
        </p:spPr>
        <p:txBody>
          <a:bodyPr wrap="square" rtlCol="0" anchor="ctr"/>
          <a:lstStyle/>
          <a:p>
            <a:pPr indent="0" marL="0">
              <a:buNone/>
            </a:pPr>
            <a:r>
              <a:rPr lang="en-US" sz="1000" dirty="0">
                <a:solidFill>
                  <a:srgbClr val="2E6B4F"/>
                </a:solidFill>
              </a:rPr>
              <a:t>Ouvert (matière+énergie), Fermé (énergie), Isolé (rien)</a:t>
            </a:r>
            <a:endParaRPr lang="en-US" sz="1000" dirty="0"/>
          </a:p>
        </p:txBody>
      </p:sp>
      <p:sp>
        <p:nvSpPr>
          <p:cNvPr id="9" name="Shape 7"/>
          <p:cNvSpPr/>
          <p:nvPr/>
        </p:nvSpPr>
        <p:spPr>
          <a:xfrm>
            <a:off x="4718304" y="685800"/>
            <a:ext cx="4270248" cy="685800"/>
          </a:xfrm>
          <a:prstGeom prst="rect">
            <a:avLst/>
          </a:prstGeom>
          <a:solidFill>
            <a:srgbClr val="FFFFFF"/>
          </a:solidFill>
          <a:ln w="12700">
            <a:solidFill>
              <a:srgbClr val="A8D4BC"/>
            </a:solidFill>
            <a:prstDash val="solid"/>
          </a:ln>
        </p:spPr>
      </p:sp>
      <p:sp>
        <p:nvSpPr>
          <p:cNvPr id="10" name="Shape 8"/>
          <p:cNvSpPr/>
          <p:nvPr/>
        </p:nvSpPr>
        <p:spPr>
          <a:xfrm>
            <a:off x="4718304" y="685800"/>
            <a:ext cx="54864" cy="685800"/>
          </a:xfrm>
          <a:prstGeom prst="rect">
            <a:avLst/>
          </a:prstGeom>
          <a:solidFill>
            <a:srgbClr val="DCBD74"/>
          </a:solidFill>
          <a:ln/>
        </p:spPr>
      </p:sp>
      <p:sp>
        <p:nvSpPr>
          <p:cNvPr id="11" name="Text 9"/>
          <p:cNvSpPr/>
          <p:nvPr/>
        </p:nvSpPr>
        <p:spPr>
          <a:xfrm>
            <a:off x="4873752" y="731520"/>
            <a:ext cx="3959352" cy="228600"/>
          </a:xfrm>
          <a:prstGeom prst="rect">
            <a:avLst/>
          </a:prstGeom>
          <a:noFill/>
          <a:ln/>
        </p:spPr>
        <p:txBody>
          <a:bodyPr wrap="square" rtlCol="0" anchor="ctr"/>
          <a:lstStyle/>
          <a:p>
            <a:pPr indent="0" marL="0">
              <a:buNone/>
            </a:pPr>
            <a:r>
              <a:rPr lang="en-US" sz="1100" b="1" dirty="0">
                <a:solidFill>
                  <a:srgbClr val="1B4332"/>
                </a:solidFill>
              </a:rPr>
              <a:t>Variables</a:t>
            </a:r>
            <a:endParaRPr lang="en-US" sz="1100" dirty="0"/>
          </a:p>
        </p:txBody>
      </p:sp>
      <p:sp>
        <p:nvSpPr>
          <p:cNvPr id="12" name="Text 10"/>
          <p:cNvSpPr/>
          <p:nvPr/>
        </p:nvSpPr>
        <p:spPr>
          <a:xfrm>
            <a:off x="4873752" y="1005840"/>
            <a:ext cx="3959352" cy="320040"/>
          </a:xfrm>
          <a:prstGeom prst="rect">
            <a:avLst/>
          </a:prstGeom>
          <a:noFill/>
          <a:ln/>
        </p:spPr>
        <p:txBody>
          <a:bodyPr wrap="square" rtlCol="0" anchor="ctr"/>
          <a:lstStyle/>
          <a:p>
            <a:pPr indent="0" marL="0">
              <a:buNone/>
            </a:pPr>
            <a:r>
              <a:rPr lang="en-US" sz="1000" dirty="0">
                <a:solidFill>
                  <a:srgbClr val="2E6B4F"/>
                </a:solidFill>
              </a:rPr>
              <a:t>Extensives (V, m) vs Intensives (T, P)</a:t>
            </a:r>
            <a:endParaRPr lang="en-US" sz="1000" dirty="0"/>
          </a:p>
        </p:txBody>
      </p:sp>
      <p:sp>
        <p:nvSpPr>
          <p:cNvPr id="13" name="Shape 11"/>
          <p:cNvSpPr/>
          <p:nvPr/>
        </p:nvSpPr>
        <p:spPr>
          <a:xfrm>
            <a:off x="301752" y="1463040"/>
            <a:ext cx="4270248" cy="685800"/>
          </a:xfrm>
          <a:prstGeom prst="rect">
            <a:avLst/>
          </a:prstGeom>
          <a:solidFill>
            <a:srgbClr val="FFFFFF"/>
          </a:solidFill>
          <a:ln w="12700">
            <a:solidFill>
              <a:srgbClr val="A8D4BC"/>
            </a:solidFill>
            <a:prstDash val="solid"/>
          </a:ln>
        </p:spPr>
      </p:sp>
      <p:sp>
        <p:nvSpPr>
          <p:cNvPr id="14" name="Shape 12"/>
          <p:cNvSpPr/>
          <p:nvPr/>
        </p:nvSpPr>
        <p:spPr>
          <a:xfrm>
            <a:off x="301752" y="1463040"/>
            <a:ext cx="54864" cy="685800"/>
          </a:xfrm>
          <a:prstGeom prst="rect">
            <a:avLst/>
          </a:prstGeom>
          <a:solidFill>
            <a:srgbClr val="DCBD74"/>
          </a:solidFill>
          <a:ln/>
        </p:spPr>
      </p:sp>
      <p:sp>
        <p:nvSpPr>
          <p:cNvPr id="15" name="Text 13"/>
          <p:cNvSpPr/>
          <p:nvPr/>
        </p:nvSpPr>
        <p:spPr>
          <a:xfrm>
            <a:off x="457200" y="1508760"/>
            <a:ext cx="3959352" cy="228600"/>
          </a:xfrm>
          <a:prstGeom prst="rect">
            <a:avLst/>
          </a:prstGeom>
          <a:noFill/>
          <a:ln/>
        </p:spPr>
        <p:txBody>
          <a:bodyPr wrap="square" rtlCol="0" anchor="ctr"/>
          <a:lstStyle/>
          <a:p>
            <a:pPr indent="0" marL="0">
              <a:buNone/>
            </a:pPr>
            <a:r>
              <a:rPr lang="en-US" sz="1100" b="1" dirty="0">
                <a:solidFill>
                  <a:srgbClr val="1B4332"/>
                </a:solidFill>
              </a:rPr>
              <a:t>Fonctions d'état</a:t>
            </a:r>
            <a:endParaRPr lang="en-US" sz="1100" dirty="0"/>
          </a:p>
        </p:txBody>
      </p:sp>
      <p:sp>
        <p:nvSpPr>
          <p:cNvPr id="16" name="Text 14"/>
          <p:cNvSpPr/>
          <p:nvPr/>
        </p:nvSpPr>
        <p:spPr>
          <a:xfrm>
            <a:off x="457200" y="1783080"/>
            <a:ext cx="3959352" cy="320040"/>
          </a:xfrm>
          <a:prstGeom prst="rect">
            <a:avLst/>
          </a:prstGeom>
          <a:noFill/>
          <a:ln/>
        </p:spPr>
        <p:txBody>
          <a:bodyPr wrap="square" rtlCol="0" anchor="ctr"/>
          <a:lstStyle/>
          <a:p>
            <a:pPr indent="0" marL="0">
              <a:buNone/>
            </a:pPr>
            <a:r>
              <a:rPr lang="en-US" sz="1000" dirty="0">
                <a:solidFill>
                  <a:srgbClr val="2E6B4F"/>
                </a:solidFill>
              </a:rPr>
              <a:t>Δf indépendant du chemin (U, H, S)</a:t>
            </a:r>
            <a:endParaRPr lang="en-US" sz="1000" dirty="0"/>
          </a:p>
        </p:txBody>
      </p:sp>
      <p:sp>
        <p:nvSpPr>
          <p:cNvPr id="17" name="Shape 15"/>
          <p:cNvSpPr/>
          <p:nvPr/>
        </p:nvSpPr>
        <p:spPr>
          <a:xfrm>
            <a:off x="4718304" y="1463040"/>
            <a:ext cx="4270248" cy="685800"/>
          </a:xfrm>
          <a:prstGeom prst="rect">
            <a:avLst/>
          </a:prstGeom>
          <a:solidFill>
            <a:srgbClr val="FFFFFF"/>
          </a:solidFill>
          <a:ln w="12700">
            <a:solidFill>
              <a:srgbClr val="A8D4BC"/>
            </a:solidFill>
            <a:prstDash val="solid"/>
          </a:ln>
        </p:spPr>
      </p:sp>
      <p:sp>
        <p:nvSpPr>
          <p:cNvPr id="18" name="Shape 16"/>
          <p:cNvSpPr/>
          <p:nvPr/>
        </p:nvSpPr>
        <p:spPr>
          <a:xfrm>
            <a:off x="4718304" y="1463040"/>
            <a:ext cx="54864" cy="685800"/>
          </a:xfrm>
          <a:prstGeom prst="rect">
            <a:avLst/>
          </a:prstGeom>
          <a:solidFill>
            <a:srgbClr val="DCBD74"/>
          </a:solidFill>
          <a:ln/>
        </p:spPr>
      </p:sp>
      <p:sp>
        <p:nvSpPr>
          <p:cNvPr id="19" name="Text 17"/>
          <p:cNvSpPr/>
          <p:nvPr/>
        </p:nvSpPr>
        <p:spPr>
          <a:xfrm>
            <a:off x="4873752" y="1508760"/>
            <a:ext cx="3959352" cy="228600"/>
          </a:xfrm>
          <a:prstGeom prst="rect">
            <a:avLst/>
          </a:prstGeom>
          <a:noFill/>
          <a:ln/>
        </p:spPr>
        <p:txBody>
          <a:bodyPr wrap="square" rtlCol="0" anchor="ctr"/>
          <a:lstStyle/>
          <a:p>
            <a:pPr indent="0" marL="0">
              <a:buNone/>
            </a:pPr>
            <a:r>
              <a:rPr lang="en-US" sz="1100" b="1" dirty="0">
                <a:solidFill>
                  <a:srgbClr val="1B4332"/>
                </a:solidFill>
              </a:rPr>
              <a:t>Transformations</a:t>
            </a:r>
            <a:endParaRPr lang="en-US" sz="1100" dirty="0"/>
          </a:p>
        </p:txBody>
      </p:sp>
      <p:sp>
        <p:nvSpPr>
          <p:cNvPr id="20" name="Text 18"/>
          <p:cNvSpPr/>
          <p:nvPr/>
        </p:nvSpPr>
        <p:spPr>
          <a:xfrm>
            <a:off x="4873752" y="1783080"/>
            <a:ext cx="3959352" cy="320040"/>
          </a:xfrm>
          <a:prstGeom prst="rect">
            <a:avLst/>
          </a:prstGeom>
          <a:noFill/>
          <a:ln/>
        </p:spPr>
        <p:txBody>
          <a:bodyPr wrap="square" rtlCol="0" anchor="ctr"/>
          <a:lstStyle/>
          <a:p>
            <a:pPr indent="0" marL="0">
              <a:buNone/>
            </a:pPr>
            <a:r>
              <a:rPr lang="en-US" sz="1000" dirty="0">
                <a:solidFill>
                  <a:srgbClr val="2E6B4F"/>
                </a:solidFill>
              </a:rPr>
              <a:t>Isochore (V=cst), Isobare (P=cst), Isotherme (T=cst), Adiabatique (Q=0)</a:t>
            </a:r>
            <a:endParaRPr lang="en-US" sz="1000" dirty="0"/>
          </a:p>
        </p:txBody>
      </p:sp>
      <p:sp>
        <p:nvSpPr>
          <p:cNvPr id="21" name="Shape 19"/>
          <p:cNvSpPr/>
          <p:nvPr/>
        </p:nvSpPr>
        <p:spPr>
          <a:xfrm>
            <a:off x="301752" y="2240280"/>
            <a:ext cx="4270248" cy="685800"/>
          </a:xfrm>
          <a:prstGeom prst="rect">
            <a:avLst/>
          </a:prstGeom>
          <a:solidFill>
            <a:srgbClr val="FFFFFF"/>
          </a:solidFill>
          <a:ln w="12700">
            <a:solidFill>
              <a:srgbClr val="A8D4BC"/>
            </a:solidFill>
            <a:prstDash val="solid"/>
          </a:ln>
        </p:spPr>
      </p:sp>
      <p:sp>
        <p:nvSpPr>
          <p:cNvPr id="22" name="Shape 20"/>
          <p:cNvSpPr/>
          <p:nvPr/>
        </p:nvSpPr>
        <p:spPr>
          <a:xfrm>
            <a:off x="301752" y="2240280"/>
            <a:ext cx="54864" cy="685800"/>
          </a:xfrm>
          <a:prstGeom prst="rect">
            <a:avLst/>
          </a:prstGeom>
          <a:solidFill>
            <a:srgbClr val="DCBD74"/>
          </a:solidFill>
          <a:ln/>
        </p:spPr>
      </p:sp>
      <p:sp>
        <p:nvSpPr>
          <p:cNvPr id="23" name="Text 21"/>
          <p:cNvSpPr/>
          <p:nvPr/>
        </p:nvSpPr>
        <p:spPr>
          <a:xfrm>
            <a:off x="457200" y="2286000"/>
            <a:ext cx="3959352" cy="228600"/>
          </a:xfrm>
          <a:prstGeom prst="rect">
            <a:avLst/>
          </a:prstGeom>
          <a:noFill/>
          <a:ln/>
        </p:spPr>
        <p:txBody>
          <a:bodyPr wrap="square" rtlCol="0" anchor="ctr"/>
          <a:lstStyle/>
          <a:p>
            <a:pPr indent="0" marL="0">
              <a:buNone/>
            </a:pPr>
            <a:r>
              <a:rPr lang="en-US" sz="1100" b="1" dirty="0">
                <a:solidFill>
                  <a:srgbClr val="1B4332"/>
                </a:solidFill>
              </a:rPr>
              <a:t>Température</a:t>
            </a:r>
            <a:endParaRPr lang="en-US" sz="1100" dirty="0"/>
          </a:p>
        </p:txBody>
      </p:sp>
      <p:sp>
        <p:nvSpPr>
          <p:cNvPr id="24" name="Text 22"/>
          <p:cNvSpPr/>
          <p:nvPr/>
        </p:nvSpPr>
        <p:spPr>
          <a:xfrm>
            <a:off x="457200" y="2560320"/>
            <a:ext cx="3959352" cy="320040"/>
          </a:xfrm>
          <a:prstGeom prst="rect">
            <a:avLst/>
          </a:prstGeom>
          <a:noFill/>
          <a:ln/>
        </p:spPr>
        <p:txBody>
          <a:bodyPr wrap="square" rtlCol="0" anchor="ctr"/>
          <a:lstStyle/>
          <a:p>
            <a:pPr indent="0" marL="0">
              <a:buNone/>
            </a:pPr>
            <a:r>
              <a:rPr lang="en-US" sz="1000" dirty="0">
                <a:solidFill>
                  <a:srgbClr val="2E6B4F"/>
                </a:solidFill>
              </a:rPr>
              <a:t>0 K = -273.15°C | Point triple eau = 273.16 K</a:t>
            </a:r>
            <a:endParaRPr lang="en-US" sz="1000" dirty="0"/>
          </a:p>
        </p:txBody>
      </p:sp>
      <p:sp>
        <p:nvSpPr>
          <p:cNvPr id="25" name="Shape 23"/>
          <p:cNvSpPr/>
          <p:nvPr/>
        </p:nvSpPr>
        <p:spPr>
          <a:xfrm>
            <a:off x="4718304" y="2240280"/>
            <a:ext cx="4270248" cy="685800"/>
          </a:xfrm>
          <a:prstGeom prst="rect">
            <a:avLst/>
          </a:prstGeom>
          <a:solidFill>
            <a:srgbClr val="FFFFFF"/>
          </a:solidFill>
          <a:ln w="12700">
            <a:solidFill>
              <a:srgbClr val="A8D4BC"/>
            </a:solidFill>
            <a:prstDash val="solid"/>
          </a:ln>
        </p:spPr>
      </p:sp>
      <p:sp>
        <p:nvSpPr>
          <p:cNvPr id="26" name="Shape 24"/>
          <p:cNvSpPr/>
          <p:nvPr/>
        </p:nvSpPr>
        <p:spPr>
          <a:xfrm>
            <a:off x="4718304" y="2240280"/>
            <a:ext cx="54864" cy="685800"/>
          </a:xfrm>
          <a:prstGeom prst="rect">
            <a:avLst/>
          </a:prstGeom>
          <a:solidFill>
            <a:srgbClr val="DCBD74"/>
          </a:solidFill>
          <a:ln/>
        </p:spPr>
      </p:sp>
      <p:sp>
        <p:nvSpPr>
          <p:cNvPr id="27" name="Text 25"/>
          <p:cNvSpPr/>
          <p:nvPr/>
        </p:nvSpPr>
        <p:spPr>
          <a:xfrm>
            <a:off x="4873752" y="2286000"/>
            <a:ext cx="3959352" cy="228600"/>
          </a:xfrm>
          <a:prstGeom prst="rect">
            <a:avLst/>
          </a:prstGeom>
          <a:noFill/>
          <a:ln/>
        </p:spPr>
        <p:txBody>
          <a:bodyPr wrap="square" rtlCol="0" anchor="ctr"/>
          <a:lstStyle/>
          <a:p>
            <a:pPr indent="0" marL="0">
              <a:buNone/>
            </a:pPr>
            <a:r>
              <a:rPr lang="en-US" sz="1100" b="1" dirty="0">
                <a:solidFill>
                  <a:srgbClr val="1B4332"/>
                </a:solidFill>
              </a:rPr>
              <a:t>Travail</a:t>
            </a:r>
            <a:endParaRPr lang="en-US" sz="1100" dirty="0"/>
          </a:p>
        </p:txBody>
      </p:sp>
      <p:sp>
        <p:nvSpPr>
          <p:cNvPr id="28" name="Text 26"/>
          <p:cNvSpPr/>
          <p:nvPr/>
        </p:nvSpPr>
        <p:spPr>
          <a:xfrm>
            <a:off x="4873752" y="2560320"/>
            <a:ext cx="3959352" cy="320040"/>
          </a:xfrm>
          <a:prstGeom prst="rect">
            <a:avLst/>
          </a:prstGeom>
          <a:noFill/>
          <a:ln/>
        </p:spPr>
        <p:txBody>
          <a:bodyPr wrap="square" rtlCol="0" anchor="ctr"/>
          <a:lstStyle/>
          <a:p>
            <a:pPr indent="0" marL="0">
              <a:buNone/>
            </a:pPr>
            <a:r>
              <a:rPr lang="en-US" sz="1000" dirty="0">
                <a:solidFill>
                  <a:srgbClr val="2E6B4F"/>
                </a:solidFill>
              </a:rPr>
              <a:t>W = -∫P dV | W isochore = 0</a:t>
            </a:r>
            <a:endParaRPr lang="en-US" sz="1000" dirty="0"/>
          </a:p>
        </p:txBody>
      </p:sp>
      <p:sp>
        <p:nvSpPr>
          <p:cNvPr id="29" name="Shape 27"/>
          <p:cNvSpPr/>
          <p:nvPr/>
        </p:nvSpPr>
        <p:spPr>
          <a:xfrm>
            <a:off x="301752" y="3017520"/>
            <a:ext cx="4270248" cy="685800"/>
          </a:xfrm>
          <a:prstGeom prst="rect">
            <a:avLst/>
          </a:prstGeom>
          <a:solidFill>
            <a:srgbClr val="FFFFFF"/>
          </a:solidFill>
          <a:ln w="12700">
            <a:solidFill>
              <a:srgbClr val="A8D4BC"/>
            </a:solidFill>
            <a:prstDash val="solid"/>
          </a:ln>
        </p:spPr>
      </p:sp>
      <p:sp>
        <p:nvSpPr>
          <p:cNvPr id="30" name="Shape 28"/>
          <p:cNvSpPr/>
          <p:nvPr/>
        </p:nvSpPr>
        <p:spPr>
          <a:xfrm>
            <a:off x="301752" y="3017520"/>
            <a:ext cx="54864" cy="685800"/>
          </a:xfrm>
          <a:prstGeom prst="rect">
            <a:avLst/>
          </a:prstGeom>
          <a:solidFill>
            <a:srgbClr val="DCBD74"/>
          </a:solidFill>
          <a:ln/>
        </p:spPr>
      </p:sp>
      <p:sp>
        <p:nvSpPr>
          <p:cNvPr id="31" name="Text 29"/>
          <p:cNvSpPr/>
          <p:nvPr/>
        </p:nvSpPr>
        <p:spPr>
          <a:xfrm>
            <a:off x="457200" y="3063240"/>
            <a:ext cx="3959352" cy="228600"/>
          </a:xfrm>
          <a:prstGeom prst="rect">
            <a:avLst/>
          </a:prstGeom>
          <a:noFill/>
          <a:ln/>
        </p:spPr>
        <p:txBody>
          <a:bodyPr wrap="square" rtlCol="0" anchor="ctr"/>
          <a:lstStyle/>
          <a:p>
            <a:pPr indent="0" marL="0">
              <a:buNone/>
            </a:pPr>
            <a:r>
              <a:rPr lang="en-US" sz="1100" b="1" dirty="0">
                <a:solidFill>
                  <a:srgbClr val="1B4332"/>
                </a:solidFill>
              </a:rPr>
              <a:t>Chaleur</a:t>
            </a:r>
            <a:endParaRPr lang="en-US" sz="1100" dirty="0"/>
          </a:p>
        </p:txBody>
      </p:sp>
      <p:sp>
        <p:nvSpPr>
          <p:cNvPr id="32" name="Text 30"/>
          <p:cNvSpPr/>
          <p:nvPr/>
        </p:nvSpPr>
        <p:spPr>
          <a:xfrm>
            <a:off x="457200" y="3337560"/>
            <a:ext cx="3959352" cy="320040"/>
          </a:xfrm>
          <a:prstGeom prst="rect">
            <a:avLst/>
          </a:prstGeom>
          <a:noFill/>
          <a:ln/>
        </p:spPr>
        <p:txBody>
          <a:bodyPr wrap="square" rtlCol="0" anchor="ctr"/>
          <a:lstStyle/>
          <a:p>
            <a:pPr indent="0" marL="0">
              <a:buNone/>
            </a:pPr>
            <a:r>
              <a:rPr lang="en-US" sz="1000" dirty="0">
                <a:solidFill>
                  <a:srgbClr val="2E6B4F"/>
                </a:solidFill>
              </a:rPr>
              <a:t>Q = mcΔT (sensible) | Q = mL (latente)</a:t>
            </a:r>
            <a:endParaRPr lang="en-US" sz="1000" dirty="0"/>
          </a:p>
        </p:txBody>
      </p:sp>
      <p:sp>
        <p:nvSpPr>
          <p:cNvPr id="33" name="Shape 31"/>
          <p:cNvSpPr/>
          <p:nvPr/>
        </p:nvSpPr>
        <p:spPr>
          <a:xfrm>
            <a:off x="4718304" y="3017520"/>
            <a:ext cx="4270248" cy="685800"/>
          </a:xfrm>
          <a:prstGeom prst="rect">
            <a:avLst/>
          </a:prstGeom>
          <a:solidFill>
            <a:srgbClr val="FFFFFF"/>
          </a:solidFill>
          <a:ln w="12700">
            <a:solidFill>
              <a:srgbClr val="A8D4BC"/>
            </a:solidFill>
            <a:prstDash val="solid"/>
          </a:ln>
        </p:spPr>
      </p:sp>
      <p:sp>
        <p:nvSpPr>
          <p:cNvPr id="34" name="Shape 32"/>
          <p:cNvSpPr/>
          <p:nvPr/>
        </p:nvSpPr>
        <p:spPr>
          <a:xfrm>
            <a:off x="4718304" y="3017520"/>
            <a:ext cx="54864" cy="685800"/>
          </a:xfrm>
          <a:prstGeom prst="rect">
            <a:avLst/>
          </a:prstGeom>
          <a:solidFill>
            <a:srgbClr val="DCBD74"/>
          </a:solidFill>
          <a:ln/>
        </p:spPr>
      </p:sp>
      <p:sp>
        <p:nvSpPr>
          <p:cNvPr id="35" name="Text 33"/>
          <p:cNvSpPr/>
          <p:nvPr/>
        </p:nvSpPr>
        <p:spPr>
          <a:xfrm>
            <a:off x="4873752" y="3063240"/>
            <a:ext cx="3959352" cy="228600"/>
          </a:xfrm>
          <a:prstGeom prst="rect">
            <a:avLst/>
          </a:prstGeom>
          <a:noFill/>
          <a:ln/>
        </p:spPr>
        <p:txBody>
          <a:bodyPr wrap="square" rtlCol="0" anchor="ctr"/>
          <a:lstStyle/>
          <a:p>
            <a:pPr indent="0" marL="0">
              <a:buNone/>
            </a:pPr>
            <a:r>
              <a:rPr lang="en-US" sz="1100" b="1" dirty="0">
                <a:solidFill>
                  <a:srgbClr val="1B4332"/>
                </a:solidFill>
              </a:rPr>
              <a:t>Calorimétrie</a:t>
            </a:r>
            <a:endParaRPr lang="en-US" sz="1100" dirty="0"/>
          </a:p>
        </p:txBody>
      </p:sp>
      <p:sp>
        <p:nvSpPr>
          <p:cNvPr id="36" name="Text 34"/>
          <p:cNvSpPr/>
          <p:nvPr/>
        </p:nvSpPr>
        <p:spPr>
          <a:xfrm>
            <a:off x="4873752" y="3337560"/>
            <a:ext cx="3959352" cy="320040"/>
          </a:xfrm>
          <a:prstGeom prst="rect">
            <a:avLst/>
          </a:prstGeom>
          <a:noFill/>
          <a:ln/>
        </p:spPr>
        <p:txBody>
          <a:bodyPr wrap="square" rtlCol="0" anchor="ctr"/>
          <a:lstStyle/>
          <a:p>
            <a:pPr indent="0" marL="0">
              <a:buNone/>
            </a:pPr>
            <a:r>
              <a:rPr lang="en-US" sz="1000" dirty="0">
                <a:solidFill>
                  <a:srgbClr val="2E6B4F"/>
                </a:solidFill>
              </a:rPr>
              <a:t>ΣQi = 0 (système isolé)</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22D1F"/>
          </a:solidFill>
          <a:ln/>
        </p:spPr>
      </p:sp>
      <p:sp>
        <p:nvSpPr>
          <p:cNvPr id="3" name="Shape 1"/>
          <p:cNvSpPr/>
          <p:nvPr/>
        </p:nvSpPr>
        <p:spPr>
          <a:xfrm>
            <a:off x="0" y="0"/>
            <a:ext cx="9144000" cy="54864"/>
          </a:xfrm>
          <a:prstGeom prst="rect">
            <a:avLst/>
          </a:prstGeom>
          <a:solidFill>
            <a:srgbClr val="DCBD74"/>
          </a:solidFill>
          <a:ln/>
        </p:spPr>
      </p:sp>
      <p:sp>
        <p:nvSpPr>
          <p:cNvPr id="4" name="Shape 2"/>
          <p:cNvSpPr/>
          <p:nvPr/>
        </p:nvSpPr>
        <p:spPr>
          <a:xfrm>
            <a:off x="4434840" y="1188720"/>
            <a:ext cx="128016" cy="128016"/>
          </a:xfrm>
          <a:prstGeom prst="ellipse">
            <a:avLst/>
          </a:prstGeom>
          <a:solidFill>
            <a:srgbClr val="DCBD74"/>
          </a:solidFill>
          <a:ln/>
        </p:spPr>
      </p:sp>
      <p:sp>
        <p:nvSpPr>
          <p:cNvPr id="5" name="Text 3"/>
          <p:cNvSpPr/>
          <p:nvPr/>
        </p:nvSpPr>
        <p:spPr>
          <a:xfrm>
            <a:off x="457200" y="1463040"/>
            <a:ext cx="8229600" cy="457200"/>
          </a:xfrm>
          <a:prstGeom prst="rect">
            <a:avLst/>
          </a:prstGeom>
          <a:noFill/>
          <a:ln/>
        </p:spPr>
        <p:txBody>
          <a:bodyPr wrap="square" rtlCol="0" anchor="ctr"/>
          <a:lstStyle/>
          <a:p>
            <a:pPr algn="ctr" indent="0" marL="0">
              <a:buNone/>
            </a:pPr>
            <a:r>
              <a:rPr lang="en-US" sz="3200" b="1" dirty="0">
                <a:solidFill>
                  <a:srgbClr val="FFFFFF"/>
                </a:solidFill>
              </a:rPr>
              <a:t>Conclusion</a:t>
            </a:r>
            <a:endParaRPr lang="en-US" sz="3200" dirty="0"/>
          </a:p>
        </p:txBody>
      </p:sp>
      <p:sp>
        <p:nvSpPr>
          <p:cNvPr id="6" name="Shape 4"/>
          <p:cNvSpPr/>
          <p:nvPr/>
        </p:nvSpPr>
        <p:spPr>
          <a:xfrm>
            <a:off x="3657600" y="2011680"/>
            <a:ext cx="1828800" cy="36576"/>
          </a:xfrm>
          <a:prstGeom prst="rect">
            <a:avLst/>
          </a:prstGeom>
          <a:solidFill>
            <a:srgbClr val="DCBD74"/>
          </a:solidFill>
          <a:ln/>
        </p:spPr>
      </p:sp>
      <p:sp>
        <p:nvSpPr>
          <p:cNvPr id="7" name="Text 5"/>
          <p:cNvSpPr/>
          <p:nvPr/>
        </p:nvSpPr>
        <p:spPr>
          <a:xfrm>
            <a:off x="457200" y="2286000"/>
            <a:ext cx="8229600" cy="1371600"/>
          </a:xfrm>
          <a:prstGeom prst="rect">
            <a:avLst/>
          </a:prstGeom>
          <a:noFill/>
          <a:ln/>
        </p:spPr>
        <p:txBody>
          <a:bodyPr wrap="square" rtlCol="0" anchor="ctr"/>
          <a:lstStyle/>
          <a:p>
            <a:pPr algn="ctr" indent="0" marL="0">
              <a:buNone/>
            </a:pPr>
            <a:r>
              <a:rPr lang="en-US" sz="1600" dirty="0">
                <a:solidFill>
                  <a:srgbClr val="7EC8B0"/>
                </a:solidFill>
              </a:rPr>
              <a:t>La thermodynamique est une science universelle</a:t>
            </a:r>
            <a:endParaRPr lang="en-US" sz="1600" dirty="0"/>
          </a:p>
          <a:p>
            <a:pPr algn="ctr" indent="0" marL="0">
              <a:buNone/>
            </a:pPr>
            <a:r>
              <a:rPr lang="en-US" sz="1600" dirty="0">
                <a:solidFill>
                  <a:srgbClr val="7EC8B0"/>
                </a:solidFill>
              </a:rPr>
              <a:t>qui repose sur des principes simples mais fondamentaux.</a:t>
            </a:r>
            <a:endParaRPr lang="en-US" sz="1600" dirty="0"/>
          </a:p>
          <a:p>
            <a:pPr algn="ctr" indent="0" marL="0">
              <a:buNone/>
            </a:pPr>
            <a:endParaRPr lang="en-US" sz="1600" dirty="0"/>
          </a:p>
          <a:p>
            <a:pPr algn="ctr" indent="0" marL="0">
              <a:buNone/>
            </a:pPr>
            <a:r>
              <a:rPr lang="en-US" sz="1600" dirty="0">
                <a:solidFill>
                  <a:srgbClr val="7EC8B0"/>
                </a:solidFill>
              </a:rPr>
              <a:t>Elle permet de comprendre les transformations</a:t>
            </a:r>
            <a:endParaRPr lang="en-US" sz="1600" dirty="0"/>
          </a:p>
          <a:p>
            <a:pPr algn="ctr" indent="0" marL="0">
              <a:buNone/>
            </a:pPr>
            <a:r>
              <a:rPr lang="en-US" sz="1600" dirty="0">
                <a:solidFill>
                  <a:srgbClr val="7EC8B0"/>
                </a:solidFill>
              </a:rPr>
              <a:t>de la matière et de l'énergie dans les systèmes physiques.</a:t>
            </a:r>
            <a:endParaRPr lang="en-US" sz="1600" dirty="0"/>
          </a:p>
        </p:txBody>
      </p:sp>
      <p:sp>
        <p:nvSpPr>
          <p:cNvPr id="8" name="Text 6"/>
          <p:cNvSpPr/>
          <p:nvPr/>
        </p:nvSpPr>
        <p:spPr>
          <a:xfrm>
            <a:off x="457200" y="3749040"/>
            <a:ext cx="8229600" cy="731520"/>
          </a:xfrm>
          <a:prstGeom prst="rect">
            <a:avLst/>
          </a:prstGeom>
          <a:noFill/>
          <a:ln/>
        </p:spPr>
        <p:txBody>
          <a:bodyPr wrap="square" rtlCol="0" anchor="ctr"/>
          <a:lstStyle/>
          <a:p>
            <a:pPr algn="ctr" indent="0" marL="0">
              <a:buNone/>
            </a:pPr>
            <a:r>
              <a:rPr lang="en-US" sz="1300" i="1" dirty="0">
                <a:solidFill>
                  <a:srgbClr val="60A882"/>
                </a:solidFill>
              </a:rPr>
              <a:t>Les notions de différentielle totale et de forme différentielle</a:t>
            </a:r>
            <a:endParaRPr lang="en-US" sz="1300" dirty="0"/>
          </a:p>
          <a:p>
            <a:pPr algn="ctr" indent="0" marL="0">
              <a:buNone/>
            </a:pPr>
            <a:r>
              <a:rPr lang="en-US" sz="1300" i="1" dirty="0">
                <a:solidFill>
                  <a:srgbClr val="60A882"/>
                </a:solidFill>
              </a:rPr>
              <a:t>sont essentielles pour analyser les variations</a:t>
            </a:r>
            <a:endParaRPr lang="en-US" sz="1300" dirty="0"/>
          </a:p>
          <a:p>
            <a:pPr algn="ctr" indent="0" marL="0">
              <a:buNone/>
            </a:pPr>
            <a:r>
              <a:rPr lang="en-US" sz="1300" i="1" dirty="0">
                <a:solidFill>
                  <a:srgbClr val="60A882"/>
                </a:solidFill>
              </a:rPr>
              <a:t>des grandeurs physiques et thermodynamiques.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Thermodynamique - Cours Complet</dc:title>
  <dc:subject>PptxGenJS Presentation</dc:subject>
  <dc:creator>Cours de Thermodynamique</dc:creator>
  <cp:lastModifiedBy>Cours de Thermodynamique</cp:lastModifiedBy>
  <cp:revision>1</cp:revision>
  <dcterms:created xsi:type="dcterms:W3CDTF">2026-04-13T14:37:15Z</dcterms:created>
  <dcterms:modified xsi:type="dcterms:W3CDTF">2026-04-13T14:37:15Z</dcterms:modified>
</cp:coreProperties>
</file>