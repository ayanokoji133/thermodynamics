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_rels/presentation.xml.rels" ContentType="application/vnd.openxmlformats-package.relationships+xml"/>
  <Override PartName="/ppt/media/image56.emf" ContentType="image/x-emf"/>
  <Override PartName="/ppt/media/image55.emf" ContentType="image/x-emf"/>
  <Override PartName="/ppt/media/image54.emf" ContentType="image/x-emf"/>
  <Override PartName="/ppt/media/image11.emf" ContentType="image/x-emf"/>
  <Override PartName="/ppt/media/image2.emf" ContentType="image/x-emf"/>
  <Override PartName="/ppt/media/image39.emf" ContentType="image/x-emf"/>
  <Override PartName="/ppt/media/image37.png" ContentType="image/png"/>
  <Override PartName="/ppt/media/image7.emf" ContentType="image/x-emf"/>
  <Override PartName="/ppt/media/image16.emf" ContentType="image/x-emf"/>
  <Override PartName="/ppt/media/image14.png" ContentType="image/png"/>
  <Override PartName="/ppt/media/image13.png" ContentType="image/png"/>
  <Override PartName="/ppt/media/image47.emf" ContentType="image/x-emf"/>
  <Override PartName="/ppt/media/image10.emf" ContentType="image/x-emf"/>
  <Override PartName="/ppt/media/image6.emf" ContentType="image/x-emf"/>
  <Override PartName="/ppt/media/image36.png" ContentType="image/png"/>
  <Override PartName="/ppt/media/image4.emf" ContentType="image/x-emf"/>
  <Override PartName="/ppt/media/image15.png" ContentType="image/png"/>
  <Override PartName="/ppt/media/image17.png" ContentType="image/png"/>
  <Override PartName="/ppt/media/image19.emf" ContentType="image/x-emf"/>
  <Override PartName="/ppt/media/image62.jpeg" ContentType="image/jpeg"/>
  <Override PartName="/ppt/media/image27.emf" ContentType="image/x-emf"/>
  <Override PartName="/ppt/media/image61.jpeg" ContentType="image/jpeg"/>
  <Override PartName="/ppt/media/image29.emf" ContentType="image/x-emf"/>
  <Override PartName="/ppt/media/image28.emf" ContentType="image/x-emf"/>
  <Override PartName="/ppt/media/image38.png" ContentType="image/png"/>
  <Override PartName="/ppt/media/image26.emf" ContentType="image/x-emf"/>
  <Override PartName="/ppt/media/image25.emf" ContentType="image/x-emf"/>
  <Override PartName="/ppt/media/image24.emf" ContentType="image/x-emf"/>
  <Override PartName="/ppt/media/image22.emf" ContentType="image/x-emf"/>
  <Override PartName="/ppt/media/image23.emf" ContentType="image/x-emf"/>
  <Override PartName="/ppt/media/image58.emf" ContentType="image/x-emf"/>
  <Override PartName="/ppt/media/image21.emf" ContentType="image/x-emf"/>
  <Override PartName="/ppt/media/image8.emf" ContentType="image/x-emf"/>
  <Override PartName="/ppt/media/image33.png" ContentType="image/png"/>
  <Override PartName="/ppt/media/image3.emf" ContentType="image/x-emf"/>
  <Override PartName="/ppt/media/image12.emf" ContentType="image/x-emf"/>
  <Override PartName="/ppt/media/image1.jpeg" ContentType="image/jpeg"/>
  <Override PartName="/ppt/media/image20.emf" ContentType="image/x-emf"/>
  <Override PartName="/ppt/media/image57.emf" ContentType="image/x-emf"/>
  <Override PartName="/ppt/media/image34.png" ContentType="image/png"/>
  <Override PartName="/ppt/media/image18.emf" ContentType="image/x-emf"/>
  <Override PartName="/ppt/media/image9.emf" ContentType="image/x-emf"/>
  <Override PartName="/ppt/media/image5.emf" ContentType="image/x-emf"/>
  <Override PartName="/ppt/media/image30.png" ContentType="image/png"/>
  <Override PartName="/ppt/media/image31.emf" ContentType="image/x-emf"/>
  <Override PartName="/ppt/media/image59.emf" ContentType="image/x-emf"/>
  <Override PartName="/ppt/media/image32.wmf" ContentType="image/x-wmf"/>
  <Override PartName="/ppt/media/image49.emf" ContentType="image/x-emf"/>
  <Override PartName="/ppt/media/image35.jpeg" ContentType="image/jpeg"/>
  <Override PartName="/ppt/media/image40.emf" ContentType="image/x-emf"/>
  <Override PartName="/ppt/media/image41.emf" ContentType="image/x-emf"/>
  <Override PartName="/ppt/media/image42.emf" ContentType="image/x-emf"/>
  <Override PartName="/ppt/media/image43.emf" ContentType="image/x-emf"/>
  <Override PartName="/ppt/media/image60.png" ContentType="image/png"/>
  <Override PartName="/ppt/media/image44.emf" ContentType="image/x-emf"/>
  <Override PartName="/ppt/media/image45.emf" ContentType="image/x-emf"/>
  <Override PartName="/ppt/media/image46.emf" ContentType="image/x-emf"/>
  <Override PartName="/ppt/media/image48.png" ContentType="image/png"/>
  <Override PartName="/ppt/media/image50.emf" ContentType="image/x-emf"/>
  <Override PartName="/ppt/media/image51.emf" ContentType="image/x-emf"/>
  <Override PartName="/ppt/media/image52.emf" ContentType="image/x-emf"/>
  <Override PartName="/ppt/media/image53.emf" ContentType="image/x-emf"/>
  <Override PartName="/ppt/embeddings/oleObject1.docx" ContentType="application/vnd.openxmlformats-officedocument.wordprocessingml.document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78320D-3384-4D51-A22E-58F4372E6E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43DEF5-AF4A-492E-B04F-14578682C4E4}" type="slidenum">
              <a: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emf"/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5.emf"/><Relationship Id="rId6" Type="http://schemas.openxmlformats.org/officeDocument/2006/relationships/image" Target="../media/image6.emf"/><Relationship Id="rId7" Type="http://schemas.openxmlformats.org/officeDocument/2006/relationships/image" Target="../media/image7.emf"/><Relationship Id="rId8" Type="http://schemas.openxmlformats.org/officeDocument/2006/relationships/image" Target="../media/image8.emf"/><Relationship Id="rId9" Type="http://schemas.openxmlformats.org/officeDocument/2006/relationships/image" Target="../media/image9.emf"/><Relationship Id="rId10" Type="http://schemas.openxmlformats.org/officeDocument/2006/relationships/image" Target="../media/image10.emf"/><Relationship Id="rId1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1.emf"/><Relationship Id="rId3" Type="http://schemas.openxmlformats.org/officeDocument/2006/relationships/image" Target="../media/image12.emf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1.emf"/><Relationship Id="rId3" Type="http://schemas.openxmlformats.org/officeDocument/2006/relationships/image" Target="../media/image16.emf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emf"/><Relationship Id="rId2" Type="http://schemas.openxmlformats.org/officeDocument/2006/relationships/image" Target="../media/image19.emf"/><Relationship Id="rId3" Type="http://schemas.openxmlformats.org/officeDocument/2006/relationships/image" Target="../media/image20.emf"/><Relationship Id="rId4" Type="http://schemas.openxmlformats.org/officeDocument/2006/relationships/image" Target="../media/image21.emf"/><Relationship Id="rId5" Type="http://schemas.openxmlformats.org/officeDocument/2006/relationships/image" Target="../media/image22.emf"/><Relationship Id="rId6" Type="http://schemas.openxmlformats.org/officeDocument/2006/relationships/image" Target="../media/image23.emf"/><Relationship Id="rId7" Type="http://schemas.openxmlformats.org/officeDocument/2006/relationships/image" Target="../media/image24.emf"/><Relationship Id="rId8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emf"/><Relationship Id="rId2" Type="http://schemas.openxmlformats.org/officeDocument/2006/relationships/image" Target="../media/image19.emf"/><Relationship Id="rId3" Type="http://schemas.openxmlformats.org/officeDocument/2006/relationships/image" Target="../media/image26.emf"/><Relationship Id="rId4" Type="http://schemas.openxmlformats.org/officeDocument/2006/relationships/image" Target="../media/image27.emf"/><Relationship Id="rId5" Type="http://schemas.openxmlformats.org/officeDocument/2006/relationships/image" Target="../media/image28.emf"/><Relationship Id="rId6" Type="http://schemas.openxmlformats.org/officeDocument/2006/relationships/image" Target="../media/image29.emf"/><Relationship Id="rId7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emf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32.wmf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29.emf"/><Relationship Id="rId5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9.emf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0.emf"/><Relationship Id="rId2" Type="http://schemas.openxmlformats.org/officeDocument/2006/relationships/image" Target="../media/image41.emf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2.emf"/><Relationship Id="rId2" Type="http://schemas.openxmlformats.org/officeDocument/2006/relationships/image" Target="../media/image43.emf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4.emf"/><Relationship Id="rId2" Type="http://schemas.openxmlformats.org/officeDocument/2006/relationships/image" Target="../media/image45.emf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6.emf"/><Relationship Id="rId2" Type="http://schemas.openxmlformats.org/officeDocument/2006/relationships/image" Target="../media/image46.emf"/><Relationship Id="rId3" Type="http://schemas.openxmlformats.org/officeDocument/2006/relationships/image" Target="../media/image47.emf"/><Relationship Id="rId4" Type="http://schemas.openxmlformats.org/officeDocument/2006/relationships/image" Target="../media/image48.png"/><Relationship Id="rId5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9.emf"/><Relationship Id="rId2" Type="http://schemas.openxmlformats.org/officeDocument/2006/relationships/image" Target="../media/image50.emf"/><Relationship Id="rId3" Type="http://schemas.openxmlformats.org/officeDocument/2006/relationships/image" Target="../media/image51.emf"/><Relationship Id="rId4" Type="http://schemas.openxmlformats.org/officeDocument/2006/relationships/image" Target="../media/image52.emf"/><Relationship Id="rId5" Type="http://schemas.openxmlformats.org/officeDocument/2006/relationships/image" Target="../media/image53.emf"/><Relationship Id="rId6" Type="http://schemas.openxmlformats.org/officeDocument/2006/relationships/image" Target="../media/image54.emf"/><Relationship Id="rId7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55.emf"/><Relationship Id="rId2" Type="http://schemas.openxmlformats.org/officeDocument/2006/relationships/image" Target="../media/image56.emf"/><Relationship Id="rId3" Type="http://schemas.openxmlformats.org/officeDocument/2006/relationships/image" Target="../media/image57.emf"/><Relationship Id="rId4" Type="http://schemas.openxmlformats.org/officeDocument/2006/relationships/image" Target="../media/image58.emf"/><Relationship Id="rId5" Type="http://schemas.openxmlformats.org/officeDocument/2006/relationships/image" Target="../media/image59.emf"/><Relationship Id="rId6" Type="http://schemas.openxmlformats.org/officeDocument/2006/relationships/image" Target="../media/image60.png"/><Relationship Id="rId7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image" Target="../media/image62.jpeg"/><Relationship Id="rId3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6"/>
          <p:cNvSpPr/>
          <p:nvPr/>
        </p:nvSpPr>
        <p:spPr>
          <a:xfrm>
            <a:off x="0" y="257184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Séance 2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3598920"/>
            <a:ext cx="9144000" cy="27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69640" rIns="90000" tIns="25560" bIns="2556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67788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Cours : Température, Dilatation thermique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67788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La température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67788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Les échelles de température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67788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Le principe zéro de la thermodynamique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67788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La dilatation thermique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67788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TD : Exercices d'application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67788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Travail personnel :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67788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Lectures des notes de cours.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67788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Exercice à rendre.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Picture 3" descr="celcuis%20thermometers"/>
          <p:cNvPicPr/>
          <p:nvPr/>
        </p:nvPicPr>
        <p:blipFill>
          <a:blip r:embed="rId1"/>
          <a:stretch/>
        </p:blipFill>
        <p:spPr>
          <a:xfrm>
            <a:off x="3714840" y="1071720"/>
            <a:ext cx="1555560" cy="571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ZoneTexte 27"/>
          <p:cNvSpPr/>
          <p:nvPr/>
        </p:nvSpPr>
        <p:spPr>
          <a:xfrm>
            <a:off x="1714680" y="2357280"/>
            <a:ext cx="142848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96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?</a:t>
            </a:r>
            <a:endParaRPr b="0" lang="en-US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ZoneTexte 29"/>
          <p:cNvSpPr/>
          <p:nvPr/>
        </p:nvSpPr>
        <p:spPr>
          <a:xfrm>
            <a:off x="6286680" y="2357280"/>
            <a:ext cx="142848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96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?</a:t>
            </a:r>
            <a:endParaRPr b="0" lang="en-US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ZoneTexte 35"/>
          <p:cNvSpPr/>
          <p:nvPr/>
        </p:nvSpPr>
        <p:spPr>
          <a:xfrm>
            <a:off x="508320" y="1214280"/>
            <a:ext cx="2863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92d050"/>
                </a:solidFill>
                <a:effectLst/>
                <a:uFillTx/>
                <a:latin typeface="Calibri"/>
              </a:rPr>
              <a:t>Echelles thermodynamiques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30"/>
          <p:cNvSpPr/>
          <p:nvPr/>
        </p:nvSpPr>
        <p:spPr>
          <a:xfrm>
            <a:off x="0" y="2500200"/>
            <a:ext cx="3643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BE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Variables d’état indépendantes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Box 22"/>
          <p:cNvSpPr/>
          <p:nvPr/>
        </p:nvSpPr>
        <p:spPr>
          <a:xfrm>
            <a:off x="4572000" y="2143080"/>
            <a:ext cx="1360440" cy="770040"/>
          </a:xfrm>
          <a:prstGeom prst="rect">
            <a:avLst/>
          </a:prstGeom>
          <a:solidFill>
            <a:srgbClr val="99c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1480" rIns="51480" tIns="25560" bIns="25560" anchor="t">
            <a:normAutofit/>
          </a:bodyPr>
          <a:p>
            <a:pPr algn="ctr">
              <a:lnSpc>
                <a:spcPct val="100000"/>
              </a:lnSpc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(x, y)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ZoneTexte 42"/>
          <p:cNvSpPr/>
          <p:nvPr/>
        </p:nvSpPr>
        <p:spPr>
          <a:xfrm>
            <a:off x="4721040" y="3000240"/>
            <a:ext cx="1133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Système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necteur droit avec flèche 44"/>
          <p:cNvCxnSpPr/>
          <p:nvPr/>
        </p:nvCxnSpPr>
        <p:spPr>
          <a:xfrm flipV="1">
            <a:off x="3357360" y="2428200"/>
            <a:ext cx="1572120" cy="14364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</p:cxnSp>
      <p:sp>
        <p:nvSpPr>
          <p:cNvPr id="66" name="ZoneTexte 46"/>
          <p:cNvSpPr/>
          <p:nvPr/>
        </p:nvSpPr>
        <p:spPr>
          <a:xfrm>
            <a:off x="29160" y="3643200"/>
            <a:ext cx="3382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 x et y demeurent  constantes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lèche droite 47"/>
          <p:cNvSpPr/>
          <p:nvPr/>
        </p:nvSpPr>
        <p:spPr>
          <a:xfrm>
            <a:off x="3571920" y="3643200"/>
            <a:ext cx="500040" cy="428760"/>
          </a:xfrm>
          <a:prstGeom prst="rightArrow">
            <a:avLst>
              <a:gd name="adj1" fmla="val 50000"/>
              <a:gd name="adj2" fmla="val 49981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ZoneTexte 48"/>
          <p:cNvSpPr/>
          <p:nvPr/>
        </p:nvSpPr>
        <p:spPr>
          <a:xfrm>
            <a:off x="4071960" y="3500280"/>
            <a:ext cx="50720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Le système est en équilibre thermodynamique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La température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=f(x, y) ( exemple :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=f(P,V) 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ZoneTexte 49"/>
          <p:cNvSpPr/>
          <p:nvPr/>
        </p:nvSpPr>
        <p:spPr>
          <a:xfrm>
            <a:off x="-103320" y="4500720"/>
            <a:ext cx="9610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 thermomètre: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 un système où l’on maintient constante l’une des variables (exemple y) 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Box 22"/>
          <p:cNvSpPr/>
          <p:nvPr/>
        </p:nvSpPr>
        <p:spPr>
          <a:xfrm>
            <a:off x="4071960" y="4929120"/>
            <a:ext cx="2000160" cy="770040"/>
          </a:xfrm>
          <a:prstGeom prst="rect">
            <a:avLst/>
          </a:prstGeom>
          <a:solidFill>
            <a:srgbClr val="99c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1480" rIns="51480" tIns="25560" bIns="25560" anchor="t">
            <a:normAutofit/>
          </a:bodyPr>
          <a:p>
            <a:pPr algn="ctr">
              <a:lnSpc>
                <a:spcPct val="100000"/>
              </a:lnSpc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(x(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), y=Cst)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Box 15"/>
          <p:cNvSpPr/>
          <p:nvPr/>
        </p:nvSpPr>
        <p:spPr>
          <a:xfrm>
            <a:off x="6129360" y="4906800"/>
            <a:ext cx="1071720" cy="808200"/>
          </a:xfrm>
          <a:prstGeom prst="rect">
            <a:avLst/>
          </a:prstGeom>
          <a:solidFill>
            <a:srgbClr val="cc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1480" rIns="51480" tIns="25560" bIns="25560" anchor="t">
            <a:normAutofit/>
          </a:bodyPr>
          <a:p>
            <a:pPr algn="ctr">
              <a:lnSpc>
                <a:spcPct val="100000"/>
              </a:lnSpc>
              <a:spcAft>
                <a:spcPts val="10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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ZoneTexte 54"/>
          <p:cNvSpPr/>
          <p:nvPr/>
        </p:nvSpPr>
        <p:spPr>
          <a:xfrm>
            <a:off x="7935480" y="4929120"/>
            <a:ext cx="9914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=f(x)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lèche droite 55"/>
          <p:cNvSpPr/>
          <p:nvPr/>
        </p:nvSpPr>
        <p:spPr>
          <a:xfrm>
            <a:off x="7429680" y="5000760"/>
            <a:ext cx="500040" cy="428400"/>
          </a:xfrm>
          <a:prstGeom prst="rightArrow">
            <a:avLst>
              <a:gd name="adj1" fmla="val 50000"/>
              <a:gd name="adj2" fmla="val 50023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ZoneTexte 56"/>
          <p:cNvSpPr/>
          <p:nvPr/>
        </p:nvSpPr>
        <p:spPr>
          <a:xfrm>
            <a:off x="432000" y="5786280"/>
            <a:ext cx="6012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 : Volume, pression, résistance, ddp, flux, capacité C, 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ZoneTexte 61"/>
          <p:cNvSpPr/>
          <p:nvPr/>
        </p:nvSpPr>
        <p:spPr>
          <a:xfrm>
            <a:off x="563760" y="6357960"/>
            <a:ext cx="5299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relation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=f(x) définit l’échelle des températures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nodeType="clickEffect" fill="hold">
                      <p:stCondLst>
                        <p:cond delay="indefinite"/>
                      </p:stCondLst>
                      <p:childTnLst>
                        <p:par>
                          <p:cTn id="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nodeType="clickEffect" fill="hold">
                      <p:stCondLst>
                        <p:cond delay="indefinite"/>
                      </p:stCondLst>
                      <p:childTnLst>
                        <p:par>
                          <p:cTn id="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nodeType="clickEffect" fill="hold">
                      <p:stCondLst>
                        <p:cond delay="indefinite"/>
                      </p:stCondLst>
                      <p:childTnLst>
                        <p:par>
                          <p:cTn id="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nodeType="after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nodeType="clickEffect" fill="hold">
                      <p:stCondLst>
                        <p:cond delay="indefinite"/>
                      </p:stCondLst>
                      <p:childTnLst>
                        <p:par>
                          <p:cTn id="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nodeType="clickEffect" fill="hold">
                      <p:stCondLst>
                        <p:cond delay="indefinite"/>
                      </p:stCondLst>
                      <p:childTnLst>
                        <p:par>
                          <p:cTn id="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nodeType="clickEffect" fill="hold">
                      <p:stCondLst>
                        <p:cond delay="indefinite"/>
                      </p:stCondLst>
                      <p:childTnLst>
                        <p:par>
                          <p:cTn id="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nodeType="clickEffect" fill="hold">
                      <p:stCondLst>
                        <p:cond delay="indefinite"/>
                      </p:stCondLst>
                      <p:childTnLst>
                        <p:par>
                          <p:cTn id="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3"/>
          <p:cNvSpPr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Dilatation thermique : Thermomètre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Résistance : Thermomètre à résistance et thermistance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Effet thermoélectrique : Thermocouple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Effet du rayonnement thermique : Mesures optiques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……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457200" y="114300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Capteurs de 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56" dur="indefinite" restart="never" nodeType="tmRoot">
          <p:childTnLst>
            <p:seq>
              <p:cTn id="57" dur="indefinite" nodeType="mainSeq">
                <p:childTnLst>
                  <p:par>
                    <p:cTn id="58" nodeType="clickEffect" fill="hold">
                      <p:stCondLst>
                        <p:cond delay="indefinite"/>
                      </p:stCondLst>
                      <p:childTnLst>
                        <p:par>
                          <p:cTn id="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5" presetSubtype="5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62" dur="300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nodeType="clickEffect" fill="hold">
                      <p:stCondLst>
                        <p:cond delay="indefinite"/>
                      </p:stCondLst>
                      <p:childTnLst>
                        <p:par>
                          <p:cTn id="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5" presetSubtype="5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67" dur="300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nodeType="clickEffect" fill="hold">
                      <p:stCondLst>
                        <p:cond delay="indefinite"/>
                      </p:stCondLst>
                      <p:childTnLst>
                        <p:par>
                          <p:cTn id="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5" presetSubtype="5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72" dur="300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nodeType="clickEffect" fill="hold">
                      <p:stCondLst>
                        <p:cond delay="indefinite"/>
                      </p:stCondLst>
                      <p:childTnLst>
                        <p:par>
                          <p:cTn id="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5" presetSubtype="5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77" dur="300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nodeType="clickEffect" fill="hold">
                      <p:stCondLst>
                        <p:cond delay="indefinite"/>
                      </p:stCondLst>
                      <p:childTnLst>
                        <p:par>
                          <p:cTn id="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5" presetSubtype="5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82" dur="300"/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Picture 3" descr="celcuis%20thermometers"/>
          <p:cNvPicPr/>
          <p:nvPr/>
        </p:nvPicPr>
        <p:blipFill>
          <a:blip r:embed="rId1"/>
          <a:stretch/>
        </p:blipFill>
        <p:spPr>
          <a:xfrm>
            <a:off x="7429680" y="1143000"/>
            <a:ext cx="1555560" cy="571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2" name="Object 1"/>
              <p:cNvSpPr txBox="1"/>
              <p:nvPr/>
            </p:nvSpPr>
            <p:spPr>
              <a:xfrm>
                <a:off x="500040" y="3643200"/>
                <a:ext cx="2914560" cy="1214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θ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V</m:t>
                        </m:r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100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</m:den>
                    </m:f>
                    <m:r>
                      <m:rPr>
                        <m:lit/>
                        <m:nor/>
                      </m:rPr>
                      <m:t xml:space="preserve">100</m:t>
                    </m:r>
                  </m:oMath>
                </a14:m>
              </a:p>
            </p:txBody>
          </p:sp>
        </mc:Choice>
        <mc:Fallback>
          <p:sp>
            <p:nvSpPr>
              <p:cNvPr id="132" name="Object 1"/>
              <p:cNvSpPr txBox="1"/>
              <p:nvPr/>
            </p:nvSpPr>
            <p:spPr>
              <a:xfrm>
                <a:off x="500040" y="3643200"/>
                <a:ext cx="2914560" cy="1214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33" name="Object 3"/>
              <p:cNvSpPr txBox="1"/>
              <p:nvPr/>
            </p:nvSpPr>
            <p:spPr>
              <a:xfrm>
                <a:off x="7182000" y="5411880"/>
                <a:ext cx="2014560" cy="644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0</m:t>
                    </m:r>
                    <m:r>
                      <m:t xml:space="preserve">°</m:t>
                    </m:r>
                    <m:r>
                      <m:t xml:space="preserve">C</m:t>
                    </m:r>
                    <m:r>
                      <m:t xml:space="preserve"> 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0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3" name="Object 3"/>
              <p:cNvSpPr txBox="1"/>
              <p:nvPr/>
            </p:nvSpPr>
            <p:spPr>
              <a:xfrm>
                <a:off x="7182000" y="5411880"/>
                <a:ext cx="2014560" cy="64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34" name="Object 4"/>
              <p:cNvSpPr txBox="1"/>
              <p:nvPr/>
            </p:nvSpPr>
            <p:spPr>
              <a:xfrm>
                <a:off x="6800760" y="1839960"/>
                <a:ext cx="2303640" cy="644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100</m:t>
                    </m:r>
                    <m:r>
                      <m:t xml:space="preserve">°</m:t>
                    </m:r>
                    <m:r>
                      <m:t xml:space="preserve">C</m:t>
                    </m:r>
                    <m:r>
                      <m:t xml:space="preserve"> 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100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4" name="Object 4"/>
              <p:cNvSpPr txBox="1"/>
              <p:nvPr/>
            </p:nvSpPr>
            <p:spPr>
              <a:xfrm>
                <a:off x="6800760" y="1839960"/>
                <a:ext cx="2303640" cy="64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135" name="Flèche droite 34"/>
          <p:cNvSpPr/>
          <p:nvPr/>
        </p:nvSpPr>
        <p:spPr>
          <a:xfrm flipH="1" rot="10800000">
            <a:off x="2499120" y="3071880"/>
            <a:ext cx="1428840" cy="357120"/>
          </a:xfrm>
          <a:prstGeom prst="rightArrow">
            <a:avLst>
              <a:gd name="adj1" fmla="val 50000"/>
              <a:gd name="adj2" fmla="val 50013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ZoneTexte 35"/>
          <p:cNvSpPr/>
          <p:nvPr/>
        </p:nvSpPr>
        <p:spPr>
          <a:xfrm>
            <a:off x="550800" y="1214280"/>
            <a:ext cx="6991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92d050"/>
                </a:solidFill>
                <a:effectLst/>
                <a:uFillTx/>
                <a:latin typeface="Calibri"/>
              </a:rPr>
              <a:t>Echelle centésimale : Thermomètre à liquide (x=V) : mercure, alcool, etc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30"/>
          <p:cNvSpPr/>
          <p:nvPr/>
        </p:nvSpPr>
        <p:spPr>
          <a:xfrm>
            <a:off x="0" y="1647720"/>
            <a:ext cx="54291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BE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Deux points :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>
              <a:lnSpc>
                <a:spcPct val="100000"/>
              </a:lnSpc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BE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b="0" lang="fr-BE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: fusion de la glace : 0°C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>
              <a:lnSpc>
                <a:spcPct val="100000"/>
              </a:lnSpc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BE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b="0" lang="fr-BE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 : ébullition de l’eau :100° 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8" name="Object 5"/>
              <p:cNvSpPr txBox="1"/>
              <p:nvPr/>
            </p:nvSpPr>
            <p:spPr>
              <a:xfrm>
                <a:off x="500040" y="5643720"/>
                <a:ext cx="2625840" cy="607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0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1</m:t>
                        </m:r>
                        <m:r>
                          <m:t xml:space="preserve">+</m:t>
                        </m:r>
                        <m:r>
                          <m:t xml:space="preserve">α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r>
                          <m:t xml:space="preserve">θ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38" name="Object 5"/>
              <p:cNvSpPr txBox="1"/>
              <p:nvPr/>
            </p:nvSpPr>
            <p:spPr>
              <a:xfrm>
                <a:off x="500040" y="5643720"/>
                <a:ext cx="2625840" cy="6076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39" name="Object 6"/>
              <p:cNvSpPr txBox="1"/>
              <p:nvPr/>
            </p:nvSpPr>
            <p:spPr>
              <a:xfrm>
                <a:off x="3697200" y="4786200"/>
                <a:ext cx="1801800" cy="785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</m:den>
                    </m:f>
                    <m:f>
                      <m:num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100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100</m:t>
                        </m:r>
                        <m:r>
                          <m:t xml:space="preserve">−</m:t>
                        </m:r>
                        <m:r>
                          <m:t xml:space="preserve">0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9" name="Object 6"/>
              <p:cNvSpPr txBox="1"/>
              <p:nvPr/>
            </p:nvSpPr>
            <p:spPr>
              <a:xfrm>
                <a:off x="3697200" y="4786200"/>
                <a:ext cx="1801800" cy="7858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140" name="ZoneTexte 39"/>
          <p:cNvSpPr/>
          <p:nvPr/>
        </p:nvSpPr>
        <p:spPr>
          <a:xfrm>
            <a:off x="-720" y="6215040"/>
            <a:ext cx="71420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- Cette échelles n’a aucun caractère d’universalité. </a:t>
            </a:r>
            <a:r>
              <a:rPr b="1" i="1" lang="fr-FR" sz="1800" strike="noStrike" u="sng">
                <a:solidFill>
                  <a:srgbClr val="c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b="1" i="1" lang="fr-FR" sz="1800" strike="noStrike" u="sng">
                <a:solidFill>
                  <a:srgbClr val="c00000"/>
                </a:solidFill>
                <a:effectLst/>
                <a:uFillTx/>
                <a:latin typeface="Calibri"/>
              </a:rPr>
              <a:t>(</a:t>
            </a:r>
            <a:r>
              <a:rPr b="1" i="1" lang="fr-FR" sz="1800" strike="noStrike" u="sng">
                <a:solidFill>
                  <a:srgbClr val="c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b="1" i="1" lang="fr-FR" sz="1800" strike="noStrike" u="sng">
                <a:solidFill>
                  <a:srgbClr val="c00000"/>
                </a:solidFill>
                <a:effectLst/>
                <a:uFillTx/>
                <a:latin typeface="Calibri"/>
              </a:rPr>
              <a:t>)  n’est pas une Cst</a:t>
            </a:r>
            <a:r>
              <a:rPr b="1" i="1" lang="fr-FR" sz="1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- Un thermomètre  ne mesure pas T mais elle la repère.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1" name="Object 39"/>
              <p:cNvSpPr txBox="1"/>
              <p:nvPr/>
            </p:nvSpPr>
            <p:spPr>
              <a:xfrm>
                <a:off x="285840" y="2928960"/>
                <a:ext cx="2087640" cy="500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θ</m:t>
                    </m:r>
                    <m:r>
                      <m:t xml:space="preserve">=</m:t>
                    </m:r>
                    <m:r>
                      <m:t xml:space="preserve">a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t xml:space="preserve">V</m:t>
                    </m:r>
                    <m:r>
                      <m:t xml:space="preserve">+</m:t>
                    </m:r>
                    <m:r>
                      <m:t xml:space="preserve">b</m:t>
                    </m:r>
                  </m:oMath>
                </a14:m>
              </a:p>
            </p:txBody>
          </p:sp>
        </mc:Choice>
        <mc:Fallback>
          <p:sp>
            <p:nvSpPr>
              <p:cNvPr id="141" name="Object 39"/>
              <p:cNvSpPr txBox="1"/>
              <p:nvPr/>
            </p:nvSpPr>
            <p:spPr>
              <a:xfrm>
                <a:off x="285840" y="2928960"/>
                <a:ext cx="2087640" cy="5000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42" name="Object 40"/>
              <p:cNvSpPr txBox="1"/>
              <p:nvPr/>
            </p:nvSpPr>
            <p:spPr>
              <a:xfrm>
                <a:off x="714240" y="4786200"/>
                <a:ext cx="1271880" cy="71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V</m:t>
                        </m:r>
                      </m:den>
                    </m:f>
                    <m:f>
                      <m:num>
                        <m:r>
                          <m:t xml:space="preserve">ΔV</m:t>
                        </m:r>
                      </m:num>
                      <m:den>
                        <m:r>
                          <m:t xml:space="preserve">Δθ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42" name="Object 40"/>
              <p:cNvSpPr txBox="1"/>
              <p:nvPr/>
            </p:nvSpPr>
            <p:spPr>
              <a:xfrm>
                <a:off x="714240" y="4786200"/>
                <a:ext cx="1271880" cy="7160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143" name="Flèche droite 40"/>
          <p:cNvSpPr/>
          <p:nvPr/>
        </p:nvSpPr>
        <p:spPr>
          <a:xfrm flipH="1" rot="10800000">
            <a:off x="2214720" y="5000760"/>
            <a:ext cx="1428480" cy="357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4" name="Object 42"/>
              <p:cNvSpPr txBox="1"/>
              <p:nvPr/>
            </p:nvSpPr>
            <p:spPr>
              <a:xfrm>
                <a:off x="4662360" y="2543040"/>
                <a:ext cx="2444760" cy="642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0</m:t>
                    </m:r>
                    <m:r>
                      <m:t xml:space="preserve"> </m:t>
                    </m:r>
                    <m:r>
                      <m:t xml:space="preserve">=</m:t>
                    </m:r>
                    <m:r>
                      <m:t xml:space="preserve">a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0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b</m:t>
                    </m:r>
                  </m:oMath>
                </a14:m>
              </a:p>
            </p:txBody>
          </p:sp>
        </mc:Choice>
        <mc:Fallback>
          <p:sp>
            <p:nvSpPr>
              <p:cNvPr id="144" name="Object 42"/>
              <p:cNvSpPr txBox="1"/>
              <p:nvPr/>
            </p:nvSpPr>
            <p:spPr>
              <a:xfrm>
                <a:off x="4662360" y="2543040"/>
                <a:ext cx="2444760" cy="6429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145" name="Ellipse 42"/>
          <p:cNvSpPr/>
          <p:nvPr/>
        </p:nvSpPr>
        <p:spPr>
          <a:xfrm>
            <a:off x="8001000" y="5786280"/>
            <a:ext cx="642960" cy="5716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Connecteur droit 44"/>
          <p:cNvSpPr/>
          <p:nvPr/>
        </p:nvSpPr>
        <p:spPr>
          <a:xfrm flipH="1" flipV="1">
            <a:off x="8319960" y="5705280"/>
            <a:ext cx="5040" cy="29052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onnecteur droit 47"/>
          <p:cNvSpPr/>
          <p:nvPr/>
        </p:nvSpPr>
        <p:spPr>
          <a:xfrm flipH="1" flipV="1">
            <a:off x="8308440" y="2155320"/>
            <a:ext cx="9720" cy="362772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8" name="Object 46"/>
              <p:cNvSpPr txBox="1"/>
              <p:nvPr/>
            </p:nvSpPr>
            <p:spPr>
              <a:xfrm>
                <a:off x="4668840" y="3224160"/>
                <a:ext cx="2660760" cy="642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100</m:t>
                    </m:r>
                    <m:r>
                      <m:t xml:space="preserve">=</m:t>
                    </m:r>
                    <m:r>
                      <m:t xml:space="preserve">a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100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b</m:t>
                    </m:r>
                  </m:oMath>
                </a14:m>
              </a:p>
            </p:txBody>
          </p:sp>
        </mc:Choice>
        <mc:Fallback>
          <p:sp>
            <p:nvSpPr>
              <p:cNvPr id="148" name="Object 46"/>
              <p:cNvSpPr txBox="1"/>
              <p:nvPr/>
            </p:nvSpPr>
            <p:spPr>
              <a:xfrm>
                <a:off x="4668840" y="3224160"/>
                <a:ext cx="2660760" cy="6429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sp>
        <p:nvSpPr>
          <p:cNvPr id="149" name="Rectangle 46"/>
          <p:cNvSpPr/>
          <p:nvPr/>
        </p:nvSpPr>
        <p:spPr>
          <a:xfrm>
            <a:off x="7910640" y="2104920"/>
            <a:ext cx="217440" cy="367200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83" dur="indefinite" restart="never" nodeType="tmRoot">
          <p:childTnLst>
            <p:seq>
              <p:cTn id="84" dur="indefinite" nodeType="mainSeq">
                <p:childTnLst>
                  <p:par>
                    <p:cTn id="85" nodeType="clickEffect" fill="hold">
                      <p:stCondLst>
                        <p:cond delay="indefinite"/>
                      </p:stCondLst>
                      <p:childTnLst>
                        <p:par>
                          <p:cTn id="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nodeType="clickEffect" fill="hold">
                      <p:stCondLst>
                        <p:cond delay="indefinite"/>
                      </p:stCondLst>
                      <p:childTnLst>
                        <p:par>
                          <p:cTn id="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9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nodeType="clickEffect" fill="hold">
                      <p:stCondLst>
                        <p:cond delay="indefinite"/>
                      </p:stCondLst>
                      <p:childTnLst>
                        <p:par>
                          <p:cTn id="1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nodeType="clickEffect" fill="hold">
                      <p:stCondLst>
                        <p:cond delay="indefinite"/>
                      </p:stCondLst>
                      <p:childTnLst>
                        <p:par>
                          <p:cTn id="1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12" dur="2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nodeType="clickEffect" fill="hold">
                      <p:stCondLst>
                        <p:cond delay="indefinite"/>
                      </p:stCondLst>
                      <p:childTnLst>
                        <p:par>
                          <p:cTn id="1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nodeType="clickEffect" fill="hold">
                      <p:stCondLst>
                        <p:cond delay="indefinite"/>
                      </p:stCondLst>
                      <p:childTnLst>
                        <p:par>
                          <p:cTn id="1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nodeType="clickEffect" fill="hold">
                      <p:stCondLst>
                        <p:cond delay="indefinite"/>
                      </p:stCondLst>
                      <p:childTnLst>
                        <p:par>
                          <p:cTn id="1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nodeType="clickEffect" fill="hold">
                      <p:stCondLst>
                        <p:cond delay="indefinite"/>
                      </p:stCondLst>
                      <p:childTnLst>
                        <p:par>
                          <p:cTn id="1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nodeType="clickEffect" fill="hold">
                      <p:stCondLst>
                        <p:cond delay="indefinite"/>
                      </p:stCondLst>
                      <p:childTnLst>
                        <p:par>
                          <p:cTn id="1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nodeType="clickEffect" fill="hold">
                      <p:stCondLst>
                        <p:cond delay="indefinite"/>
                      </p:stCondLst>
                      <p:childTnLst>
                        <p:par>
                          <p:cTn id="1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nodeType="clickEffect" fill="hold">
                      <p:stCondLst>
                        <p:cond delay="indefinite"/>
                      </p:stCondLst>
                      <p:childTnLst>
                        <p:par>
                          <p:cTn id="1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5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nodeType="clickEffect" fill="hold">
                      <p:stCondLst>
                        <p:cond delay="indefinite"/>
                      </p:stCondLst>
                      <p:childTnLst>
                        <p:par>
                          <p:cTn id="1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5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Picture 3" descr="celcuis%20thermometers"/>
          <p:cNvPicPr/>
          <p:nvPr/>
        </p:nvPicPr>
        <p:blipFill>
          <a:blip r:embed="rId1"/>
          <a:stretch/>
        </p:blipFill>
        <p:spPr>
          <a:xfrm>
            <a:off x="7429680" y="1143000"/>
            <a:ext cx="1555560" cy="571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38"/>
          <p:cNvSpPr/>
          <p:nvPr/>
        </p:nvSpPr>
        <p:spPr>
          <a:xfrm>
            <a:off x="357120" y="1571760"/>
            <a:ext cx="678672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 température d’un corps est la mesure de son </a:t>
            </a:r>
            <a:r>
              <a:rPr b="1" lang="fr-FR" sz="1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agitation moléculaire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 C’est une fonction de la proportion d’atomes excités et d’atomes à l’état fondamental d’un corps. Elle représente l’énergie moyenne d’une molécule.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40"/>
          <p:cNvSpPr/>
          <p:nvPr/>
        </p:nvSpPr>
        <p:spPr>
          <a:xfrm>
            <a:off x="0" y="3889440"/>
            <a:ext cx="8215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(un atome excité : atome qui vibre beaucoup autour de sa position moyenne).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41"/>
          <p:cNvSpPr/>
          <p:nvPr/>
        </p:nvSpPr>
        <p:spPr>
          <a:xfrm>
            <a:off x="0" y="4435560"/>
            <a:ext cx="778680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L’</a:t>
            </a:r>
            <a:r>
              <a:rPr b="0" lang="fr-FR" sz="1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amplitude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des oscillations d’un atome autour de sa position moyenne </a:t>
            </a:r>
            <a:r>
              <a:rPr b="0" lang="fr-FR" sz="1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augmente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fr-FR" sz="1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avec la température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 C’est ce qui provoque la dilatation, c’est à dire l’augmentation du volume d’un corps quand sa température augmente.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6" name="Object 7"/>
              <p:cNvSpPr txBox="1"/>
              <p:nvPr/>
            </p:nvSpPr>
            <p:spPr>
              <a:xfrm>
                <a:off x="3929040" y="6078600"/>
                <a:ext cx="1339920" cy="71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273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r>
                          <m:rPr>
                            <m:lit/>
                            <m:nor/>
                          </m:rPr>
                          <m:t xml:space="preserve">15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66" name="Object 7"/>
              <p:cNvSpPr txBox="1"/>
              <p:nvPr/>
            </p:nvSpPr>
            <p:spPr>
              <a:xfrm>
                <a:off x="3929040" y="6078600"/>
                <a:ext cx="1339920" cy="716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67" name="ZoneTexte 42"/>
          <p:cNvSpPr/>
          <p:nvPr/>
        </p:nvSpPr>
        <p:spPr>
          <a:xfrm>
            <a:off x="493920" y="6292800"/>
            <a:ext cx="3610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Différents gaz, sous faible pression :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ZoneTexte 43"/>
          <p:cNvSpPr/>
          <p:nvPr/>
        </p:nvSpPr>
        <p:spPr>
          <a:xfrm>
            <a:off x="478080" y="5649840"/>
            <a:ext cx="4004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Cas des liquides et gaz à haute pression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9" name="Object 8"/>
              <p:cNvSpPr txBox="1"/>
              <p:nvPr/>
            </p:nvSpPr>
            <p:spPr>
              <a:xfrm>
                <a:off x="4286160" y="5721480"/>
                <a:ext cx="878040" cy="277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≠</m:t>
                    </m:r>
                    <m:r>
                      <m:rPr>
                        <m:lit/>
                        <m:nor/>
                      </m:rPr>
                      <m:t xml:space="preserve">cst</m:t>
                    </m:r>
                  </m:oMath>
                </a14:m>
              </a:p>
            </p:txBody>
          </p:sp>
        </mc:Choice>
        <mc:Fallback>
          <p:sp>
            <p:nvSpPr>
              <p:cNvPr id="169" name="Object 8"/>
              <p:cNvSpPr txBox="1"/>
              <p:nvPr/>
            </p:nvSpPr>
            <p:spPr>
              <a:xfrm>
                <a:off x="4286160" y="5721480"/>
                <a:ext cx="878040" cy="277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pic>
        <p:nvPicPr>
          <p:cNvPr id="170" name="Image 31" descr=""/>
          <p:cNvPicPr/>
          <p:nvPr/>
        </p:nvPicPr>
        <p:blipFill>
          <a:blip r:embed="rId4"/>
          <a:stretch/>
        </p:blipFill>
        <p:spPr>
          <a:xfrm>
            <a:off x="1527120" y="2627280"/>
            <a:ext cx="1030320" cy="126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Image 34" descr=""/>
          <p:cNvPicPr/>
          <p:nvPr/>
        </p:nvPicPr>
        <p:blipFill>
          <a:blip r:embed="rId5"/>
          <a:stretch/>
        </p:blipFill>
        <p:spPr>
          <a:xfrm>
            <a:off x="3981600" y="2673360"/>
            <a:ext cx="1230120" cy="13255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6" descr=""/>
          <p:cNvPicPr/>
          <p:nvPr/>
        </p:nvPicPr>
        <p:blipFill>
          <a:blip r:embed="rId1"/>
          <a:stretch/>
        </p:blipFill>
        <p:spPr>
          <a:xfrm>
            <a:off x="3286080" y="2143080"/>
            <a:ext cx="2533680" cy="385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Rectangle 30"/>
          <p:cNvSpPr/>
          <p:nvPr/>
        </p:nvSpPr>
        <p:spPr>
          <a:xfrm>
            <a:off x="221040" y="1214280"/>
            <a:ext cx="4132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92d050"/>
                </a:solidFill>
                <a:effectLst/>
                <a:uFillTx/>
                <a:latin typeface="Arial"/>
              </a:rPr>
              <a:t>Température absolue et échelle légale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00" name="Object 7"/>
              <p:cNvSpPr txBox="1"/>
              <p:nvPr/>
            </p:nvSpPr>
            <p:spPr>
              <a:xfrm>
                <a:off x="571680" y="5929200"/>
                <a:ext cx="1339560" cy="71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273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r>
                          <m:rPr>
                            <m:lit/>
                            <m:nor/>
                          </m:rPr>
                          <m:t xml:space="preserve">15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00" name="Object 7"/>
              <p:cNvSpPr txBox="1"/>
              <p:nvPr/>
            </p:nvSpPr>
            <p:spPr>
              <a:xfrm>
                <a:off x="571680" y="5929200"/>
                <a:ext cx="1339560" cy="716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1" name="Object 3"/>
              <p:cNvSpPr txBox="1"/>
              <p:nvPr/>
            </p:nvSpPr>
            <p:spPr>
              <a:xfrm>
                <a:off x="3071880" y="6000840"/>
                <a:ext cx="2593800" cy="71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r>
                      <m:t xml:space="preserve">θ</m:t>
                    </m:r>
                    <m:r>
                      <m:t xml:space="preserve">+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α</m:t>
                        </m:r>
                      </m:den>
                    </m:f>
                    <m:r>
                      <m:t xml:space="preserve">=</m:t>
                    </m:r>
                    <m:r>
                      <m:t xml:space="preserve">θ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273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rPr>
                        <m:lit/>
                        <m:nor/>
                      </m:rPr>
                      <m:t xml:space="preserve">15</m:t>
                    </m:r>
                  </m:oMath>
                </a14:m>
              </a:p>
            </p:txBody>
          </p:sp>
        </mc:Choice>
        <mc:Fallback>
          <p:sp>
            <p:nvSpPr>
              <p:cNvPr id="201" name="Object 3"/>
              <p:cNvSpPr txBox="1"/>
              <p:nvPr/>
            </p:nvSpPr>
            <p:spPr>
              <a:xfrm>
                <a:off x="3071880" y="6000840"/>
                <a:ext cx="2593800" cy="716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Picture 4" descr="C:\WINDOWS\Bureau\eau.gif"/>
          <p:cNvPicPr/>
          <p:nvPr/>
        </p:nvPicPr>
        <p:blipFill>
          <a:blip r:embed="rId1"/>
          <a:stretch/>
        </p:blipFill>
        <p:spPr>
          <a:xfrm>
            <a:off x="71280" y="3143160"/>
            <a:ext cx="4000680" cy="287028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228" name="Rectangle 31"/>
          <p:cNvSpPr/>
          <p:nvPr/>
        </p:nvSpPr>
        <p:spPr>
          <a:xfrm>
            <a:off x="214200" y="1928880"/>
            <a:ext cx="84297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Zéro Kelvin : c’est la température qui correspond à une agitation moléculaire nulle. Un corps à cette température ne peut céder de la chaleur à aucun autre. L’échelle Kelvin a 1 seul point fixe qui est par convention le point triple de l’eau à </a:t>
            </a: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273,16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K. (soit 0,01°C)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32"/>
          <p:cNvSpPr/>
          <p:nvPr/>
        </p:nvSpPr>
        <p:spPr>
          <a:xfrm>
            <a:off x="4357800" y="3571920"/>
            <a:ext cx="4572000" cy="1739880"/>
          </a:xfrm>
          <a:prstGeom prst="rect">
            <a:avLst/>
          </a:prstGeom>
          <a:noFill/>
          <a:ln w="763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Problème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 : Quel est le double de 10°C 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Et bien non, ce n’est pas 20°C !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Il faut convertir en Kelvin.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10 °C = 283,15 K multiplié par 2 = 566,3 K.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et pour être plus parlant donne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           566,3 - 273,15 = </a:t>
            </a: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293,15 °C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30"/>
          <p:cNvSpPr/>
          <p:nvPr/>
        </p:nvSpPr>
        <p:spPr>
          <a:xfrm>
            <a:off x="7560" y="1143000"/>
            <a:ext cx="4132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92d050"/>
                </a:solidFill>
                <a:effectLst/>
                <a:uFillTx/>
                <a:latin typeface="Arial"/>
              </a:rPr>
              <a:t>Température absolue et échelle légale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56" dur="indefinite" restart="never" nodeType="tmRoot">
          <p:childTnLst>
            <p:seq>
              <p:cTn id="157" dur="indefinite" nodeType="mainSeq">
                <p:childTnLst>
                  <p:par>
                    <p:cTn id="158" nodeType="clickEffect" fill="hold">
                      <p:stCondLst>
                        <p:cond delay="indefinite"/>
                      </p:stCondLst>
                      <p:childTnLst>
                        <p:par>
                          <p:cTn id="1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62" dur="500"/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nodeType="clickEffect" fill="hold">
                      <p:stCondLst>
                        <p:cond delay="indefinite"/>
                      </p:stCondLst>
                      <p:childTnLst>
                        <p:par>
                          <p:cTn id="1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31"/>
          <p:cNvSpPr/>
          <p:nvPr/>
        </p:nvSpPr>
        <p:spPr>
          <a:xfrm>
            <a:off x="214200" y="1609560"/>
            <a:ext cx="8429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Considérons un thermomètre à gaz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30"/>
          <p:cNvSpPr/>
          <p:nvPr/>
        </p:nvSpPr>
        <p:spPr>
          <a:xfrm>
            <a:off x="164160" y="1143000"/>
            <a:ext cx="5594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Température absolue et échelle légale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(à un seul point fixe)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ZoneTexte 29"/>
          <p:cNvSpPr/>
          <p:nvPr/>
        </p:nvSpPr>
        <p:spPr>
          <a:xfrm>
            <a:off x="673200" y="1989000"/>
            <a:ext cx="301068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* À pression constante (p=p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58" name="Object 7"/>
              <p:cNvSpPr txBox="1"/>
              <p:nvPr/>
            </p:nvSpPr>
            <p:spPr>
              <a:xfrm>
                <a:off x="4143240" y="1971720"/>
                <a:ext cx="1687680" cy="415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0</m:t>
                        </m:r>
                      </m:sub>
                    </m:sSub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1</m:t>
                        </m:r>
                        <m:r>
                          <m:t xml:space="preserve">+</m:t>
                        </m:r>
                        <m:r>
                          <m:t xml:space="preserve">α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r>
                          <m:t xml:space="preserve">θ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258" name="Object 7"/>
              <p:cNvSpPr txBox="1"/>
              <p:nvPr/>
            </p:nvSpPr>
            <p:spPr>
              <a:xfrm>
                <a:off x="4143240" y="1971720"/>
                <a:ext cx="1687680" cy="4158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259" name="Rectangle 30"/>
          <p:cNvSpPr/>
          <p:nvPr/>
        </p:nvSpPr>
        <p:spPr>
          <a:xfrm>
            <a:off x="717120" y="2736720"/>
            <a:ext cx="2934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* À volume constant (V=V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60" name="Object 30"/>
              <p:cNvSpPr txBox="1"/>
              <p:nvPr/>
            </p:nvSpPr>
            <p:spPr>
              <a:xfrm>
                <a:off x="4054320" y="2638440"/>
                <a:ext cx="1687680" cy="415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t xml:space="preserve">0</m:t>
                        </m:r>
                      </m:sub>
                    </m:sSub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1</m:t>
                        </m:r>
                        <m:r>
                          <m:t xml:space="preserve">+</m:t>
                        </m:r>
                        <m:r>
                          <m:t xml:space="preserve">β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r>
                          <m:t xml:space="preserve">θ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260" name="Object 30"/>
              <p:cNvSpPr txBox="1"/>
              <p:nvPr/>
            </p:nvSpPr>
            <p:spPr>
              <a:xfrm>
                <a:off x="4054320" y="2638440"/>
                <a:ext cx="1687680" cy="41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261" name="ZoneTexte 32"/>
          <p:cNvSpPr/>
          <p:nvPr/>
        </p:nvSpPr>
        <p:spPr>
          <a:xfrm>
            <a:off x="91800" y="3352680"/>
            <a:ext cx="6145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Si P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→0 les coefficient </a:t>
            </a:r>
            <a:r>
              <a:rPr b="0" lang="el-G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α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et </a:t>
            </a:r>
            <a:r>
              <a:rPr b="0" lang="el-G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β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tendent vers une valeur commune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62" name="Object 31"/>
              <p:cNvSpPr txBox="1"/>
              <p:nvPr/>
            </p:nvSpPr>
            <p:spPr>
              <a:xfrm>
                <a:off x="6854760" y="3146400"/>
                <a:ext cx="1781280" cy="763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r>
                      <m:t xml:space="preserve">β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273</m:t>
                        </m:r>
                        <m:r>
                          <m:t xml:space="preserve">,</m:t>
                        </m:r>
                        <m:r>
                          <m:rPr>
                            <m:lit/>
                            <m:nor/>
                          </m:rPr>
                          <m:t xml:space="preserve">15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62" name="Object 31"/>
              <p:cNvSpPr txBox="1"/>
              <p:nvPr/>
            </p:nvSpPr>
            <p:spPr>
              <a:xfrm>
                <a:off x="6854760" y="3146400"/>
                <a:ext cx="1781280" cy="763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263" name="ZoneTexte 34"/>
          <p:cNvSpPr/>
          <p:nvPr/>
        </p:nvSpPr>
        <p:spPr>
          <a:xfrm>
            <a:off x="78480" y="4021200"/>
            <a:ext cx="5551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En désigne par </a:t>
            </a: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x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les variables  thermodynamique  V ou P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64" name="Object 32"/>
              <p:cNvSpPr txBox="1"/>
              <p:nvPr/>
            </p:nvSpPr>
            <p:spPr>
              <a:xfrm>
                <a:off x="6249960" y="3798720"/>
                <a:ext cx="2611440" cy="1663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eqArr>
                      <m:e>
                        <m:limLow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lim</m:t>
                            </m:r>
                          </m:e>
                          <m:lim>
                            <m:sSub>
                              <m:e>
                                <m:r>
                                  <m:t xml:space="preserve">P</m:t>
                                </m:r>
                              </m:e>
                              <m:sub>
                                <m:r>
                                  <m:t xml:space="preserve">0</m:t>
                                </m:r>
                              </m:sub>
                            </m:sSub>
                            <m:r>
                              <m:t xml:space="preserve">→</m:t>
                            </m:r>
                            <m:r>
                              <m:t xml:space="preserve">0</m:t>
                            </m:r>
                          </m:lim>
                        </m:limLow>
                        <m:r>
                          <m:t xml:space="preserve">x</m:t>
                        </m:r>
                        <m:r>
                          <m:t xml:space="preserve">=</m:t>
                        </m:r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1</m:t>
                            </m:r>
                            <m:r>
                              <m:t xml:space="preserve">+</m:t>
                            </m:r>
                            <m:f>
                              <m:num>
                                <m:r>
                                  <m:t xml:space="preserve">θ</m:t>
                                </m:r>
                              </m:num>
                              <m:den>
                                <m:r>
                                  <m:rPr>
                                    <m:lit/>
                                    <m:nor/>
                                  </m:rPr>
                                  <m:t xml:space="preserve">273</m:t>
                                </m:r>
                                <m:r>
                                  <m:t xml:space="preserve">,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m:t xml:space="preserve">15</m:t>
                                </m:r>
                              </m:den>
                            </m:f>
                          </m:e>
                        </m:d>
                      </m:e>
                      <m:e>
                        <m:r>
                          <m:t xml:space="preserve"> </m:t>
                        </m:r>
                        <m:r>
                          <m:t xml:space="preserve">=</m:t>
                        </m:r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r>
                                  <m:t xml:space="preserve">θ</m:t>
                                </m:r>
                                <m:r>
                                  <m:t xml:space="preserve">+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m:t xml:space="preserve">273</m:t>
                                </m:r>
                                <m:r>
                                  <m:t xml:space="preserve">,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m:t xml:space="preserve">15</m:t>
                                </m:r>
                              </m:num>
                              <m:den>
                                <m:r>
                                  <m:rPr>
                                    <m:lit/>
                                    <m:nor/>
                                  </m:rPr>
                                  <m:t xml:space="preserve">273</m:t>
                                </m:r>
                                <m:r>
                                  <m:t xml:space="preserve">,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m:t xml:space="preserve">15</m:t>
                                </m:r>
                              </m:den>
                            </m:f>
                          </m:e>
                        </m:d>
                      </m:e>
                    </m:eqArr>
                  </m:oMath>
                </a14:m>
              </a:p>
            </p:txBody>
          </p:sp>
        </mc:Choice>
        <mc:Fallback>
          <p:sp>
            <p:nvSpPr>
              <p:cNvPr id="264" name="Object 32"/>
              <p:cNvSpPr txBox="1"/>
              <p:nvPr/>
            </p:nvSpPr>
            <p:spPr>
              <a:xfrm>
                <a:off x="6249960" y="3798720"/>
                <a:ext cx="2611440" cy="1663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65" name="Object 33"/>
              <p:cNvSpPr txBox="1"/>
              <p:nvPr/>
            </p:nvSpPr>
            <p:spPr>
              <a:xfrm>
                <a:off x="2119320" y="5099040"/>
                <a:ext cx="2565360" cy="369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(</m:t>
                    </m:r>
                    <m:r>
                      <m:t xml:space="preserve">K</m:t>
                    </m:r>
                    <m:r>
                      <m:t xml:space="preserve">)</m:t>
                    </m:r>
                    <m:r>
                      <m:t xml:space="preserve">=</m:t>
                    </m:r>
                    <m:r>
                      <m:t xml:space="preserve">θ</m:t>
                    </m:r>
                    <m:r>
                      <m:t xml:space="preserve">(</m:t>
                    </m:r>
                    <m:r>
                      <m:t xml:space="preserve">°</m:t>
                    </m:r>
                    <m:r>
                      <m:t xml:space="preserve">C</m:t>
                    </m:r>
                    <m:r>
                      <m:t xml:space="preserve">)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273</m:t>
                    </m:r>
                    <m:r>
                      <m:t xml:space="preserve">,</m:t>
                    </m:r>
                    <m:r>
                      <m:rPr>
                        <m:lit/>
                        <m:nor/>
                      </m:rPr>
                      <m:t xml:space="preserve">15</m:t>
                    </m:r>
                  </m:oMath>
                </a14:m>
              </a:p>
            </p:txBody>
          </p:sp>
        </mc:Choice>
        <mc:Fallback>
          <p:sp>
            <p:nvSpPr>
              <p:cNvPr id="265" name="Object 33"/>
              <p:cNvSpPr txBox="1"/>
              <p:nvPr/>
            </p:nvSpPr>
            <p:spPr>
              <a:xfrm>
                <a:off x="2119320" y="5099040"/>
                <a:ext cx="2565360" cy="3697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66" name="Object 34"/>
              <p:cNvSpPr txBox="1"/>
              <p:nvPr/>
            </p:nvSpPr>
            <p:spPr>
              <a:xfrm>
                <a:off x="814320" y="5845320"/>
                <a:ext cx="2011320" cy="761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limLow>
                      <m:e>
                        <m:r>
                          <m:rPr>
                            <m:lit/>
                            <m:nor/>
                          </m:rPr>
                          <m:t xml:space="preserve">lim</m:t>
                        </m:r>
                      </m:e>
                      <m:lim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  <m:r>
                          <m:t xml:space="preserve">→</m:t>
                        </m:r>
                        <m:r>
                          <m:t xml:space="preserve">0</m:t>
                        </m:r>
                      </m:lim>
                    </m:limLow>
                    <m:r>
                      <m:t xml:space="preserve">x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x</m:t>
                        </m:r>
                      </m:e>
                      <m:sub>
                        <m:r>
                          <m:t xml:space="preserve">0</m:t>
                        </m:r>
                      </m:sub>
                    </m:sSub>
                    <m:f>
                      <m:num>
                        <m:r>
                          <m:t xml:space="preserve">T</m:t>
                        </m:r>
                        <m:r>
                          <m:t xml:space="preserve">(</m:t>
                        </m:r>
                        <m:r>
                          <m:t xml:space="preserve">K</m:t>
                        </m:r>
                        <m:r>
                          <m:t xml:space="preserve">)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273</m:t>
                        </m:r>
                        <m:r>
                          <m:t xml:space="preserve">,</m:t>
                        </m:r>
                        <m:r>
                          <m:rPr>
                            <m:lit/>
                            <m:nor/>
                          </m:rPr>
                          <m:t xml:space="preserve">15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66" name="Object 34"/>
              <p:cNvSpPr txBox="1"/>
              <p:nvPr/>
            </p:nvSpPr>
            <p:spPr>
              <a:xfrm>
                <a:off x="814320" y="5845320"/>
                <a:ext cx="2011320" cy="7617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67" name="Object 35"/>
              <p:cNvSpPr txBox="1"/>
              <p:nvPr/>
            </p:nvSpPr>
            <p:spPr>
              <a:xfrm>
                <a:off x="4451400" y="5867280"/>
                <a:ext cx="2749680" cy="854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(</m:t>
                    </m:r>
                    <m:r>
                      <m:t xml:space="preserve">K</m:t>
                    </m:r>
                    <m:r>
                      <m:t xml:space="preserve">)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273</m:t>
                    </m:r>
                    <m:r>
                      <m:t xml:space="preserve">,</m:t>
                    </m:r>
                    <m:r>
                      <m:rPr>
                        <m:lit/>
                        <m:nor/>
                      </m:rPr>
                      <m:t xml:space="preserve">15</m:t>
                    </m:r>
                    <m:r>
                      <m:t xml:space="preserve"> 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t xml:space="preserve"> </m:t>
                    </m:r>
                    <m:limLow>
                      <m:e>
                        <m:r>
                          <m:rPr>
                            <m:lit/>
                            <m:nor/>
                          </m:rPr>
                          <m:t xml:space="preserve">lim</m:t>
                        </m:r>
                      </m:e>
                      <m:lim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  <m:r>
                          <m:t xml:space="preserve">→</m:t>
                        </m:r>
                        <m:r>
                          <m:t xml:space="preserve">0</m:t>
                        </m:r>
                      </m:lim>
                    </m:limLow>
                    <m:f>
                      <m:num>
                        <m:r>
                          <m:t xml:space="preserve">x</m:t>
                        </m:r>
                      </m:num>
                      <m:den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67" name="Object 35"/>
              <p:cNvSpPr txBox="1"/>
              <p:nvPr/>
            </p:nvSpPr>
            <p:spPr>
              <a:xfrm>
                <a:off x="4451400" y="5867280"/>
                <a:ext cx="2749680" cy="8542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268" name="Flèche droite 39"/>
          <p:cNvSpPr/>
          <p:nvPr/>
        </p:nvSpPr>
        <p:spPr>
          <a:xfrm>
            <a:off x="3164040" y="6051600"/>
            <a:ext cx="973080" cy="363600"/>
          </a:xfrm>
          <a:prstGeom prst="rightArrow">
            <a:avLst>
              <a:gd name="adj1" fmla="val 50000"/>
              <a:gd name="adj2" fmla="val 49993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81" dur="indefinite" restart="never" nodeType="tmRoot">
          <p:childTnLst>
            <p:seq>
              <p:cTn id="182" dur="indefinite" nodeType="mainSeq">
                <p:childTnLst>
                  <p:par>
                    <p:cTn id="183" nodeType="clickEffect" fill="hold">
                      <p:stCondLst>
                        <p:cond delay="indefinite"/>
                      </p:stCondLst>
                      <p:childTnLst>
                        <p:par>
                          <p:cTn id="1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0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nodeType="clickEffect" fill="hold">
                      <p:stCondLst>
                        <p:cond delay="indefinite"/>
                      </p:stCondLst>
                      <p:childTnLst>
                        <p:par>
                          <p:cTn id="1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5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nodeType="clickEffect" fill="hold">
                      <p:stCondLst>
                        <p:cond delay="indefinite"/>
                      </p:stCondLst>
                      <p:childTnLst>
                        <p:par>
                          <p:cTn id="2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nodeType="clickEffect" fill="hold">
                      <p:stCondLst>
                        <p:cond delay="indefinite"/>
                      </p:stCondLst>
                      <p:childTnLst>
                        <p:par>
                          <p:cTn id="2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11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14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nodeType="clickEffect" fill="hold">
                      <p:stCondLst>
                        <p:cond delay="indefinite"/>
                      </p:stCondLst>
                      <p:childTnLst>
                        <p:par>
                          <p:cTn id="2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19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nodeType="clickEffect" fill="hold">
                      <p:stCondLst>
                        <p:cond delay="indefinite"/>
                      </p:stCondLst>
                      <p:childTnLst>
                        <p:par>
                          <p:cTn id="2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2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2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28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3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2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31"/>
          <p:cNvSpPr/>
          <p:nvPr/>
        </p:nvSpPr>
        <p:spPr>
          <a:xfrm>
            <a:off x="214200" y="1609560"/>
            <a:ext cx="8429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Considérons la fonction thermométrique à un point fixe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30"/>
          <p:cNvSpPr/>
          <p:nvPr/>
        </p:nvSpPr>
        <p:spPr>
          <a:xfrm>
            <a:off x="164160" y="1143000"/>
            <a:ext cx="5594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Température absolue et échelle légale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(à un seul point fixe)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95" name="Object 7"/>
              <p:cNvSpPr txBox="1"/>
              <p:nvPr/>
            </p:nvSpPr>
            <p:spPr>
              <a:xfrm>
                <a:off x="5796000" y="1625760"/>
                <a:ext cx="995400" cy="323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r>
                      <m:t xml:space="preserve">A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t xml:space="preserve">x</m:t>
                    </m:r>
                  </m:oMath>
                </a14:m>
              </a:p>
            </p:txBody>
          </p:sp>
        </mc:Choice>
        <mc:Fallback>
          <p:sp>
            <p:nvSpPr>
              <p:cNvPr id="295" name="Object 7"/>
              <p:cNvSpPr txBox="1"/>
              <p:nvPr/>
            </p:nvSpPr>
            <p:spPr>
              <a:xfrm>
                <a:off x="5796000" y="1625760"/>
                <a:ext cx="995400" cy="3236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296" name="Rectangle 30"/>
          <p:cNvSpPr/>
          <p:nvPr/>
        </p:nvSpPr>
        <p:spPr>
          <a:xfrm>
            <a:off x="730440" y="2736720"/>
            <a:ext cx="6825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Attribuant arbitrairement T=273.16  (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=0.01°C) au point triple de l’eau.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97" name="Object 30"/>
              <p:cNvSpPr txBox="1"/>
              <p:nvPr/>
            </p:nvSpPr>
            <p:spPr>
              <a:xfrm>
                <a:off x="3546360" y="2071800"/>
                <a:ext cx="1687680" cy="415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t xml:space="preserve">0</m:t>
                        </m:r>
                      </m:sub>
                    </m:sSub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1</m:t>
                        </m:r>
                        <m:r>
                          <m:t xml:space="preserve">+</m:t>
                        </m:r>
                        <m:r>
                          <m:t xml:space="preserve">β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r>
                          <m:t xml:space="preserve">θ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297" name="Object 30"/>
              <p:cNvSpPr txBox="1"/>
              <p:nvPr/>
            </p:nvSpPr>
            <p:spPr>
              <a:xfrm>
                <a:off x="3546360" y="2071800"/>
                <a:ext cx="1687680" cy="41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98" name="Object 31"/>
              <p:cNvSpPr txBox="1"/>
              <p:nvPr/>
            </p:nvSpPr>
            <p:spPr>
              <a:xfrm>
                <a:off x="730080" y="3513240"/>
                <a:ext cx="3726000" cy="785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273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rPr>
                        <m:lit/>
                        <m:nor/>
                      </m:rPr>
                      <m:t xml:space="preserve">16</m:t>
                    </m:r>
                    <m:r>
                      <m:t xml:space="preserve">=</m:t>
                    </m:r>
                    <m:r>
                      <m:t xml:space="preserve">A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b>
                      <m:e>
                        <m:r>
                          <m:t xml:space="preserve">x</m:t>
                        </m:r>
                      </m:e>
                      <m:sub>
                        <m:r>
                          <m:t xml:space="preserve">t</m:t>
                        </m:r>
                      </m:sub>
                    </m:sSub>
                    <m:r>
                      <m:t xml:space="preserve"> </m:t>
                    </m:r>
                    <m:r>
                      <m:t xml:space="preserve">⇒</m:t>
                    </m:r>
                    <m:r>
                      <m:t xml:space="preserve"> </m:t>
                    </m:r>
                    <m:r>
                      <m:t xml:space="preserve">A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273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r>
                          <m:rPr>
                            <m:lit/>
                            <m:nor/>
                          </m:rPr>
                          <m:t xml:space="preserve">16</m:t>
                        </m:r>
                      </m:num>
                      <m:den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t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98" name="Object 31"/>
              <p:cNvSpPr txBox="1"/>
              <p:nvPr/>
            </p:nvSpPr>
            <p:spPr>
              <a:xfrm>
                <a:off x="730080" y="3513240"/>
                <a:ext cx="3726000" cy="785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299" name="ZoneTexte 34"/>
          <p:cNvSpPr/>
          <p:nvPr/>
        </p:nvSpPr>
        <p:spPr>
          <a:xfrm>
            <a:off x="279360" y="4297320"/>
            <a:ext cx="3246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fonction thermométrique est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30"/>
          <p:cNvSpPr/>
          <p:nvPr/>
        </p:nvSpPr>
        <p:spPr>
          <a:xfrm>
            <a:off x="730440" y="3033720"/>
            <a:ext cx="6597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Soit </a:t>
            </a: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x</a:t>
            </a:r>
            <a:r>
              <a:rPr b="1" lang="fr-FR" sz="1800" strike="noStrike" u="none" baseline="-25000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la valeur de la variable thermométrique au point triple de l’eau.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01" name="Object 9"/>
              <p:cNvSpPr txBox="1"/>
              <p:nvPr/>
            </p:nvSpPr>
            <p:spPr>
              <a:xfrm>
                <a:off x="4538520" y="4151160"/>
                <a:ext cx="2060640" cy="785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273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rPr>
                        <m:lit/>
                        <m:nor/>
                      </m:rPr>
                      <m:t xml:space="preserve">16</m:t>
                    </m:r>
                    <m:limLow>
                      <m:e>
                        <m:r>
                          <m:rPr>
                            <m:lit/>
                            <m:nor/>
                          </m:rPr>
                          <m:t xml:space="preserve">lim</m:t>
                        </m:r>
                      </m:e>
                      <m:lim>
                        <m:r>
                          <m:t xml:space="preserve">P</m:t>
                        </m:r>
                        <m:r>
                          <m:t xml:space="preserve">→</m:t>
                        </m:r>
                        <m:r>
                          <m:t xml:space="preserve">0</m:t>
                        </m:r>
                      </m:lim>
                    </m:limLow>
                    <m:f>
                      <m:num>
                        <m:r>
                          <m:t xml:space="preserve">x</m:t>
                        </m:r>
                      </m:num>
                      <m:den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t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01" name="Object 9"/>
              <p:cNvSpPr txBox="1"/>
              <p:nvPr/>
            </p:nvSpPr>
            <p:spPr>
              <a:xfrm>
                <a:off x="4538520" y="4151160"/>
                <a:ext cx="2060640" cy="785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302" name="ZoneTexte 34"/>
          <p:cNvSpPr/>
          <p:nvPr/>
        </p:nvSpPr>
        <p:spPr>
          <a:xfrm>
            <a:off x="1466280" y="5073480"/>
            <a:ext cx="1636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Exemple x=V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03" name="Object 10"/>
              <p:cNvSpPr txBox="1"/>
              <p:nvPr/>
            </p:nvSpPr>
            <p:spPr>
              <a:xfrm>
                <a:off x="4462560" y="4905360"/>
                <a:ext cx="2036520" cy="785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273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rPr>
                        <m:lit/>
                        <m:nor/>
                      </m:rPr>
                      <m:t xml:space="preserve">16</m:t>
                    </m:r>
                    <m:limLow>
                      <m:e>
                        <m:r>
                          <m:rPr>
                            <m:lit/>
                            <m:nor/>
                          </m:rPr>
                          <m:t xml:space="preserve">lim</m:t>
                        </m:r>
                      </m:e>
                      <m:lim>
                        <m:r>
                          <m:t xml:space="preserve">P</m:t>
                        </m:r>
                        <m:r>
                          <m:t xml:space="preserve">→</m:t>
                        </m:r>
                        <m:r>
                          <m:t xml:space="preserve">0</m:t>
                        </m:r>
                      </m:lim>
                    </m:limLow>
                    <m:f>
                      <m:num>
                        <m:r>
                          <m:t xml:space="preserve">V</m:t>
                        </m:r>
                      </m:num>
                      <m:den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t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03" name="Object 10"/>
              <p:cNvSpPr txBox="1"/>
              <p:nvPr/>
            </p:nvSpPr>
            <p:spPr>
              <a:xfrm>
                <a:off x="4462560" y="4905360"/>
                <a:ext cx="2036520" cy="7858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304" name="ZoneTexte 34"/>
          <p:cNvSpPr/>
          <p:nvPr/>
        </p:nvSpPr>
        <p:spPr>
          <a:xfrm>
            <a:off x="1470960" y="5776920"/>
            <a:ext cx="1598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Exemple x=P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05" name="Object 11"/>
              <p:cNvSpPr txBox="1"/>
              <p:nvPr/>
            </p:nvSpPr>
            <p:spPr>
              <a:xfrm>
                <a:off x="4476600" y="5610240"/>
                <a:ext cx="2036880" cy="785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273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rPr>
                        <m:lit/>
                        <m:nor/>
                      </m:rPr>
                      <m:t xml:space="preserve">16</m:t>
                    </m:r>
                    <m:limLow>
                      <m:e>
                        <m:r>
                          <m:rPr>
                            <m:lit/>
                            <m:nor/>
                          </m:rPr>
                          <m:t xml:space="preserve">lim</m:t>
                        </m:r>
                      </m:e>
                      <m:lim>
                        <m:r>
                          <m:t xml:space="preserve">P</m:t>
                        </m:r>
                        <m:r>
                          <m:t xml:space="preserve">→</m:t>
                        </m:r>
                        <m:r>
                          <m:t xml:space="preserve">0</m:t>
                        </m:r>
                      </m:lim>
                    </m:limLow>
                    <m:f>
                      <m:num>
                        <m:r>
                          <m:t xml:space="preserve">P</m:t>
                        </m:r>
                      </m:num>
                      <m:den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t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05" name="Object 11"/>
              <p:cNvSpPr txBox="1"/>
              <p:nvPr/>
            </p:nvSpPr>
            <p:spPr>
              <a:xfrm>
                <a:off x="4476600" y="5610240"/>
                <a:ext cx="2036880" cy="7858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</p:spTree>
  </p:cSld>
  <p:timing>
    <p:tnLst>
      <p:par>
        <p:cTn id="233" dur="indefinite" restart="never" nodeType="tmRoot">
          <p:childTnLst>
            <p:seq>
              <p:cTn id="234" dur="indefinite" nodeType="mainSeq">
                <p:childTnLst>
                  <p:par>
                    <p:cTn id="235" nodeType="clickEffect" fill="hold">
                      <p:stCondLst>
                        <p:cond delay="indefinite"/>
                      </p:stCondLst>
                      <p:childTnLst>
                        <p:par>
                          <p:cTn id="2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9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nodeType="clickEffect" fill="hold">
                      <p:stCondLst>
                        <p:cond delay="indefinite"/>
                      </p:stCondLst>
                      <p:childTnLst>
                        <p:par>
                          <p:cTn id="2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4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nodeType="clickEffect" fill="hold">
                      <p:stCondLst>
                        <p:cond delay="indefinite"/>
                      </p:stCondLst>
                      <p:childTnLst>
                        <p:par>
                          <p:cTn id="2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9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nodeType="clickEffect" fill="hold">
                      <p:stCondLst>
                        <p:cond delay="indefinite"/>
                      </p:stCondLst>
                      <p:childTnLst>
                        <p:par>
                          <p:cTn id="2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nodeType="clickEffect" fill="hold">
                      <p:stCondLst>
                        <p:cond delay="indefinite"/>
                      </p:stCondLst>
                      <p:childTnLst>
                        <p:par>
                          <p:cTn id="2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2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3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264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7" dur="10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8" dur="10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269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nodeType="clickEffect" fill="hold">
                      <p:stCondLst>
                        <p:cond delay="indefinite"/>
                      </p:stCondLst>
                      <p:childTnLst>
                        <p:par>
                          <p:cTn id="2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2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4" dur="1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5" dur="1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276"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9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0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281"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2"/>
          <p:cNvSpPr/>
          <p:nvPr/>
        </p:nvSpPr>
        <p:spPr>
          <a:xfrm>
            <a:off x="457200" y="113040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Les échelles de 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5" descr="thermome"/>
          <p:cNvPicPr/>
          <p:nvPr/>
        </p:nvPicPr>
        <p:blipFill>
          <a:blip r:embed="rId1"/>
          <a:stretch/>
        </p:blipFill>
        <p:spPr>
          <a:xfrm>
            <a:off x="5105520" y="2496960"/>
            <a:ext cx="2209680" cy="219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 Box 6"/>
          <p:cNvSpPr/>
          <p:nvPr/>
        </p:nvSpPr>
        <p:spPr>
          <a:xfrm>
            <a:off x="762120" y="2684520"/>
            <a:ext cx="4587840" cy="25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Échelles employées 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Kelvin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Celsius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Rankin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Fahrenheit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35" name="Object 7"/>
              <p:cNvSpPr txBox="1"/>
              <p:nvPr/>
            </p:nvSpPr>
            <p:spPr>
              <a:xfrm>
                <a:off x="2665440" y="3911760"/>
                <a:ext cx="1690560" cy="322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θ</m:t>
                    </m:r>
                    <m:r>
                      <m:t xml:space="preserve">=</m:t>
                    </m:r>
                    <m:r>
                      <m:t xml:space="preserve">T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273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rPr>
                        <m:lit/>
                        <m:nor/>
                      </m:rPr>
                      <m:t xml:space="preserve">15</m:t>
                    </m:r>
                  </m:oMath>
                </a14:m>
              </a:p>
            </p:txBody>
          </p:sp>
        </mc:Choice>
        <mc:Fallback>
          <p:sp>
            <p:nvSpPr>
              <p:cNvPr id="335" name="Object 7"/>
              <p:cNvSpPr txBox="1"/>
              <p:nvPr/>
            </p:nvSpPr>
            <p:spPr>
              <a:xfrm>
                <a:off x="2665440" y="3911760"/>
                <a:ext cx="1690560" cy="322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</p:spTree>
  </p:cSld>
  <p:timing>
    <p:tnLst>
      <p:par>
        <p:cTn id="282" dur="indefinite" restart="never" nodeType="tmRoot">
          <p:childTnLst>
            <p:seq>
              <p:cTn id="283" dur="indefinite" nodeType="mainSeq">
                <p:childTnLst>
                  <p:par>
                    <p:cTn id="284" nodeType="clickEffect" fill="hold">
                      <p:stCondLst>
                        <p:cond delay="indefinite"/>
                      </p:stCondLst>
                      <p:childTnLst>
                        <p:par>
                          <p:cTn id="2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8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9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0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1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nodeType="clickEffect" fill="hold">
                      <p:stCondLst>
                        <p:cond delay="indefinite"/>
                      </p:stCondLst>
                      <p:childTnLst>
                        <p:par>
                          <p:cTn id="2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4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99" nodeType="after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1" dur="10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2" dur="10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303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ectangle 2"/>
          <p:cNvSpPr/>
          <p:nvPr/>
        </p:nvSpPr>
        <p:spPr>
          <a:xfrm>
            <a:off x="428760" y="100008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Thermomètre à résistance 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ectangle 3"/>
          <p:cNvSpPr/>
          <p:nvPr/>
        </p:nvSpPr>
        <p:spPr>
          <a:xfrm>
            <a:off x="990720" y="2263680"/>
            <a:ext cx="6476760" cy="324612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Lorsque la température varie on a :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R = R</a:t>
            </a:r>
            <a:r>
              <a:rPr b="0" lang="fr-FR" sz="2500" strike="noStrike" u="none" baseline="-25000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r>
              <a:rPr b="0" lang="fr-FR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(1 + a </a:t>
            </a:r>
            <a:r>
              <a:rPr b="0" lang="en-US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0" lang="fr-FR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+ b </a:t>
            </a:r>
            <a:r>
              <a:rPr b="0" lang="en-US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0" lang="fr-FR" sz="2500" strike="noStrike" u="none" baseline="30000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r>
              <a:rPr b="0" lang="fr-FR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+ c </a:t>
            </a:r>
            <a:r>
              <a:rPr b="0" lang="en-US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0" lang="fr-FR" sz="2500" strike="noStrike" u="none" baseline="30000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3 </a:t>
            </a:r>
            <a:r>
              <a:rPr b="0" lang="fr-FR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+ …) 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plus connue pour nous comme : 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R = R</a:t>
            </a:r>
            <a:r>
              <a:rPr b="0" lang="fr-FR" sz="2500" strike="noStrike" u="none" baseline="-25000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r>
              <a:rPr b="0" lang="fr-FR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(1 + a .</a:t>
            </a:r>
            <a:r>
              <a:rPr b="0" lang="en-US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0" lang="fr-FR" sz="25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)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9"/>
          <p:cNvSpPr/>
          <p:nvPr/>
        </p:nvSpPr>
        <p:spPr>
          <a:xfrm>
            <a:off x="3581280" y="5311800"/>
            <a:ext cx="4800600" cy="1580760"/>
          </a:xfrm>
          <a:prstGeom prst="rect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9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avec :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buClr>
                <a:srgbClr val="ffffff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9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 la température en °C ; 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buClr>
                <a:srgbClr val="ffffff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9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r>
              <a:rPr b="0" lang="fr-FR" sz="1900" strike="noStrike" u="none" baseline="-25000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r>
              <a:rPr b="0" lang="fr-FR" sz="19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la résistance à 0 °C ; 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buClr>
                <a:srgbClr val="ffffff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9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a, b et c des coefficients positifs, spécifiques au métal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AutoShape 10"/>
          <p:cNvSpPr/>
          <p:nvPr/>
        </p:nvSpPr>
        <p:spPr>
          <a:xfrm>
            <a:off x="6705720" y="4702320"/>
            <a:ext cx="380880" cy="1066680"/>
          </a:xfrm>
          <a:prstGeom prst="downArrow">
            <a:avLst>
              <a:gd name="adj1" fmla="val 50000"/>
              <a:gd name="adj2" fmla="val 70014"/>
            </a:avLst>
          </a:prstGeom>
          <a:solidFill>
            <a:srgbClr val="80008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04" dur="indefinite" restart="never" nodeType="tmRoot">
          <p:childTnLst>
            <p:seq>
              <p:cTn id="305" dur="indefinite" nodeType="mainSeq">
                <p:childTnLst>
                  <p:par>
                    <p:cTn id="306" nodeType="clickEffect" fill="hold">
                      <p:stCondLst>
                        <p:cond delay="indefinite"/>
                      </p:stCondLst>
                      <p:childTnLst>
                        <p:par>
                          <p:cTn id="3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10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nodeType="clickEffect" fill="hold">
                      <p:stCondLst>
                        <p:cond delay="indefinite"/>
                      </p:stCondLst>
                      <p:childTnLst>
                        <p:par>
                          <p:cTn id="3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4" presetSubtype="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vertical)" transition="in">
                                      <p:cBhvr additive="repl">
                                        <p:cTn id="315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17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9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0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Line 10"/>
          <p:cNvSpPr/>
          <p:nvPr/>
        </p:nvSpPr>
        <p:spPr>
          <a:xfrm>
            <a:off x="5508720" y="3068640"/>
            <a:ext cx="576000" cy="576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Line 11"/>
          <p:cNvSpPr/>
          <p:nvPr/>
        </p:nvSpPr>
        <p:spPr>
          <a:xfrm flipH="1">
            <a:off x="5580000" y="3645000"/>
            <a:ext cx="503280" cy="576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Line 12"/>
          <p:cNvSpPr/>
          <p:nvPr/>
        </p:nvSpPr>
        <p:spPr>
          <a:xfrm flipH="1">
            <a:off x="1692000" y="4221000"/>
            <a:ext cx="3887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Line 13"/>
          <p:cNvSpPr/>
          <p:nvPr/>
        </p:nvSpPr>
        <p:spPr>
          <a:xfrm flipH="1">
            <a:off x="1692000" y="3068640"/>
            <a:ext cx="3816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Oval 14"/>
          <p:cNvSpPr/>
          <p:nvPr/>
        </p:nvSpPr>
        <p:spPr>
          <a:xfrm>
            <a:off x="6012000" y="3573360"/>
            <a:ext cx="144360" cy="14292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Oval 15"/>
          <p:cNvSpPr/>
          <p:nvPr/>
        </p:nvSpPr>
        <p:spPr>
          <a:xfrm>
            <a:off x="1619280" y="2997360"/>
            <a:ext cx="144360" cy="14436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Oval 16"/>
          <p:cNvSpPr/>
          <p:nvPr/>
        </p:nvSpPr>
        <p:spPr>
          <a:xfrm>
            <a:off x="1619280" y="4149720"/>
            <a:ext cx="144360" cy="14436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Box 19"/>
          <p:cNvSpPr/>
          <p:nvPr/>
        </p:nvSpPr>
        <p:spPr>
          <a:xfrm>
            <a:off x="4916520" y="5084640"/>
            <a:ext cx="22399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Soudure « chaude 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Jonction de mesure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Box 20"/>
          <p:cNvSpPr/>
          <p:nvPr/>
        </p:nvSpPr>
        <p:spPr>
          <a:xfrm>
            <a:off x="6249240" y="3789360"/>
            <a:ext cx="299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Box 21"/>
          <p:cNvSpPr/>
          <p:nvPr/>
        </p:nvSpPr>
        <p:spPr>
          <a:xfrm>
            <a:off x="1497960" y="4581360"/>
            <a:ext cx="299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Box 23"/>
          <p:cNvSpPr/>
          <p:nvPr/>
        </p:nvSpPr>
        <p:spPr>
          <a:xfrm>
            <a:off x="6468480" y="3860640"/>
            <a:ext cx="371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Box 24"/>
          <p:cNvSpPr/>
          <p:nvPr/>
        </p:nvSpPr>
        <p:spPr>
          <a:xfrm>
            <a:off x="1624680" y="4724280"/>
            <a:ext cx="307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25"/>
          <p:cNvSpPr/>
          <p:nvPr/>
        </p:nvSpPr>
        <p:spPr>
          <a:xfrm>
            <a:off x="1332000" y="2852640"/>
            <a:ext cx="576000" cy="1656000"/>
          </a:xfrm>
          <a:prstGeom prst="rect">
            <a:avLst/>
          </a:prstGeom>
          <a:noFill/>
          <a:ln w="9360">
            <a:solidFill>
              <a:srgbClr val="0000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Box 26"/>
          <p:cNvSpPr/>
          <p:nvPr/>
        </p:nvSpPr>
        <p:spPr>
          <a:xfrm>
            <a:off x="2942640" y="2708280"/>
            <a:ext cx="14202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Conducteur 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Box 27"/>
          <p:cNvSpPr/>
          <p:nvPr/>
        </p:nvSpPr>
        <p:spPr>
          <a:xfrm>
            <a:off x="2937240" y="3789360"/>
            <a:ext cx="14202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Conducteur B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Line 28"/>
          <p:cNvSpPr/>
          <p:nvPr/>
        </p:nvSpPr>
        <p:spPr>
          <a:xfrm flipV="1">
            <a:off x="4356000" y="2133720"/>
            <a:ext cx="1656000" cy="7905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Line 29"/>
          <p:cNvSpPr/>
          <p:nvPr/>
        </p:nvSpPr>
        <p:spPr>
          <a:xfrm flipV="1">
            <a:off x="4356000" y="2205000"/>
            <a:ext cx="1656000" cy="17287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Box 30"/>
          <p:cNvSpPr/>
          <p:nvPr/>
        </p:nvSpPr>
        <p:spPr>
          <a:xfrm>
            <a:off x="6040440" y="1846440"/>
            <a:ext cx="1841400" cy="6426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Deux matériaux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différents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Box 17"/>
          <p:cNvSpPr/>
          <p:nvPr/>
        </p:nvSpPr>
        <p:spPr>
          <a:xfrm>
            <a:off x="455040" y="5157720"/>
            <a:ext cx="237924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Soudure « froide 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Jonction de référence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ectangle 22"/>
          <p:cNvSpPr/>
          <p:nvPr/>
        </p:nvSpPr>
        <p:spPr>
          <a:xfrm>
            <a:off x="2640600" y="1168560"/>
            <a:ext cx="344196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Thermocouple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ectangle 22"/>
          <p:cNvSpPr/>
          <p:nvPr/>
        </p:nvSpPr>
        <p:spPr>
          <a:xfrm>
            <a:off x="2640600" y="1168560"/>
            <a:ext cx="344196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Thermocouple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1" name="Object 74"/>
          <p:cNvGraphicFramePr/>
          <p:nvPr/>
        </p:nvGraphicFramePr>
        <p:xfrm>
          <a:off x="804960" y="2776680"/>
          <a:ext cx="6818040" cy="325260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392" name="Object 7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04960" y="2776680"/>
                    <a:ext cx="6818040" cy="32526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93" name="Text Box 75"/>
          <p:cNvSpPr/>
          <p:nvPr/>
        </p:nvSpPr>
        <p:spPr>
          <a:xfrm>
            <a:off x="949680" y="2090880"/>
            <a:ext cx="3763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Les matériaux thermo-électriques :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Equilibre Thermique –Principe zéro de la thermodynamique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31"/>
          <p:cNvSpPr/>
          <p:nvPr/>
        </p:nvSpPr>
        <p:spPr>
          <a:xfrm>
            <a:off x="714240" y="1571760"/>
            <a:ext cx="6715440" cy="9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Considérons deux systèmes A et B initialement dans les états d'équilibre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Calibri"/>
              </a:rPr>
              <a:t>A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et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Calibri"/>
              </a:rPr>
              <a:t>B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et mettons-les en contact par l'intermédiaire d'une cloison telle qu'il n'y ait aucune interaction mécanique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ectangle 32"/>
          <p:cNvSpPr/>
          <p:nvPr/>
        </p:nvSpPr>
        <p:spPr>
          <a:xfrm>
            <a:off x="400680" y="1214280"/>
            <a:ext cx="4056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b050"/>
                </a:solidFill>
                <a:effectLst/>
                <a:uFillTx/>
                <a:latin typeface="Calibri"/>
              </a:rPr>
              <a:t>Equilibre thermique entre deux systèmes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2" name="Group 29"/>
          <p:cNvGrpSpPr/>
          <p:nvPr/>
        </p:nvGrpSpPr>
        <p:grpSpPr>
          <a:xfrm>
            <a:off x="2428920" y="2928960"/>
            <a:ext cx="3929040" cy="2789280"/>
            <a:chOff x="2428920" y="2928960"/>
            <a:chExt cx="3929040" cy="2789280"/>
          </a:xfrm>
        </p:grpSpPr>
        <p:sp>
          <p:nvSpPr>
            <p:cNvPr id="423" name="AutoShape 30"/>
            <p:cNvSpPr/>
            <p:nvPr/>
          </p:nvSpPr>
          <p:spPr>
            <a:xfrm>
              <a:off x="2428920" y="2928960"/>
              <a:ext cx="3929040" cy="27892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Text Box 31"/>
            <p:cNvSpPr/>
            <p:nvPr/>
          </p:nvSpPr>
          <p:spPr>
            <a:xfrm>
              <a:off x="2788200" y="4907160"/>
              <a:ext cx="500040" cy="626400"/>
            </a:xfrm>
            <a:prstGeom prst="rect">
              <a:avLst/>
            </a:prstGeom>
            <a:solidFill>
              <a:srgbClr val="cc99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7880" rIns="47880" tIns="23760" bIns="23760" anchor="t">
              <a:normAutofit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0" lang="fr-FR" sz="1400" strike="noStrike" u="none" baseline="-25000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Text Box 32"/>
            <p:cNvSpPr/>
            <p:nvPr/>
          </p:nvSpPr>
          <p:spPr>
            <a:xfrm>
              <a:off x="3288240" y="4907160"/>
              <a:ext cx="180000" cy="626400"/>
            </a:xfrm>
            <a:prstGeom prst="rect">
              <a:avLst/>
            </a:prstGeom>
            <a:solidFill>
              <a:srgbClr val="8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7880" rIns="47880" tIns="23760" bIns="2376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Text Box 33"/>
            <p:cNvSpPr/>
            <p:nvPr/>
          </p:nvSpPr>
          <p:spPr>
            <a:xfrm>
              <a:off x="3466440" y="4904280"/>
              <a:ext cx="500760" cy="626400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7880" rIns="47880" tIns="23760" bIns="23760" anchor="t">
              <a:normAutofit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0" lang="fr-FR" sz="1400" strike="noStrike" u="none" baseline="-25000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Text Box 34"/>
            <p:cNvSpPr/>
            <p:nvPr/>
          </p:nvSpPr>
          <p:spPr>
            <a:xfrm>
              <a:off x="4638960" y="4897080"/>
              <a:ext cx="500040" cy="6274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7880" rIns="47880" tIns="23760" bIns="23760" anchor="t">
              <a:normAutofit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E’</a:t>
              </a:r>
              <a:r>
                <a:rPr b="0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Text Box 35" descr="Grand damier"/>
            <p:cNvSpPr/>
            <p:nvPr/>
          </p:nvSpPr>
          <p:spPr>
            <a:xfrm>
              <a:off x="5139000" y="4897080"/>
              <a:ext cx="179280" cy="627480"/>
            </a:xfrm>
            <a:prstGeom prst="rect">
              <a:avLst/>
            </a:prstGeom>
            <a:blipFill rotWithShape="0">
              <a:blip r:embed="rId1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7880" rIns="47880" tIns="23760" bIns="23760" anchor="t">
              <a:normAutofit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Text Box 36"/>
            <p:cNvSpPr/>
            <p:nvPr/>
          </p:nvSpPr>
          <p:spPr>
            <a:xfrm>
              <a:off x="5317200" y="4894200"/>
              <a:ext cx="500040" cy="62856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7880" rIns="47880" tIns="23760" bIns="23760" anchor="t">
              <a:normAutofit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E’</a:t>
              </a:r>
              <a:r>
                <a:rPr b="0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0" name="Text Box 37"/>
            <p:cNvSpPr/>
            <p:nvPr/>
          </p:nvSpPr>
          <p:spPr>
            <a:xfrm>
              <a:off x="3838320" y="3400200"/>
              <a:ext cx="509760" cy="628200"/>
            </a:xfrm>
            <a:prstGeom prst="rect">
              <a:avLst/>
            </a:prstGeom>
            <a:solidFill>
              <a:srgbClr val="cc99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7880" rIns="47880" tIns="23760" bIns="23760" anchor="t">
              <a:normAutofit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0" lang="fr-FR" sz="1400" strike="noStrike" u="none" baseline="-25000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Text Box 38"/>
            <p:cNvSpPr/>
            <p:nvPr/>
          </p:nvSpPr>
          <p:spPr>
            <a:xfrm>
              <a:off x="4517280" y="3396960"/>
              <a:ext cx="509760" cy="628560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7880" rIns="47880" tIns="23760" bIns="23760" anchor="t">
              <a:normAutofit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0" lang="fr-FR" sz="1400" strike="noStrike" u="none" baseline="-25000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AutoShape 39"/>
            <p:cNvSpPr/>
            <p:nvPr/>
          </p:nvSpPr>
          <p:spPr>
            <a:xfrm rot="8010600">
              <a:off x="3712320" y="4262040"/>
              <a:ext cx="451080" cy="125280"/>
            </a:xfrm>
            <a:custGeom>
              <a:avLst/>
              <a:gdLst>
                <a:gd name="textAreaLeft" fmla="*/ 70560 w 451080"/>
                <a:gd name="textAreaRight" fmla="*/ 394560 w 451080"/>
                <a:gd name="textAreaTop" fmla="*/ 31680 h 125280"/>
                <a:gd name="textAreaBottom" fmla="*/ 94680 h 12528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0000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200" bIns="16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AutoShape 40"/>
            <p:cNvSpPr/>
            <p:nvPr/>
          </p:nvSpPr>
          <p:spPr>
            <a:xfrm rot="3338400">
              <a:off x="4794840" y="4261680"/>
              <a:ext cx="451080" cy="120600"/>
            </a:xfrm>
            <a:custGeom>
              <a:avLst/>
              <a:gdLst>
                <a:gd name="textAreaLeft" fmla="*/ 70560 w 451080"/>
                <a:gd name="textAreaRight" fmla="*/ 394560 w 451080"/>
                <a:gd name="textAreaTop" fmla="*/ 29880 h 120600"/>
                <a:gd name="textAreaBottom" fmla="*/ 90720 h 1206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040" bIns="140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AutoShape 41"/>
            <p:cNvSpPr/>
            <p:nvPr/>
          </p:nvSpPr>
          <p:spPr>
            <a:xfrm>
              <a:off x="2662560" y="4522680"/>
              <a:ext cx="1759680" cy="1093680"/>
            </a:xfrm>
            <a:prstGeom prst="roundRect">
              <a:avLst>
                <a:gd name="adj" fmla="val 16667"/>
              </a:avLst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AutoShape 42"/>
            <p:cNvSpPr/>
            <p:nvPr/>
          </p:nvSpPr>
          <p:spPr>
            <a:xfrm>
              <a:off x="3618000" y="3049200"/>
              <a:ext cx="1865520" cy="1073880"/>
            </a:xfrm>
            <a:prstGeom prst="roundRect">
              <a:avLst>
                <a:gd name="adj" fmla="val 16667"/>
              </a:avLst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AutoShape 43"/>
            <p:cNvSpPr/>
            <p:nvPr/>
          </p:nvSpPr>
          <p:spPr>
            <a:xfrm>
              <a:off x="4478400" y="4535640"/>
              <a:ext cx="1759680" cy="1062720"/>
            </a:xfrm>
            <a:prstGeom prst="roundRect">
              <a:avLst>
                <a:gd name="adj" fmla="val 16667"/>
              </a:avLst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7" name="Rectangle 48"/>
          <p:cNvSpPr/>
          <p:nvPr/>
        </p:nvSpPr>
        <p:spPr>
          <a:xfrm>
            <a:off x="2694600" y="5786280"/>
            <a:ext cx="1401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adiabatique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ectangle 49"/>
          <p:cNvSpPr/>
          <p:nvPr/>
        </p:nvSpPr>
        <p:spPr>
          <a:xfrm>
            <a:off x="4753440" y="5786280"/>
            <a:ext cx="1197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diatherme.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Rectangle 50"/>
          <p:cNvSpPr/>
          <p:nvPr/>
        </p:nvSpPr>
        <p:spPr>
          <a:xfrm>
            <a:off x="4143240" y="6072120"/>
            <a:ext cx="45720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 dit que les systèmes A et B sont en équilibre thermique entre eux.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0" name="Connecteur droit avec flèche 53"/>
          <p:cNvCxnSpPr/>
          <p:nvPr/>
        </p:nvCxnSpPr>
        <p:spPr>
          <a:xfrm>
            <a:off x="6071760" y="5500800"/>
            <a:ext cx="786600" cy="64332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cxnSp>
        <p:nvCxnSpPr>
          <p:cNvPr id="441" name="Connecteur droit avec flèche 56"/>
          <p:cNvCxnSpPr/>
          <p:nvPr/>
        </p:nvCxnSpPr>
        <p:spPr>
          <a:xfrm>
            <a:off x="3357720" y="5572080"/>
            <a:ext cx="72000" cy="35784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cxnSp>
        <p:nvCxnSpPr>
          <p:cNvPr id="442" name="Connecteur droit avec flèche 58"/>
          <p:cNvCxnSpPr>
            <a:stCxn id="428" idx="2"/>
          </p:cNvCxnSpPr>
          <p:nvPr/>
        </p:nvCxnSpPr>
        <p:spPr>
          <a:xfrm flipH="1">
            <a:off x="5214600" y="5524560"/>
            <a:ext cx="15120" cy="33408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Equilibre Thermique –Principe zéro de la thermodynamique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ectangle 51"/>
          <p:cNvSpPr/>
          <p:nvPr/>
        </p:nvSpPr>
        <p:spPr>
          <a:xfrm>
            <a:off x="1078920" y="1214280"/>
            <a:ext cx="2219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b050"/>
                </a:solidFill>
                <a:effectLst/>
                <a:uFillTx/>
                <a:latin typeface="Calibri"/>
              </a:rPr>
              <a:t>Cas de trois systèmes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68" name="Group 9"/>
          <p:cNvGrpSpPr/>
          <p:nvPr/>
        </p:nvGrpSpPr>
        <p:grpSpPr>
          <a:xfrm>
            <a:off x="3786120" y="4286160"/>
            <a:ext cx="2230560" cy="1677960"/>
            <a:chOff x="3786120" y="4286160"/>
            <a:chExt cx="2230560" cy="1677960"/>
          </a:xfrm>
        </p:grpSpPr>
        <p:sp>
          <p:nvSpPr>
            <p:cNvPr id="469" name="Text Box 10"/>
            <p:cNvSpPr/>
            <p:nvPr/>
          </p:nvSpPr>
          <p:spPr>
            <a:xfrm>
              <a:off x="4231800" y="5324040"/>
              <a:ext cx="423360" cy="555480"/>
            </a:xfrm>
            <a:prstGeom prst="rect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1480" rIns="51480" tIns="25560" bIns="25560" anchor="t">
              <a:normAutofit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0" lang="fr-FR" sz="12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Text Box 11"/>
            <p:cNvSpPr/>
            <p:nvPr/>
          </p:nvSpPr>
          <p:spPr>
            <a:xfrm>
              <a:off x="4655520" y="5324040"/>
              <a:ext cx="152280" cy="555480"/>
            </a:xfrm>
            <a:prstGeom prst="rect">
              <a:avLst/>
            </a:prstGeom>
            <a:solidFill>
              <a:srgbClr val="8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1480" rIns="51480" tIns="25560" bIns="2556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Text Box 12"/>
            <p:cNvSpPr/>
            <p:nvPr/>
          </p:nvSpPr>
          <p:spPr>
            <a:xfrm>
              <a:off x="4806000" y="5321160"/>
              <a:ext cx="424800" cy="556560"/>
            </a:xfrm>
            <a:prstGeom prst="rect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1480" rIns="51480" tIns="25560" bIns="25560" anchor="t">
              <a:normAutofit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0" lang="fr-FR" sz="12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AutoShape 13"/>
            <p:cNvSpPr/>
            <p:nvPr/>
          </p:nvSpPr>
          <p:spPr>
            <a:xfrm>
              <a:off x="3786120" y="4286160"/>
              <a:ext cx="2230560" cy="1677960"/>
            </a:xfrm>
            <a:prstGeom prst="roundRect">
              <a:avLst>
                <a:gd name="adj" fmla="val 16667"/>
              </a:avLst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Text Box 14" descr="Grand damier"/>
            <p:cNvSpPr/>
            <p:nvPr/>
          </p:nvSpPr>
          <p:spPr>
            <a:xfrm>
              <a:off x="4269960" y="5081400"/>
              <a:ext cx="960480" cy="239400"/>
            </a:xfrm>
            <a:prstGeom prst="rect">
              <a:avLst/>
            </a:prstGeom>
            <a:blipFill rotWithShape="0">
              <a:blip r:embed="rId1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1480" rIns="51480" tIns="25560" bIns="25560" anchor="t">
              <a:normAutofit fontScale="25000" lnSpcReduction="1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0" lang="fr-FR" sz="12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Text Box 15"/>
            <p:cNvSpPr/>
            <p:nvPr/>
          </p:nvSpPr>
          <p:spPr>
            <a:xfrm>
              <a:off x="4286160" y="4522680"/>
              <a:ext cx="968400" cy="594360"/>
            </a:xfrm>
            <a:prstGeom prst="rect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1480" rIns="51480" tIns="25560" bIns="25560" anchor="t">
              <a:normAutofit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C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1" lang="fr-FR" sz="1200" strike="noStrike" u="none" baseline="-25000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C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5" name="Group 16"/>
          <p:cNvGrpSpPr/>
          <p:nvPr/>
        </p:nvGrpSpPr>
        <p:grpSpPr>
          <a:xfrm>
            <a:off x="3786120" y="2071800"/>
            <a:ext cx="2017800" cy="1606320"/>
            <a:chOff x="3786120" y="2071800"/>
            <a:chExt cx="2017800" cy="1606320"/>
          </a:xfrm>
        </p:grpSpPr>
        <p:sp>
          <p:nvSpPr>
            <p:cNvPr id="476" name="Text Box 17"/>
            <p:cNvSpPr/>
            <p:nvPr/>
          </p:nvSpPr>
          <p:spPr>
            <a:xfrm>
              <a:off x="4167360" y="3065400"/>
              <a:ext cx="383040" cy="531720"/>
            </a:xfrm>
            <a:prstGeom prst="rect">
              <a:avLst/>
            </a:prstGeom>
            <a:solidFill>
              <a:srgbClr val="cc99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1480" rIns="51480" tIns="25560" bIns="25560" anchor="t">
              <a:normAutofit fontScale="92500"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1" lang="fr-FR" sz="1200" strike="noStrike" u="none" baseline="-25000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AutoShape 18"/>
            <p:cNvSpPr/>
            <p:nvPr/>
          </p:nvSpPr>
          <p:spPr>
            <a:xfrm>
              <a:off x="3786120" y="2071800"/>
              <a:ext cx="2017800" cy="1606320"/>
            </a:xfrm>
            <a:prstGeom prst="roundRect">
              <a:avLst>
                <a:gd name="adj" fmla="val 16667"/>
              </a:avLst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Text Box 19" descr="Diagonales larges vers le haut"/>
            <p:cNvSpPr/>
            <p:nvPr/>
          </p:nvSpPr>
          <p:spPr>
            <a:xfrm>
              <a:off x="4554360" y="3068280"/>
              <a:ext cx="123840" cy="528840"/>
            </a:xfrm>
            <a:prstGeom prst="rect">
              <a:avLst/>
            </a:prstGeom>
            <a:blipFill rotWithShape="0">
              <a:blip r:embed="rId2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1480" rIns="51480" tIns="25560" bIns="2556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Text Box 20"/>
            <p:cNvSpPr/>
            <p:nvPr/>
          </p:nvSpPr>
          <p:spPr>
            <a:xfrm>
              <a:off x="4708440" y="3062520"/>
              <a:ext cx="384120" cy="532800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1480" rIns="51480" tIns="25560" bIns="25560" anchor="t">
              <a:normAutofit fontScale="92500"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1" lang="fr-FR" sz="1200" strike="noStrike" u="none" baseline="-25000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Text Box 21"/>
            <p:cNvSpPr/>
            <p:nvPr/>
          </p:nvSpPr>
          <p:spPr>
            <a:xfrm>
              <a:off x="4192920" y="2836080"/>
              <a:ext cx="894240" cy="229320"/>
            </a:xfrm>
            <a:prstGeom prst="rect">
              <a:avLst/>
            </a:prstGeom>
            <a:solidFill>
              <a:srgbClr val="0033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1480" rIns="51480" tIns="25560" bIns="25560" anchor="t">
              <a:normAutofit fontScale="25000" lnSpcReduction="1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0" lang="fr-FR" sz="12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Text Box 22"/>
            <p:cNvSpPr/>
            <p:nvPr/>
          </p:nvSpPr>
          <p:spPr>
            <a:xfrm>
              <a:off x="4211280" y="2304360"/>
              <a:ext cx="901440" cy="537840"/>
            </a:xfrm>
            <a:prstGeom prst="rect">
              <a:avLst/>
            </a:prstGeom>
            <a:solidFill>
              <a:srgbClr val="99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1480" rIns="51480" tIns="25560" bIns="25560" anchor="t">
              <a:normAutofit fontScale="92500"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C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r>
                <a:rPr b="1" lang="fr-FR" sz="1200" strike="noStrike" u="none" baseline="-25000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C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2" name="Rectangle 72"/>
          <p:cNvSpPr/>
          <p:nvPr/>
        </p:nvSpPr>
        <p:spPr>
          <a:xfrm>
            <a:off x="428760" y="1428840"/>
            <a:ext cx="857232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Considérons maintenant trois systèmes A, B et C dans les états d'équilibre respectifs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,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Calibri"/>
              </a:rPr>
              <a:t>B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et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Rectangle 73"/>
          <p:cNvSpPr/>
          <p:nvPr/>
        </p:nvSpPr>
        <p:spPr>
          <a:xfrm>
            <a:off x="949680" y="2714760"/>
            <a:ext cx="2038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cloison adiabatique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Rectangle 76"/>
          <p:cNvSpPr/>
          <p:nvPr/>
        </p:nvSpPr>
        <p:spPr>
          <a:xfrm>
            <a:off x="6141600" y="3273480"/>
            <a:ext cx="1853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cloison diatherme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79"/>
          <p:cNvSpPr/>
          <p:nvPr/>
        </p:nvSpPr>
        <p:spPr>
          <a:xfrm>
            <a:off x="357120" y="3857760"/>
            <a:ext cx="85726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Seuls les systèmes A et B sont en équilibre thermique entre eux. Le système C n’évolue pas.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86" name="Connecteur droit avec flèche 81"/>
          <p:cNvCxnSpPr/>
          <p:nvPr/>
        </p:nvCxnSpPr>
        <p:spPr>
          <a:xfrm>
            <a:off x="3571560" y="2928960"/>
            <a:ext cx="429480" cy="216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cxnSp>
        <p:nvCxnSpPr>
          <p:cNvPr id="487" name="Forme 88"/>
          <p:cNvCxnSpPr/>
          <p:nvPr/>
        </p:nvCxnSpPr>
        <p:spPr>
          <a:xfrm flipV="1" rot="10800000">
            <a:off x="4571280" y="3499200"/>
            <a:ext cx="1599480" cy="97560"/>
          </a:xfrm>
          <a:prstGeom prst="bentConnector4">
            <a:avLst>
              <a:gd name="adj1" fmla="val 20576"/>
              <a:gd name="adj2" fmla="val 335555"/>
            </a:avLst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sp>
        <p:nvSpPr>
          <p:cNvPr id="488" name="Rectangle 90"/>
          <p:cNvSpPr/>
          <p:nvPr/>
        </p:nvSpPr>
        <p:spPr>
          <a:xfrm>
            <a:off x="6093360" y="5000760"/>
            <a:ext cx="2038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cloison adiabatique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ectangle 91"/>
          <p:cNvSpPr/>
          <p:nvPr/>
        </p:nvSpPr>
        <p:spPr>
          <a:xfrm>
            <a:off x="1141200" y="5072040"/>
            <a:ext cx="1853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cloison diatherme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0" name="Connecteur droit avec flèche 93"/>
          <p:cNvCxnSpPr/>
          <p:nvPr/>
        </p:nvCxnSpPr>
        <p:spPr>
          <a:xfrm>
            <a:off x="3071880" y="5214960"/>
            <a:ext cx="929520" cy="216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cxnSp>
        <p:nvCxnSpPr>
          <p:cNvPr id="491" name="Forme 96"/>
          <p:cNvCxnSpPr/>
          <p:nvPr/>
        </p:nvCxnSpPr>
        <p:spPr>
          <a:xfrm flipV="1" rot="10800000">
            <a:off x="4714920" y="5285880"/>
            <a:ext cx="1983240" cy="594720"/>
          </a:xfrm>
          <a:prstGeom prst="bentConnector4">
            <a:avLst>
              <a:gd name="adj1" fmla="val 30555"/>
              <a:gd name="adj2" fmla="val 138522"/>
            </a:avLst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sp>
        <p:nvSpPr>
          <p:cNvPr id="492" name="Rectangle 98"/>
          <p:cNvSpPr/>
          <p:nvPr/>
        </p:nvSpPr>
        <p:spPr>
          <a:xfrm>
            <a:off x="0" y="6130800"/>
            <a:ext cx="6357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 est en équilibre avec C  et B est en équilibre avec C.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Flèche droite 51"/>
          <p:cNvSpPr/>
          <p:nvPr/>
        </p:nvSpPr>
        <p:spPr>
          <a:xfrm>
            <a:off x="5195880" y="6211800"/>
            <a:ext cx="493560" cy="262080"/>
          </a:xfrm>
          <a:prstGeom prst="rightArrow">
            <a:avLst>
              <a:gd name="adj1" fmla="val 50000"/>
              <a:gd name="adj2" fmla="val 49958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ZoneTexte 52"/>
          <p:cNvSpPr/>
          <p:nvPr/>
        </p:nvSpPr>
        <p:spPr>
          <a:xfrm>
            <a:off x="5958000" y="6168960"/>
            <a:ext cx="2709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est en équilibre avec 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Equilibre Thermique –Principe zéro de la thermodynamique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Rectangle 52"/>
          <p:cNvSpPr/>
          <p:nvPr/>
        </p:nvSpPr>
        <p:spPr>
          <a:xfrm>
            <a:off x="453960" y="993600"/>
            <a:ext cx="3805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Principe zéro de la Thermodynamique 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Rectangle 1"/>
          <p:cNvSpPr/>
          <p:nvPr/>
        </p:nvSpPr>
        <p:spPr>
          <a:xfrm>
            <a:off x="127080" y="1433520"/>
            <a:ext cx="828684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 résultat précédent porte le nom de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principe zéro de la Thermodynamique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« </a:t>
            </a:r>
            <a:r>
              <a:rPr b="1" i="1" lang="fr-FR" sz="24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Deux systèmes thermodynamiques en équilibre thermique avec un même troisième sont en équilibre thermique entre eux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».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7" name="Picture 17" descr="Silhouette Bonhomme | Corps humain, Silhouette enfant, Activités du corps  humain"/>
          <p:cNvPicPr/>
          <p:nvPr/>
        </p:nvPicPr>
        <p:blipFill>
          <a:blip r:embed="rId1"/>
          <a:stretch/>
        </p:blipFill>
        <p:spPr>
          <a:xfrm>
            <a:off x="7034040" y="3870360"/>
            <a:ext cx="2021040" cy="298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8" name="Image 2" descr=""/>
          <p:cNvPicPr/>
          <p:nvPr/>
        </p:nvPicPr>
        <p:blipFill>
          <a:blip r:embed="rId2"/>
          <a:stretch/>
        </p:blipFill>
        <p:spPr>
          <a:xfrm>
            <a:off x="4270320" y="4206960"/>
            <a:ext cx="2500200" cy="201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Rectangle 20"/>
          <p:cNvSpPr/>
          <p:nvPr/>
        </p:nvSpPr>
        <p:spPr>
          <a:xfrm>
            <a:off x="4613760" y="6261120"/>
            <a:ext cx="4226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00b050"/>
                </a:solidFill>
                <a:effectLst/>
                <a:uFillTx/>
                <a:latin typeface="Calibri"/>
              </a:rPr>
              <a:t>C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Rectangle 21"/>
          <p:cNvSpPr/>
          <p:nvPr/>
        </p:nvSpPr>
        <p:spPr>
          <a:xfrm>
            <a:off x="7797600" y="6281640"/>
            <a:ext cx="4370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B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Connecteur droit 8"/>
          <p:cNvSpPr/>
          <p:nvPr/>
        </p:nvSpPr>
        <p:spPr>
          <a:xfrm>
            <a:off x="0" y="3171960"/>
            <a:ext cx="9144000" cy="0"/>
          </a:xfrm>
          <a:prstGeom prst="line">
            <a:avLst/>
          </a:prstGeom>
          <a:ln w="7632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2" name="Image 9" descr=""/>
          <p:cNvPicPr/>
          <p:nvPr/>
        </p:nvPicPr>
        <p:blipFill>
          <a:blip r:embed="rId3"/>
          <a:stretch/>
        </p:blipFill>
        <p:spPr>
          <a:xfrm>
            <a:off x="303120" y="3946680"/>
            <a:ext cx="2928960" cy="2842920"/>
          </a:xfrm>
          <a:prstGeom prst="rect">
            <a:avLst/>
          </a:prstGeom>
          <a:noFill/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513" name="Object 11"/>
              <p:cNvSpPr txBox="1"/>
              <p:nvPr/>
            </p:nvSpPr>
            <p:spPr>
              <a:xfrm>
                <a:off x="1170000" y="5126040"/>
                <a:ext cx="2036880" cy="785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273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rPr>
                        <m:lit/>
                        <m:nor/>
                      </m:rPr>
                      <m:t xml:space="preserve">16</m:t>
                    </m:r>
                    <m:limLow>
                      <m:e>
                        <m:r>
                          <m:rPr>
                            <m:lit/>
                            <m:nor/>
                          </m:rPr>
                          <m:t xml:space="preserve">lim</m:t>
                        </m:r>
                      </m:e>
                      <m:lim>
                        <m:r>
                          <m:t xml:space="preserve">P</m:t>
                        </m:r>
                        <m:r>
                          <m:t xml:space="preserve">→</m:t>
                        </m:r>
                        <m:r>
                          <m:t xml:space="preserve">0</m:t>
                        </m:r>
                      </m:lim>
                    </m:limLow>
                    <m:f>
                      <m:num>
                        <m:r>
                          <m:t xml:space="preserve">P</m:t>
                        </m:r>
                      </m:num>
                      <m:den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t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513" name="Object 11"/>
              <p:cNvSpPr txBox="1"/>
              <p:nvPr/>
            </p:nvSpPr>
            <p:spPr>
              <a:xfrm>
                <a:off x="1170000" y="5126040"/>
                <a:ext cx="2036880" cy="785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514" name="Rectangle 4"/>
          <p:cNvSpPr/>
          <p:nvPr/>
        </p:nvSpPr>
        <p:spPr>
          <a:xfrm>
            <a:off x="1365840" y="6248520"/>
            <a:ext cx="457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ZoneTexte 10"/>
          <p:cNvSpPr/>
          <p:nvPr/>
        </p:nvSpPr>
        <p:spPr>
          <a:xfrm>
            <a:off x="5650560" y="4741920"/>
            <a:ext cx="1311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Résistance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Flèche droite 29"/>
          <p:cNvSpPr/>
          <p:nvPr/>
        </p:nvSpPr>
        <p:spPr>
          <a:xfrm>
            <a:off x="5386320" y="3475080"/>
            <a:ext cx="493920" cy="261720"/>
          </a:xfrm>
          <a:prstGeom prst="rightArrow">
            <a:avLst>
              <a:gd name="adj1" fmla="val 50000"/>
              <a:gd name="adj2" fmla="val 50063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ZoneTexte 52"/>
          <p:cNvSpPr/>
          <p:nvPr/>
        </p:nvSpPr>
        <p:spPr>
          <a:xfrm>
            <a:off x="5885280" y="3406680"/>
            <a:ext cx="2508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A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est en équilibre avec </a:t>
            </a: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ectangle 3"/>
          <p:cNvSpPr/>
          <p:nvPr/>
        </p:nvSpPr>
        <p:spPr>
          <a:xfrm>
            <a:off x="2782800" y="3146400"/>
            <a:ext cx="25956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A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est en équilibre avec </a:t>
            </a:r>
            <a:r>
              <a:rPr b="1" lang="fr-FR" sz="1800" strike="noStrike" u="none">
                <a:solidFill>
                  <a:srgbClr val="00b050"/>
                </a:solidFill>
                <a:effectLst/>
                <a:uFillTx/>
                <a:latin typeface="Calibri"/>
              </a:rPr>
              <a:t>C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                   et                        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B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est en équilibre avec </a:t>
            </a:r>
            <a:r>
              <a:rPr b="1" lang="fr-FR" sz="1800" strike="noStrike" u="none">
                <a:solidFill>
                  <a:srgbClr val="00b050"/>
                </a:solidFill>
                <a:effectLst/>
                <a:uFillTx/>
                <a:latin typeface="Calibri"/>
              </a:rPr>
              <a:t>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21" dur="indefinite" restart="never" nodeType="tmRoot">
          <p:childTnLst>
            <p:seq>
              <p:cTn id="322" dur="indefinite" nodeType="mainSeq">
                <p:childTnLst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5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5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5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50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50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1" dur="50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50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5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6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9" dur="500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0" dur="500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Modèle du gaz parfait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Rectangle 7"/>
          <p:cNvSpPr/>
          <p:nvPr/>
        </p:nvSpPr>
        <p:spPr>
          <a:xfrm>
            <a:off x="428760" y="1643040"/>
            <a:ext cx="8305560" cy="33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 </a:t>
            </a: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GAZ PARFAITS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70000"/>
              </a:lnSpc>
              <a:tabLst>
                <a:tab algn="l" pos="0"/>
                <a:tab algn="l" pos="76824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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	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Molécules assimilables à des points </a:t>
            </a:r>
            <a:r>
              <a:rPr b="1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immatériels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(</a:t>
            </a:r>
            <a:r>
              <a:rPr b="1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sans volume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propre)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70000"/>
              </a:lnSpc>
              <a:tabLst>
                <a:tab algn="l" pos="0"/>
                <a:tab algn="l" pos="76824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>
              <a:lnSpc>
                <a:spcPct val="100000"/>
              </a:lnSpc>
              <a:tabLst>
                <a:tab algn="l" pos="0"/>
                <a:tab algn="l" pos="76824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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	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Molécules </a:t>
            </a:r>
            <a:r>
              <a:rPr b="1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très éloignées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les unes des autres, </a:t>
            </a:r>
            <a:r>
              <a:rPr b="1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sans force d'interaction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(parfaitement indépendantes)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70000"/>
              </a:lnSpc>
              <a:tabLst>
                <a:tab algn="l" pos="0"/>
                <a:tab algn="l" pos="76824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>
              <a:lnSpc>
                <a:spcPct val="100000"/>
              </a:lnSpc>
              <a:tabLst>
                <a:tab algn="l" pos="0"/>
                <a:tab algn="l" pos="76824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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	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Les forces de répulsion ne se manifestent que lors des </a:t>
            </a:r>
            <a:r>
              <a:rPr b="1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chocs élastiques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sans perte d'énergie cinétique totale entre deux molécules</a:t>
            </a:r>
            <a:r>
              <a:rPr b="1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(E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r>
              <a:rPr b="1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+ E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r>
              <a:rPr b="1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= E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r>
              <a:rPr b="1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' + E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r>
              <a:rPr b="1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')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81" dur="indefinite" restart="never" nodeType="tmRoot">
          <p:childTnLst>
            <p:seq>
              <p:cTn id="382" dur="indefinite" nodeType="mainSeq">
                <p:childTnLst>
                  <p:par>
                    <p:cTn id="383" nodeType="clickEffect" fill="hold">
                      <p:stCondLst>
                        <p:cond delay="indefinite"/>
                      </p:stCondLst>
                      <p:childTnLst>
                        <p:par>
                          <p:cTn id="3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Modèle du gaz parfait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Rectangle 4"/>
          <p:cNvSpPr/>
          <p:nvPr/>
        </p:nvSpPr>
        <p:spPr>
          <a:xfrm>
            <a:off x="428760" y="1243080"/>
            <a:ext cx="8229600" cy="48765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r>
              <a:rPr b="1" i="1" lang="fr-FR" sz="20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DESCRIPTION MACROSCOPIQUE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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Lois observables traduisant la dépendance entre les variables d'état du gaz parfait 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19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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quantit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é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de mati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è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19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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volume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19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</a:t>
            </a:r>
            <a:r>
              <a:rPr b="0" lang="fr-FR" sz="19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pression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19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</a:t>
            </a:r>
            <a:r>
              <a:rPr b="0" lang="fr-FR" sz="19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temp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é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rature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 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 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DESCRIPTION MICROSCOPIQUE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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Théorie cinétique des gaz (comportement des molécules réelles lors des collisions)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Modèle du gaz parfait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ZoneTexte 4"/>
          <p:cNvSpPr/>
          <p:nvPr/>
        </p:nvSpPr>
        <p:spPr>
          <a:xfrm>
            <a:off x="642960" y="1285920"/>
            <a:ext cx="7143840" cy="25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L’état d’un gaz parfait dépend de 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 son nombre de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moles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 sa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pression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P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 son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volume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 sa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On note le gaz (n, P, V, T) par 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ZoneTexte 7"/>
          <p:cNvSpPr/>
          <p:nvPr/>
        </p:nvSpPr>
        <p:spPr>
          <a:xfrm>
            <a:off x="-285840" y="3070080"/>
            <a:ext cx="49291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2" marL="1371600" indent="-457200">
              <a:lnSpc>
                <a:spcPct val="100000"/>
              </a:lnSpc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Equation d’état des gaz parfaits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>
              <a:lnSpc>
                <a:spcPct val="100000"/>
              </a:lnSpc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50" name="Groupe 21"/>
          <p:cNvGrpSpPr/>
          <p:nvPr/>
        </p:nvGrpSpPr>
        <p:grpSpPr>
          <a:xfrm>
            <a:off x="214200" y="4214880"/>
            <a:ext cx="5786640" cy="1499040"/>
            <a:chOff x="214200" y="4214880"/>
            <a:chExt cx="5786640" cy="1499040"/>
          </a:xfrm>
        </p:grpSpPr>
        <p:sp>
          <p:nvSpPr>
            <p:cNvPr id="551" name="Rectangle 9"/>
            <p:cNvSpPr/>
            <p:nvPr/>
          </p:nvSpPr>
          <p:spPr>
            <a:xfrm>
              <a:off x="1285560" y="4214880"/>
              <a:ext cx="2274840" cy="500040"/>
            </a:xfrm>
            <a:prstGeom prst="rect">
              <a:avLst/>
            </a:prstGeom>
            <a:noFill/>
            <a:ln w="284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52" name="Connecteur droit avec flèche 11"/>
            <p:cNvCxnSpPr/>
            <p:nvPr/>
          </p:nvCxnSpPr>
          <p:spPr>
            <a:xfrm flipV="1">
              <a:off x="713880" y="4500000"/>
              <a:ext cx="857880" cy="72000"/>
            </a:xfrm>
            <a:prstGeom prst="straightConnector1">
              <a:avLst/>
            </a:prstGeom>
            <a:ln w="3240">
              <a:solidFill>
                <a:srgbClr val="000000"/>
              </a:solidFill>
              <a:miter/>
              <a:tailEnd len="med" type="arrow" w="med"/>
            </a:ln>
          </p:spPr>
        </p:cxnSp>
        <p:cxnSp>
          <p:nvCxnSpPr>
            <p:cNvPr id="553" name="Connecteur droit avec flèche 16"/>
            <p:cNvCxnSpPr/>
            <p:nvPr/>
          </p:nvCxnSpPr>
          <p:spPr>
            <a:xfrm flipV="1">
              <a:off x="1499040" y="4572000"/>
              <a:ext cx="500760" cy="643320"/>
            </a:xfrm>
            <a:prstGeom prst="straightConnector1">
              <a:avLst/>
            </a:prstGeom>
            <a:ln w="3240">
              <a:solidFill>
                <a:srgbClr val="000000"/>
              </a:solidFill>
              <a:miter/>
              <a:tailEnd len="med" type="arrow" w="med"/>
            </a:ln>
          </p:spPr>
        </p:cxnSp>
        <p:cxnSp>
          <p:nvCxnSpPr>
            <p:cNvPr id="554" name="Connecteur droit avec flèche 18"/>
            <p:cNvCxnSpPr/>
            <p:nvPr/>
          </p:nvCxnSpPr>
          <p:spPr>
            <a:xfrm flipH="1" flipV="1">
              <a:off x="2571480" y="4642920"/>
              <a:ext cx="72000" cy="714960"/>
            </a:xfrm>
            <a:prstGeom prst="straightConnector1">
              <a:avLst/>
            </a:prstGeom>
            <a:ln w="3240">
              <a:solidFill>
                <a:srgbClr val="000000"/>
              </a:solidFill>
              <a:miter/>
              <a:tailEnd len="med" type="arrow" w="med"/>
            </a:ln>
          </p:spPr>
        </p:cxnSp>
        <p:cxnSp>
          <p:nvCxnSpPr>
            <p:cNvPr id="555" name="Connecteur droit avec flèche 21"/>
            <p:cNvCxnSpPr/>
            <p:nvPr/>
          </p:nvCxnSpPr>
          <p:spPr>
            <a:xfrm flipH="1">
              <a:off x="3214080" y="4430520"/>
              <a:ext cx="1143720" cy="70200"/>
            </a:xfrm>
            <a:prstGeom prst="straightConnector1">
              <a:avLst/>
            </a:prstGeom>
            <a:ln w="3240">
              <a:solidFill>
                <a:srgbClr val="000000"/>
              </a:solidFill>
              <a:miter/>
              <a:tailEnd len="med" type="arrow" w="med"/>
            </a:ln>
          </p:spPr>
        </p:cxnSp>
        <p:cxnSp>
          <p:nvCxnSpPr>
            <p:cNvPr id="556" name="Connecteur droit avec flèche 25"/>
            <p:cNvCxnSpPr/>
            <p:nvPr/>
          </p:nvCxnSpPr>
          <p:spPr>
            <a:xfrm flipH="1" flipV="1">
              <a:off x="2928240" y="4642560"/>
              <a:ext cx="929160" cy="500760"/>
            </a:xfrm>
            <a:prstGeom prst="straightConnector1">
              <a:avLst/>
            </a:prstGeom>
            <a:ln w="3240">
              <a:solidFill>
                <a:srgbClr val="000000"/>
              </a:solidFill>
              <a:miter/>
              <a:tailEnd len="med" type="arrow" w="med"/>
            </a:ln>
          </p:spPr>
        </p:cxnSp>
        <p:sp>
          <p:nvSpPr>
            <p:cNvPr id="557" name="ZoneTexte 27"/>
            <p:cNvSpPr/>
            <p:nvPr/>
          </p:nvSpPr>
          <p:spPr>
            <a:xfrm>
              <a:off x="214200" y="4357440"/>
              <a:ext cx="64296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Pa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8" name="ZoneTexte 28"/>
            <p:cNvSpPr/>
            <p:nvPr/>
          </p:nvSpPr>
          <p:spPr>
            <a:xfrm>
              <a:off x="1071360" y="5172120"/>
              <a:ext cx="64296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m</a:t>
              </a:r>
              <a:r>
                <a:rPr b="1" lang="fr-FR" sz="2000" strike="noStrike" u="none" baseline="30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3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ZoneTexte 29"/>
            <p:cNvSpPr/>
            <p:nvPr/>
          </p:nvSpPr>
          <p:spPr>
            <a:xfrm>
              <a:off x="2500200" y="5315040"/>
              <a:ext cx="64296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mol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ZoneTexte 30"/>
            <p:cNvSpPr/>
            <p:nvPr/>
          </p:nvSpPr>
          <p:spPr>
            <a:xfrm>
              <a:off x="4357800" y="4214880"/>
              <a:ext cx="64296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K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1" name="ZoneTexte 31"/>
            <p:cNvSpPr/>
            <p:nvPr/>
          </p:nvSpPr>
          <p:spPr>
            <a:xfrm>
              <a:off x="3857760" y="4957920"/>
              <a:ext cx="214308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cste = 8,31 SI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ZoneTexte 32"/>
            <p:cNvSpPr/>
            <p:nvPr/>
          </p:nvSpPr>
          <p:spPr>
            <a:xfrm>
              <a:off x="1571400" y="4214880"/>
              <a:ext cx="180036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</a:t>
              </a: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.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V = n</a:t>
              </a: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.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R</a:t>
              </a: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.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63" name="Picture 7" descr="F1_10"/>
          <p:cNvPicPr/>
          <p:nvPr/>
        </p:nvPicPr>
        <p:blipFill>
          <a:blip r:embed="rId1"/>
          <a:stretch/>
        </p:blipFill>
        <p:spPr>
          <a:xfrm>
            <a:off x="6357960" y="2876400"/>
            <a:ext cx="2476440" cy="3695760"/>
          </a:xfrm>
          <a:prstGeom prst="rect">
            <a:avLst/>
          </a:prstGeom>
          <a:noFill/>
          <a:ln w="57240">
            <a:solidFill>
              <a:srgbClr val="c00000"/>
            </a:solidFill>
            <a:miter/>
          </a:ln>
        </p:spPr>
      </p:pic>
      <p:sp>
        <p:nvSpPr>
          <p:cNvPr id="564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Rectangle 31"/>
          <p:cNvSpPr/>
          <p:nvPr/>
        </p:nvSpPr>
        <p:spPr>
          <a:xfrm>
            <a:off x="18720" y="1071720"/>
            <a:ext cx="3756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DESCRIPTION MACROSCOPIQUE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Rectangle 32"/>
          <p:cNvSpPr/>
          <p:nvPr/>
        </p:nvSpPr>
        <p:spPr>
          <a:xfrm>
            <a:off x="0" y="6000840"/>
            <a:ext cx="6072120" cy="36828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seul intervient le nombre de molécules et non leur nature…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Rectangle 5"/>
          <p:cNvSpPr/>
          <p:nvPr/>
        </p:nvSpPr>
        <p:spPr>
          <a:xfrm>
            <a:off x="0" y="1487520"/>
            <a:ext cx="91440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CONSTANTE DES GAZ PARFAITS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Rectangle 6"/>
          <p:cNvSpPr/>
          <p:nvPr/>
        </p:nvSpPr>
        <p:spPr>
          <a:xfrm>
            <a:off x="0" y="222120"/>
            <a:ext cx="914400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ectangle 8"/>
          <p:cNvSpPr/>
          <p:nvPr/>
        </p:nvSpPr>
        <p:spPr>
          <a:xfrm>
            <a:off x="0" y="1995480"/>
            <a:ext cx="94060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1359000"/>
                <a:tab algn="l" pos="370836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D'après la loi d'Avogadro, pour une mole de gaz, le volume molaire gazeux normal est de </a:t>
            </a:r>
            <a:r>
              <a:rPr b="0" lang="fr-FR" sz="2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22,414 litres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(0,022414 m</a:t>
            </a:r>
            <a:r>
              <a:rPr b="0" lang="fr-FR" sz="22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 à </a:t>
            </a:r>
            <a:r>
              <a:rPr b="0" lang="fr-FR" sz="2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0°C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(273,15 K) sous une </a:t>
            </a:r>
            <a:r>
              <a:rPr b="0" lang="fr-FR" sz="2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atmosphère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(1,013.10</a:t>
            </a:r>
            <a:r>
              <a:rPr b="0" lang="fr-FR" sz="22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5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Pa), soit 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359000"/>
                <a:tab algn="l" pos="370836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359000"/>
                <a:tab algn="l" pos="370836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359000"/>
                <a:tab algn="l" pos="370836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Line 16"/>
          <p:cNvSpPr/>
          <p:nvPr/>
        </p:nvSpPr>
        <p:spPr>
          <a:xfrm>
            <a:off x="0" y="1066680"/>
            <a:ext cx="9144000" cy="0"/>
          </a:xfrm>
          <a:prstGeom prst="line">
            <a:avLst/>
          </a:prstGeom>
          <a:ln w="349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Modèle du gaz parfait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Rectangle 14"/>
          <p:cNvSpPr/>
          <p:nvPr/>
        </p:nvSpPr>
        <p:spPr>
          <a:xfrm>
            <a:off x="18720" y="1071720"/>
            <a:ext cx="3756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DESCRIPTION MACROSCOPIQUE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74" name="Object 10"/>
              <p:cNvSpPr txBox="1"/>
              <p:nvPr/>
            </p:nvSpPr>
            <p:spPr>
              <a:xfrm>
                <a:off x="1468440" y="3065400"/>
                <a:ext cx="6202440" cy="809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R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PV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nT</m:t>
                        </m:r>
                      </m:den>
                    </m:f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  <m:r>
                          <m:t xml:space="preserve">,</m:t>
                        </m:r>
                        <m:r>
                          <m:rPr>
                            <m:lit/>
                            <m:nor/>
                          </m:rPr>
                          <m:t xml:space="preserve">013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sSup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10</m:t>
                            </m:r>
                          </m:e>
                          <m:sup>
                            <m:r>
                              <m:t xml:space="preserve">5</m:t>
                            </m:r>
                          </m:sup>
                        </m:sSup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r>
                          <m:rPr>
                            <m:lit/>
                            <m:nor/>
                          </m:rPr>
                          <m:t xml:space="preserve">22</m:t>
                        </m:r>
                        <m:r>
                          <m:t xml:space="preserve">,</m:t>
                        </m:r>
                        <m:r>
                          <m:rPr>
                            <m:lit/>
                            <m:nor/>
                          </m:rPr>
                          <m:t xml:space="preserve">414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sSup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10</m:t>
                            </m:r>
                          </m:e>
                          <m:sup>
                            <m:r>
                              <m:t xml:space="preserve">−</m:t>
                            </m:r>
                            <m:r>
                              <m:t xml:space="preserve">3</m:t>
                            </m:r>
                          </m:sup>
                        </m:sSup>
                      </m:num>
                      <m:den>
                        <m:r>
                          <m:t xml:space="preserve">1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r>
                          <m:rPr>
                            <m:lit/>
                            <m:nor/>
                          </m:rPr>
                          <m:t xml:space="preserve">273</m:t>
                        </m:r>
                        <m:r>
                          <m:t xml:space="preserve">,</m:t>
                        </m:r>
                        <m:r>
                          <m:rPr>
                            <m:lit/>
                            <m:nor/>
                          </m:rPr>
                          <m:t xml:space="preserve">15</m:t>
                        </m:r>
                      </m:den>
                    </m:f>
                    <m:r>
                      <m:t xml:space="preserve">=</m:t>
                    </m:r>
                    <m:r>
                      <m:t xml:space="preserve">8</m:t>
                    </m:r>
                    <m:r>
                      <m:t xml:space="preserve">,</m:t>
                    </m:r>
                    <m:r>
                      <m:rPr>
                        <m:lit/>
                        <m:nor/>
                      </m:rPr>
                      <m:t xml:space="preserve">3143</m:t>
                    </m:r>
                    <m:r>
                      <m:t xml:space="preserve"> </m:t>
                    </m:r>
                    <m:r>
                      <m:t xml:space="preserve">J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p>
                      <m:e>
                        <m:r>
                          <m:t xml:space="preserve">K</m:t>
                        </m:r>
                      </m:e>
                      <m:sup>
                        <m:r>
                          <m:t xml:space="preserve">−</m:t>
                        </m:r>
                        <m:r>
                          <m:t xml:space="preserve">1</m:t>
                        </m:r>
                      </m:sup>
                    </m:sSup>
                    <m:r>
                      <m:rPr>
                        <m:lit/>
                        <m:nor/>
                      </m:rPr>
                      <m:t xml:space="preserve">.</m:t>
                    </m:r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mol</m:t>
                        </m:r>
                      </m:e>
                      <m:sup>
                        <m:r>
                          <m:t xml:space="preserve">−</m:t>
                        </m:r>
                        <m:r>
                          <m:t xml:space="preserve">1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574" name="Object 10"/>
              <p:cNvSpPr txBox="1"/>
              <p:nvPr/>
            </p:nvSpPr>
            <p:spPr>
              <a:xfrm>
                <a:off x="1468440" y="3065400"/>
                <a:ext cx="6202440" cy="8096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575" name="Rectangle 10"/>
          <p:cNvSpPr/>
          <p:nvPr/>
        </p:nvSpPr>
        <p:spPr>
          <a:xfrm>
            <a:off x="1806480" y="4324320"/>
            <a:ext cx="45720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1359000"/>
                <a:tab algn="l" pos="370836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 = 8,3143 J.K</a:t>
            </a:r>
            <a:r>
              <a:rPr b="1" i="1" lang="fr-FR" sz="20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-1</a:t>
            </a: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.mol</a:t>
            </a:r>
            <a:r>
              <a:rPr b="1" i="1" lang="fr-FR" sz="20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-1</a:t>
            </a: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en unités internationales (Pa = N/m</a:t>
            </a:r>
            <a:r>
              <a:rPr b="1" i="1" lang="fr-FR" sz="20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et J = N.m) 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87" dur="indefinite" restart="never" nodeType="tmRoot">
          <p:childTnLst>
            <p:seq>
              <p:cTn id="388" dur="indefinite" nodeType="mainSeq">
                <p:childTnLst>
                  <p:par>
                    <p:cTn id="389" nodeType="clickEffect" fill="hold">
                      <p:stCondLst>
                        <p:cond delay="0"/>
                      </p:stCondLst>
                      <p:childTnLst>
                        <p:par>
                          <p:cTn id="3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93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nodeType="clickEffect" fill="hold">
                      <p:stCondLst>
                        <p:cond delay="indefinite"/>
                      </p:stCondLst>
                      <p:childTnLst>
                        <p:par>
                          <p:cTn id="3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6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8" dur="10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9" dur="10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00"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Modèle du gaz parfait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ZoneTexte 4"/>
          <p:cNvSpPr/>
          <p:nvPr/>
        </p:nvSpPr>
        <p:spPr>
          <a:xfrm>
            <a:off x="500040" y="1357200"/>
            <a:ext cx="9286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RELATIONS PARTICULIÈRES ENTRE VARIABLES D'ÉTAT</a:t>
            </a:r>
            <a:r>
              <a:rPr b="0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Rectangle 27"/>
          <p:cNvSpPr/>
          <p:nvPr/>
        </p:nvSpPr>
        <p:spPr>
          <a:xfrm>
            <a:off x="3042360" y="1630440"/>
            <a:ext cx="2806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Loi de CHARLES-Gay LUSSAC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Rectangle 2"/>
          <p:cNvSpPr/>
          <p:nvPr/>
        </p:nvSpPr>
        <p:spPr>
          <a:xfrm>
            <a:off x="-6480" y="1848960"/>
            <a:ext cx="371484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 volume constant , la pression d'une quantité constante de gaz augmente proportionnellement avec la température: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88" name="Object 1"/>
              <p:cNvSpPr txBox="1"/>
              <p:nvPr/>
            </p:nvSpPr>
            <p:spPr>
              <a:xfrm>
                <a:off x="3214800" y="3557520"/>
                <a:ext cx="928440" cy="676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P</m:t>
                        </m:r>
                      </m:num>
                      <m:den>
                        <m:r>
                          <m:t xml:space="preserve">T</m:t>
                        </m:r>
                      </m:den>
                    </m:f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Const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</m:oMath>
                </a14:m>
              </a:p>
            </p:txBody>
          </p:sp>
        </mc:Choice>
        <mc:Fallback>
          <p:sp>
            <p:nvSpPr>
              <p:cNvPr id="588" name="Object 1"/>
              <p:cNvSpPr txBox="1"/>
              <p:nvPr/>
            </p:nvSpPr>
            <p:spPr>
              <a:xfrm>
                <a:off x="3214800" y="3557520"/>
                <a:ext cx="928440" cy="6764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589" name="Rectangle 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Rectangle 4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Rectangle 5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Rectangle 6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Rectangle 7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Rectangle 8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ZoneTexte 18"/>
          <p:cNvSpPr/>
          <p:nvPr/>
        </p:nvSpPr>
        <p:spPr>
          <a:xfrm>
            <a:off x="357120" y="5073480"/>
            <a:ext cx="8501040" cy="15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Loi de Mariotte : 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Quand un gaz est à température constante, le produit nRT est constant. Donc le produit PV est aussi constant</a:t>
            </a:r>
            <a:r>
              <a:rPr b="0" lang="fr-FR" sz="1800" strike="noStrike" u="sng">
                <a:solidFill>
                  <a:srgbClr val="0000ff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sng">
                <a:solidFill>
                  <a:srgbClr val="0000ff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96" name="Group 17"/>
          <p:cNvGrpSpPr/>
          <p:nvPr/>
        </p:nvGrpSpPr>
        <p:grpSpPr>
          <a:xfrm>
            <a:off x="4041720" y="5386320"/>
            <a:ext cx="2857320" cy="1606680"/>
            <a:chOff x="4041720" y="5386320"/>
            <a:chExt cx="2857320" cy="1606680"/>
          </a:xfrm>
        </p:grpSpPr>
        <p:sp>
          <p:nvSpPr>
            <p:cNvPr id="597" name="AutoShape 18"/>
            <p:cNvSpPr/>
            <p:nvPr/>
          </p:nvSpPr>
          <p:spPr>
            <a:xfrm>
              <a:off x="4041720" y="5386320"/>
              <a:ext cx="2344320" cy="132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Line 19"/>
            <p:cNvSpPr/>
            <p:nvPr/>
          </p:nvSpPr>
          <p:spPr>
            <a:xfrm flipV="1">
              <a:off x="4157280" y="5518800"/>
              <a:ext cx="0" cy="1187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Line 20"/>
            <p:cNvSpPr/>
            <p:nvPr/>
          </p:nvSpPr>
          <p:spPr>
            <a:xfrm>
              <a:off x="4157280" y="6706080"/>
              <a:ext cx="201636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Text Box 21"/>
            <p:cNvSpPr/>
            <p:nvPr/>
          </p:nvSpPr>
          <p:spPr>
            <a:xfrm>
              <a:off x="5969880" y="6702480"/>
              <a:ext cx="342000" cy="29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560" rIns="61560" tIns="30960" bIns="30960" anchor="t">
              <a:normAutofit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P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Text Box 22"/>
            <p:cNvSpPr/>
            <p:nvPr/>
          </p:nvSpPr>
          <p:spPr>
            <a:xfrm>
              <a:off x="4192920" y="5494320"/>
              <a:ext cx="303120" cy="17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560" rIns="61560" tIns="30960" bIns="30960" anchor="t">
              <a:normAutofit fontScale="70000" lnSpcReduction="19999"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0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PV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Line 23"/>
            <p:cNvSpPr/>
            <p:nvPr/>
          </p:nvSpPr>
          <p:spPr>
            <a:xfrm>
              <a:off x="4162680" y="6036840"/>
              <a:ext cx="1850040" cy="720"/>
            </a:xfrm>
            <a:prstGeom prst="line">
              <a:avLst/>
            </a:prstGeom>
            <a:ln w="9360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080" bIns="-460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Freeform 24"/>
            <p:cNvSpPr/>
            <p:nvPr/>
          </p:nvSpPr>
          <p:spPr>
            <a:xfrm>
              <a:off x="4169520" y="6037920"/>
              <a:ext cx="1719000" cy="520200"/>
            </a:xfrm>
            <a:custGeom>
              <a:avLst/>
              <a:gdLst>
                <a:gd name="textAreaLeft" fmla="*/ 0 w 1719000"/>
                <a:gd name="textAreaRight" fmla="*/ 1719360 w 1719000"/>
                <a:gd name="textAreaTop" fmla="*/ 0 h 520200"/>
                <a:gd name="textAreaBottom" fmla="*/ 520200 h 520200"/>
                <a:gd name="GluePoint1X" fmla="*/ 0 w 2073"/>
                <a:gd name="GluePoint1Y" fmla="*/ 50 h 554"/>
                <a:gd name="GluePoint2X" fmla="*/ 880 w 2073"/>
                <a:gd name="GluePoint2Y" fmla="*/ 90 h 554"/>
                <a:gd name="GluePoint3X" fmla="*/ 2036 w 2073"/>
                <a:gd name="GluePoint3Y" fmla="*/ 630 h 554"/>
                <a:gd name="GluePoint4X" fmla="*/ 3121 w 2073"/>
                <a:gd name="GluePoint4Y" fmla="*/ 1918 h 554"/>
                <a:gd name="GluePoint5X" fmla="*/ 4161 w 2073"/>
                <a:gd name="GluePoint5Y" fmla="*/ 3956 h 554"/>
                <a:gd name="GluePoint6X" fmla="*/ 4897 w 2073"/>
                <a:gd name="GluePoint6Y" fmla="*/ 5931 h 5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073" h="554">
                  <a:moveTo>
                    <a:pt x="0" y="5"/>
                  </a:moveTo>
                  <a:cubicBezTo>
                    <a:pt x="62" y="6"/>
                    <a:pt x="228" y="0"/>
                    <a:pt x="371" y="9"/>
                  </a:cubicBezTo>
                  <a:cubicBezTo>
                    <a:pt x="514" y="18"/>
                    <a:pt x="703" y="31"/>
                    <a:pt x="861" y="59"/>
                  </a:cubicBezTo>
                  <a:cubicBezTo>
                    <a:pt x="1019" y="87"/>
                    <a:pt x="1171" y="127"/>
                    <a:pt x="1321" y="179"/>
                  </a:cubicBezTo>
                  <a:cubicBezTo>
                    <a:pt x="1471" y="231"/>
                    <a:pt x="1636" y="307"/>
                    <a:pt x="1761" y="369"/>
                  </a:cubicBezTo>
                  <a:cubicBezTo>
                    <a:pt x="1886" y="431"/>
                    <a:pt x="2008" y="515"/>
                    <a:pt x="2073" y="554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AutoShape 25"/>
            <p:cNvSpPr/>
            <p:nvPr/>
          </p:nvSpPr>
          <p:spPr>
            <a:xfrm>
              <a:off x="5173200" y="5545080"/>
              <a:ext cx="1035000" cy="388440"/>
            </a:xfrm>
            <a:prstGeom prst="borderCallout2">
              <a:avLst>
                <a:gd name="adj1" fmla="val 18750"/>
                <a:gd name="adj2" fmla="val -8333"/>
                <a:gd name="adj3" fmla="val 29365"/>
                <a:gd name="adj4" fmla="val -18046"/>
                <a:gd name="adj5" fmla="val 126754"/>
                <a:gd name="adj6" fmla="val -34500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  <a:headEnd len="sm" type="stealth" w="sm"/>
            </a:ln>
          </p:spPr>
          <p:style>
            <a:lnRef idx="0"/>
            <a:fillRef idx="0"/>
            <a:effectRef idx="0"/>
            <a:fontRef idx="minor"/>
          </p:style>
          <p:txBody>
            <a:bodyPr lIns="111600" rIns="111600" tIns="55800" bIns="55800" anchor="t">
              <a:normAutofit fontScale="85000" lnSpcReduction="9999"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1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Isotherme du gaz parfait</a:t>
              </a:r>
              <a:endPara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AutoShape 26"/>
            <p:cNvSpPr/>
            <p:nvPr/>
          </p:nvSpPr>
          <p:spPr>
            <a:xfrm>
              <a:off x="6002280" y="6116400"/>
              <a:ext cx="896760" cy="447840"/>
            </a:xfrm>
            <a:prstGeom prst="borderCallout2">
              <a:avLst>
                <a:gd name="adj1" fmla="val 18750"/>
                <a:gd name="adj2" fmla="val -8333"/>
                <a:gd name="adj3" fmla="val 32726"/>
                <a:gd name="adj4" fmla="val -43703"/>
                <a:gd name="adj5" fmla="val 30907"/>
                <a:gd name="adj6" fmla="val -46356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  <a:headEnd len="sm" type="stealth" w="sm"/>
            </a:ln>
          </p:spPr>
          <p:style>
            <a:lnRef idx="0"/>
            <a:fillRef idx="0"/>
            <a:effectRef idx="0"/>
            <a:fontRef idx="minor"/>
          </p:style>
          <p:txBody>
            <a:bodyPr lIns="111600" rIns="111600" tIns="55800" bIns="55800" anchor="t">
              <a:normAutofit/>
            </a:bodyPr>
            <a:p>
              <a:pPr algn="ctr"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1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Isotherme du gaz réel</a:t>
              </a:r>
              <a:endPara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6" name="Group 3"/>
          <p:cNvGrpSpPr/>
          <p:nvPr/>
        </p:nvGrpSpPr>
        <p:grpSpPr>
          <a:xfrm>
            <a:off x="714240" y="2800440"/>
            <a:ext cx="2521080" cy="1999800"/>
            <a:chOff x="714240" y="2800440"/>
            <a:chExt cx="2521080" cy="1999800"/>
          </a:xfrm>
        </p:grpSpPr>
        <p:sp>
          <p:nvSpPr>
            <p:cNvPr id="607" name="Line 4"/>
            <p:cNvSpPr/>
            <p:nvPr/>
          </p:nvSpPr>
          <p:spPr>
            <a:xfrm flipV="1">
              <a:off x="1670400" y="3080880"/>
              <a:ext cx="0" cy="1346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Line 5"/>
            <p:cNvSpPr/>
            <p:nvPr/>
          </p:nvSpPr>
          <p:spPr>
            <a:xfrm>
              <a:off x="915480" y="4443480"/>
              <a:ext cx="2044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9" name="Group 6"/>
            <p:cNvGrpSpPr/>
            <p:nvPr/>
          </p:nvGrpSpPr>
          <p:grpSpPr>
            <a:xfrm>
              <a:off x="1226520" y="3224520"/>
              <a:ext cx="1358640" cy="1215720"/>
              <a:chOff x="1226520" y="3224520"/>
              <a:chExt cx="1358640" cy="1215720"/>
            </a:xfrm>
          </p:grpSpPr>
          <p:sp>
            <p:nvSpPr>
              <p:cNvPr id="610" name="Line 7"/>
              <p:cNvSpPr/>
              <p:nvPr/>
            </p:nvSpPr>
            <p:spPr>
              <a:xfrm flipV="1">
                <a:off x="1232640" y="3535560"/>
                <a:ext cx="1250640" cy="8978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1" name="Line 8"/>
              <p:cNvSpPr/>
              <p:nvPr/>
            </p:nvSpPr>
            <p:spPr>
              <a:xfrm flipV="1">
                <a:off x="1226520" y="3880800"/>
                <a:ext cx="1358640" cy="5594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Line 9"/>
              <p:cNvSpPr/>
              <p:nvPr/>
            </p:nvSpPr>
            <p:spPr>
              <a:xfrm flipV="1">
                <a:off x="1226520" y="3224520"/>
                <a:ext cx="1110960" cy="12085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3" name="Text Box 10"/>
            <p:cNvSpPr/>
            <p:nvPr/>
          </p:nvSpPr>
          <p:spPr>
            <a:xfrm>
              <a:off x="1949040" y="4485600"/>
              <a:ext cx="1090080" cy="243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rIns="66600" tIns="33120" bIns="33120" anchor="t">
              <a:normAutofit fontScale="77500" lnSpcReduction="19999"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Température 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Text Box 11"/>
            <p:cNvSpPr/>
            <p:nvPr/>
          </p:nvSpPr>
          <p:spPr>
            <a:xfrm>
              <a:off x="2197080" y="2871360"/>
              <a:ext cx="1037880" cy="3916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rIns="66600" tIns="33120" bIns="33120" anchor="t">
              <a:normAutofit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Volume V</a:t>
              </a:r>
              <a:r>
                <a:rPr b="1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1</a:t>
              </a: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Text Box 12"/>
            <p:cNvSpPr/>
            <p:nvPr/>
          </p:nvSpPr>
          <p:spPr>
            <a:xfrm>
              <a:off x="1378080" y="2800440"/>
              <a:ext cx="785160" cy="2858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rIns="66600" tIns="33120" bIns="33120" anchor="t">
              <a:normAutofit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Pression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Text Box 13"/>
            <p:cNvSpPr/>
            <p:nvPr/>
          </p:nvSpPr>
          <p:spPr>
            <a:xfrm>
              <a:off x="714240" y="4457880"/>
              <a:ext cx="1091880" cy="3423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rIns="66600" tIns="33120" bIns="33120" anchor="t">
              <a:normAutofit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-273.15°C 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7" name="Text Box 14"/>
            <p:cNvSpPr/>
            <p:nvPr/>
          </p:nvSpPr>
          <p:spPr>
            <a:xfrm>
              <a:off x="2387880" y="3157560"/>
              <a:ext cx="704520" cy="4233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rIns="66600" tIns="33120" bIns="33120" anchor="t">
              <a:normAutofit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V</a:t>
              </a:r>
              <a:r>
                <a:rPr b="1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2 </a:t>
              </a: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&gt;</a:t>
              </a:r>
              <a:r>
                <a:rPr b="1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V</a:t>
              </a:r>
              <a:r>
                <a:rPr b="1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1</a:t>
              </a:r>
              <a:r>
                <a:rPr b="0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Text Box 15"/>
            <p:cNvSpPr/>
            <p:nvPr/>
          </p:nvSpPr>
          <p:spPr>
            <a:xfrm>
              <a:off x="2495880" y="3657600"/>
              <a:ext cx="739440" cy="316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rIns="66600" tIns="33120" bIns="33120" anchor="t">
              <a:normAutofit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V</a:t>
              </a:r>
              <a:r>
                <a:rPr b="1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3 </a:t>
              </a: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&gt;</a:t>
              </a:r>
              <a:r>
                <a:rPr b="1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V</a:t>
              </a:r>
              <a:r>
                <a:rPr b="1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2</a:t>
              </a:r>
              <a:r>
                <a:rPr b="0" lang="fr-FR" sz="1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9" name="Rectangle 59"/>
          <p:cNvSpPr/>
          <p:nvPr/>
        </p:nvSpPr>
        <p:spPr>
          <a:xfrm>
            <a:off x="1224360" y="4761000"/>
            <a:ext cx="1473840" cy="36828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Loi de Charles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Rectangle 60"/>
          <p:cNvSpPr/>
          <p:nvPr/>
        </p:nvSpPr>
        <p:spPr>
          <a:xfrm>
            <a:off x="6050520" y="4773600"/>
            <a:ext cx="1797120" cy="36828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Loi de Gay Lussac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1" name="Group 16"/>
          <p:cNvGrpSpPr/>
          <p:nvPr/>
        </p:nvGrpSpPr>
        <p:grpSpPr>
          <a:xfrm>
            <a:off x="5429160" y="2658960"/>
            <a:ext cx="2785680" cy="2143080"/>
            <a:chOff x="5429160" y="2658960"/>
            <a:chExt cx="2785680" cy="2143080"/>
          </a:xfrm>
        </p:grpSpPr>
        <p:sp>
          <p:nvSpPr>
            <p:cNvPr id="622" name="Line 17"/>
            <p:cNvSpPr/>
            <p:nvPr/>
          </p:nvSpPr>
          <p:spPr>
            <a:xfrm flipV="1">
              <a:off x="6400440" y="3020760"/>
              <a:ext cx="0" cy="1393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Line 18"/>
            <p:cNvSpPr/>
            <p:nvPr/>
          </p:nvSpPr>
          <p:spPr>
            <a:xfrm>
              <a:off x="5475960" y="4429440"/>
              <a:ext cx="2504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4" name="Group 19"/>
            <p:cNvGrpSpPr/>
            <p:nvPr/>
          </p:nvGrpSpPr>
          <p:grpSpPr>
            <a:xfrm>
              <a:off x="5857560" y="3169440"/>
              <a:ext cx="1664640" cy="1256760"/>
              <a:chOff x="5857560" y="3169440"/>
              <a:chExt cx="1664640" cy="1256760"/>
            </a:xfrm>
          </p:grpSpPr>
          <p:sp>
            <p:nvSpPr>
              <p:cNvPr id="625" name="Line 20"/>
              <p:cNvSpPr/>
              <p:nvPr/>
            </p:nvSpPr>
            <p:spPr>
              <a:xfrm flipV="1">
                <a:off x="5865120" y="3490200"/>
                <a:ext cx="1532520" cy="9284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6" name="Line 21"/>
              <p:cNvSpPr/>
              <p:nvPr/>
            </p:nvSpPr>
            <p:spPr>
              <a:xfrm flipV="1">
                <a:off x="5857560" y="3847680"/>
                <a:ext cx="1664640" cy="5785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Line 22"/>
              <p:cNvSpPr/>
              <p:nvPr/>
            </p:nvSpPr>
            <p:spPr>
              <a:xfrm flipV="1">
                <a:off x="5857560" y="3169440"/>
                <a:ext cx="1361520" cy="12499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8" name="Text Box 23"/>
            <p:cNvSpPr/>
            <p:nvPr/>
          </p:nvSpPr>
          <p:spPr>
            <a:xfrm>
              <a:off x="6643800" y="4494240"/>
              <a:ext cx="1287000" cy="307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5520" rIns="65520" tIns="32760" bIns="32760" anchor="t">
              <a:normAutofit fontScale="92500" lnSpcReduction="9999"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Température 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Text Box 24"/>
            <p:cNvSpPr/>
            <p:nvPr/>
          </p:nvSpPr>
          <p:spPr>
            <a:xfrm>
              <a:off x="7046640" y="2873160"/>
              <a:ext cx="1168200" cy="3355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5520" rIns="65520" tIns="32760" bIns="32760" anchor="t">
              <a:normAutofit fontScale="92500" lnSpcReduction="9999"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Pression P</a:t>
              </a:r>
              <a:r>
                <a:rPr b="1" lang="fr-FR" sz="16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1</a:t>
              </a:r>
              <a:r>
                <a:rPr b="1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Text Box 25"/>
            <p:cNvSpPr/>
            <p:nvPr/>
          </p:nvSpPr>
          <p:spPr>
            <a:xfrm>
              <a:off x="6042600" y="2658960"/>
              <a:ext cx="1100880" cy="2995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5520" rIns="65520" tIns="32760" bIns="32760" anchor="t">
              <a:normAutofit fontScale="92500" lnSpcReduction="9999"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Volume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Text Box 26"/>
            <p:cNvSpPr/>
            <p:nvPr/>
          </p:nvSpPr>
          <p:spPr>
            <a:xfrm>
              <a:off x="5429160" y="4481640"/>
              <a:ext cx="988200" cy="2286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5520" rIns="65520" tIns="32760" bIns="32760" anchor="t">
              <a:normAutofit fontScale="62500" lnSpcReduction="19999"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-273.15°C 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Text Box 27"/>
            <p:cNvSpPr/>
            <p:nvPr/>
          </p:nvSpPr>
          <p:spPr>
            <a:xfrm>
              <a:off x="7279920" y="3251160"/>
              <a:ext cx="731160" cy="2858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5520" rIns="65520" tIns="32760" bIns="32760" anchor="t">
              <a:normAutofit fontScale="77500" lnSpcReduction="19999"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P</a:t>
              </a:r>
              <a:r>
                <a:rPr b="1" lang="fr-FR" sz="16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2 </a:t>
              </a:r>
              <a:r>
                <a:rPr b="1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&gt;</a:t>
              </a:r>
              <a:r>
                <a:rPr b="1" lang="fr-FR" sz="16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r>
                <a:rPr b="1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P</a:t>
              </a:r>
              <a:r>
                <a:rPr b="1" lang="fr-FR" sz="16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1</a:t>
              </a:r>
              <a:r>
                <a:rPr b="0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Text Box 28"/>
            <p:cNvSpPr/>
            <p:nvPr/>
          </p:nvSpPr>
          <p:spPr>
            <a:xfrm>
              <a:off x="7412400" y="3659040"/>
              <a:ext cx="731160" cy="2851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5520" rIns="65520" tIns="32760" bIns="32760" anchor="t">
              <a:normAutofit fontScale="77500" lnSpcReduction="19999"/>
            </a:bodyPr>
            <a:p>
              <a:pPr>
                <a:lnSpc>
                  <a:spcPct val="100000"/>
                </a:lnSpc>
                <a:spcAft>
                  <a:spcPts val="100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P</a:t>
              </a:r>
              <a:r>
                <a:rPr b="1" lang="fr-FR" sz="16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3 </a:t>
              </a:r>
              <a:r>
                <a:rPr b="1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&gt;</a:t>
              </a:r>
              <a:r>
                <a:rPr b="1" lang="fr-FR" sz="16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r>
                <a:rPr b="1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P</a:t>
              </a:r>
              <a:r>
                <a:rPr b="1" lang="fr-FR" sz="16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2</a:t>
              </a:r>
              <a:r>
                <a:rPr b="0" lang="fr-FR" sz="16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4" name="Rectangle 74"/>
          <p:cNvSpPr/>
          <p:nvPr/>
        </p:nvSpPr>
        <p:spPr>
          <a:xfrm>
            <a:off x="5246640" y="1860480"/>
            <a:ext cx="40006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 pression constante , le volume d'une quantité constante de gaz augmente proportionnellement avec la température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Rectangle 3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36" name="Object 29"/>
              <p:cNvSpPr txBox="1"/>
              <p:nvPr/>
            </p:nvSpPr>
            <p:spPr>
              <a:xfrm>
                <a:off x="8062920" y="3370320"/>
                <a:ext cx="1035000" cy="568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V</m:t>
                        </m:r>
                      </m:num>
                      <m:den>
                        <m:r>
                          <m:t xml:space="preserve">T</m:t>
                        </m:r>
                      </m:den>
                    </m:f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Const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</m:oMath>
                </a14:m>
              </a:p>
            </p:txBody>
          </p:sp>
        </mc:Choice>
        <mc:Fallback>
          <p:sp>
            <p:nvSpPr>
              <p:cNvPr id="636" name="Object 29"/>
              <p:cNvSpPr txBox="1"/>
              <p:nvPr/>
            </p:nvSpPr>
            <p:spPr>
              <a:xfrm>
                <a:off x="8062920" y="3370320"/>
                <a:ext cx="1035000" cy="5684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637" name="Rectangle 77"/>
          <p:cNvSpPr/>
          <p:nvPr/>
        </p:nvSpPr>
        <p:spPr>
          <a:xfrm>
            <a:off x="-52560" y="1058760"/>
            <a:ext cx="3756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DESCRIPTION MACROSCOPIQUE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401" dur="indefinite" restart="never" nodeType="tmRoot">
          <p:childTnLst>
            <p:seq>
              <p:cTn id="402" dur="indefinite" nodeType="mainSeq">
                <p:childTnLst>
                  <p:par>
                    <p:cTn id="403" nodeType="clickEffect" fill="hold">
                      <p:stCondLst>
                        <p:cond delay="indefinite"/>
                      </p:stCondLst>
                      <p:childTnLst>
                        <p:par>
                          <p:cTn id="4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7" dur="1000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1000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09"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2" dur="1000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3" dur="1000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14"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7" dur="1000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8" dur="1000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19"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2" dur="100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3" dur="100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24"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nodeType="clickEffect" fill="hold">
                      <p:stCondLst>
                        <p:cond delay="indefinite"/>
                      </p:stCondLst>
                      <p:childTnLst>
                        <p:par>
                          <p:cTn id="4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9" dur="1000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0" dur="1000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31" dur="1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4" dur="1000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5" dur="1000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36" dur="10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9" dur="1000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0" dur="1000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41"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4" dur="1000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5" dur="1000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46"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nodeType="clickEffect" fill="hold">
                      <p:stCondLst>
                        <p:cond delay="indefinite"/>
                      </p:stCondLst>
                      <p:childTnLst>
                        <p:par>
                          <p:cTn id="4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1" dur="1000" fill="hold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2" dur="1000" fill="hold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53"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6" dur="1000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7" dur="1000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58"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Rectangle 36"/>
          <p:cNvSpPr/>
          <p:nvPr/>
        </p:nvSpPr>
        <p:spPr>
          <a:xfrm>
            <a:off x="0" y="0"/>
            <a:ext cx="9144000" cy="92880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Modèle du gaz parfait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6" name="Group 46"/>
          <p:cNvGrpSpPr/>
          <p:nvPr/>
        </p:nvGrpSpPr>
        <p:grpSpPr>
          <a:xfrm>
            <a:off x="-142920" y="4179960"/>
            <a:ext cx="9136080" cy="2557440"/>
            <a:chOff x="-142920" y="4179960"/>
            <a:chExt cx="9136080" cy="2557440"/>
          </a:xfrm>
        </p:grpSpPr>
        <p:sp>
          <p:nvSpPr>
            <p:cNvPr id="647" name="Rectangle 7"/>
            <p:cNvSpPr/>
            <p:nvPr/>
          </p:nvSpPr>
          <p:spPr>
            <a:xfrm>
              <a:off x="-142920" y="4179960"/>
              <a:ext cx="9136080" cy="255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marL="568440" indent="-568440" algn="just">
                <a:lnSpc>
                  <a:spcPct val="100000"/>
                </a:lnSpc>
                <a:tabLst>
                  <a:tab algn="l" pos="0"/>
                  <a:tab algn="l" pos="568440"/>
                  <a:tab algn="l" pos="1359000"/>
                  <a:tab algn="l" pos="3718080"/>
                  <a:tab algn="l" pos="457848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 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ZapfDingbats BT"/>
                  <a:ea typeface="ZapfDingbats BT"/>
                </a:rPr>
                <a:t>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Dans une enceinte de volume V, à température T, un mélange gazeux, constitué de n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r>
                <a:rPr b="0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moles de gaz A, n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r>
                <a:rPr b="0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de gaz B et n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c</a:t>
              </a:r>
              <a:r>
                <a:rPr b="0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de gaz C, exerce une pression totale P</a:t>
              </a:r>
              <a:r>
                <a:rPr b="0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: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568440" indent="-568440" algn="just">
                <a:lnSpc>
                  <a:spcPct val="100000"/>
                </a:lnSpc>
                <a:tabLst>
                  <a:tab algn="l" pos="0"/>
                  <a:tab algn="l" pos="568440"/>
                  <a:tab algn="l" pos="1359000"/>
                  <a:tab algn="l" pos="3718080"/>
                  <a:tab algn="l" pos="457848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2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    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</a:t>
              </a:r>
              <a:r>
                <a:rPr b="0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V = (n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+ n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+ n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c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) RT 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i="1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et</a:t>
              </a:r>
              <a:r>
                <a:rPr b="0" i="1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V = n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R.T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568440" indent="-568440" algn="just">
                <a:lnSpc>
                  <a:spcPct val="100000"/>
                </a:lnSpc>
                <a:tabLst>
                  <a:tab algn="l" pos="0"/>
                  <a:tab algn="l" pos="568440"/>
                  <a:tab algn="l" pos="1359000"/>
                  <a:tab algn="l" pos="3718080"/>
                  <a:tab algn="l" pos="457848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</a:t>
              </a:r>
              <a:r>
                <a:rPr b="1" lang="nl-NL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V = 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n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R.T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568440" indent="-568440" algn="just">
                <a:lnSpc>
                  <a:spcPct val="100000"/>
                </a:lnSpc>
                <a:tabLst>
                  <a:tab algn="l" pos="0"/>
                  <a:tab algn="l" pos="568440"/>
                  <a:tab algn="l" pos="1359000"/>
                  <a:tab algn="l" pos="3718080"/>
                  <a:tab algn="l" pos="457848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</a:t>
              </a:r>
              <a:r>
                <a:rPr b="1" lang="nl-NL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c</a:t>
              </a:r>
              <a:r>
                <a:rPr b="1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V =  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n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c</a:t>
              </a:r>
              <a:r>
                <a:rPr b="0" lang="nl-NL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R.T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568440" indent="-568440" algn="just">
                <a:lnSpc>
                  <a:spcPct val="100000"/>
                </a:lnSpc>
                <a:tabLst>
                  <a:tab algn="l" pos="0"/>
                  <a:tab algn="l" pos="568440"/>
                  <a:tab algn="l" pos="1359000"/>
                  <a:tab algn="l" pos="3718080"/>
                  <a:tab algn="l" pos="457848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nl-NL" sz="2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nl-NL" sz="2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nl-NL" sz="2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nl-NL" sz="2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nl-NL" sz="2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(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+ 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</a:t>
              </a:r>
              <a:r>
                <a:rPr b="1" lang="nl-NL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r>
                <a:rPr b="0" lang="nl-NL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+ 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</a:t>
              </a:r>
              <a:r>
                <a:rPr b="1" lang="nl-NL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c</a:t>
              </a:r>
              <a:r>
                <a:rPr b="0" lang="nl-NL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) V</a:t>
              </a:r>
              <a:r>
                <a:rPr b="1" lang="nl-NL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=</a:t>
              </a:r>
              <a:r>
                <a:rPr b="0" lang="nl-NL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(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n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a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+ n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</a:t>
              </a: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+ n</a:t>
              </a:r>
              <a:r>
                <a:rPr b="1" lang="fr-FR" sz="20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c</a:t>
              </a:r>
              <a:r>
                <a:rPr b="0" lang="nl-NL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) R.T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568440" indent="-568440" algn="just">
                <a:lnSpc>
                  <a:spcPct val="100000"/>
                </a:lnSpc>
                <a:tabLst>
                  <a:tab algn="l" pos="0"/>
                  <a:tab algn="l" pos="568440"/>
                  <a:tab algn="l" pos="1359000"/>
                  <a:tab algn="l" pos="3718080"/>
                  <a:tab algn="l" pos="457848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nl-NL" sz="22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	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Soit :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Line 10"/>
            <p:cNvSpPr/>
            <p:nvPr/>
          </p:nvSpPr>
          <p:spPr>
            <a:xfrm>
              <a:off x="4411440" y="4821120"/>
              <a:ext cx="4145040" cy="0"/>
            </a:xfrm>
            <a:prstGeom prst="line">
              <a:avLst/>
            </a:prstGeom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1080" rIns="91080" tIns="-45360" bIns="-4536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9" name="Text Box 14"/>
          <p:cNvSpPr/>
          <p:nvPr/>
        </p:nvSpPr>
        <p:spPr>
          <a:xfrm>
            <a:off x="0" y="1643040"/>
            <a:ext cx="872820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63600" indent="-3636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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pression partielle d'un gaz dans un mélange peut être définie comme la pression qu'il exercerait s'il occupait seul le même volume que le mélange, à la même température.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0" name="Group 47"/>
          <p:cNvGrpSpPr/>
          <p:nvPr/>
        </p:nvGrpSpPr>
        <p:grpSpPr>
          <a:xfrm>
            <a:off x="-71280" y="2786040"/>
            <a:ext cx="9001080" cy="3315600"/>
            <a:chOff x="-71280" y="2786040"/>
            <a:chExt cx="9001080" cy="3315600"/>
          </a:xfrm>
        </p:grpSpPr>
        <p:grpSp>
          <p:nvGrpSpPr>
            <p:cNvPr id="651" name="Group 16"/>
            <p:cNvGrpSpPr/>
            <p:nvPr/>
          </p:nvGrpSpPr>
          <p:grpSpPr>
            <a:xfrm>
              <a:off x="2185920" y="5608800"/>
              <a:ext cx="1514520" cy="492840"/>
              <a:chOff x="2185920" y="5608800"/>
              <a:chExt cx="1514520" cy="492840"/>
            </a:xfrm>
          </p:grpSpPr>
          <p:sp>
            <p:nvSpPr>
              <p:cNvPr id="652" name="Freeform 17"/>
              <p:cNvSpPr/>
              <p:nvPr/>
            </p:nvSpPr>
            <p:spPr>
              <a:xfrm>
                <a:off x="2185920" y="5608800"/>
                <a:ext cx="68040" cy="236880"/>
              </a:xfrm>
              <a:custGeom>
                <a:avLst/>
                <a:gdLst>
                  <a:gd name="textAreaLeft" fmla="*/ 0 w 68040"/>
                  <a:gd name="textAreaRight" fmla="*/ 68400 w 68040"/>
                  <a:gd name="textAreaTop" fmla="*/ 0 h 236880"/>
                  <a:gd name="textAreaBottom" fmla="*/ 237240 h 236880"/>
                  <a:gd name="GluePoint1X" fmla="*/ 1015886971 w 5"/>
                  <a:gd name="GluePoint1Y" fmla="*/ 0 h 25"/>
                  <a:gd name="GluePoint2X" fmla="*/ 0 w 5"/>
                  <a:gd name="GluePoint2Y" fmla="*/ 2147483646 h 25"/>
                  <a:gd name="GluePoint3X" fmla="*/ 1287323130 w 5"/>
                  <a:gd name="GluePoint3Y" fmla="*/ 2147483646 h 25"/>
                  <a:gd name="GluePoint4X" fmla="*/ 1015886971 w 5"/>
                  <a:gd name="GluePoint4Y" fmla="*/ 0 h 2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5" h="25">
                    <a:moveTo>
                      <a:pt x="4" y="0"/>
                    </a:moveTo>
                    <a:cubicBezTo>
                      <a:pt x="1" y="1"/>
                      <a:pt x="0" y="12"/>
                      <a:pt x="0" y="24"/>
                    </a:cubicBezTo>
                    <a:lnTo>
                      <a:pt x="5" y="2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3" name="Freeform 18"/>
              <p:cNvSpPr/>
              <p:nvPr/>
            </p:nvSpPr>
            <p:spPr>
              <a:xfrm>
                <a:off x="2199960" y="5608800"/>
                <a:ext cx="54000" cy="236880"/>
              </a:xfrm>
              <a:custGeom>
                <a:avLst/>
                <a:gdLst>
                  <a:gd name="textAreaLeft" fmla="*/ 0 w 54000"/>
                  <a:gd name="textAreaRight" fmla="*/ 54360 w 54000"/>
                  <a:gd name="textAreaTop" fmla="*/ 0 h 236880"/>
                  <a:gd name="textAreaBottom" fmla="*/ 237240 h 236880"/>
                  <a:gd name="GluePoint1X" fmla="*/ 679620781 w 4"/>
                  <a:gd name="GluePoint1Y" fmla="*/ 0 h 25"/>
                  <a:gd name="GluePoint2X" fmla="*/ 0 w 4"/>
                  <a:gd name="GluePoint2Y" fmla="*/ 2147483646 h 25"/>
                  <a:gd name="GluePoint3X" fmla="*/ 926279102 w 4"/>
                  <a:gd name="GluePoint3Y" fmla="*/ 2147483646 h 25"/>
                  <a:gd name="GluePoint4X" fmla="*/ 679620781 w 4"/>
                  <a:gd name="GluePoint4Y" fmla="*/ 0 h 2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4" h="25">
                    <a:moveTo>
                      <a:pt x="3" y="0"/>
                    </a:moveTo>
                    <a:cubicBezTo>
                      <a:pt x="1" y="0"/>
                      <a:pt x="0" y="11"/>
                      <a:pt x="0" y="24"/>
                    </a:cubicBezTo>
                    <a:lnTo>
                      <a:pt x="4" y="2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4" name="Freeform 19"/>
              <p:cNvSpPr/>
              <p:nvPr/>
            </p:nvSpPr>
            <p:spPr>
              <a:xfrm>
                <a:off x="2185920" y="5845680"/>
                <a:ext cx="68040" cy="227520"/>
              </a:xfrm>
              <a:custGeom>
                <a:avLst/>
                <a:gdLst>
                  <a:gd name="textAreaLeft" fmla="*/ 0 w 68040"/>
                  <a:gd name="textAreaRight" fmla="*/ 68400 w 68040"/>
                  <a:gd name="textAreaTop" fmla="*/ 0 h 227520"/>
                  <a:gd name="textAreaBottom" fmla="*/ 227880 h 227520"/>
                  <a:gd name="GluePoint1X" fmla="*/ 0 w 5"/>
                  <a:gd name="GluePoint1Y" fmla="*/ 0 h 24"/>
                  <a:gd name="GluePoint2X" fmla="*/ 1015886971 w 5"/>
                  <a:gd name="GluePoint2Y" fmla="*/ 2147483646 h 24"/>
                  <a:gd name="GluePoint3X" fmla="*/ 1287323130 w 5"/>
                  <a:gd name="GluePoint3Y" fmla="*/ 0 h 24"/>
                  <a:gd name="GluePoint4X" fmla="*/ 0 w 5"/>
                  <a:gd name="GluePoint4Y" fmla="*/ 0 h 2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5" h="24">
                    <a:moveTo>
                      <a:pt x="0" y="0"/>
                    </a:moveTo>
                    <a:cubicBezTo>
                      <a:pt x="0" y="12"/>
                      <a:pt x="1" y="23"/>
                      <a:pt x="4" y="24"/>
                    </a:cubicBezTo>
                    <a:lnTo>
                      <a:pt x="5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5" name="Freeform 20"/>
              <p:cNvSpPr/>
              <p:nvPr/>
            </p:nvSpPr>
            <p:spPr>
              <a:xfrm>
                <a:off x="2199960" y="5845680"/>
                <a:ext cx="54000" cy="227520"/>
              </a:xfrm>
              <a:custGeom>
                <a:avLst/>
                <a:gdLst>
                  <a:gd name="textAreaLeft" fmla="*/ 0 w 54000"/>
                  <a:gd name="textAreaRight" fmla="*/ 54360 w 54000"/>
                  <a:gd name="textAreaTop" fmla="*/ 0 h 227520"/>
                  <a:gd name="textAreaBottom" fmla="*/ 227880 h 227520"/>
                  <a:gd name="GluePoint1X" fmla="*/ 0 w 4"/>
                  <a:gd name="GluePoint1Y" fmla="*/ 0 h 24"/>
                  <a:gd name="GluePoint2X" fmla="*/ 679620781 w 4"/>
                  <a:gd name="GluePoint2Y" fmla="*/ 2147483646 h 24"/>
                  <a:gd name="GluePoint3X" fmla="*/ 926279102 w 4"/>
                  <a:gd name="GluePoint3Y" fmla="*/ 0 h 24"/>
                  <a:gd name="GluePoint4X" fmla="*/ 0 w 4"/>
                  <a:gd name="GluePoint4Y" fmla="*/ 0 h 2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4" h="24">
                    <a:moveTo>
                      <a:pt x="0" y="0"/>
                    </a:moveTo>
                    <a:cubicBezTo>
                      <a:pt x="0" y="13"/>
                      <a:pt x="1" y="24"/>
                      <a:pt x="3" y="24"/>
                    </a:cubicBezTo>
                    <a:lnTo>
                      <a:pt x="4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Freeform 22"/>
              <p:cNvSpPr/>
              <p:nvPr/>
            </p:nvSpPr>
            <p:spPr>
              <a:xfrm>
                <a:off x="3632040" y="5608800"/>
                <a:ext cx="54000" cy="236880"/>
              </a:xfrm>
              <a:custGeom>
                <a:avLst/>
                <a:gdLst>
                  <a:gd name="textAreaLeft" fmla="*/ 0 w 54000"/>
                  <a:gd name="textAreaRight" fmla="*/ 54360 w 54000"/>
                  <a:gd name="textAreaTop" fmla="*/ 0 h 236880"/>
                  <a:gd name="textAreaBottom" fmla="*/ 237240 h 236880"/>
                  <a:gd name="GluePoint1X" fmla="*/ 926279102 w 4"/>
                  <a:gd name="GluePoint1Y" fmla="*/ 2147483646 h 25"/>
                  <a:gd name="GluePoint2X" fmla="*/ 0 w 4"/>
                  <a:gd name="GluePoint2Y" fmla="*/ 0 h 25"/>
                  <a:gd name="GluePoint3X" fmla="*/ 0 w 4"/>
                  <a:gd name="GluePoint3Y" fmla="*/ 2147483646 h 25"/>
                  <a:gd name="GluePoint4X" fmla="*/ 926279102 w 4"/>
                  <a:gd name="GluePoint4Y" fmla="*/ 2147483646 h 2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4" h="25">
                    <a:moveTo>
                      <a:pt x="4" y="25"/>
                    </a:moveTo>
                    <a:cubicBezTo>
                      <a:pt x="4" y="11"/>
                      <a:pt x="2" y="0"/>
                      <a:pt x="0" y="0"/>
                    </a:cubicBezTo>
                    <a:lnTo>
                      <a:pt x="0" y="25"/>
                    </a:lnTo>
                    <a:lnTo>
                      <a:pt x="4" y="25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eform 23"/>
              <p:cNvSpPr/>
              <p:nvPr/>
            </p:nvSpPr>
            <p:spPr>
              <a:xfrm>
                <a:off x="3632040" y="5845680"/>
                <a:ext cx="68400" cy="22752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227520"/>
                  <a:gd name="textAreaBottom" fmla="*/ 227880 h 227520"/>
                  <a:gd name="GluePoint1X" fmla="*/ 0 w 5"/>
                  <a:gd name="GluePoint1Y" fmla="*/ 2147483646 h 24"/>
                  <a:gd name="GluePoint2X" fmla="*/ 1287323130 w 5"/>
                  <a:gd name="GluePoint2Y" fmla="*/ 0 h 24"/>
                  <a:gd name="GluePoint3X" fmla="*/ 0 w 5"/>
                  <a:gd name="GluePoint3Y" fmla="*/ 0 h 24"/>
                  <a:gd name="GluePoint4X" fmla="*/ 0 w 5"/>
                  <a:gd name="GluePoint4Y" fmla="*/ 2147483646 h 2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5" h="24">
                    <a:moveTo>
                      <a:pt x="0" y="24"/>
                    </a:moveTo>
                    <a:cubicBezTo>
                      <a:pt x="3" y="23"/>
                      <a:pt x="5" y="12"/>
                      <a:pt x="5" y="0"/>
                    </a:cubicBez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eform 24"/>
              <p:cNvSpPr/>
              <p:nvPr/>
            </p:nvSpPr>
            <p:spPr>
              <a:xfrm>
                <a:off x="3632040" y="5845680"/>
                <a:ext cx="54000" cy="227520"/>
              </a:xfrm>
              <a:custGeom>
                <a:avLst/>
                <a:gdLst>
                  <a:gd name="textAreaLeft" fmla="*/ 0 w 54000"/>
                  <a:gd name="textAreaRight" fmla="*/ 54360 w 54000"/>
                  <a:gd name="textAreaTop" fmla="*/ 0 h 227520"/>
                  <a:gd name="textAreaBottom" fmla="*/ 227880 h 227520"/>
                  <a:gd name="GluePoint1X" fmla="*/ 0 w 4"/>
                  <a:gd name="GluePoint1Y" fmla="*/ 2147483646 h 24"/>
                  <a:gd name="GluePoint2X" fmla="*/ 926279102 w 4"/>
                  <a:gd name="GluePoint2Y" fmla="*/ 0 h 24"/>
                  <a:gd name="GluePoint3X" fmla="*/ 0 w 4"/>
                  <a:gd name="GluePoint3Y" fmla="*/ 0 h 24"/>
                  <a:gd name="GluePoint4X" fmla="*/ 0 w 4"/>
                  <a:gd name="GluePoint4Y" fmla="*/ 2147483646 h 2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4" h="24">
                    <a:moveTo>
                      <a:pt x="0" y="24"/>
                    </a:moveTo>
                    <a:cubicBezTo>
                      <a:pt x="2" y="24"/>
                      <a:pt x="4" y="13"/>
                      <a:pt x="4" y="0"/>
                    </a:cubicBez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59" name="Group 43"/>
              <p:cNvGrpSpPr/>
              <p:nvPr/>
            </p:nvGrpSpPr>
            <p:grpSpPr>
              <a:xfrm>
                <a:off x="2901600" y="5778720"/>
                <a:ext cx="568800" cy="322920"/>
                <a:chOff x="2901600" y="5778720"/>
                <a:chExt cx="568800" cy="322920"/>
              </a:xfrm>
            </p:grpSpPr>
            <p:sp>
              <p:nvSpPr>
                <p:cNvPr id="660" name="Rectangle 31"/>
                <p:cNvSpPr/>
                <p:nvPr/>
              </p:nvSpPr>
              <p:spPr>
                <a:xfrm>
                  <a:off x="2901600" y="5778720"/>
                  <a:ext cx="360" cy="2772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61" name="Rectangle 40"/>
                <p:cNvSpPr/>
                <p:nvPr/>
              </p:nvSpPr>
              <p:spPr>
                <a:xfrm>
                  <a:off x="3470040" y="5824440"/>
                  <a:ext cx="360" cy="2772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662" name="Text Box 44"/>
            <p:cNvSpPr/>
            <p:nvPr/>
          </p:nvSpPr>
          <p:spPr>
            <a:xfrm>
              <a:off x="-71280" y="2786040"/>
              <a:ext cx="9001080" cy="100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ZapfDingbats BT"/>
                  <a:ea typeface="ZapfDingbats BT"/>
                </a:rPr>
                <a:t></a:t>
              </a: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 </a:t>
              </a:r>
              <a:r>
                <a:rPr b="1" lang="fr-FR" sz="2000" strike="noStrike" u="sng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Loi de Dalton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 Chaque gaz apporte une contribution proportionnelle à sa fraction  molaire                et la pression totale du mélange est la somme des pressions partielles.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3" name="Rectangle 49"/>
          <p:cNvSpPr/>
          <p:nvPr/>
        </p:nvSpPr>
        <p:spPr>
          <a:xfrm>
            <a:off x="-14400" y="928800"/>
            <a:ext cx="3679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DESCRIPTION MACROSCOPIQUE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64" name="Object 1"/>
              <p:cNvSpPr txBox="1"/>
              <p:nvPr/>
            </p:nvSpPr>
            <p:spPr>
              <a:xfrm>
                <a:off x="7786800" y="2946240"/>
                <a:ext cx="1098360" cy="784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t xml:space="preserve">i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t xml:space="preserve">t</m:t>
                        </m:r>
                      </m:sub>
                    </m:sSub>
                    <m:f>
                      <m:num>
                        <m:sSub>
                          <m:e>
                            <m:r>
                              <m:t xml:space="preserve">n</m:t>
                            </m:r>
                          </m:e>
                          <m:sub>
                            <m:r>
                              <m:t xml:space="preserve">i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n</m:t>
                            </m:r>
                          </m:e>
                          <m:sub>
                            <m:r>
                              <m:t xml:space="preserve">t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64" name="Object 1"/>
              <p:cNvSpPr txBox="1"/>
              <p:nvPr/>
            </p:nvSpPr>
            <p:spPr>
              <a:xfrm>
                <a:off x="7786800" y="2946240"/>
                <a:ext cx="1098360" cy="7844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65" name="Object 2"/>
              <p:cNvSpPr txBox="1"/>
              <p:nvPr/>
            </p:nvSpPr>
            <p:spPr>
              <a:xfrm>
                <a:off x="1285920" y="6073920"/>
                <a:ext cx="1285920" cy="712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t xml:space="preserve">t</m:t>
                        </m:r>
                      </m:sub>
                    </m:sSub>
                    <m:r>
                      <m:t xml:space="preserve">=</m:t>
                    </m:r>
                    <m:nary>
                      <m:naryPr>
                        <m:chr m:val="∑"/>
                        <m:supHide m:val="1"/>
                      </m:naryPr>
                      <m:sub>
                        <m:r>
                          <m:t xml:space="preserve">i</m:t>
                        </m:r>
                      </m:sub>
                      <m:sup/>
                      <m:e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i</m:t>
                            </m:r>
                          </m:sub>
                        </m:sSub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665" name="Object 2"/>
              <p:cNvSpPr txBox="1"/>
              <p:nvPr/>
            </p:nvSpPr>
            <p:spPr>
              <a:xfrm>
                <a:off x="1285920" y="6073920"/>
                <a:ext cx="1285920" cy="712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666" name="Rectangle 51"/>
          <p:cNvSpPr/>
          <p:nvPr/>
        </p:nvSpPr>
        <p:spPr>
          <a:xfrm>
            <a:off x="448920" y="1214280"/>
            <a:ext cx="4483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Mélange gazeux parfait</a:t>
            </a:r>
            <a:r>
              <a:rPr b="1" lang="fr-FR" sz="200" strike="noStrike" u="sng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20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: Pression partielle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459" dur="indefinite" restart="never" nodeType="tmRoot">
          <p:childTnLst>
            <p:seq>
              <p:cTn id="460" dur="indefinite" nodeType="mainSeq">
                <p:childTnLst>
                  <p:par>
                    <p:cTn id="461" nodeType="clickEffect" fill="hold">
                      <p:stCondLst>
                        <p:cond delay="indefinite"/>
                      </p:stCondLst>
                      <p:childTnLst>
                        <p:par>
                          <p:cTn id="4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nodeType="clickEffect" fill="hold">
                      <p:stCondLst>
                        <p:cond delay="indefinite"/>
                      </p:stCondLst>
                      <p:childTnLst>
                        <p:par>
                          <p:cTn id="4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nodeType="after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72"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nodeType="clickEffect" fill="hold">
                      <p:stCondLst>
                        <p:cond delay="indefinite"/>
                      </p:stCondLst>
                      <p:childTnLst>
                        <p:par>
                          <p:cTn id="4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7" nodeType="after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80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Modèle du gaz parfait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ZoneTexte 4"/>
          <p:cNvSpPr/>
          <p:nvPr/>
        </p:nvSpPr>
        <p:spPr>
          <a:xfrm>
            <a:off x="0" y="1000080"/>
            <a:ext cx="92869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Mélange gazeux parfait</a:t>
            </a:r>
            <a:r>
              <a:rPr b="1" lang="fr-FR" sz="200" strike="noStrike" u="sng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20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Rectangle 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Rectangle 4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Rectangle 5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Rectangle 6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Rectangle 7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Rectangle 8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Rectangle 8"/>
          <p:cNvSpPr/>
          <p:nvPr/>
        </p:nvSpPr>
        <p:spPr>
          <a:xfrm>
            <a:off x="0" y="1357200"/>
            <a:ext cx="92520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Fraction molaire 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Divisons  P</a:t>
            </a:r>
            <a:r>
              <a:rPr b="0" lang="fr-FR" sz="20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.V = n</a:t>
            </a:r>
            <a:r>
              <a:rPr b="0" lang="fr-FR" sz="20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.R.T  par  P.V = n.R.T, on obtient 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ZoneTexte 12"/>
          <p:cNvSpPr/>
          <p:nvPr/>
        </p:nvSpPr>
        <p:spPr>
          <a:xfrm>
            <a:off x="0" y="2357280"/>
            <a:ext cx="9144000" cy="9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=&gt; </a:t>
            </a:r>
            <a:r>
              <a:rPr b="1" lang="fr-FR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x</a:t>
            </a:r>
            <a:r>
              <a:rPr b="1" lang="fr-FR" sz="2000" strike="noStrike" u="none" baseline="-25000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est la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fraction molaire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du gaz </a:t>
            </a:r>
            <a:r>
              <a:rPr b="1" lang="fr-FR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dans le mélange.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 :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la fraction molaire de l’O</a:t>
            </a:r>
            <a:r>
              <a:rPr b="0" i="1" lang="fr-FR" sz="18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dans l’air vaut environ 21 %.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ZoneTexte 17"/>
          <p:cNvSpPr/>
          <p:nvPr/>
        </p:nvSpPr>
        <p:spPr>
          <a:xfrm>
            <a:off x="0" y="4071960"/>
            <a:ext cx="9144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=&gt; La donnée d’un mélange gazeux en % s’applique aux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pressions et moles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86" name="Object 2"/>
              <p:cNvSpPr txBox="1"/>
              <p:nvPr/>
            </p:nvSpPr>
            <p:spPr>
              <a:xfrm>
                <a:off x="6715080" y="1500120"/>
                <a:ext cx="1521000" cy="817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i</m:t>
                            </m:r>
                          </m:sub>
                        </m:sSub>
                      </m:num>
                      <m:den>
                        <m:r>
                          <m:t xml:space="preserve">P</m:t>
                        </m:r>
                      </m:den>
                    </m:f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n</m:t>
                            </m:r>
                          </m:e>
                          <m:sub>
                            <m:r>
                              <m:t xml:space="preserve">i</m:t>
                            </m:r>
                          </m:sub>
                        </m:sSub>
                      </m:num>
                      <m:den>
                        <m:r>
                          <m:t xml:space="preserve">n</m:t>
                        </m:r>
                      </m:den>
                    </m:f>
                    <m:r>
                      <m:t xml:space="preserve">=</m:t>
                    </m:r>
                    <m:sSub>
                      <m:e>
                        <m:r>
                          <m:t xml:space="preserve">x</m:t>
                        </m:r>
                      </m:e>
                      <m:sub>
                        <m:r>
                          <m:t xml:space="preserve">i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86" name="Object 2"/>
              <p:cNvSpPr txBox="1"/>
              <p:nvPr/>
            </p:nvSpPr>
            <p:spPr>
              <a:xfrm>
                <a:off x="6715080" y="1500120"/>
                <a:ext cx="1521000" cy="8175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87" name="Object 3"/>
              <p:cNvSpPr txBox="1"/>
              <p:nvPr/>
            </p:nvSpPr>
            <p:spPr>
              <a:xfrm>
                <a:off x="1928880" y="3286080"/>
                <a:ext cx="1128600" cy="712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1"/>
                      </m:naryPr>
                      <m:sub>
                        <m:r>
                          <m:t xml:space="preserve">i</m:t>
                        </m:r>
                      </m:sub>
                      <m:sup/>
                      <m:e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i</m:t>
                            </m:r>
                          </m:sub>
                        </m:sSub>
                      </m:e>
                    </m:nary>
                    <m:r>
                      <m:t xml:space="preserve">=</m:t>
                    </m:r>
                    <m:r>
                      <m:t xml:space="preserve">1</m:t>
                    </m:r>
                  </m:oMath>
                </a14:m>
              </a:p>
            </p:txBody>
          </p:sp>
        </mc:Choice>
        <mc:Fallback>
          <p:sp>
            <p:nvSpPr>
              <p:cNvPr id="687" name="Object 3"/>
              <p:cNvSpPr txBox="1"/>
              <p:nvPr/>
            </p:nvSpPr>
            <p:spPr>
              <a:xfrm>
                <a:off x="1928880" y="3286080"/>
                <a:ext cx="1128600" cy="712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Modèle du gaz parfait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Rectangle 44"/>
          <p:cNvSpPr/>
          <p:nvPr/>
        </p:nvSpPr>
        <p:spPr>
          <a:xfrm>
            <a:off x="0" y="1071720"/>
            <a:ext cx="8001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Représentions graphiques des transformations des gaz parfaits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Rectangle 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9" name="Group 19"/>
          <p:cNvGrpSpPr/>
          <p:nvPr/>
        </p:nvGrpSpPr>
        <p:grpSpPr>
          <a:xfrm>
            <a:off x="785880" y="2084400"/>
            <a:ext cx="1654200" cy="1492200"/>
            <a:chOff x="785880" y="2084400"/>
            <a:chExt cx="1654200" cy="1492200"/>
          </a:xfrm>
        </p:grpSpPr>
        <p:sp>
          <p:nvSpPr>
            <p:cNvPr id="700" name="AutoShape 31"/>
            <p:cNvSpPr/>
            <p:nvPr/>
          </p:nvSpPr>
          <p:spPr>
            <a:xfrm>
              <a:off x="785880" y="2084400"/>
              <a:ext cx="1654200" cy="149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1" name="Line 30"/>
            <p:cNvSpPr/>
            <p:nvPr/>
          </p:nvSpPr>
          <p:spPr>
            <a:xfrm flipV="1">
              <a:off x="1051200" y="3272040"/>
              <a:ext cx="1215000" cy="4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2" name="Line 29"/>
            <p:cNvSpPr/>
            <p:nvPr/>
          </p:nvSpPr>
          <p:spPr>
            <a:xfrm flipV="1">
              <a:off x="1059480" y="2084400"/>
              <a:ext cx="720" cy="1190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Freeform 28"/>
            <p:cNvSpPr/>
            <p:nvPr/>
          </p:nvSpPr>
          <p:spPr>
            <a:xfrm>
              <a:off x="1150920" y="2342160"/>
              <a:ext cx="888480" cy="849240"/>
            </a:xfrm>
            <a:custGeom>
              <a:avLst/>
              <a:gdLst>
                <a:gd name="textAreaLeft" fmla="*/ 0 w 888480"/>
                <a:gd name="textAreaRight" fmla="*/ 888840 w 888480"/>
                <a:gd name="textAreaTop" fmla="*/ 0 h 849240"/>
                <a:gd name="textAreaBottom" fmla="*/ 849600 h 849240"/>
                <a:gd name="GluePoint1X" fmla="*/ 0 w 4200"/>
                <a:gd name="GluePoint1Y" fmla="*/ 0 h 3630"/>
                <a:gd name="GluePoint2X" fmla="*/ 0 w 4200"/>
                <a:gd name="GluePoint2Y" fmla="*/ 0 h 3630"/>
                <a:gd name="GluePoint3X" fmla="*/ 0 w 4200"/>
                <a:gd name="GluePoint3Y" fmla="*/ 0 h 3630"/>
                <a:gd name="GluePoint4X" fmla="*/ 0 w 4200"/>
                <a:gd name="GluePoint4Y" fmla="*/ 0 h 3630"/>
                <a:gd name="GluePoint5X" fmla="*/ 0 w 4200"/>
                <a:gd name="GluePoint5Y" fmla="*/ 0 h 3630"/>
                <a:gd name="GluePoint6X" fmla="*/ 0 w 4200"/>
                <a:gd name="GluePoint6Y" fmla="*/ 0 h 3630"/>
                <a:gd name="GluePoint7X" fmla="*/ 0 w 4200"/>
                <a:gd name="GluePoint7Y" fmla="*/ 0 h 3630"/>
                <a:gd name="GluePoint8X" fmla="*/ 0 w 4200"/>
                <a:gd name="GluePoint8Y" fmla="*/ 0 h 3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200" h="3630">
                  <a:moveTo>
                    <a:pt x="0" y="0"/>
                  </a:moveTo>
                  <a:cubicBezTo>
                    <a:pt x="20" y="289"/>
                    <a:pt x="40" y="578"/>
                    <a:pt x="90" y="855"/>
                  </a:cubicBezTo>
                  <a:cubicBezTo>
                    <a:pt x="140" y="1132"/>
                    <a:pt x="195" y="1393"/>
                    <a:pt x="300" y="1665"/>
                  </a:cubicBezTo>
                  <a:cubicBezTo>
                    <a:pt x="405" y="1937"/>
                    <a:pt x="530" y="2255"/>
                    <a:pt x="720" y="2490"/>
                  </a:cubicBezTo>
                  <a:cubicBezTo>
                    <a:pt x="910" y="2725"/>
                    <a:pt x="1153" y="2920"/>
                    <a:pt x="1440" y="3075"/>
                  </a:cubicBezTo>
                  <a:cubicBezTo>
                    <a:pt x="1727" y="3230"/>
                    <a:pt x="2145" y="3340"/>
                    <a:pt x="2445" y="3420"/>
                  </a:cubicBezTo>
                  <a:cubicBezTo>
                    <a:pt x="2745" y="3500"/>
                    <a:pt x="2948" y="3520"/>
                    <a:pt x="3240" y="3555"/>
                  </a:cubicBezTo>
                  <a:cubicBezTo>
                    <a:pt x="3532" y="3590"/>
                    <a:pt x="3866" y="3610"/>
                    <a:pt x="4200" y="3630"/>
                  </a:cubicBezTo>
                </a:path>
              </a:pathLst>
            </a:custGeom>
            <a:noFill/>
            <a:ln w="93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Freeform 27"/>
            <p:cNvSpPr/>
            <p:nvPr/>
          </p:nvSpPr>
          <p:spPr>
            <a:xfrm>
              <a:off x="1195200" y="2262240"/>
              <a:ext cx="904320" cy="757800"/>
            </a:xfrm>
            <a:custGeom>
              <a:avLst/>
              <a:gdLst>
                <a:gd name="textAreaLeft" fmla="*/ 0 w 904320"/>
                <a:gd name="textAreaRight" fmla="*/ 904680 w 904320"/>
                <a:gd name="textAreaTop" fmla="*/ 0 h 757800"/>
                <a:gd name="textAreaBottom" fmla="*/ 758160 h 757800"/>
                <a:gd name="GluePoint1X" fmla="*/ 0 w 4200"/>
                <a:gd name="GluePoint1Y" fmla="*/ 0 h 3630"/>
                <a:gd name="GluePoint2X" fmla="*/ 0 w 4200"/>
                <a:gd name="GluePoint2Y" fmla="*/ 0 h 3630"/>
                <a:gd name="GluePoint3X" fmla="*/ 0 w 4200"/>
                <a:gd name="GluePoint3Y" fmla="*/ 0 h 3630"/>
                <a:gd name="GluePoint4X" fmla="*/ 0 w 4200"/>
                <a:gd name="GluePoint4Y" fmla="*/ 0 h 3630"/>
                <a:gd name="GluePoint5X" fmla="*/ 0 w 4200"/>
                <a:gd name="GluePoint5Y" fmla="*/ 0 h 3630"/>
                <a:gd name="GluePoint6X" fmla="*/ 0 w 4200"/>
                <a:gd name="GluePoint6Y" fmla="*/ 0 h 3630"/>
                <a:gd name="GluePoint7X" fmla="*/ 0 w 4200"/>
                <a:gd name="GluePoint7Y" fmla="*/ 0 h 3630"/>
                <a:gd name="GluePoint8X" fmla="*/ 0 w 4200"/>
                <a:gd name="GluePoint8Y" fmla="*/ 0 h 3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200" h="3630">
                  <a:moveTo>
                    <a:pt x="0" y="0"/>
                  </a:moveTo>
                  <a:cubicBezTo>
                    <a:pt x="20" y="289"/>
                    <a:pt x="40" y="578"/>
                    <a:pt x="90" y="855"/>
                  </a:cubicBezTo>
                  <a:cubicBezTo>
                    <a:pt x="140" y="1132"/>
                    <a:pt x="195" y="1393"/>
                    <a:pt x="300" y="1665"/>
                  </a:cubicBezTo>
                  <a:cubicBezTo>
                    <a:pt x="405" y="1937"/>
                    <a:pt x="530" y="2255"/>
                    <a:pt x="720" y="2490"/>
                  </a:cubicBezTo>
                  <a:cubicBezTo>
                    <a:pt x="910" y="2725"/>
                    <a:pt x="1153" y="2920"/>
                    <a:pt x="1440" y="3075"/>
                  </a:cubicBezTo>
                  <a:cubicBezTo>
                    <a:pt x="1727" y="3230"/>
                    <a:pt x="2145" y="3340"/>
                    <a:pt x="2445" y="3420"/>
                  </a:cubicBezTo>
                  <a:cubicBezTo>
                    <a:pt x="2745" y="3500"/>
                    <a:pt x="2948" y="3520"/>
                    <a:pt x="3240" y="3555"/>
                  </a:cubicBezTo>
                  <a:cubicBezTo>
                    <a:pt x="3532" y="3590"/>
                    <a:pt x="3866" y="3610"/>
                    <a:pt x="4200" y="3630"/>
                  </a:cubicBezTo>
                </a:path>
              </a:pathLst>
            </a:custGeom>
            <a:noFill/>
            <a:ln w="93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Text Box 26"/>
            <p:cNvSpPr/>
            <p:nvPr/>
          </p:nvSpPr>
          <p:spPr>
            <a:xfrm>
              <a:off x="785880" y="2084400"/>
              <a:ext cx="252720" cy="29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P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6" name="Text Box 25"/>
            <p:cNvSpPr/>
            <p:nvPr/>
          </p:nvSpPr>
          <p:spPr>
            <a:xfrm>
              <a:off x="2014200" y="3279960"/>
              <a:ext cx="252000" cy="29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V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7" name="Text Box 24"/>
            <p:cNvSpPr/>
            <p:nvPr/>
          </p:nvSpPr>
          <p:spPr>
            <a:xfrm>
              <a:off x="785880" y="3186720"/>
              <a:ext cx="252720" cy="29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0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8" name="Freeform 23"/>
            <p:cNvSpPr/>
            <p:nvPr/>
          </p:nvSpPr>
          <p:spPr>
            <a:xfrm>
              <a:off x="1212480" y="2120400"/>
              <a:ext cx="903600" cy="757440"/>
            </a:xfrm>
            <a:custGeom>
              <a:avLst/>
              <a:gdLst>
                <a:gd name="textAreaLeft" fmla="*/ 0 w 903600"/>
                <a:gd name="textAreaRight" fmla="*/ 903960 w 903600"/>
                <a:gd name="textAreaTop" fmla="*/ 0 h 757440"/>
                <a:gd name="textAreaBottom" fmla="*/ 757800 h 757440"/>
                <a:gd name="GluePoint1X" fmla="*/ 0 w 4200"/>
                <a:gd name="GluePoint1Y" fmla="*/ 0 h 3630"/>
                <a:gd name="GluePoint2X" fmla="*/ 0 w 4200"/>
                <a:gd name="GluePoint2Y" fmla="*/ 0 h 3630"/>
                <a:gd name="GluePoint3X" fmla="*/ 0 w 4200"/>
                <a:gd name="GluePoint3Y" fmla="*/ 0 h 3630"/>
                <a:gd name="GluePoint4X" fmla="*/ 0 w 4200"/>
                <a:gd name="GluePoint4Y" fmla="*/ 0 h 3630"/>
                <a:gd name="GluePoint5X" fmla="*/ 0 w 4200"/>
                <a:gd name="GluePoint5Y" fmla="*/ 0 h 3630"/>
                <a:gd name="GluePoint6X" fmla="*/ 0 w 4200"/>
                <a:gd name="GluePoint6Y" fmla="*/ 0 h 3630"/>
                <a:gd name="GluePoint7X" fmla="*/ 0 w 4200"/>
                <a:gd name="GluePoint7Y" fmla="*/ 0 h 3630"/>
                <a:gd name="GluePoint8X" fmla="*/ 0 w 4200"/>
                <a:gd name="GluePoint8Y" fmla="*/ 0 h 3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200" h="3630">
                  <a:moveTo>
                    <a:pt x="0" y="0"/>
                  </a:moveTo>
                  <a:cubicBezTo>
                    <a:pt x="20" y="289"/>
                    <a:pt x="40" y="578"/>
                    <a:pt x="90" y="855"/>
                  </a:cubicBezTo>
                  <a:cubicBezTo>
                    <a:pt x="140" y="1132"/>
                    <a:pt x="195" y="1393"/>
                    <a:pt x="300" y="1665"/>
                  </a:cubicBezTo>
                  <a:cubicBezTo>
                    <a:pt x="405" y="1937"/>
                    <a:pt x="530" y="2255"/>
                    <a:pt x="720" y="2490"/>
                  </a:cubicBezTo>
                  <a:cubicBezTo>
                    <a:pt x="910" y="2725"/>
                    <a:pt x="1153" y="2920"/>
                    <a:pt x="1440" y="3075"/>
                  </a:cubicBezTo>
                  <a:cubicBezTo>
                    <a:pt x="1727" y="3230"/>
                    <a:pt x="2145" y="3340"/>
                    <a:pt x="2445" y="3420"/>
                  </a:cubicBezTo>
                  <a:cubicBezTo>
                    <a:pt x="2745" y="3500"/>
                    <a:pt x="2948" y="3520"/>
                    <a:pt x="3240" y="3555"/>
                  </a:cubicBezTo>
                  <a:cubicBezTo>
                    <a:pt x="3532" y="3590"/>
                    <a:pt x="3866" y="3610"/>
                    <a:pt x="4200" y="3630"/>
                  </a:cubicBezTo>
                </a:path>
              </a:pathLst>
            </a:custGeom>
            <a:noFill/>
            <a:ln w="93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Text Box 22"/>
            <p:cNvSpPr/>
            <p:nvPr/>
          </p:nvSpPr>
          <p:spPr>
            <a:xfrm>
              <a:off x="2084400" y="3026520"/>
              <a:ext cx="355320" cy="29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T</a:t>
              </a:r>
              <a:r>
                <a:rPr b="0" i="1" lang="fr-FR" sz="1200" strike="noStrike" u="none" baseline="-30000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1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Text Box 21"/>
            <p:cNvSpPr/>
            <p:nvPr/>
          </p:nvSpPr>
          <p:spPr>
            <a:xfrm>
              <a:off x="2084400" y="2884320"/>
              <a:ext cx="354600" cy="29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T</a:t>
              </a:r>
              <a:r>
                <a:rPr b="0" i="1" lang="fr-FR" sz="1200" strike="noStrike" u="none" baseline="-30000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2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Text Box 20"/>
            <p:cNvSpPr/>
            <p:nvPr/>
          </p:nvSpPr>
          <p:spPr>
            <a:xfrm>
              <a:off x="2084400" y="2724480"/>
              <a:ext cx="354600" cy="29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T</a:t>
              </a:r>
              <a:r>
                <a:rPr b="0" i="1" lang="fr-FR" sz="1200" strike="noStrike" u="none" baseline="-30000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3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2" name="Rectangle 4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13" name="Object 3"/>
              <p:cNvSpPr txBox="1"/>
              <p:nvPr/>
            </p:nvSpPr>
            <p:spPr>
              <a:xfrm>
                <a:off x="1071720" y="3441600"/>
                <a:ext cx="928440" cy="623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nRT</m:t>
                        </m:r>
                      </m:num>
                      <m:den>
                        <m:r>
                          <m:t xml:space="preserve">V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13" name="Object 3"/>
              <p:cNvSpPr txBox="1"/>
              <p:nvPr/>
            </p:nvSpPr>
            <p:spPr>
              <a:xfrm>
                <a:off x="1071720" y="3441600"/>
                <a:ext cx="928440" cy="6238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714" name="Rectangle 5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5" name="Group 42"/>
          <p:cNvGrpSpPr/>
          <p:nvPr/>
        </p:nvGrpSpPr>
        <p:grpSpPr>
          <a:xfrm>
            <a:off x="3500280" y="2013120"/>
            <a:ext cx="1479600" cy="1492200"/>
            <a:chOff x="3500280" y="2013120"/>
            <a:chExt cx="1479600" cy="1492200"/>
          </a:xfrm>
        </p:grpSpPr>
        <p:sp>
          <p:nvSpPr>
            <p:cNvPr id="716" name="AutoShape 54"/>
            <p:cNvSpPr/>
            <p:nvPr/>
          </p:nvSpPr>
          <p:spPr>
            <a:xfrm>
              <a:off x="3500280" y="2013120"/>
              <a:ext cx="1479600" cy="149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Line 53"/>
            <p:cNvSpPr/>
            <p:nvPr/>
          </p:nvSpPr>
          <p:spPr>
            <a:xfrm flipV="1">
              <a:off x="3765600" y="3200760"/>
              <a:ext cx="1214280" cy="4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8" name="Line 52"/>
            <p:cNvSpPr/>
            <p:nvPr/>
          </p:nvSpPr>
          <p:spPr>
            <a:xfrm flipV="1">
              <a:off x="3773520" y="2013120"/>
              <a:ext cx="720" cy="1190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Text Box 51"/>
            <p:cNvSpPr/>
            <p:nvPr/>
          </p:nvSpPr>
          <p:spPr>
            <a:xfrm>
              <a:off x="3500280" y="2013120"/>
              <a:ext cx="252720" cy="29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P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Text Box 50"/>
            <p:cNvSpPr/>
            <p:nvPr/>
          </p:nvSpPr>
          <p:spPr>
            <a:xfrm>
              <a:off x="4727880" y="3208680"/>
              <a:ext cx="251640" cy="29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T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Text Box 49"/>
            <p:cNvSpPr/>
            <p:nvPr/>
          </p:nvSpPr>
          <p:spPr>
            <a:xfrm>
              <a:off x="3535920" y="3115440"/>
              <a:ext cx="252720" cy="29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0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2" name="Line 48"/>
            <p:cNvSpPr/>
            <p:nvPr/>
          </p:nvSpPr>
          <p:spPr>
            <a:xfrm flipV="1">
              <a:off x="3784320" y="2279520"/>
              <a:ext cx="533160" cy="9241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3" name="Line 47"/>
            <p:cNvSpPr/>
            <p:nvPr/>
          </p:nvSpPr>
          <p:spPr>
            <a:xfrm flipV="1">
              <a:off x="3784320" y="2492640"/>
              <a:ext cx="711720" cy="711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4" name="Line 46"/>
            <p:cNvSpPr/>
            <p:nvPr/>
          </p:nvSpPr>
          <p:spPr>
            <a:xfrm flipV="1">
              <a:off x="3784320" y="2639520"/>
              <a:ext cx="978480" cy="564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5" name="Text Box 45"/>
            <p:cNvSpPr/>
            <p:nvPr/>
          </p:nvSpPr>
          <p:spPr>
            <a:xfrm>
              <a:off x="4264560" y="2154960"/>
              <a:ext cx="354240" cy="32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V</a:t>
              </a:r>
              <a:r>
                <a:rPr b="0" i="1" lang="fr-FR" sz="1200" strike="noStrike" u="none" baseline="-30000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3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Text Box 44"/>
            <p:cNvSpPr/>
            <p:nvPr/>
          </p:nvSpPr>
          <p:spPr>
            <a:xfrm>
              <a:off x="4514040" y="2297160"/>
              <a:ext cx="354240" cy="32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V</a:t>
              </a:r>
              <a:r>
                <a:rPr b="0" i="1" lang="fr-FR" sz="1200" strike="noStrike" u="none" baseline="-30000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2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Text Box 43"/>
            <p:cNvSpPr/>
            <p:nvPr/>
          </p:nvSpPr>
          <p:spPr>
            <a:xfrm>
              <a:off x="4619880" y="2635200"/>
              <a:ext cx="355320" cy="32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V</a:t>
              </a:r>
              <a:r>
                <a:rPr b="0" i="1" lang="fr-FR" sz="1200" strike="noStrike" u="none" baseline="-30000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1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8" name="Rectangle 6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29" name="Object 4"/>
              <p:cNvSpPr txBox="1"/>
              <p:nvPr/>
            </p:nvSpPr>
            <p:spPr>
              <a:xfrm>
                <a:off x="3714840" y="3441600"/>
                <a:ext cx="857160" cy="576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nRT</m:t>
                        </m:r>
                      </m:num>
                      <m:den>
                        <m:r>
                          <m:t xml:space="preserve">V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29" name="Object 4"/>
              <p:cNvSpPr txBox="1"/>
              <p:nvPr/>
            </p:nvSpPr>
            <p:spPr>
              <a:xfrm>
                <a:off x="3714840" y="3441600"/>
                <a:ext cx="857160" cy="5763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730" name="Rectangle 7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1" name="Group 64"/>
          <p:cNvGrpSpPr/>
          <p:nvPr/>
        </p:nvGrpSpPr>
        <p:grpSpPr>
          <a:xfrm>
            <a:off x="5857920" y="1941480"/>
            <a:ext cx="1565280" cy="1492200"/>
            <a:chOff x="5857920" y="1941480"/>
            <a:chExt cx="1565280" cy="1492200"/>
          </a:xfrm>
        </p:grpSpPr>
        <p:sp>
          <p:nvSpPr>
            <p:cNvPr id="732" name="AutoShape 76"/>
            <p:cNvSpPr/>
            <p:nvPr/>
          </p:nvSpPr>
          <p:spPr>
            <a:xfrm>
              <a:off x="5857920" y="1941480"/>
              <a:ext cx="1565280" cy="149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3" name="Line 75"/>
            <p:cNvSpPr/>
            <p:nvPr/>
          </p:nvSpPr>
          <p:spPr>
            <a:xfrm flipV="1">
              <a:off x="6123240" y="3129120"/>
              <a:ext cx="1214280" cy="4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4" name="Line 74"/>
            <p:cNvSpPr/>
            <p:nvPr/>
          </p:nvSpPr>
          <p:spPr>
            <a:xfrm flipV="1">
              <a:off x="6131160" y="1941480"/>
              <a:ext cx="720" cy="1190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Text Box 73"/>
            <p:cNvSpPr/>
            <p:nvPr/>
          </p:nvSpPr>
          <p:spPr>
            <a:xfrm>
              <a:off x="5857920" y="1941480"/>
              <a:ext cx="252720" cy="29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V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6" name="Text Box 72"/>
            <p:cNvSpPr/>
            <p:nvPr/>
          </p:nvSpPr>
          <p:spPr>
            <a:xfrm>
              <a:off x="7085880" y="3137040"/>
              <a:ext cx="251640" cy="29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T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7" name="Text Box 71"/>
            <p:cNvSpPr/>
            <p:nvPr/>
          </p:nvSpPr>
          <p:spPr>
            <a:xfrm>
              <a:off x="5893560" y="3043800"/>
              <a:ext cx="252720" cy="29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0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Line 70"/>
            <p:cNvSpPr/>
            <p:nvPr/>
          </p:nvSpPr>
          <p:spPr>
            <a:xfrm flipV="1">
              <a:off x="6141960" y="2243160"/>
              <a:ext cx="835560" cy="8888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Line 69"/>
            <p:cNvSpPr/>
            <p:nvPr/>
          </p:nvSpPr>
          <p:spPr>
            <a:xfrm flipV="1">
              <a:off x="6141960" y="2439000"/>
              <a:ext cx="871920" cy="693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Line 68"/>
            <p:cNvSpPr/>
            <p:nvPr/>
          </p:nvSpPr>
          <p:spPr>
            <a:xfrm flipV="1">
              <a:off x="6141960" y="2599560"/>
              <a:ext cx="1049760" cy="532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Text Box 67"/>
            <p:cNvSpPr/>
            <p:nvPr/>
          </p:nvSpPr>
          <p:spPr>
            <a:xfrm>
              <a:off x="6729480" y="2030400"/>
              <a:ext cx="354240" cy="32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P</a:t>
              </a:r>
              <a:r>
                <a:rPr b="0" i="1" lang="fr-FR" sz="1200" strike="noStrike" u="none" baseline="-30000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3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Text Box 66"/>
            <p:cNvSpPr/>
            <p:nvPr/>
          </p:nvSpPr>
          <p:spPr>
            <a:xfrm>
              <a:off x="6977880" y="2171520"/>
              <a:ext cx="354240" cy="32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P</a:t>
              </a:r>
              <a:r>
                <a:rPr b="0" i="1" lang="fr-FR" sz="1200" strike="noStrike" u="none" baseline="-30000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2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3" name="Text Box 65"/>
            <p:cNvSpPr/>
            <p:nvPr/>
          </p:nvSpPr>
          <p:spPr>
            <a:xfrm>
              <a:off x="6977880" y="2599560"/>
              <a:ext cx="354240" cy="32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2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P</a:t>
              </a:r>
              <a:r>
                <a:rPr b="0" i="1" lang="fr-FR" sz="1200" strike="noStrike" u="none" baseline="-30000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1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4" name="Rectangle 8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45" name="Object 5"/>
              <p:cNvSpPr txBox="1"/>
              <p:nvPr/>
            </p:nvSpPr>
            <p:spPr>
              <a:xfrm>
                <a:off x="6286680" y="3379680"/>
                <a:ext cx="857160" cy="561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nRT</m:t>
                        </m:r>
                      </m:num>
                      <m:den>
                        <m:r>
                          <m:t xml:space="preserve">P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45" name="Object 5"/>
              <p:cNvSpPr txBox="1"/>
              <p:nvPr/>
            </p:nvSpPr>
            <p:spPr>
              <a:xfrm>
                <a:off x="6286680" y="3379680"/>
                <a:ext cx="857160" cy="561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746" name="ZoneTexte 3"/>
          <p:cNvSpPr/>
          <p:nvPr/>
        </p:nvSpPr>
        <p:spPr>
          <a:xfrm>
            <a:off x="0" y="3959280"/>
            <a:ext cx="9144000" cy="19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Notion de volume molaire: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C’est le volume occupé par mole de gaz 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sng">
                <a:solidFill>
                  <a:srgbClr val="0000ff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7" name="Picture 4" descr=""/>
          <p:cNvPicPr/>
          <p:nvPr/>
        </p:nvPicPr>
        <p:blipFill>
          <a:blip r:embed="rId4"/>
          <a:stretch/>
        </p:blipFill>
        <p:spPr>
          <a:xfrm>
            <a:off x="5572080" y="4214880"/>
            <a:ext cx="2152800" cy="85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8" name="ZoneTexte 11"/>
          <p:cNvSpPr/>
          <p:nvPr/>
        </p:nvSpPr>
        <p:spPr>
          <a:xfrm>
            <a:off x="0" y="5143680"/>
            <a:ext cx="9144000" cy="15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0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Remarque 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Les propriétés des gaz parfaits vus ci-dessus ne dépendent pas de la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nature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des molécules de gaz.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Il faut par contre mentionner les conditions  de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et de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pression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Modèle du gaz parfait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Rectangle 10"/>
          <p:cNvSpPr/>
          <p:nvPr/>
        </p:nvSpPr>
        <p:spPr>
          <a:xfrm>
            <a:off x="-749160" y="1071720"/>
            <a:ext cx="5229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DESCRIPTION MICROSCOPIQUE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Rectangle 4"/>
          <p:cNvSpPr/>
          <p:nvPr/>
        </p:nvSpPr>
        <p:spPr>
          <a:xfrm>
            <a:off x="0" y="1357200"/>
            <a:ext cx="9144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THÉORIE CINÉTIQUE DES GAZ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Box 39"/>
          <p:cNvSpPr/>
          <p:nvPr/>
        </p:nvSpPr>
        <p:spPr>
          <a:xfrm>
            <a:off x="0" y="1643040"/>
            <a:ext cx="9144000" cy="10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711360" indent="-711360"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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Description microscopique à partir d'une théorie considérant que les </a:t>
            </a:r>
            <a:r>
              <a:rPr b="0" lang="fr-FR" sz="21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effets macroscopiques 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observés sont la </a:t>
            </a:r>
            <a:r>
              <a:rPr b="0" lang="fr-FR" sz="21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résultante statistique 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des comportements individuels d'un grand nombre de molécules (mole)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Rectangle 6"/>
          <p:cNvSpPr/>
          <p:nvPr/>
        </p:nvSpPr>
        <p:spPr>
          <a:xfrm>
            <a:off x="0" y="2968560"/>
            <a:ext cx="9144000" cy="24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577800" indent="-577800" algn="just">
              <a:lnSpc>
                <a:spcPct val="100000"/>
              </a:lnSpc>
              <a:tabLst>
                <a:tab algn="l" pos="0"/>
                <a:tab algn="l" pos="577800"/>
                <a:tab algn="l" pos="1054080"/>
                <a:tab algn="l" pos="387036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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	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Hypothèses 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7800" indent="-577800" algn="just">
              <a:lnSpc>
                <a:spcPct val="100000"/>
              </a:lnSpc>
              <a:tabLst>
                <a:tab algn="l" pos="0"/>
                <a:tab algn="l" pos="577800"/>
                <a:tab algn="l" pos="1054080"/>
                <a:tab algn="l" pos="387036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</a:t>
            </a: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molécules </a:t>
            </a:r>
            <a:r>
              <a:rPr b="0" lang="fr-FR" sz="21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ponctuelles,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en </a:t>
            </a:r>
            <a:r>
              <a:rPr b="0" lang="fr-FR" sz="21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mouvement incessant 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et désordonné,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sans interaction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7800" indent="-577800" algn="just">
              <a:lnSpc>
                <a:spcPct val="100000"/>
              </a:lnSpc>
              <a:tabLst>
                <a:tab algn="l" pos="0"/>
                <a:tab algn="l" pos="577800"/>
                <a:tab algn="l" pos="1054080"/>
                <a:tab algn="l" pos="387036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</a:t>
            </a: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déplacement en </a:t>
            </a:r>
            <a:r>
              <a:rPr b="0" lang="fr-FR" sz="21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ligne droite 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entre chaque collision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7800" indent="-577800" algn="just">
              <a:lnSpc>
                <a:spcPct val="100000"/>
              </a:lnSpc>
              <a:tabLst>
                <a:tab algn="l" pos="0"/>
                <a:tab algn="l" pos="577800"/>
                <a:tab algn="l" pos="1054080"/>
                <a:tab algn="l" pos="387036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</a:t>
            </a: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1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chocs élastiques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(conservation de E</a:t>
            </a:r>
            <a:r>
              <a:rPr b="0" lang="fr-FR" sz="15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7800" indent="-577800" algn="just">
              <a:lnSpc>
                <a:spcPct val="100000"/>
              </a:lnSpc>
              <a:tabLst>
                <a:tab algn="l" pos="0"/>
                <a:tab algn="l" pos="577800"/>
                <a:tab algn="l" pos="1054080"/>
                <a:tab algn="l" pos="387036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</a:t>
            </a: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Zapf Dingbats"/>
                <a:ea typeface="Times New Roman"/>
              </a:rPr>
              <a:t> 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Les molécules n'ont pas toutes la même vitesse, la même     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direction, ni la même E</a:t>
            </a:r>
            <a:r>
              <a:rPr b="0" lang="fr-FR" sz="15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r>
              <a:rPr b="0" lang="fr-FR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individuelle, mais </a:t>
            </a:r>
            <a:r>
              <a:rPr b="0" lang="fr-FR" sz="21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E</a:t>
            </a:r>
            <a:r>
              <a:rPr b="0" lang="fr-FR" sz="15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r>
              <a:rPr b="0" lang="fr-FR" sz="21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 totale est constante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481" dur="indefinite" restart="never" nodeType="tmRoot">
          <p:childTnLst>
            <p:seq>
              <p:cTn id="482" dur="indefinite" nodeType="mainSeq">
                <p:childTnLst>
                  <p:par>
                    <p:cTn id="483" nodeType="clickEffect" fill="hold">
                      <p:stCondLst>
                        <p:cond delay="indefinite"/>
                      </p:stCondLst>
                      <p:childTnLst>
                        <p:par>
                          <p:cTn id="4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nodeType="clickEffect" fill="hold">
                      <p:stCondLst>
                        <p:cond delay="indefinite"/>
                      </p:stCondLst>
                      <p:childTnLst>
                        <p:par>
                          <p:cTn id="4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Modèle du gaz parfait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Rectangle 10"/>
          <p:cNvSpPr/>
          <p:nvPr/>
        </p:nvSpPr>
        <p:spPr>
          <a:xfrm>
            <a:off x="-749160" y="1071720"/>
            <a:ext cx="5229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DESCRIPTION MICROSCOPIQUE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Rectangle 4"/>
          <p:cNvSpPr/>
          <p:nvPr/>
        </p:nvSpPr>
        <p:spPr>
          <a:xfrm>
            <a:off x="0" y="1357200"/>
            <a:ext cx="9144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THÉORIE CINÉTIQUE DES GAZ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Box 40"/>
          <p:cNvSpPr/>
          <p:nvPr/>
        </p:nvSpPr>
        <p:spPr>
          <a:xfrm>
            <a:off x="87840" y="1714680"/>
            <a:ext cx="41263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ZapfDingbats BT"/>
                <a:ea typeface="ZapfDingbats BT"/>
              </a:rPr>
              <a:t></a:t>
            </a:r>
            <a:r>
              <a:rPr b="0" lang="fr-FR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   </a:t>
            </a:r>
            <a:r>
              <a:rPr b="0" lang="fr-FR" sz="3200" strike="noStrike" u="none">
                <a:solidFill>
                  <a:srgbClr val="00b050"/>
                </a:solidFill>
                <a:effectLst/>
                <a:uFillTx/>
                <a:latin typeface="Times New Roman"/>
              </a:rPr>
              <a:t>Résultats importants 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75" name="Object 2"/>
              <p:cNvSpPr txBox="1"/>
              <p:nvPr/>
            </p:nvSpPr>
            <p:spPr>
              <a:xfrm>
                <a:off x="1143000" y="3941640"/>
                <a:ext cx="2011320" cy="773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PV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t xml:space="preserve">N</m:t>
                    </m:r>
                    <m:r>
                      <m:t xml:space="preserve">n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b>
                      <m:e>
                        <m:bar>
                          <m:barPr>
                            <m:pos m:val="top"/>
                          </m:barPr>
                          <m:e>
                            <m:r>
                              <m:t xml:space="preserve">E</m:t>
                            </m:r>
                          </m:e>
                        </m:bar>
                      </m:e>
                      <m:sub>
                        <m:r>
                          <m:t xml:space="preserve">c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775" name="Object 2"/>
              <p:cNvSpPr txBox="1"/>
              <p:nvPr/>
            </p:nvSpPr>
            <p:spPr>
              <a:xfrm>
                <a:off x="1143000" y="3941640"/>
                <a:ext cx="2011320" cy="7732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776" name="Rectangle 42"/>
          <p:cNvSpPr/>
          <p:nvPr/>
        </p:nvSpPr>
        <p:spPr>
          <a:xfrm>
            <a:off x="285840" y="2357280"/>
            <a:ext cx="4572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En mécanique statistique, on montre que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Rectangle 43"/>
          <p:cNvSpPr/>
          <p:nvPr/>
        </p:nvSpPr>
        <p:spPr>
          <a:xfrm>
            <a:off x="4508640" y="3068640"/>
            <a:ext cx="45720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: Température du système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: Constante de Boltzmann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78" name="Object 3"/>
              <p:cNvSpPr txBox="1"/>
              <p:nvPr/>
            </p:nvSpPr>
            <p:spPr>
              <a:xfrm>
                <a:off x="3500280" y="3000240"/>
                <a:ext cx="595440" cy="673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kT</m:t>
                    </m:r>
                  </m:oMath>
                </a14:m>
              </a:p>
            </p:txBody>
          </p:sp>
        </mc:Choice>
        <mc:Fallback>
          <p:sp>
            <p:nvSpPr>
              <p:cNvPr id="778" name="Object 3"/>
              <p:cNvSpPr txBox="1"/>
              <p:nvPr/>
            </p:nvSpPr>
            <p:spPr>
              <a:xfrm>
                <a:off x="3500280" y="3000240"/>
                <a:ext cx="595440" cy="673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779" name="Rectangle 44"/>
          <p:cNvSpPr/>
          <p:nvPr/>
        </p:nvSpPr>
        <p:spPr>
          <a:xfrm>
            <a:off x="357120" y="2714760"/>
            <a:ext cx="87868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Webdings"/>
                <a:ea typeface="Webdings"/>
              </a:rPr>
              <a:t>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l’énergie cinétique moyenne relative à un degré de liberté de translation (ou de rotation)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d’</a:t>
            </a:r>
            <a:r>
              <a:rPr b="0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une particule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est égale à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Rectangle 45"/>
          <p:cNvSpPr/>
          <p:nvPr/>
        </p:nvSpPr>
        <p:spPr>
          <a:xfrm>
            <a:off x="437760" y="3571920"/>
            <a:ext cx="1343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Webdings"/>
                <a:ea typeface="Webdings"/>
              </a:rPr>
              <a:t>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 produit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Rectangle 46"/>
          <p:cNvSpPr/>
          <p:nvPr/>
        </p:nvSpPr>
        <p:spPr>
          <a:xfrm>
            <a:off x="4276440" y="3987720"/>
            <a:ext cx="4294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Energie cinétique moyenne d’une particule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82" name="Object 4"/>
              <p:cNvSpPr txBox="1"/>
              <p:nvPr/>
            </p:nvSpPr>
            <p:spPr>
              <a:xfrm>
                <a:off x="3941640" y="3929040"/>
                <a:ext cx="40500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bar>
                          <m:barPr>
                            <m:pos m:val="top"/>
                          </m:barPr>
                          <m:e>
                            <m:r>
                              <m:t xml:space="preserve">E</m:t>
                            </m:r>
                          </m:e>
                        </m:bar>
                      </m:e>
                      <m:sub>
                        <m:r>
                          <m:t xml:space="preserve">c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782" name="Object 4"/>
              <p:cNvSpPr txBox="1"/>
              <p:nvPr/>
            </p:nvSpPr>
            <p:spPr>
              <a:xfrm>
                <a:off x="3941640" y="3929040"/>
                <a:ext cx="405000" cy="430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783" name="Object 5"/>
              <p:cNvSpPr txBox="1"/>
              <p:nvPr/>
            </p:nvSpPr>
            <p:spPr>
              <a:xfrm>
                <a:off x="1214280" y="4788000"/>
                <a:ext cx="2479680" cy="785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bar>
                          <m:barPr>
                            <m:pos m:val="top"/>
                          </m:barPr>
                          <m:e>
                            <m:r>
                              <m:t xml:space="preserve">E</m:t>
                            </m:r>
                          </m:e>
                        </m:bar>
                      </m:e>
                      <m:sub>
                        <m:r>
                          <m:t xml:space="preserve">c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n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degré</m:t>
                        </m:r>
                        <m:r>
                          <m:t xml:space="preserve"> </m:t>
                        </m:r>
                        <m:r>
                          <m:rPr>
                            <m:lit/>
                            <m:nor/>
                          </m:rPr>
                          <m:t xml:space="preserve">liberté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.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kT</m:t>
                    </m:r>
                  </m:oMath>
                </a14:m>
              </a:p>
            </p:txBody>
          </p:sp>
        </mc:Choice>
        <mc:Fallback>
          <p:sp>
            <p:nvSpPr>
              <p:cNvPr id="783" name="Object 5"/>
              <p:cNvSpPr txBox="1"/>
              <p:nvPr/>
            </p:nvSpPr>
            <p:spPr>
              <a:xfrm>
                <a:off x="1214280" y="4788000"/>
                <a:ext cx="2479680" cy="785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784" name="Object 6"/>
              <p:cNvSpPr txBox="1"/>
              <p:nvPr/>
            </p:nvSpPr>
            <p:spPr>
              <a:xfrm>
                <a:off x="3941640" y="4429080"/>
                <a:ext cx="2463840" cy="398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N</m:t>
                    </m:r>
                    <m:r>
                      <m:t xml:space="preserve">=</m:t>
                    </m:r>
                    <m:r>
                      <m:t xml:space="preserve">6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rPr>
                        <m:lit/>
                        <m:nor/>
                      </m:rPr>
                      <m:t xml:space="preserve">023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10</m:t>
                        </m:r>
                      </m:e>
                      <m:sup>
                        <m:r>
                          <m:rPr>
                            <m:lit/>
                            <m:nor/>
                          </m:rPr>
                          <m:t xml:space="preserve">23</m:t>
                        </m:r>
                      </m:sup>
                    </m:sSup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mol</m:t>
                        </m:r>
                      </m:e>
                      <m:sup>
                        <m:r>
                          <m:t xml:space="preserve">−</m:t>
                        </m:r>
                        <m:r>
                          <m:t xml:space="preserve">1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784" name="Object 6"/>
              <p:cNvSpPr txBox="1"/>
              <p:nvPr/>
            </p:nvSpPr>
            <p:spPr>
              <a:xfrm>
                <a:off x="3941640" y="4429080"/>
                <a:ext cx="2463840" cy="398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785" name="Object 7"/>
              <p:cNvSpPr txBox="1"/>
              <p:nvPr/>
            </p:nvSpPr>
            <p:spPr>
              <a:xfrm>
                <a:off x="4025880" y="4892760"/>
                <a:ext cx="3098880" cy="679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R</m:t>
                        </m:r>
                      </m:num>
                      <m:den>
                        <m:r>
                          <m:t xml:space="preserve">N</m:t>
                        </m:r>
                      </m:den>
                    </m:f>
                    <m:r>
                      <m:t xml:space="preserve">=</m:t>
                    </m:r>
                    <m:r>
                      <m:t xml:space="preserve">1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rPr>
                        <m:lit/>
                        <m:nor/>
                      </m:rPr>
                      <m:t xml:space="preserve">38066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10</m:t>
                        </m:r>
                      </m:e>
                      <m:sup>
                        <m:r>
                          <m:t xml:space="preserve">−</m:t>
                        </m:r>
                        <m:r>
                          <m:rPr>
                            <m:lit/>
                            <m:nor/>
                          </m:rPr>
                          <m:t xml:space="preserve">23</m:t>
                        </m:r>
                      </m:sup>
                    </m:sSup>
                    <m:r>
                      <m:t xml:space="preserve">J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p>
                      <m:e>
                        <m:r>
                          <m:t xml:space="preserve">K</m:t>
                        </m:r>
                      </m:e>
                      <m:sup>
                        <m:r>
                          <m:t xml:space="preserve">−</m:t>
                        </m:r>
                        <m:r>
                          <m:t xml:space="preserve">1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785" name="Object 7"/>
              <p:cNvSpPr txBox="1"/>
              <p:nvPr/>
            </p:nvSpPr>
            <p:spPr>
              <a:xfrm>
                <a:off x="4025880" y="4892760"/>
                <a:ext cx="3098880" cy="679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</p:spTree>
  </p:cSld>
  <p:timing>
    <p:tnLst>
      <p:par>
        <p:cTn id="491" dur="indefinite" restart="never" nodeType="tmRoot">
          <p:childTnLst>
            <p:seq>
              <p:cTn id="492" dur="indefinite" nodeType="mainSeq">
                <p:childTnLst>
                  <p:par>
                    <p:cTn id="493" nodeType="clickEffect" fill="hold">
                      <p:stCondLst>
                        <p:cond delay="indefinite"/>
                      </p:stCondLst>
                      <p:childTnLst>
                        <p:par>
                          <p:cTn id="4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nodeType="clickEffect" fill="hold">
                      <p:stCondLst>
                        <p:cond delay="indefinite"/>
                      </p:stCondLst>
                      <p:childTnLst>
                        <p:par>
                          <p:cTn id="4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01"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nodeType="clickEffect" fill="hold">
                      <p:stCondLst>
                        <p:cond delay="indefinite"/>
                      </p:stCondLst>
                      <p:childTnLst>
                        <p:par>
                          <p:cTn id="5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06"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0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10"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1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51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14"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nodeType="clickEffect" fill="hold">
                      <p:stCondLst>
                        <p:cond delay="indefinite"/>
                      </p:stCondLst>
                      <p:childTnLst>
                        <p:par>
                          <p:cTn id="5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19"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2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23"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nodeType="clickEffect" fill="hold">
                      <p:stCondLst>
                        <p:cond delay="indefinite"/>
                      </p:stCondLst>
                      <p:childTnLst>
                        <p:par>
                          <p:cTn id="5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6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8" dur="10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9" dur="10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530" dur="10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3" dur="10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4" dur="10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535" dur="10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8" dur="10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9" dur="10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540" dur="10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nodeType="clickEffect" fill="hold">
                      <p:stCondLst>
                        <p:cond delay="indefinite"/>
                      </p:stCondLst>
                      <p:childTnLst>
                        <p:par>
                          <p:cTn id="5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45"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4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49"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Modèle du gaz parfait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Rectangle 10"/>
          <p:cNvSpPr/>
          <p:nvPr/>
        </p:nvSpPr>
        <p:spPr>
          <a:xfrm>
            <a:off x="-749160" y="1071720"/>
            <a:ext cx="5229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768240" indent="-768240" algn="just">
              <a:lnSpc>
                <a:spcPct val="100000"/>
              </a:lnSpc>
              <a:tabLst>
                <a:tab algn="l" pos="0"/>
                <a:tab algn="l" pos="768240"/>
                <a:tab algn="l" pos="12445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DESCRIPTION MICROSCOPIQUE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Rectangle 4"/>
          <p:cNvSpPr/>
          <p:nvPr/>
        </p:nvSpPr>
        <p:spPr>
          <a:xfrm>
            <a:off x="0" y="1357200"/>
            <a:ext cx="9144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THÉORIE CINÉTIQUE DES GAZ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Rectangle 2"/>
          <p:cNvSpPr/>
          <p:nvPr/>
        </p:nvSpPr>
        <p:spPr>
          <a:xfrm>
            <a:off x="0" y="1844640"/>
            <a:ext cx="9144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DISTRIBUTION DE L'ÉNERGIE CINÉTIQUE D'UN GAZ  ET  ÉVOLUTION AVEC  LA TEMPÉRATURE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8" name="Group 60"/>
          <p:cNvGrpSpPr/>
          <p:nvPr/>
        </p:nvGrpSpPr>
        <p:grpSpPr>
          <a:xfrm>
            <a:off x="214200" y="2643120"/>
            <a:ext cx="6507360" cy="3516480"/>
            <a:chOff x="214200" y="2643120"/>
            <a:chExt cx="6507360" cy="3516480"/>
          </a:xfrm>
        </p:grpSpPr>
        <p:grpSp>
          <p:nvGrpSpPr>
            <p:cNvPr id="799" name="Group 38"/>
            <p:cNvGrpSpPr/>
            <p:nvPr/>
          </p:nvGrpSpPr>
          <p:grpSpPr>
            <a:xfrm>
              <a:off x="214200" y="2643120"/>
              <a:ext cx="6497280" cy="3516480"/>
              <a:chOff x="214200" y="2643120"/>
              <a:chExt cx="6497280" cy="3516480"/>
            </a:xfrm>
          </p:grpSpPr>
          <p:sp>
            <p:nvSpPr>
              <p:cNvPr id="800" name="Rectangle 10"/>
              <p:cNvSpPr/>
              <p:nvPr/>
            </p:nvSpPr>
            <p:spPr>
              <a:xfrm>
                <a:off x="1769760" y="3228120"/>
                <a:ext cx="194760" cy="292572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Rectangle 11"/>
              <p:cNvSpPr/>
              <p:nvPr/>
            </p:nvSpPr>
            <p:spPr>
              <a:xfrm>
                <a:off x="1574640" y="3347640"/>
                <a:ext cx="194760" cy="280620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Rectangle 12"/>
              <p:cNvSpPr/>
              <p:nvPr/>
            </p:nvSpPr>
            <p:spPr>
              <a:xfrm>
                <a:off x="1390320" y="3599280"/>
                <a:ext cx="194760" cy="255456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Rectangle 13"/>
              <p:cNvSpPr/>
              <p:nvPr/>
            </p:nvSpPr>
            <p:spPr>
              <a:xfrm>
                <a:off x="1195920" y="4013280"/>
                <a:ext cx="194400" cy="214056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Rectangle 14"/>
              <p:cNvSpPr/>
              <p:nvPr/>
            </p:nvSpPr>
            <p:spPr>
              <a:xfrm>
                <a:off x="1001160" y="4473360"/>
                <a:ext cx="194760" cy="168048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Rectangle 15"/>
              <p:cNvSpPr/>
              <p:nvPr/>
            </p:nvSpPr>
            <p:spPr>
              <a:xfrm>
                <a:off x="806040" y="4974840"/>
                <a:ext cx="192960" cy="117864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Rectangle 16"/>
              <p:cNvSpPr/>
              <p:nvPr/>
            </p:nvSpPr>
            <p:spPr>
              <a:xfrm>
                <a:off x="609840" y="5476680"/>
                <a:ext cx="194400" cy="67680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7" name="Rectangle 17"/>
              <p:cNvSpPr/>
              <p:nvPr/>
            </p:nvSpPr>
            <p:spPr>
              <a:xfrm>
                <a:off x="415080" y="5870520"/>
                <a:ext cx="194760" cy="28296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 fontScale="625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Rectangle 18"/>
              <p:cNvSpPr/>
              <p:nvPr/>
            </p:nvSpPr>
            <p:spPr>
              <a:xfrm>
                <a:off x="220320" y="6077520"/>
                <a:ext cx="194760" cy="7596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160" bIns="2916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9" name="Rectangle 19"/>
              <p:cNvSpPr/>
              <p:nvPr/>
            </p:nvSpPr>
            <p:spPr>
              <a:xfrm>
                <a:off x="1964520" y="3314160"/>
                <a:ext cx="194760" cy="283968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0" name="Rectangle 20"/>
              <p:cNvSpPr/>
              <p:nvPr/>
            </p:nvSpPr>
            <p:spPr>
              <a:xfrm>
                <a:off x="2160720" y="3511440"/>
                <a:ext cx="193320" cy="264240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1" name="Rectangle 21"/>
              <p:cNvSpPr/>
              <p:nvPr/>
            </p:nvSpPr>
            <p:spPr>
              <a:xfrm>
                <a:off x="2355480" y="3893760"/>
                <a:ext cx="194760" cy="225972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2" name="Rectangle 22"/>
              <p:cNvSpPr/>
              <p:nvPr/>
            </p:nvSpPr>
            <p:spPr>
              <a:xfrm>
                <a:off x="2550600" y="4340880"/>
                <a:ext cx="194760" cy="181296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3" name="Rectangle 23"/>
              <p:cNvSpPr/>
              <p:nvPr/>
            </p:nvSpPr>
            <p:spPr>
              <a:xfrm>
                <a:off x="2745360" y="4723200"/>
                <a:ext cx="194760" cy="143028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4" name="Rectangle 24"/>
              <p:cNvSpPr/>
              <p:nvPr/>
            </p:nvSpPr>
            <p:spPr>
              <a:xfrm>
                <a:off x="2941560" y="5072760"/>
                <a:ext cx="193320" cy="108108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5" name="Rectangle 25"/>
              <p:cNvSpPr/>
              <p:nvPr/>
            </p:nvSpPr>
            <p:spPr>
              <a:xfrm>
                <a:off x="3136320" y="5324040"/>
                <a:ext cx="194760" cy="82944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Rectangle 26"/>
              <p:cNvSpPr/>
              <p:nvPr/>
            </p:nvSpPr>
            <p:spPr>
              <a:xfrm>
                <a:off x="3331440" y="5576040"/>
                <a:ext cx="194760" cy="57780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Rectangle 27"/>
              <p:cNvSpPr/>
              <p:nvPr/>
            </p:nvSpPr>
            <p:spPr>
              <a:xfrm>
                <a:off x="3526200" y="5727960"/>
                <a:ext cx="194760" cy="42552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Rectangle 28"/>
              <p:cNvSpPr/>
              <p:nvPr/>
            </p:nvSpPr>
            <p:spPr>
              <a:xfrm>
                <a:off x="3720960" y="5892120"/>
                <a:ext cx="194400" cy="26172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 fontScale="625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9" name="Rectangle 29"/>
              <p:cNvSpPr/>
              <p:nvPr/>
            </p:nvSpPr>
            <p:spPr>
              <a:xfrm>
                <a:off x="3917160" y="5990040"/>
                <a:ext cx="192960" cy="16380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Rectangle 30"/>
              <p:cNvSpPr/>
              <p:nvPr/>
            </p:nvSpPr>
            <p:spPr>
              <a:xfrm>
                <a:off x="4112280" y="6022800"/>
                <a:ext cx="194760" cy="13104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Rectangle 31"/>
              <p:cNvSpPr/>
              <p:nvPr/>
            </p:nvSpPr>
            <p:spPr>
              <a:xfrm>
                <a:off x="4307040" y="6099120"/>
                <a:ext cx="194400" cy="5472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920" bIns="792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Rectangle 32"/>
              <p:cNvSpPr/>
              <p:nvPr/>
            </p:nvSpPr>
            <p:spPr>
              <a:xfrm>
                <a:off x="4501440" y="6120720"/>
                <a:ext cx="194760" cy="33120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3680" bIns="-1368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eform 33"/>
              <p:cNvSpPr/>
              <p:nvPr/>
            </p:nvSpPr>
            <p:spPr>
              <a:xfrm>
                <a:off x="249120" y="4215600"/>
                <a:ext cx="6301800" cy="1932120"/>
              </a:xfrm>
              <a:custGeom>
                <a:avLst/>
                <a:gdLst>
                  <a:gd name="textAreaLeft" fmla="*/ 0 w 6301800"/>
                  <a:gd name="textAreaRight" fmla="*/ 6302160 w 6301800"/>
                  <a:gd name="textAreaTop" fmla="*/ 0 h 1932120"/>
                  <a:gd name="textAreaBottom" fmla="*/ 1932480 h 1932120"/>
                  <a:gd name="GluePoint1X" fmla="*/ 0 w 4173"/>
                  <a:gd name="GluePoint1Y" fmla="*/ 1344 h 1344"/>
                  <a:gd name="GluePoint2X" fmla="*/ 7 w 4173"/>
                  <a:gd name="GluePoint2Y" fmla="*/ 1337 h 1344"/>
                  <a:gd name="GluePoint3X" fmla="*/ 30 w 4173"/>
                  <a:gd name="GluePoint3Y" fmla="*/ 1329 h 1344"/>
                  <a:gd name="GluePoint4X" fmla="*/ 76 w 4173"/>
                  <a:gd name="GluePoint4Y" fmla="*/ 1321 h 1344"/>
                  <a:gd name="GluePoint5X" fmla="*/ 129 w 4173"/>
                  <a:gd name="GluePoint5Y" fmla="*/ 1306 h 1344"/>
                  <a:gd name="GluePoint6X" fmla="*/ 243 w 4173"/>
                  <a:gd name="GluePoint6Y" fmla="*/ 1268 h 1344"/>
                  <a:gd name="GluePoint7X" fmla="*/ 357 w 4173"/>
                  <a:gd name="GluePoint7Y" fmla="*/ 1215 h 1344"/>
                  <a:gd name="GluePoint8X" fmla="*/ 441 w 4173"/>
                  <a:gd name="GluePoint8Y" fmla="*/ 1147 h 1344"/>
                  <a:gd name="GluePoint9X" fmla="*/ 509 w 4173"/>
                  <a:gd name="GluePoint9Y" fmla="*/ 1086 h 1344"/>
                  <a:gd name="GluePoint10X" fmla="*/ 631 w 4173"/>
                  <a:gd name="GluePoint10Y" fmla="*/ 957 h 1344"/>
                  <a:gd name="GluePoint11X" fmla="*/ 737 w 4173"/>
                  <a:gd name="GluePoint11Y" fmla="*/ 813 h 1344"/>
                  <a:gd name="GluePoint12X" fmla="*/ 874 w 4173"/>
                  <a:gd name="GluePoint12Y" fmla="*/ 668 h 1344"/>
                  <a:gd name="GluePoint13X" fmla="*/ 1049 w 4173"/>
                  <a:gd name="GluePoint13Y" fmla="*/ 440 h 1344"/>
                  <a:gd name="GluePoint14X" fmla="*/ 1132 w 4173"/>
                  <a:gd name="GluePoint14Y" fmla="*/ 326 h 1344"/>
                  <a:gd name="GluePoint15X" fmla="*/ 1216 w 4173"/>
                  <a:gd name="GluePoint15Y" fmla="*/ 228 h 1344"/>
                  <a:gd name="GluePoint16X" fmla="*/ 1307 w 4173"/>
                  <a:gd name="GluePoint16Y" fmla="*/ 137 h 1344"/>
                  <a:gd name="GluePoint17X" fmla="*/ 1398 w 4173"/>
                  <a:gd name="GluePoint17Y" fmla="*/ 61 h 1344"/>
                  <a:gd name="GluePoint18X" fmla="*/ 1497 w 4173"/>
                  <a:gd name="GluePoint18Y" fmla="*/ 15 h 1344"/>
                  <a:gd name="GluePoint19X" fmla="*/ 1604 w 4173"/>
                  <a:gd name="GluePoint19Y" fmla="*/ 0 h 1344"/>
                  <a:gd name="GluePoint20X" fmla="*/ 1718 w 4173"/>
                  <a:gd name="GluePoint20Y" fmla="*/ 15 h 1344"/>
                  <a:gd name="GluePoint21X" fmla="*/ 1832 w 4173"/>
                  <a:gd name="GluePoint21Y" fmla="*/ 61 h 1344"/>
                  <a:gd name="GluePoint22X" fmla="*/ 1953 w 4173"/>
                  <a:gd name="GluePoint22Y" fmla="*/ 137 h 1344"/>
                  <a:gd name="GluePoint23X" fmla="*/ 2090 w 4173"/>
                  <a:gd name="GluePoint23Y" fmla="*/ 235 h 1344"/>
                  <a:gd name="GluePoint24X" fmla="*/ 2250 w 4173"/>
                  <a:gd name="GluePoint24Y" fmla="*/ 357 h 1344"/>
                  <a:gd name="GluePoint25X" fmla="*/ 2440 w 4173"/>
                  <a:gd name="GluePoint25Y" fmla="*/ 501 h 1344"/>
                  <a:gd name="GluePoint26X" fmla="*/ 2554 w 4173"/>
                  <a:gd name="GluePoint26Y" fmla="*/ 585 h 1344"/>
                  <a:gd name="GluePoint27X" fmla="*/ 2676 w 4173"/>
                  <a:gd name="GluePoint27Y" fmla="*/ 668 h 1344"/>
                  <a:gd name="GluePoint28X" fmla="*/ 2812 w 4173"/>
                  <a:gd name="GluePoint28Y" fmla="*/ 752 h 1344"/>
                  <a:gd name="GluePoint29X" fmla="*/ 2964 w 4173"/>
                  <a:gd name="GluePoint29Y" fmla="*/ 851 h 1344"/>
                  <a:gd name="GluePoint30X" fmla="*/ 3116 w 4173"/>
                  <a:gd name="GluePoint30Y" fmla="*/ 934 h 1344"/>
                  <a:gd name="GluePoint31X" fmla="*/ 3253 w 4173"/>
                  <a:gd name="GluePoint31Y" fmla="*/ 1018 h 1344"/>
                  <a:gd name="GluePoint32X" fmla="*/ 3504 w 4173"/>
                  <a:gd name="GluePoint32Y" fmla="*/ 1139 h 1344"/>
                  <a:gd name="GluePoint33X" fmla="*/ 3717 w 4173"/>
                  <a:gd name="GluePoint33Y" fmla="*/ 1230 h 1344"/>
                  <a:gd name="GluePoint34X" fmla="*/ 3884 w 4173"/>
                  <a:gd name="GluePoint34Y" fmla="*/ 1291 h 1344"/>
                  <a:gd name="GluePoint35X" fmla="*/ 4006 w 4173"/>
                  <a:gd name="GluePoint35Y" fmla="*/ 1321 h 1344"/>
                  <a:gd name="GluePoint36X" fmla="*/ 4097 w 4173"/>
                  <a:gd name="GluePoint36Y" fmla="*/ 1337 h 1344"/>
                  <a:gd name="GluePoint37X" fmla="*/ 4150 w 4173"/>
                  <a:gd name="GluePoint37Y" fmla="*/ 1337 h 1344"/>
                  <a:gd name="GluePoint38X" fmla="*/ 4173 w 4173"/>
                  <a:gd name="GluePoint38Y" fmla="*/ 1344 h 134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</a:cxnLst>
                <a:rect l="textAreaLeft" t="textAreaTop" r="textAreaRight" b="textAreaBottom"/>
                <a:pathLst>
                  <a:path w="4173" h="1344">
                    <a:moveTo>
                      <a:pt x="0" y="1344"/>
                    </a:moveTo>
                    <a:lnTo>
                      <a:pt x="7" y="1337"/>
                    </a:lnTo>
                    <a:lnTo>
                      <a:pt x="30" y="1329"/>
                    </a:lnTo>
                    <a:lnTo>
                      <a:pt x="76" y="1321"/>
                    </a:lnTo>
                    <a:lnTo>
                      <a:pt x="129" y="1306"/>
                    </a:lnTo>
                    <a:lnTo>
                      <a:pt x="243" y="1268"/>
                    </a:lnTo>
                    <a:lnTo>
                      <a:pt x="357" y="1215"/>
                    </a:lnTo>
                    <a:lnTo>
                      <a:pt x="441" y="1147"/>
                    </a:lnTo>
                    <a:lnTo>
                      <a:pt x="509" y="1086"/>
                    </a:lnTo>
                    <a:lnTo>
                      <a:pt x="631" y="957"/>
                    </a:lnTo>
                    <a:lnTo>
                      <a:pt x="737" y="813"/>
                    </a:lnTo>
                    <a:lnTo>
                      <a:pt x="874" y="668"/>
                    </a:lnTo>
                    <a:lnTo>
                      <a:pt x="1049" y="440"/>
                    </a:lnTo>
                    <a:lnTo>
                      <a:pt x="1132" y="326"/>
                    </a:lnTo>
                    <a:lnTo>
                      <a:pt x="1216" y="228"/>
                    </a:lnTo>
                    <a:lnTo>
                      <a:pt x="1307" y="137"/>
                    </a:lnTo>
                    <a:lnTo>
                      <a:pt x="1398" y="61"/>
                    </a:lnTo>
                    <a:lnTo>
                      <a:pt x="1497" y="15"/>
                    </a:lnTo>
                    <a:lnTo>
                      <a:pt x="1604" y="0"/>
                    </a:lnTo>
                    <a:lnTo>
                      <a:pt x="1718" y="15"/>
                    </a:lnTo>
                    <a:lnTo>
                      <a:pt x="1832" y="61"/>
                    </a:lnTo>
                    <a:lnTo>
                      <a:pt x="1953" y="137"/>
                    </a:lnTo>
                    <a:lnTo>
                      <a:pt x="2090" y="235"/>
                    </a:lnTo>
                    <a:lnTo>
                      <a:pt x="2250" y="357"/>
                    </a:lnTo>
                    <a:lnTo>
                      <a:pt x="2440" y="501"/>
                    </a:lnTo>
                    <a:lnTo>
                      <a:pt x="2554" y="585"/>
                    </a:lnTo>
                    <a:lnTo>
                      <a:pt x="2676" y="668"/>
                    </a:lnTo>
                    <a:lnTo>
                      <a:pt x="2812" y="752"/>
                    </a:lnTo>
                    <a:lnTo>
                      <a:pt x="2964" y="851"/>
                    </a:lnTo>
                    <a:lnTo>
                      <a:pt x="3116" y="934"/>
                    </a:lnTo>
                    <a:lnTo>
                      <a:pt x="3253" y="1018"/>
                    </a:lnTo>
                    <a:lnTo>
                      <a:pt x="3504" y="1139"/>
                    </a:lnTo>
                    <a:lnTo>
                      <a:pt x="3717" y="1230"/>
                    </a:lnTo>
                    <a:lnTo>
                      <a:pt x="3884" y="1291"/>
                    </a:lnTo>
                    <a:lnTo>
                      <a:pt x="4006" y="1321"/>
                    </a:lnTo>
                    <a:lnTo>
                      <a:pt x="4097" y="1337"/>
                    </a:lnTo>
                    <a:lnTo>
                      <a:pt x="4150" y="1337"/>
                    </a:lnTo>
                    <a:lnTo>
                      <a:pt x="4173" y="1344"/>
                    </a:lnTo>
                  </a:path>
                </a:pathLst>
              </a:custGeom>
              <a:noFill/>
              <a:ln w="237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Freeform 34"/>
              <p:cNvSpPr/>
              <p:nvPr/>
            </p:nvSpPr>
            <p:spPr>
              <a:xfrm>
                <a:off x="249120" y="3821760"/>
                <a:ext cx="5016960" cy="2337480"/>
              </a:xfrm>
              <a:custGeom>
                <a:avLst/>
                <a:gdLst>
                  <a:gd name="textAreaLeft" fmla="*/ 0 w 5016960"/>
                  <a:gd name="textAreaRight" fmla="*/ 5017320 w 5016960"/>
                  <a:gd name="textAreaTop" fmla="*/ 0 h 2337480"/>
                  <a:gd name="textAreaBottom" fmla="*/ 2337840 h 2337480"/>
                  <a:gd name="GluePoint1X" fmla="*/ 0 w 3322"/>
                  <a:gd name="GluePoint1Y" fmla="*/ 1618 h 1626"/>
                  <a:gd name="GluePoint2X" fmla="*/ 15 w 3322"/>
                  <a:gd name="GluePoint2Y" fmla="*/ 1603 h 1626"/>
                  <a:gd name="GluePoint3X" fmla="*/ 53 w 3322"/>
                  <a:gd name="GluePoint3Y" fmla="*/ 1573 h 1626"/>
                  <a:gd name="GluePoint4X" fmla="*/ 121 w 3322"/>
                  <a:gd name="GluePoint4Y" fmla="*/ 1520 h 1626"/>
                  <a:gd name="GluePoint5X" fmla="*/ 205 w 3322"/>
                  <a:gd name="GluePoint5Y" fmla="*/ 1444 h 1626"/>
                  <a:gd name="GluePoint6X" fmla="*/ 304 w 3322"/>
                  <a:gd name="GluePoint6Y" fmla="*/ 1337 h 1626"/>
                  <a:gd name="GluePoint7X" fmla="*/ 410 w 3322"/>
                  <a:gd name="GluePoint7Y" fmla="*/ 1208 h 1626"/>
                  <a:gd name="GluePoint8X" fmla="*/ 517 w 3322"/>
                  <a:gd name="GluePoint8Y" fmla="*/ 1041 h 1626"/>
                  <a:gd name="GluePoint9X" fmla="*/ 623 w 3322"/>
                  <a:gd name="GluePoint9Y" fmla="*/ 851 h 1626"/>
                  <a:gd name="GluePoint10X" fmla="*/ 714 w 3322"/>
                  <a:gd name="GluePoint10Y" fmla="*/ 684 h 1626"/>
                  <a:gd name="GluePoint11X" fmla="*/ 806 w 3322"/>
                  <a:gd name="GluePoint11Y" fmla="*/ 524 h 1626"/>
                  <a:gd name="GluePoint12X" fmla="*/ 897 w 3322"/>
                  <a:gd name="GluePoint12Y" fmla="*/ 380 h 1626"/>
                  <a:gd name="GluePoint13X" fmla="*/ 988 w 3322"/>
                  <a:gd name="GluePoint13Y" fmla="*/ 251 h 1626"/>
                  <a:gd name="GluePoint14X" fmla="*/ 1079 w 3322"/>
                  <a:gd name="GluePoint14Y" fmla="*/ 145 h 1626"/>
                  <a:gd name="GluePoint15X" fmla="*/ 1163 w 3322"/>
                  <a:gd name="GluePoint15Y" fmla="*/ 61 h 1626"/>
                  <a:gd name="GluePoint16X" fmla="*/ 1254 w 3322"/>
                  <a:gd name="GluePoint16Y" fmla="*/ 16 h 1626"/>
                  <a:gd name="GluePoint17X" fmla="*/ 1345 w 3322"/>
                  <a:gd name="GluePoint17Y" fmla="*/ 0 h 1626"/>
                  <a:gd name="GluePoint18X" fmla="*/ 1474 w 3322"/>
                  <a:gd name="GluePoint18Y" fmla="*/ 23 h 1626"/>
                  <a:gd name="GluePoint19X" fmla="*/ 1588 w 3322"/>
                  <a:gd name="GluePoint19Y" fmla="*/ 84 h 1626"/>
                  <a:gd name="GluePoint20X" fmla="*/ 1695 w 3322"/>
                  <a:gd name="GluePoint20Y" fmla="*/ 175 h 1626"/>
                  <a:gd name="GluePoint21X" fmla="*/ 1801 w 3322"/>
                  <a:gd name="GluePoint21Y" fmla="*/ 289 h 1626"/>
                  <a:gd name="GluePoint22X" fmla="*/ 1908 w 3322"/>
                  <a:gd name="GluePoint22Y" fmla="*/ 433 h 1626"/>
                  <a:gd name="GluePoint23X" fmla="*/ 2037 w 3322"/>
                  <a:gd name="GluePoint23Y" fmla="*/ 593 h 1626"/>
                  <a:gd name="GluePoint24X" fmla="*/ 2181 w 3322"/>
                  <a:gd name="GluePoint24Y" fmla="*/ 775 h 1626"/>
                  <a:gd name="GluePoint25X" fmla="*/ 2364 w 3322"/>
                  <a:gd name="GluePoint25Y" fmla="*/ 973 h 1626"/>
                  <a:gd name="GluePoint26X" fmla="*/ 2531 w 3322"/>
                  <a:gd name="GluePoint26Y" fmla="*/ 1140 h 1626"/>
                  <a:gd name="GluePoint27X" fmla="*/ 2706 w 3322"/>
                  <a:gd name="GluePoint27Y" fmla="*/ 1276 h 1626"/>
                  <a:gd name="GluePoint28X" fmla="*/ 2866 w 3322"/>
                  <a:gd name="GluePoint28Y" fmla="*/ 1390 h 1626"/>
                  <a:gd name="GluePoint29X" fmla="*/ 3010 w 3322"/>
                  <a:gd name="GluePoint29Y" fmla="*/ 1482 h 1626"/>
                  <a:gd name="GluePoint30X" fmla="*/ 3139 w 3322"/>
                  <a:gd name="GluePoint30Y" fmla="*/ 1542 h 1626"/>
                  <a:gd name="GluePoint31X" fmla="*/ 3230 w 3322"/>
                  <a:gd name="GluePoint31Y" fmla="*/ 1588 h 1626"/>
                  <a:gd name="GluePoint32X" fmla="*/ 3299 w 3322"/>
                  <a:gd name="GluePoint32Y" fmla="*/ 1611 h 1626"/>
                  <a:gd name="GluePoint33X" fmla="*/ 3314 w 3322"/>
                  <a:gd name="GluePoint33Y" fmla="*/ 1618 h 1626"/>
                  <a:gd name="GluePoint34X" fmla="*/ 3322 w 3322"/>
                  <a:gd name="GluePoint34Y" fmla="*/ 1626 h 16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</a:cxnLst>
                <a:rect l="textAreaLeft" t="textAreaTop" r="textAreaRight" b="textAreaBottom"/>
                <a:pathLst>
                  <a:path w="3322" h="1626">
                    <a:moveTo>
                      <a:pt x="0" y="1618"/>
                    </a:moveTo>
                    <a:lnTo>
                      <a:pt x="15" y="1603"/>
                    </a:lnTo>
                    <a:lnTo>
                      <a:pt x="53" y="1573"/>
                    </a:lnTo>
                    <a:lnTo>
                      <a:pt x="121" y="1520"/>
                    </a:lnTo>
                    <a:lnTo>
                      <a:pt x="205" y="1444"/>
                    </a:lnTo>
                    <a:lnTo>
                      <a:pt x="304" y="1337"/>
                    </a:lnTo>
                    <a:lnTo>
                      <a:pt x="410" y="1208"/>
                    </a:lnTo>
                    <a:lnTo>
                      <a:pt x="517" y="1041"/>
                    </a:lnTo>
                    <a:lnTo>
                      <a:pt x="623" y="851"/>
                    </a:lnTo>
                    <a:lnTo>
                      <a:pt x="714" y="684"/>
                    </a:lnTo>
                    <a:lnTo>
                      <a:pt x="806" y="524"/>
                    </a:lnTo>
                    <a:lnTo>
                      <a:pt x="897" y="380"/>
                    </a:lnTo>
                    <a:lnTo>
                      <a:pt x="988" y="251"/>
                    </a:lnTo>
                    <a:lnTo>
                      <a:pt x="1079" y="145"/>
                    </a:lnTo>
                    <a:lnTo>
                      <a:pt x="1163" y="61"/>
                    </a:lnTo>
                    <a:lnTo>
                      <a:pt x="1254" y="16"/>
                    </a:lnTo>
                    <a:lnTo>
                      <a:pt x="1345" y="0"/>
                    </a:lnTo>
                    <a:lnTo>
                      <a:pt x="1474" y="23"/>
                    </a:lnTo>
                    <a:lnTo>
                      <a:pt x="1588" y="84"/>
                    </a:lnTo>
                    <a:lnTo>
                      <a:pt x="1695" y="175"/>
                    </a:lnTo>
                    <a:lnTo>
                      <a:pt x="1801" y="289"/>
                    </a:lnTo>
                    <a:lnTo>
                      <a:pt x="1908" y="433"/>
                    </a:lnTo>
                    <a:lnTo>
                      <a:pt x="2037" y="593"/>
                    </a:lnTo>
                    <a:lnTo>
                      <a:pt x="2181" y="775"/>
                    </a:lnTo>
                    <a:lnTo>
                      <a:pt x="2364" y="973"/>
                    </a:lnTo>
                    <a:lnTo>
                      <a:pt x="2531" y="1140"/>
                    </a:lnTo>
                    <a:lnTo>
                      <a:pt x="2706" y="1276"/>
                    </a:lnTo>
                    <a:lnTo>
                      <a:pt x="2866" y="1390"/>
                    </a:lnTo>
                    <a:lnTo>
                      <a:pt x="3010" y="1482"/>
                    </a:lnTo>
                    <a:lnTo>
                      <a:pt x="3139" y="1542"/>
                    </a:lnTo>
                    <a:lnTo>
                      <a:pt x="3230" y="1588"/>
                    </a:lnTo>
                    <a:lnTo>
                      <a:pt x="3299" y="1611"/>
                    </a:lnTo>
                    <a:lnTo>
                      <a:pt x="3314" y="1618"/>
                    </a:lnTo>
                    <a:lnTo>
                      <a:pt x="3322" y="1626"/>
                    </a:lnTo>
                  </a:path>
                </a:pathLst>
              </a:custGeom>
              <a:noFill/>
              <a:ln w="237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5" name="Freeform 35"/>
              <p:cNvSpPr/>
              <p:nvPr/>
            </p:nvSpPr>
            <p:spPr>
              <a:xfrm>
                <a:off x="226080" y="3243960"/>
                <a:ext cx="4591080" cy="2915640"/>
              </a:xfrm>
              <a:custGeom>
                <a:avLst/>
                <a:gdLst>
                  <a:gd name="textAreaLeft" fmla="*/ 0 w 4591080"/>
                  <a:gd name="textAreaRight" fmla="*/ 4591080 w 4591080"/>
                  <a:gd name="textAreaTop" fmla="*/ 0 h 2915640"/>
                  <a:gd name="textAreaBottom" fmla="*/ 2916000 h 2915640"/>
                  <a:gd name="GluePoint1X" fmla="*/ 0 w 3040"/>
                  <a:gd name="GluePoint1Y" fmla="*/ 2020 h 2028"/>
                  <a:gd name="GluePoint2X" fmla="*/ 15 w 3040"/>
                  <a:gd name="GluePoint2Y" fmla="*/ 2020 h 2028"/>
                  <a:gd name="GluePoint3X" fmla="*/ 38 w 3040"/>
                  <a:gd name="GluePoint3Y" fmla="*/ 2013 h 2028"/>
                  <a:gd name="GluePoint4X" fmla="*/ 76 w 3040"/>
                  <a:gd name="GluePoint4Y" fmla="*/ 1982 h 2028"/>
                  <a:gd name="GluePoint5X" fmla="*/ 121 w 3040"/>
                  <a:gd name="GluePoint5Y" fmla="*/ 1929 h 2028"/>
                  <a:gd name="GluePoint6X" fmla="*/ 182 w 3040"/>
                  <a:gd name="GluePoint6Y" fmla="*/ 1838 h 2028"/>
                  <a:gd name="GluePoint7X" fmla="*/ 220 w 3040"/>
                  <a:gd name="GluePoint7Y" fmla="*/ 1777 h 2028"/>
                  <a:gd name="GluePoint8X" fmla="*/ 258 w 3040"/>
                  <a:gd name="GluePoint8Y" fmla="*/ 1701 h 2028"/>
                  <a:gd name="GluePoint9X" fmla="*/ 296 w 3040"/>
                  <a:gd name="GluePoint9Y" fmla="*/ 1610 h 2028"/>
                  <a:gd name="GluePoint10X" fmla="*/ 349 w 3040"/>
                  <a:gd name="GluePoint10Y" fmla="*/ 1511 h 2028"/>
                  <a:gd name="GluePoint11X" fmla="*/ 448 w 3040"/>
                  <a:gd name="GluePoint11Y" fmla="*/ 1253 h 2028"/>
                  <a:gd name="GluePoint12X" fmla="*/ 539 w 3040"/>
                  <a:gd name="GluePoint12Y" fmla="*/ 995 h 2028"/>
                  <a:gd name="GluePoint13X" fmla="*/ 631 w 3040"/>
                  <a:gd name="GluePoint13Y" fmla="*/ 744 h 2028"/>
                  <a:gd name="GluePoint14X" fmla="*/ 722 w 3040"/>
                  <a:gd name="GluePoint14Y" fmla="*/ 509 h 2028"/>
                  <a:gd name="GluePoint15X" fmla="*/ 813 w 3040"/>
                  <a:gd name="GluePoint15Y" fmla="*/ 304 h 2028"/>
                  <a:gd name="GluePoint16X" fmla="*/ 859 w 3040"/>
                  <a:gd name="GluePoint16Y" fmla="*/ 220 h 2028"/>
                  <a:gd name="GluePoint17X" fmla="*/ 897 w 3040"/>
                  <a:gd name="GluePoint17Y" fmla="*/ 144 h 2028"/>
                  <a:gd name="GluePoint18X" fmla="*/ 950 w 3040"/>
                  <a:gd name="GluePoint18Y" fmla="*/ 83 h 2028"/>
                  <a:gd name="GluePoint19X" fmla="*/ 995 w 3040"/>
                  <a:gd name="GluePoint19Y" fmla="*/ 38 h 2028"/>
                  <a:gd name="GluePoint20X" fmla="*/ 1041 w 3040"/>
                  <a:gd name="GluePoint20Y" fmla="*/ 7 h 2028"/>
                  <a:gd name="GluePoint21X" fmla="*/ 1094 w 3040"/>
                  <a:gd name="GluePoint21Y" fmla="*/ 0 h 2028"/>
                  <a:gd name="GluePoint22X" fmla="*/ 1163 w 3040"/>
                  <a:gd name="GluePoint22Y" fmla="*/ 7 h 2028"/>
                  <a:gd name="GluePoint23X" fmla="*/ 1231 w 3040"/>
                  <a:gd name="GluePoint23Y" fmla="*/ 30 h 2028"/>
                  <a:gd name="GluePoint24X" fmla="*/ 1292 w 3040"/>
                  <a:gd name="GluePoint24Y" fmla="*/ 83 h 2028"/>
                  <a:gd name="GluePoint25X" fmla="*/ 1353 w 3040"/>
                  <a:gd name="GluePoint25Y" fmla="*/ 144 h 2028"/>
                  <a:gd name="GluePoint26X" fmla="*/ 1398 w 3040"/>
                  <a:gd name="GluePoint26Y" fmla="*/ 228 h 2028"/>
                  <a:gd name="GluePoint27X" fmla="*/ 1451 w 3040"/>
                  <a:gd name="GluePoint27Y" fmla="*/ 319 h 2028"/>
                  <a:gd name="GluePoint28X" fmla="*/ 1543 w 3040"/>
                  <a:gd name="GluePoint28Y" fmla="*/ 539 h 2028"/>
                  <a:gd name="GluePoint29X" fmla="*/ 1642 w 3040"/>
                  <a:gd name="GluePoint29Y" fmla="*/ 782 h 2028"/>
                  <a:gd name="GluePoint30X" fmla="*/ 1748 w 3040"/>
                  <a:gd name="GluePoint30Y" fmla="*/ 1048 h 2028"/>
                  <a:gd name="GluePoint31X" fmla="*/ 1885 w 3040"/>
                  <a:gd name="GluePoint31Y" fmla="*/ 1299 h 2028"/>
                  <a:gd name="GluePoint32X" fmla="*/ 2060 w 3040"/>
                  <a:gd name="GluePoint32Y" fmla="*/ 1542 h 2028"/>
                  <a:gd name="GluePoint33X" fmla="*/ 2143 w 3040"/>
                  <a:gd name="GluePoint33Y" fmla="*/ 1633 h 2028"/>
                  <a:gd name="GluePoint34X" fmla="*/ 2227 w 3040"/>
                  <a:gd name="GluePoint34Y" fmla="*/ 1709 h 2028"/>
                  <a:gd name="GluePoint35X" fmla="*/ 2318 w 3040"/>
                  <a:gd name="GluePoint35Y" fmla="*/ 1777 h 2028"/>
                  <a:gd name="GluePoint36X" fmla="*/ 2402 w 3040"/>
                  <a:gd name="GluePoint36Y" fmla="*/ 1838 h 2028"/>
                  <a:gd name="GluePoint37X" fmla="*/ 2569 w 3040"/>
                  <a:gd name="GluePoint37Y" fmla="*/ 1929 h 2028"/>
                  <a:gd name="GluePoint38X" fmla="*/ 2721 w 3040"/>
                  <a:gd name="GluePoint38Y" fmla="*/ 1982 h 2028"/>
                  <a:gd name="GluePoint39X" fmla="*/ 2850 w 3040"/>
                  <a:gd name="GluePoint39Y" fmla="*/ 2013 h 2028"/>
                  <a:gd name="GluePoint40X" fmla="*/ 2949 w 3040"/>
                  <a:gd name="GluePoint40Y" fmla="*/ 2020 h 2028"/>
                  <a:gd name="GluePoint41X" fmla="*/ 3010 w 3040"/>
                  <a:gd name="GluePoint41Y" fmla="*/ 2028 h 2028"/>
                  <a:gd name="GluePoint42X" fmla="*/ 3033 w 3040"/>
                  <a:gd name="GluePoint42Y" fmla="*/ 2028 h 2028"/>
                  <a:gd name="GluePoint43X" fmla="*/ 3040 w 3040"/>
                  <a:gd name="GluePoint43Y" fmla="*/ 2028 h 202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</a:cxnLst>
                <a:rect l="textAreaLeft" t="textAreaTop" r="textAreaRight" b="textAreaBottom"/>
                <a:pathLst>
                  <a:path w="3040" h="2028">
                    <a:moveTo>
                      <a:pt x="0" y="2020"/>
                    </a:moveTo>
                    <a:lnTo>
                      <a:pt x="15" y="2020"/>
                    </a:lnTo>
                    <a:lnTo>
                      <a:pt x="38" y="2013"/>
                    </a:lnTo>
                    <a:lnTo>
                      <a:pt x="76" y="1982"/>
                    </a:lnTo>
                    <a:lnTo>
                      <a:pt x="121" y="1929"/>
                    </a:lnTo>
                    <a:lnTo>
                      <a:pt x="182" y="1838"/>
                    </a:lnTo>
                    <a:lnTo>
                      <a:pt x="220" y="1777"/>
                    </a:lnTo>
                    <a:lnTo>
                      <a:pt x="258" y="1701"/>
                    </a:lnTo>
                    <a:lnTo>
                      <a:pt x="296" y="1610"/>
                    </a:lnTo>
                    <a:lnTo>
                      <a:pt x="349" y="1511"/>
                    </a:lnTo>
                    <a:lnTo>
                      <a:pt x="448" y="1253"/>
                    </a:lnTo>
                    <a:lnTo>
                      <a:pt x="539" y="995"/>
                    </a:lnTo>
                    <a:lnTo>
                      <a:pt x="631" y="744"/>
                    </a:lnTo>
                    <a:lnTo>
                      <a:pt x="722" y="509"/>
                    </a:lnTo>
                    <a:lnTo>
                      <a:pt x="813" y="304"/>
                    </a:lnTo>
                    <a:lnTo>
                      <a:pt x="859" y="220"/>
                    </a:lnTo>
                    <a:lnTo>
                      <a:pt x="897" y="144"/>
                    </a:lnTo>
                    <a:lnTo>
                      <a:pt x="950" y="83"/>
                    </a:lnTo>
                    <a:lnTo>
                      <a:pt x="995" y="38"/>
                    </a:lnTo>
                    <a:lnTo>
                      <a:pt x="1041" y="7"/>
                    </a:lnTo>
                    <a:lnTo>
                      <a:pt x="1094" y="0"/>
                    </a:lnTo>
                    <a:lnTo>
                      <a:pt x="1163" y="7"/>
                    </a:lnTo>
                    <a:lnTo>
                      <a:pt x="1231" y="30"/>
                    </a:lnTo>
                    <a:lnTo>
                      <a:pt x="1292" y="83"/>
                    </a:lnTo>
                    <a:lnTo>
                      <a:pt x="1353" y="144"/>
                    </a:lnTo>
                    <a:lnTo>
                      <a:pt x="1398" y="228"/>
                    </a:lnTo>
                    <a:lnTo>
                      <a:pt x="1451" y="319"/>
                    </a:lnTo>
                    <a:lnTo>
                      <a:pt x="1543" y="539"/>
                    </a:lnTo>
                    <a:lnTo>
                      <a:pt x="1642" y="782"/>
                    </a:lnTo>
                    <a:lnTo>
                      <a:pt x="1748" y="1048"/>
                    </a:lnTo>
                    <a:lnTo>
                      <a:pt x="1885" y="1299"/>
                    </a:lnTo>
                    <a:lnTo>
                      <a:pt x="2060" y="1542"/>
                    </a:lnTo>
                    <a:lnTo>
                      <a:pt x="2143" y="1633"/>
                    </a:lnTo>
                    <a:lnTo>
                      <a:pt x="2227" y="1709"/>
                    </a:lnTo>
                    <a:lnTo>
                      <a:pt x="2318" y="1777"/>
                    </a:lnTo>
                    <a:lnTo>
                      <a:pt x="2402" y="1838"/>
                    </a:lnTo>
                    <a:lnTo>
                      <a:pt x="2569" y="1929"/>
                    </a:lnTo>
                    <a:lnTo>
                      <a:pt x="2721" y="1982"/>
                    </a:lnTo>
                    <a:lnTo>
                      <a:pt x="2850" y="2013"/>
                    </a:lnTo>
                    <a:lnTo>
                      <a:pt x="2949" y="2020"/>
                    </a:lnTo>
                    <a:lnTo>
                      <a:pt x="3010" y="2028"/>
                    </a:lnTo>
                    <a:lnTo>
                      <a:pt x="3033" y="2028"/>
                    </a:lnTo>
                    <a:lnTo>
                      <a:pt x="3040" y="2028"/>
                    </a:lnTo>
                  </a:path>
                </a:pathLst>
              </a:custGeom>
              <a:noFill/>
              <a:ln w="237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Line 36"/>
              <p:cNvSpPr/>
              <p:nvPr/>
            </p:nvSpPr>
            <p:spPr>
              <a:xfrm>
                <a:off x="214200" y="6148080"/>
                <a:ext cx="6497280" cy="1080"/>
              </a:xfrm>
              <a:prstGeom prst="line">
                <a:avLst/>
              </a:prstGeom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7" name="Line 37"/>
              <p:cNvSpPr/>
              <p:nvPr/>
            </p:nvSpPr>
            <p:spPr>
              <a:xfrm>
                <a:off x="214200" y="2643120"/>
                <a:ext cx="1440" cy="3494880"/>
              </a:xfrm>
              <a:prstGeom prst="line">
                <a:avLst/>
              </a:prstGeom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8" name="Rectangle 39"/>
            <p:cNvSpPr/>
            <p:nvPr/>
          </p:nvSpPr>
          <p:spPr>
            <a:xfrm>
              <a:off x="237960" y="2697480"/>
              <a:ext cx="77400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3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nombre de </a:t>
              </a:r>
              <a:endPara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9" name="Rectangle 40"/>
            <p:cNvSpPr/>
            <p:nvPr/>
          </p:nvSpPr>
          <p:spPr>
            <a:xfrm>
              <a:off x="262440" y="2861280"/>
              <a:ext cx="67860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3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molécules</a:t>
              </a:r>
              <a:endPara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0" name="Rectangle 41"/>
            <p:cNvSpPr/>
            <p:nvPr/>
          </p:nvSpPr>
          <p:spPr>
            <a:xfrm>
              <a:off x="6546600" y="5918040"/>
              <a:ext cx="8100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3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E</a:t>
              </a:r>
              <a:endPara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" name="Rectangle 42"/>
            <p:cNvSpPr/>
            <p:nvPr/>
          </p:nvSpPr>
          <p:spPr>
            <a:xfrm>
              <a:off x="6653520" y="5983920"/>
              <a:ext cx="68040" cy="153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0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C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Rectangle 43"/>
            <p:cNvSpPr/>
            <p:nvPr/>
          </p:nvSpPr>
          <p:spPr>
            <a:xfrm>
              <a:off x="2334600" y="3330360"/>
              <a:ext cx="8100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3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</a:t>
              </a:r>
              <a:endPara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Rectangle 44"/>
            <p:cNvSpPr/>
            <p:nvPr/>
          </p:nvSpPr>
          <p:spPr>
            <a:xfrm>
              <a:off x="2415240" y="3395880"/>
              <a:ext cx="6480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0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1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4" name="Rectangle 45"/>
            <p:cNvSpPr/>
            <p:nvPr/>
          </p:nvSpPr>
          <p:spPr>
            <a:xfrm>
              <a:off x="2736360" y="3821760"/>
              <a:ext cx="8100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3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</a:t>
              </a:r>
              <a:endPara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5" name="Rectangle 46"/>
            <p:cNvSpPr/>
            <p:nvPr/>
          </p:nvSpPr>
          <p:spPr>
            <a:xfrm>
              <a:off x="2818440" y="3888000"/>
              <a:ext cx="6480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0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2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Rectangle 47"/>
            <p:cNvSpPr/>
            <p:nvPr/>
          </p:nvSpPr>
          <p:spPr>
            <a:xfrm>
              <a:off x="3424680" y="4367880"/>
              <a:ext cx="8100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3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</a:t>
              </a:r>
              <a:endPara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7" name="Rectangle 48"/>
            <p:cNvSpPr/>
            <p:nvPr/>
          </p:nvSpPr>
          <p:spPr>
            <a:xfrm>
              <a:off x="3507120" y="4434120"/>
              <a:ext cx="6480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0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3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Rectangle 49"/>
            <p:cNvSpPr/>
            <p:nvPr/>
          </p:nvSpPr>
          <p:spPr>
            <a:xfrm>
              <a:off x="4447440" y="4717440"/>
              <a:ext cx="106200" cy="25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7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</a:t>
              </a:r>
              <a:endParaRPr b="0" lang="en-US" sz="1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Rectangle 50"/>
            <p:cNvSpPr/>
            <p:nvPr/>
          </p:nvSpPr>
          <p:spPr>
            <a:xfrm>
              <a:off x="4562280" y="4781880"/>
              <a:ext cx="159480" cy="25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7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1 </a:t>
              </a:r>
              <a:endParaRPr b="0" lang="en-US" sz="1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Rectangle 51"/>
            <p:cNvSpPr/>
            <p:nvPr/>
          </p:nvSpPr>
          <p:spPr>
            <a:xfrm>
              <a:off x="4718520" y="4717440"/>
              <a:ext cx="108360" cy="25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7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&lt;</a:t>
              </a:r>
              <a:endParaRPr b="0" lang="en-US" sz="1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Rectangle 53"/>
            <p:cNvSpPr/>
            <p:nvPr/>
          </p:nvSpPr>
          <p:spPr>
            <a:xfrm>
              <a:off x="4896360" y="4717440"/>
              <a:ext cx="106200" cy="25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7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</a:t>
              </a:r>
              <a:endParaRPr b="0" lang="en-US" sz="1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Rectangle 54"/>
            <p:cNvSpPr/>
            <p:nvPr/>
          </p:nvSpPr>
          <p:spPr>
            <a:xfrm>
              <a:off x="5009760" y="4781880"/>
              <a:ext cx="159480" cy="25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7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2 </a:t>
              </a:r>
              <a:endParaRPr b="0" lang="en-US" sz="1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Rectangle 55"/>
            <p:cNvSpPr/>
            <p:nvPr/>
          </p:nvSpPr>
          <p:spPr>
            <a:xfrm>
              <a:off x="5165640" y="4717440"/>
              <a:ext cx="108360" cy="25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7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&lt;</a:t>
              </a:r>
              <a:endParaRPr b="0" lang="en-US" sz="1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Rectangle 57"/>
            <p:cNvSpPr/>
            <p:nvPr/>
          </p:nvSpPr>
          <p:spPr>
            <a:xfrm>
              <a:off x="5343120" y="4717440"/>
              <a:ext cx="106200" cy="25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7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</a:t>
              </a:r>
              <a:endParaRPr b="0" lang="en-US" sz="1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Rectangle 58"/>
            <p:cNvSpPr/>
            <p:nvPr/>
          </p:nvSpPr>
          <p:spPr>
            <a:xfrm>
              <a:off x="5456880" y="4781880"/>
              <a:ext cx="110520" cy="25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7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3</a:t>
              </a:r>
              <a:endParaRPr b="0" lang="en-US" sz="1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6" name="Rectangle 5"/>
          <p:cNvSpPr/>
          <p:nvPr/>
        </p:nvSpPr>
        <p:spPr>
          <a:xfrm>
            <a:off x="285840" y="6286680"/>
            <a:ext cx="55436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DISTRIBUTION DE MAXWELL - BOLTZMANN</a:t>
            </a:r>
            <a:r>
              <a:rPr b="0" lang="fr-FR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Rectangle 6"/>
          <p:cNvSpPr/>
          <p:nvPr/>
        </p:nvSpPr>
        <p:spPr>
          <a:xfrm>
            <a:off x="4289400" y="2884320"/>
            <a:ext cx="4624560" cy="16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Les molécules n'ont pas toutes la même vitesse.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3590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Quand T augmente, les E</a:t>
            </a:r>
            <a:r>
              <a:rPr b="0" lang="fr-FR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sont plus élevées mais aussi plus "dispersées".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BE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Effets de température sur les autres états de la matière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ZoneTexte 12"/>
          <p:cNvSpPr/>
          <p:nvPr/>
        </p:nvSpPr>
        <p:spPr>
          <a:xfrm>
            <a:off x="63360" y="1214280"/>
            <a:ext cx="4497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Dilatation thermique des solides et des liquides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ZoneTexte 13"/>
          <p:cNvSpPr/>
          <p:nvPr/>
        </p:nvSpPr>
        <p:spPr>
          <a:xfrm>
            <a:off x="2241720" y="1643040"/>
            <a:ext cx="34527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: coefficient de dilatation linéaire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59" name="Object 4"/>
              <p:cNvSpPr txBox="1"/>
              <p:nvPr/>
            </p:nvSpPr>
            <p:spPr>
              <a:xfrm>
                <a:off x="285840" y="1555920"/>
                <a:ext cx="1314360" cy="817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α</m:t>
                        </m:r>
                      </m:e>
                      <m:sub>
                        <m:r>
                          <m:t xml:space="preserve">l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l</m:t>
                        </m:r>
                      </m:den>
                    </m:f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dl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59" name="Object 4"/>
              <p:cNvSpPr txBox="1"/>
              <p:nvPr/>
            </p:nvSpPr>
            <p:spPr>
              <a:xfrm>
                <a:off x="285840" y="1555920"/>
                <a:ext cx="1314360" cy="8175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860" name="Object 5"/>
              <p:cNvSpPr txBox="1"/>
              <p:nvPr/>
            </p:nvSpPr>
            <p:spPr>
              <a:xfrm>
                <a:off x="142920" y="2498760"/>
                <a:ext cx="1523880" cy="817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α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V</m:t>
                        </m:r>
                      </m:den>
                    </m:f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60" name="Object 5"/>
              <p:cNvSpPr txBox="1"/>
              <p:nvPr/>
            </p:nvSpPr>
            <p:spPr>
              <a:xfrm>
                <a:off x="142920" y="2498760"/>
                <a:ext cx="1523880" cy="8175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861" name="ZoneTexte 16"/>
          <p:cNvSpPr/>
          <p:nvPr/>
        </p:nvSpPr>
        <p:spPr>
          <a:xfrm>
            <a:off x="2238120" y="2708280"/>
            <a:ext cx="38041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: coefficient de dilatation volumique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62" name="Object 6"/>
              <p:cNvSpPr txBox="1"/>
              <p:nvPr/>
            </p:nvSpPr>
            <p:spPr>
              <a:xfrm>
                <a:off x="4902120" y="3149640"/>
                <a:ext cx="1262160" cy="447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α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3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b>
                      <m:e>
                        <m:r>
                          <m:t xml:space="preserve">α</m:t>
                        </m:r>
                      </m:e>
                      <m:sub>
                        <m:r>
                          <m:t xml:space="preserve">l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862" name="Object 6"/>
              <p:cNvSpPr txBox="1"/>
              <p:nvPr/>
            </p:nvSpPr>
            <p:spPr>
              <a:xfrm>
                <a:off x="4902120" y="3149640"/>
                <a:ext cx="1262160" cy="447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863" name="ZoneTexte 18"/>
          <p:cNvSpPr/>
          <p:nvPr/>
        </p:nvSpPr>
        <p:spPr>
          <a:xfrm>
            <a:off x="2390400" y="3179880"/>
            <a:ext cx="2559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Cas d’un corps isotrope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64" name="Object 7"/>
              <p:cNvSpPr txBox="1"/>
              <p:nvPr/>
            </p:nvSpPr>
            <p:spPr>
              <a:xfrm>
                <a:off x="216000" y="4006800"/>
                <a:ext cx="1682640" cy="449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Δl</m:t>
                    </m:r>
                    <m:r>
                      <m:t xml:space="preserve">=</m:t>
                    </m:r>
                    <m:r>
                      <m:t xml:space="preserve">l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b>
                      <m:e>
                        <m:r>
                          <m:t xml:space="preserve">α</m:t>
                        </m:r>
                      </m:e>
                      <m:sub>
                        <m:r>
                          <m:t xml:space="preserve">l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t xml:space="preserve">ΔT</m:t>
                    </m:r>
                  </m:oMath>
                </a14:m>
              </a:p>
            </p:txBody>
          </p:sp>
        </mc:Choice>
        <mc:Fallback>
          <p:sp>
            <p:nvSpPr>
              <p:cNvPr id="864" name="Object 7"/>
              <p:cNvSpPr txBox="1"/>
              <p:nvPr/>
            </p:nvSpPr>
            <p:spPr>
              <a:xfrm>
                <a:off x="216000" y="4006800"/>
                <a:ext cx="1682640" cy="4492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865" name="Object 8"/>
              <p:cNvSpPr txBox="1"/>
              <p:nvPr/>
            </p:nvSpPr>
            <p:spPr>
              <a:xfrm>
                <a:off x="130320" y="4657680"/>
                <a:ext cx="1998360" cy="449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ΔV</m:t>
                    </m:r>
                    <m:r>
                      <m:t xml:space="preserve">=</m:t>
                    </m:r>
                    <m:r>
                      <m:t xml:space="preserve">V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b>
                      <m:e>
                        <m:r>
                          <m:t xml:space="preserve">α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t xml:space="preserve">ΔT</m:t>
                    </m:r>
                  </m:oMath>
                </a14:m>
              </a:p>
            </p:txBody>
          </p:sp>
        </mc:Choice>
        <mc:Fallback>
          <p:sp>
            <p:nvSpPr>
              <p:cNvPr id="865" name="Object 8"/>
              <p:cNvSpPr txBox="1"/>
              <p:nvPr/>
            </p:nvSpPr>
            <p:spPr>
              <a:xfrm>
                <a:off x="130320" y="4657680"/>
                <a:ext cx="1998360" cy="449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pic>
        <p:nvPicPr>
          <p:cNvPr id="866" name="Picture 2" descr=""/>
          <p:cNvPicPr/>
          <p:nvPr/>
        </p:nvPicPr>
        <p:blipFill>
          <a:blip r:embed="rId6"/>
          <a:stretch/>
        </p:blipFill>
        <p:spPr>
          <a:xfrm>
            <a:off x="3143160" y="3878280"/>
            <a:ext cx="4343400" cy="29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7" name="Rectangle 20"/>
          <p:cNvSpPr/>
          <p:nvPr/>
        </p:nvSpPr>
        <p:spPr>
          <a:xfrm>
            <a:off x="3005280" y="3730680"/>
            <a:ext cx="5094000" cy="312732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BE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Effets de température sur les autres états de la matière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Rectangle 23"/>
          <p:cNvSpPr/>
          <p:nvPr/>
        </p:nvSpPr>
        <p:spPr>
          <a:xfrm>
            <a:off x="71424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7" name="Content Placeholder 5" descr="table_coef_dilat_volume_solide.jpg"/>
          <p:cNvPicPr/>
          <p:nvPr/>
        </p:nvPicPr>
        <p:blipFill>
          <a:blip r:embed="rId1"/>
          <a:stretch/>
        </p:blipFill>
        <p:spPr>
          <a:xfrm>
            <a:off x="428760" y="1214280"/>
            <a:ext cx="3714480" cy="4962600"/>
          </a:xfrm>
          <a:prstGeom prst="rect">
            <a:avLst/>
          </a:prstGeom>
          <a:noFill/>
          <a:ln cap="sq" w="38160">
            <a:solidFill>
              <a:srgbClr val="000000"/>
            </a:solidFill>
            <a:miter/>
          </a:ln>
          <a:effectLst>
            <a:outerShdw dist="38183" dir="2700000" blurRad="0" rotWithShape="0">
              <a:srgbClr val="000000">
                <a:alpha val="43000"/>
              </a:srgbClr>
            </a:outerShdw>
          </a:effectLst>
        </p:spPr>
      </p:pic>
      <p:sp>
        <p:nvSpPr>
          <p:cNvPr id="878" name="TextBox 6"/>
          <p:cNvSpPr/>
          <p:nvPr/>
        </p:nvSpPr>
        <p:spPr>
          <a:xfrm>
            <a:off x="825120" y="6357960"/>
            <a:ext cx="2770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BE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Dilatation volumique à 20°C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9" name="Group 9"/>
          <p:cNvGrpSpPr/>
          <p:nvPr/>
        </p:nvGrpSpPr>
        <p:grpSpPr>
          <a:xfrm>
            <a:off x="5000760" y="1928880"/>
            <a:ext cx="3143160" cy="4012200"/>
            <a:chOff x="5000760" y="1928880"/>
            <a:chExt cx="3143160" cy="4012200"/>
          </a:xfrm>
        </p:grpSpPr>
        <p:pic>
          <p:nvPicPr>
            <p:cNvPr id="880" name="Picture 7" descr="graphe_dilatation_et_invar.jpg"/>
            <p:cNvPicPr/>
            <p:nvPr/>
          </p:nvPicPr>
          <p:blipFill>
            <a:blip r:embed="rId2"/>
            <a:stretch/>
          </p:blipFill>
          <p:spPr>
            <a:xfrm>
              <a:off x="5000760" y="1928880"/>
              <a:ext cx="3143160" cy="3249720"/>
            </a:xfrm>
            <a:prstGeom prst="rect">
              <a:avLst/>
            </a:prstGeom>
            <a:noFill/>
            <a:ln w="0">
              <a:noFill/>
            </a:ln>
            <a:effectLst>
              <a:outerShdw dist="139498" dir="2700000" blurRad="0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881" name="TextBox 8"/>
            <p:cNvSpPr/>
            <p:nvPr/>
          </p:nvSpPr>
          <p:spPr>
            <a:xfrm>
              <a:off x="5826600" y="5572800"/>
              <a:ext cx="18356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BE" sz="18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Times New Roman"/>
                </a:rPr>
                <a:t>Dilatation linéaire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2" name="Right Arrow 11"/>
          <p:cNvSpPr/>
          <p:nvPr/>
        </p:nvSpPr>
        <p:spPr>
          <a:xfrm rot="16819800">
            <a:off x="5547960" y="4808160"/>
            <a:ext cx="571320" cy="282600"/>
          </a:xfrm>
          <a:prstGeom prst="rightArrow">
            <a:avLst>
              <a:gd name="adj1" fmla="val 50000"/>
              <a:gd name="adj2" fmla="val 49980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Rectangle 16"/>
          <p:cNvSpPr/>
          <p:nvPr/>
        </p:nvSpPr>
        <p:spPr>
          <a:xfrm>
            <a:off x="4414320" y="1285920"/>
            <a:ext cx="2148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BE" sz="18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Dilatation des solides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550" dur="indefinite" restart="never" nodeType="tmRoot">
          <p:childTnLst>
            <p:seq>
              <p:cTn id="551" dur="indefinite" nodeType="mainSeq">
                <p:childTnLst>
                  <p:par>
                    <p:cTn id="552" nodeType="clickEffect" fill="hold">
                      <p:stCondLst>
                        <p:cond delay="indefinite"/>
                      </p:stCondLst>
                      <p:childTnLst>
                        <p:par>
                          <p:cTn id="5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6" dur="20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nodeType="clickEffect" fill="hold">
                      <p:stCondLst>
                        <p:cond delay="indefinite"/>
                      </p:stCondLst>
                      <p:childTnLst>
                        <p:par>
                          <p:cTn id="5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MA" sz="2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Les systèmes thermo-élastiques physiques (S.T.E.P.)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ZoneTexte 17"/>
          <p:cNvSpPr/>
          <p:nvPr/>
        </p:nvSpPr>
        <p:spPr>
          <a:xfrm>
            <a:off x="2590560" y="1071720"/>
            <a:ext cx="3924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Exercices d’applications 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Rectangl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Rectangle 2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Rectangle 1"/>
          <p:cNvSpPr/>
          <p:nvPr/>
        </p:nvSpPr>
        <p:spPr>
          <a:xfrm>
            <a:off x="0" y="1842120"/>
            <a:ext cx="8969400" cy="23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Coefficients de dilatation linéaire d'un solide.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Soit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b="0" lang="fr-FR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l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le  coefficient de dilatation linéaire à pression constante d'un solide rectangulaire plat de côtés a et b. Une augmentation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T de sa température entraîne une augmentation de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a et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b des deux côtes.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a) Déterminer l'augmentation de l'aire de ce solide lorsque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a et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b sont petits devant a et b.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b) Quelle est la relation entre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b="0" lang="fr-FR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l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et le coefficient de dilatation à pression constante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1015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2010-02-17T23:12:42Z</dcterms:created>
  <dc:creator>Gsm Salam</dc:creator>
  <dc:description/>
  <dc:language>en-US</dc:language>
  <cp:lastModifiedBy>123456789</cp:lastModifiedBy>
  <dcterms:modified xsi:type="dcterms:W3CDTF">2026-04-02T21:15:09Z</dcterms:modified>
  <cp:revision>98</cp:revision>
  <dc:subject/>
  <dc:title>Diapositive 1</dc:title>
</cp:coreProperties>
</file>