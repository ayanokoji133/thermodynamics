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58.png" ContentType="image/png"/>
  <Override PartName="/ppt/media/image6.wmf" ContentType="image/x-wmf"/>
  <Override PartName="/ppt/media/image15.wmf" ContentType="image/x-wmf"/>
  <Override PartName="/ppt/media/image59.emf" ContentType="image/x-emf"/>
  <Override PartName="/ppt/media/image32.wmf" ContentType="image/x-wmf"/>
  <Override PartName="/ppt/media/image57.png" ContentType="image/png"/>
  <Override PartName="/ppt/media/image5.wmf" ContentType="image/x-wmf"/>
  <Override PartName="/ppt/media/image14.wmf" ContentType="image/x-wmf"/>
  <Override PartName="/ppt/media/image50.wmf" ContentType="image/x-wmf"/>
  <Override PartName="/ppt/media/image28.png" ContentType="image/png"/>
  <Override PartName="/ppt/media/image47.emf" ContentType="image/x-emf"/>
  <Override PartName="/ppt/media/image63.png" ContentType="image/png"/>
  <Override PartName="/ppt/media/image46.emf" ContentType="image/x-emf"/>
  <Override PartName="/ppt/media/image10.wmf" ContentType="image/x-wmf"/>
  <Override PartName="/ppt/media/image37.emf" ContentType="image/x-emf"/>
  <Override PartName="/ppt/media/image38.wmf" ContentType="image/x-wmf"/>
  <Override PartName="/ppt/media/image40.png" ContentType="image/png"/>
  <Override PartName="/ppt/media/image3.png" ContentType="image/png"/>
  <Override PartName="/ppt/media/image61.emf" ContentType="image/x-emf"/>
  <Override PartName="/ppt/media/image19.emf" ContentType="image/x-emf"/>
  <Override PartName="/ppt/media/image21.wmf" ContentType="image/x-wmf"/>
  <Override PartName="/ppt/media/image62.emf" ContentType="image/x-emf"/>
  <Override PartName="/ppt/media/image60.png" ContentType="image/png"/>
  <Override PartName="/ppt/media/image72.emf" ContentType="image/x-emf"/>
  <Override PartName="/ppt/media/image70.png" ContentType="image/png"/>
  <Override PartName="/ppt/media/image2.png" ContentType="image/png"/>
  <Override PartName="/ppt/media/image71.emf" ContentType="image/x-emf"/>
  <Override PartName="/ppt/media/image27.png" ContentType="image/png"/>
  <Override PartName="/ppt/media/image7.wmf" ContentType="image/x-wmf"/>
  <Override PartName="/ppt/media/image16.wmf" ContentType="image/x-wmf"/>
  <Override PartName="/ppt/media/image39.wmf" ContentType="image/x-wmf"/>
  <Override PartName="/ppt/media/image20.emf" ContentType="image/x-emf"/>
  <Override PartName="/ppt/media/image1.png" ContentType="image/png"/>
  <Override PartName="/ppt/media/image68.emf" ContentType="image/x-emf"/>
  <Override PartName="/ppt/media/image18.emf" ContentType="image/x-emf"/>
  <Override PartName="/ppt/media/image55.emf" ContentType="image/x-emf"/>
  <Override PartName="/ppt/media/image22.wmf" ContentType="image/x-wmf"/>
  <Override PartName="/ppt/media/image65.png" ContentType="image/png"/>
  <Override PartName="/ppt/media/image64.emf" ContentType="image/x-emf"/>
  <Override PartName="/ppt/media/image66.png" ContentType="image/png"/>
  <Override PartName="/ppt/media/image23.wmf" ContentType="image/x-wmf"/>
  <Override PartName="/ppt/media/image67.png" ContentType="image/png"/>
  <Override PartName="/ppt/media/image24.wmf" ContentType="image/x-wmf"/>
  <Override PartName="/ppt/media/image29.png" ContentType="image/png"/>
  <Override PartName="/ppt/media/image26.emf" ContentType="image/x-emf"/>
  <Override PartName="/ppt/media/image41.png" ContentType="image/png"/>
  <Override PartName="/ppt/media/image25.emf" ContentType="image/x-emf"/>
  <Override PartName="/ppt/media/image54.png" ContentType="image/png"/>
  <Override PartName="/ppt/media/image11.wmf" ContentType="image/x-wmf"/>
  <Override PartName="/ppt/media/image48.wmf" ContentType="image/x-wmf"/>
  <Override PartName="/ppt/media/image52.emf" ContentType="image/x-emf"/>
  <Override PartName="/ppt/media/image17.wmf" ContentType="image/x-wmf"/>
  <Override PartName="/ppt/media/image8.wmf" ContentType="image/x-wmf"/>
  <Override PartName="/ppt/media/image12.wmf" ContentType="image/x-wmf"/>
  <Override PartName="/ppt/media/image51.png" ContentType="image/png"/>
  <Override PartName="/ppt/media/image53.emf" ContentType="image/x-emf"/>
  <Override PartName="/ppt/media/image30.emf" ContentType="image/x-emf"/>
  <Override PartName="/ppt/media/image49.wmf" ContentType="image/x-wmf"/>
  <Override PartName="/ppt/media/image9.wmf" ContentType="image/x-wmf"/>
  <Override PartName="/ppt/media/image45.emf" ContentType="image/x-emf"/>
  <Override PartName="/ppt/media/image36.wmf" ContentType="image/x-wmf"/>
  <Override PartName="/ppt/media/image56.png" ContentType="image/png"/>
  <Override PartName="/ppt/media/image4.wmf" ContentType="image/x-wmf"/>
  <Override PartName="/ppt/media/image13.wmf" ContentType="image/x-wmf"/>
  <Override PartName="/ppt/media/image31.png" ContentType="image/png"/>
  <Override PartName="/ppt/media/image33.wmf" ContentType="image/x-wmf"/>
  <Override PartName="/ppt/media/image34.wmf" ContentType="image/x-wmf"/>
  <Override PartName="/ppt/media/image35.wmf" ContentType="image/x-wmf"/>
  <Override PartName="/ppt/media/image69.emf" ContentType="image/x-emf"/>
  <Override PartName="/ppt/media/image42.wmf" ContentType="image/x-wmf"/>
  <Override PartName="/ppt/media/image43.wmf" ContentType="image/x-wmf"/>
  <Override PartName="/ppt/media/image44.wmf" ContentType="image/x-wmf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Connecteur droit 6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" name="Connecteur droit 6" descr=""/>
            <p:cNvPicPr/>
            <p:nvPr/>
          </p:nvPicPr>
          <p:blipFill>
            <a:blip r:embed="rId2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Click to edit the outline text format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1" marL="743040" indent="-28584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Second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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Third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Fourth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f0a22e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Fifth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Sixth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Seventh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6476760" y="76320"/>
            <a:ext cx="2514600" cy="2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3124080" y="76320"/>
            <a:ext cx="3353040" cy="2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EA35F4-E2E0-45B2-A441-07F6BB1BC55C}" type="slidenum">
              <a: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beec9"/>
                </a:solidFill>
                <a:effectLst/>
                <a:uFillTx/>
                <a:latin typeface="Franklin Gothic Medium"/>
              </a:rPr>
              <a:t>Click to edit the title text format</a:t>
            </a:r>
            <a:endParaRPr b="0" lang="en-US" sz="3600" strike="noStrike" u="none">
              <a:solidFill>
                <a:srgbClr val="fbeec9"/>
              </a:solidFill>
              <a:effectLst/>
              <a:uFillTx/>
              <a:latin typeface="Franklin Gothic Medium"/>
            </a:endParaRPr>
          </a:p>
        </p:txBody>
      </p:sp>
      <p:grpSp>
        <p:nvGrpSpPr>
          <p:cNvPr id="8" name="Connecteur droit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" name="Connecteur droit 8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" name="Connecteur droit 11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2" name="Connecteur droit 11" descr=""/>
            <p:cNvPicPr/>
            <p:nvPr/>
          </p:nvPicPr>
          <p:blipFill>
            <a:blip r:embed="rId4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" name=""/>
            <p:cNvSpPr/>
            <p:nvPr/>
          </p:nvSpPr>
          <p:spPr>
            <a:xfrm>
              <a:off x="514440" y="105732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Connecteur droit 6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5" name="Connecteur droit 6" descr=""/>
            <p:cNvPicPr/>
            <p:nvPr/>
          </p:nvPicPr>
          <p:blipFill>
            <a:blip r:embed="rId2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" name="Connecteur droit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8" name="Connecteur droit 8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" name="Connecteur droit 11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21" name="Connecteur droit 11" descr=""/>
            <p:cNvPicPr/>
            <p:nvPr/>
          </p:nvPicPr>
          <p:blipFill>
            <a:blip r:embed="rId4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" name=""/>
            <p:cNvSpPr/>
            <p:nvPr/>
          </p:nvSpPr>
          <p:spPr>
            <a:xfrm>
              <a:off x="514440" y="105732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Click to edit the outline text format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1" marL="743040" indent="-28584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Second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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Third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Fourth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f0a22e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Fifth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Sixth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Seventh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beec9"/>
                </a:solidFill>
                <a:effectLst/>
                <a:uFillTx/>
                <a:latin typeface="Franklin Gothic Medium"/>
              </a:rPr>
              <a:t>Click to edit the title text format</a:t>
            </a:r>
            <a:endParaRPr b="0" lang="en-US" sz="3600" strike="noStrike" u="none">
              <a:solidFill>
                <a:srgbClr val="fbeec9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4"/>
          </p:nvPr>
        </p:nvSpPr>
        <p:spPr>
          <a:xfrm>
            <a:off x="6476760" y="76320"/>
            <a:ext cx="2514600" cy="2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5"/>
          </p:nvPr>
        </p:nvSpPr>
        <p:spPr>
          <a:xfrm>
            <a:off x="3581280" y="76320"/>
            <a:ext cx="2895840" cy="2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6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BE318F-77E3-4ED2-B486-958E36D5A1AB}" type="slidenum">
              <a: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Connecteur droit 6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29" name="Connecteur droit 6" descr=""/>
            <p:cNvPicPr/>
            <p:nvPr/>
          </p:nvPicPr>
          <p:blipFill>
            <a:blip r:embed="rId2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" name="Connecteur droit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32" name="Connecteur droit 8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" name="Connecteur droit 11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35" name="Connecteur droit 11" descr=""/>
            <p:cNvPicPr/>
            <p:nvPr/>
          </p:nvPicPr>
          <p:blipFill>
            <a:blip r:embed="rId4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" name=""/>
            <p:cNvSpPr/>
            <p:nvPr/>
          </p:nvSpPr>
          <p:spPr>
            <a:xfrm>
              <a:off x="514440" y="105732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Click to edit the outline text format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1" marL="743040" indent="-28584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Second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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Third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Fourth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f0a22e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Fifth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Sixth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Seventh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beec9"/>
                </a:solidFill>
                <a:effectLst/>
                <a:uFillTx/>
                <a:latin typeface="Franklin Gothic Medium"/>
              </a:rPr>
              <a:t>Click to edit the title text format</a:t>
            </a:r>
            <a:endParaRPr b="0" lang="en-US" sz="3600" strike="noStrike" u="none">
              <a:solidFill>
                <a:srgbClr val="fbeec9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7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9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C55F3B-897D-4690-ADCC-A8BAA4741B65}" type="slidenum">
              <a: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Connecteur droit 6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43" name="Connecteur droit 6" descr=""/>
            <p:cNvPicPr/>
            <p:nvPr/>
          </p:nvPicPr>
          <p:blipFill>
            <a:blip r:embed="rId2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4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" name="Connecteur droit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46" name="Connecteur droit 8" descr=""/>
            <p:cNvPicPr/>
            <p:nvPr/>
          </p:nvPicPr>
          <p:blipFill>
            <a:blip r:embed="rId3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" name=""/>
            <p:cNvSpPr/>
            <p:nvPr/>
          </p:nvSpPr>
          <p:spPr>
            <a:xfrm>
              <a:off x="514440" y="105084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Connecteur droit 11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49" name="Connecteur droit 11" descr=""/>
            <p:cNvPicPr/>
            <p:nvPr/>
          </p:nvPicPr>
          <p:blipFill>
            <a:blip r:embed="rId4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"/>
            <p:cNvSpPr/>
            <p:nvPr/>
          </p:nvSpPr>
          <p:spPr>
            <a:xfrm>
              <a:off x="514440" y="105732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440" bIns="-464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Click to edit the outline text format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1" marL="743040" indent="-28584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Second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2" marL="11430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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Third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3" marL="1600200" indent="-22860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Fourth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4" marL="2057400" indent="-228600">
              <a:spcBef>
                <a:spcPts val="799"/>
              </a:spcBef>
              <a:buClr>
                <a:srgbClr val="f0a22e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Fifth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Sixth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 2" charset="2"/>
              <a:buChar char="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beec9"/>
                </a:solidFill>
                <a:effectLst/>
                <a:uFillTx/>
                <a:latin typeface="Franklin Gothic Book"/>
              </a:rPr>
              <a:t>Seventh Outline Level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beec9"/>
                </a:solidFill>
                <a:effectLst/>
                <a:uFillTx/>
                <a:latin typeface="Franklin Gothic Medium"/>
              </a:rPr>
              <a:t>Click to edit the title text format</a:t>
            </a:r>
            <a:endParaRPr b="0" lang="en-US" sz="3600" strike="noStrike" u="none">
              <a:solidFill>
                <a:srgbClr val="fbeec9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2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F67186-38F5-4441-BEAF-6820C43D39C9}" type="slidenum">
              <a:rPr b="0" lang="fr-FR" sz="1200" strike="noStrike" u="none">
                <a:solidFill>
                  <a:srgbClr val="d38e27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5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wmf"/><Relationship Id="rId3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9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13" Type="http://schemas.openxmlformats.org/officeDocument/2006/relationships/image" Target="../media/image12.wmf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13.wmf"/><Relationship Id="rId16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5.wmf"/><Relationship Id="rId5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7.wmf"/><Relationship Id="rId7" Type="http://schemas.openxmlformats.org/officeDocument/2006/relationships/image" Target="../media/image18.emf"/><Relationship Id="rId8" Type="http://schemas.openxmlformats.org/officeDocument/2006/relationships/image" Target="../media/image19.emf"/><Relationship Id="rId9" Type="http://schemas.openxmlformats.org/officeDocument/2006/relationships/image" Target="../media/image20.emf"/><Relationship Id="rId10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2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23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24.wmf"/><Relationship Id="rId9" Type="http://schemas.openxmlformats.org/officeDocument/2006/relationships/image" Target="../media/image25.emf"/><Relationship Id="rId10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emf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0.emf"/><Relationship Id="rId2" Type="http://schemas.openxmlformats.org/officeDocument/2006/relationships/image" Target="../media/image31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2.wmf"/><Relationship Id="rId2" Type="http://schemas.openxmlformats.org/officeDocument/2006/relationships/oleObject" Target="../embeddings/oleObject1.bin"/><Relationship Id="rId3" Type="http://schemas.openxmlformats.org/officeDocument/2006/relationships/image" Target="../media/image33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4.wmf"/><Relationship Id="rId6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6.wmf"/><Relationship Id="rId5" Type="http://schemas.openxmlformats.org/officeDocument/2006/relationships/image" Target="../media/image37.emf"/><Relationship Id="rId6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39.wmf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2.wmf"/><Relationship Id="rId2" Type="http://schemas.openxmlformats.org/officeDocument/2006/relationships/image" Target="../media/image32.wmf"/><Relationship Id="rId3" Type="http://schemas.openxmlformats.org/officeDocument/2006/relationships/image" Target="../media/image43.wmf"/><Relationship Id="rId4" Type="http://schemas.openxmlformats.org/officeDocument/2006/relationships/image" Target="../media/image44.wmf"/><Relationship Id="rId5" Type="http://schemas.openxmlformats.org/officeDocument/2006/relationships/image" Target="../media/image45.emf"/><Relationship Id="rId6" Type="http://schemas.openxmlformats.org/officeDocument/2006/relationships/image" Target="../media/image46.emf"/><Relationship Id="rId7" Type="http://schemas.openxmlformats.org/officeDocument/2006/relationships/image" Target="../media/image47.emf"/><Relationship Id="rId8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49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50.wmf"/><Relationship Id="rId7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2.emf"/><Relationship Id="rId2" Type="http://schemas.openxmlformats.org/officeDocument/2006/relationships/image" Target="../media/image53.emf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emf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9.emf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1.emf"/><Relationship Id="rId2" Type="http://schemas.openxmlformats.org/officeDocument/2006/relationships/image" Target="../media/image60.png"/><Relationship Id="rId3" Type="http://schemas.openxmlformats.org/officeDocument/2006/relationships/image" Target="../media/image62.emf"/><Relationship Id="rId4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emf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emf"/><Relationship Id="rId3" Type="http://schemas.openxmlformats.org/officeDocument/2006/relationships/image" Target="../media/image69.emf"/><Relationship Id="rId4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emf"/><Relationship Id="rId3" Type="http://schemas.openxmlformats.org/officeDocument/2006/relationships/image" Target="../media/image72.emf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2"/>
          <p:cNvSpPr/>
          <p:nvPr/>
        </p:nvSpPr>
        <p:spPr>
          <a:xfrm>
            <a:off x="0" y="2730600"/>
            <a:ext cx="9144000" cy="185400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Séance 6 :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00b0f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4800" strike="noStrike" u="none">
                <a:solidFill>
                  <a:srgbClr val="00b0f0"/>
                </a:solidFill>
                <a:effectLst/>
                <a:uFillTx/>
                <a:latin typeface="Times New Roman"/>
                <a:ea typeface="Times New Roman"/>
              </a:rPr>
              <a:t>Les machines dithermes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Titre 1" descr=""/>
          <p:cNvPicPr/>
          <p:nvPr/>
        </p:nvPicPr>
        <p:blipFill>
          <a:blip r:embed="rId1"/>
          <a:stretch/>
        </p:blipFill>
        <p:spPr>
          <a:xfrm>
            <a:off x="463680" y="152280"/>
            <a:ext cx="887544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304920" y="155412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Franklin Gothic Book"/>
              </a:rPr>
              <a:t>Notions préliminaires 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Franklin Gothic Book"/>
              </a:rPr>
              <a:t>Les différents types de machines dithermes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Franklin Gothic Book"/>
              </a:rPr>
              <a:t>La machine de référence de Carnot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Franklin Gothic Book"/>
              </a:rPr>
              <a:t>La notion de rendement</a:t>
            </a: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  <a:p>
            <a:pPr marL="343080" indent="-343080">
              <a:spcBef>
                <a:spcPts val="79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fbeec9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2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 fontScale="77500" lnSpcReduction="19999"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beec9"/>
                </a:solidFill>
                <a:effectLst/>
                <a:uFillTx/>
                <a:latin typeface="Arial"/>
                <a:ea typeface="Arial"/>
              </a:rPr>
              <a:t>APPLICATIONS DES DEUX PRINCIPES</a:t>
            </a:r>
            <a:r>
              <a:rPr b="1" lang="fr-FR" sz="2800" strike="noStrike" u="none">
                <a:solidFill>
                  <a:srgbClr val="fbeec9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1597680" y="571680"/>
            <a:ext cx="4540680" cy="52092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142920" y="1722600"/>
            <a:ext cx="8713800" cy="16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280" bIns="7632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appelle 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 thermique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 dispositif effectuant des transformations </a:t>
            </a:r>
            <a:r>
              <a:rPr b="1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cycliques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permettant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transformer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une énergie calorifique (sous forme de chaleur) en une énergie mécanique (sous forme de travail) et réciproquement.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227520" y="1285920"/>
            <a:ext cx="22914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DÉFINITION</a:t>
            </a:r>
            <a:r>
              <a:rPr b="0" lang="fr-FR" sz="2800" strike="noStrike" u="non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203400" y="3214440"/>
            <a:ext cx="4224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52280" bIns="763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SOURCE DE CHALEUR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65160" y="3876120"/>
            <a:ext cx="90788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appelle source de chaleur tout corps de très forte capacité calorifique. Ainsi la température de la source reste pratiquement inchangée.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7"/>
          <p:cNvSpPr/>
          <p:nvPr/>
        </p:nvSpPr>
        <p:spPr>
          <a:xfrm>
            <a:off x="133920" y="502920"/>
            <a:ext cx="45406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52280" bIns="763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845280" y="1001520"/>
            <a:ext cx="3001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INTRODUCTION</a:t>
            </a: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Box 9"/>
          <p:cNvSpPr/>
          <p:nvPr/>
        </p:nvSpPr>
        <p:spPr>
          <a:xfrm>
            <a:off x="0" y="1285920"/>
            <a:ext cx="9144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Puisqu'il est impossible d'après le deuxième principe de prélever de la chaleur d'une seule source de chaleur et de la transformer intégralement en travail, une machine thermique doit donc nécessairement fonctionner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entre au moins deux sources de chaleur 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0" y="347112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Ce sont des cycles au cours desquels, le système échange de la chaleur avec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deux sources de chaleur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températures différentes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738000" y="6558480"/>
            <a:ext cx="216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235800" y="3038400"/>
            <a:ext cx="38109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CYCLES DITHERMES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750600" y="4255920"/>
            <a:ext cx="7993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DIFFÉRENTS TYPES DE CYCLES DITHERMES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Object 3"/>
          <p:cNvGraphicFramePr/>
          <p:nvPr/>
        </p:nvGraphicFramePr>
        <p:xfrm>
          <a:off x="1571760" y="5254560"/>
          <a:ext cx="4478040" cy="7160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74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71760" y="5254560"/>
                    <a:ext cx="4478040" cy="71604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5" name="Object 4"/>
          <p:cNvGraphicFramePr/>
          <p:nvPr/>
        </p:nvGraphicFramePr>
        <p:xfrm>
          <a:off x="3357720" y="6040440"/>
          <a:ext cx="3720960" cy="8175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76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357720" y="6040440"/>
                    <a:ext cx="3720960" cy="81756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7" name="Rectangle 15"/>
          <p:cNvSpPr/>
          <p:nvPr/>
        </p:nvSpPr>
        <p:spPr>
          <a:xfrm>
            <a:off x="218520" y="4682160"/>
            <a:ext cx="8193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Le premier principe appliqué à cette transformation s’écrit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6"/>
          <p:cNvSpPr/>
          <p:nvPr/>
        </p:nvSpPr>
        <p:spPr>
          <a:xfrm>
            <a:off x="585720" y="6112800"/>
            <a:ext cx="2773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On en déduit que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7" repeatCount="1000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" dur="75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" dur="75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75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nodeType="clickEffect" fill="hold">
                      <p:stCondLst>
                        <p:cond delay="indefinite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nodeType="clickEffect" fill="hold">
                      <p:stCondLst>
                        <p:cond delay="indefinite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8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9" dur="8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0" dur="8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nodeType="clickEffect" fill="hold">
                      <p:stCondLst>
                        <p:cond delay="indefinite"/>
                      </p:stCondLst>
                      <p:childTnLst>
                        <p:par>
                          <p:cTn id="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7">
                                  <p:stCondLst>
                                    <p:cond delay="0"/>
                                  </p:stCondLst>
                                  <p:iterate type="wd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1" dur="8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2" dur="8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nodeType="afterEffect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nodeType="clickEffect" fill="hold">
                      <p:stCondLst>
                        <p:cond delay="indefinite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7">
                                  <p:stCondLst>
                                    <p:cond delay="0"/>
                                  </p:stCondLst>
                                  <p:iterate type="wd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2" dur="8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3" dur="8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nodeType="afterEffect" fill="hold">
                            <p:stCondLst>
                              <p:cond delay="240"/>
                            </p:stCondLst>
                            <p:childTnLst>
                              <p:par>
                                <p:cTn id="4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4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1399320" y="1072800"/>
            <a:ext cx="4752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SCHÉMAS DU CYCLE MOTEUR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520200" y="619200"/>
            <a:ext cx="3495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CYCLES MOTEURS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e 23"/>
          <p:cNvGrpSpPr/>
          <p:nvPr/>
        </p:nvGrpSpPr>
        <p:grpSpPr>
          <a:xfrm>
            <a:off x="3786120" y="1500120"/>
            <a:ext cx="4143600" cy="563760"/>
            <a:chOff x="3786120" y="1500120"/>
            <a:chExt cx="4143600" cy="563760"/>
          </a:xfrm>
        </p:grpSpPr>
        <p:graphicFrame>
          <p:nvGraphicFramePr>
            <p:cNvPr id="83" name="Object 2"/>
            <p:cNvGraphicFramePr/>
            <p:nvPr/>
          </p:nvGraphicFramePr>
          <p:xfrm>
            <a:off x="3786120" y="1500120"/>
            <a:ext cx="1139760" cy="56376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84" name="Object 2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3786120" y="1500120"/>
                      <a:ext cx="1139760" cy="563760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0">
                      <a:noFill/>
                    </a:ln>
                  </p:spPr>
                </p:pic>
              </p:oleObj>
            </a:graphicData>
          </a:graphic>
        </p:graphicFrame>
        <p:pic>
          <p:nvPicPr>
            <p:cNvPr id="85" name="Picture 7" descr=""/>
            <p:cNvPicPr/>
            <p:nvPr/>
          </p:nvPicPr>
          <p:blipFill>
            <a:blip r:embed="rId3"/>
            <a:stretch/>
          </p:blipFill>
          <p:spPr>
            <a:xfrm>
              <a:off x="6266880" y="1500120"/>
              <a:ext cx="1662840" cy="499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</p:pic>
        <p:sp>
          <p:nvSpPr>
            <p:cNvPr id="86" name="AutoShape 11"/>
            <p:cNvSpPr/>
            <p:nvPr/>
          </p:nvSpPr>
          <p:spPr>
            <a:xfrm>
              <a:off x="5002200" y="1674360"/>
              <a:ext cx="1284120" cy="144720"/>
            </a:xfrm>
            <a:prstGeom prst="rightArrow">
              <a:avLst>
                <a:gd name="adj1" fmla="val 50000"/>
                <a:gd name="adj2" fmla="val 221828"/>
              </a:avLst>
            </a:prstGeom>
            <a:solidFill>
              <a:srgbClr val="000000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87" name="Object 3"/>
          <p:cNvGraphicFramePr/>
          <p:nvPr/>
        </p:nvGraphicFramePr>
        <p:xfrm>
          <a:off x="5286240" y="2286000"/>
          <a:ext cx="1055880" cy="52848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88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5286240" y="2286000"/>
                    <a:ext cx="1055880" cy="52848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9" name="Object 4"/>
          <p:cNvGraphicFramePr/>
          <p:nvPr/>
        </p:nvGraphicFramePr>
        <p:xfrm>
          <a:off x="3857760" y="2286000"/>
          <a:ext cx="1141200" cy="555480"/>
        </p:xfrm>
        <a:graphic>
          <a:graphicData uri="http://schemas.openxmlformats.org/presentationml/2006/ole">
            <p:oleObj r:id="rId6" spid="">
              <p:embed/>
              <p:pic>
                <p:nvPicPr>
                  <p:cNvPr id="90" name="Object 4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3857760" y="2286000"/>
                    <a:ext cx="1141200" cy="55548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1" name="AutoShape 26"/>
          <p:cNvSpPr/>
          <p:nvPr/>
        </p:nvSpPr>
        <p:spPr>
          <a:xfrm>
            <a:off x="285840" y="1571760"/>
            <a:ext cx="2895480" cy="29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Box 25"/>
          <p:cNvSpPr/>
          <p:nvPr/>
        </p:nvSpPr>
        <p:spPr>
          <a:xfrm>
            <a:off x="285840" y="3941640"/>
            <a:ext cx="2895480" cy="582840"/>
          </a:xfrm>
          <a:prstGeom prst="rect">
            <a:avLst/>
          </a:prstGeom>
          <a:solidFill>
            <a:srgbClr val="ffff66"/>
          </a:solidFill>
          <a:ln w="284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Source Froide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Oval 24"/>
          <p:cNvSpPr/>
          <p:nvPr/>
        </p:nvSpPr>
        <p:spPr>
          <a:xfrm>
            <a:off x="1114560" y="2567160"/>
            <a:ext cx="1292040" cy="87768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AutoShape 23"/>
          <p:cNvSpPr/>
          <p:nvPr/>
        </p:nvSpPr>
        <p:spPr>
          <a:xfrm>
            <a:off x="1665360" y="2873520"/>
            <a:ext cx="1290600" cy="317520"/>
          </a:xfrm>
          <a:custGeom>
            <a:avLst/>
            <a:gdLst>
              <a:gd name="textAreaLeft" fmla="*/ 201600 w 1290600"/>
              <a:gd name="textAreaRight" fmla="*/ 1129320 w 1290600"/>
              <a:gd name="textAreaTop" fmla="*/ 78840 h 317520"/>
              <a:gd name="textAreaBottom" fmla="*/ 238680 h 31752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99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AutoShape 22"/>
          <p:cNvSpPr/>
          <p:nvPr/>
        </p:nvSpPr>
        <p:spPr>
          <a:xfrm rot="5400000">
            <a:off x="1410840" y="3654360"/>
            <a:ext cx="723960" cy="282600"/>
          </a:xfrm>
          <a:custGeom>
            <a:avLst/>
            <a:gdLst>
              <a:gd name="textAreaLeft" fmla="*/ 113400 w 723960"/>
              <a:gd name="textAreaRight" fmla="*/ 633600 w 723960"/>
              <a:gd name="textAreaTop" fmla="*/ 70200 h 282600"/>
              <a:gd name="textAreaBottom" fmla="*/ 212400 h 28260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21"/>
          <p:cNvSpPr/>
          <p:nvPr/>
        </p:nvSpPr>
        <p:spPr>
          <a:xfrm>
            <a:off x="285840" y="1571760"/>
            <a:ext cx="2819160" cy="608040"/>
          </a:xfrm>
          <a:prstGeom prst="rect">
            <a:avLst/>
          </a:prstGeom>
          <a:solidFill>
            <a:srgbClr val="ffff66"/>
          </a:solidFill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Source Chaude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utoShape 20"/>
          <p:cNvSpPr/>
          <p:nvPr/>
        </p:nvSpPr>
        <p:spPr>
          <a:xfrm rot="5400000">
            <a:off x="1426320" y="2286720"/>
            <a:ext cx="673200" cy="284400"/>
          </a:xfrm>
          <a:custGeom>
            <a:avLst/>
            <a:gdLst>
              <a:gd name="textAreaLeft" fmla="*/ 105120 w 673200"/>
              <a:gd name="textAreaRight" fmla="*/ 589680 w 673200"/>
              <a:gd name="textAreaTop" fmla="*/ 70560 h 284400"/>
              <a:gd name="textAreaBottom" fmla="*/ 213840 h 28440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Box 19"/>
          <p:cNvSpPr/>
          <p:nvPr/>
        </p:nvSpPr>
        <p:spPr>
          <a:xfrm>
            <a:off x="2039760" y="2257560"/>
            <a:ext cx="635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b="0" lang="fr-FR" sz="2800" strike="noStrike" u="none" baseline="-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Box 18"/>
          <p:cNvSpPr/>
          <p:nvPr/>
        </p:nvSpPr>
        <p:spPr>
          <a:xfrm>
            <a:off x="1967040" y="3511440"/>
            <a:ext cx="7635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b="0" lang="fr-FR" sz="2400" strike="noStrike" u="none" baseline="-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Box 17"/>
          <p:cNvSpPr/>
          <p:nvPr/>
        </p:nvSpPr>
        <p:spPr>
          <a:xfrm>
            <a:off x="2639880" y="2604960"/>
            <a:ext cx="5032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 fontScale="850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37"/>
          <p:cNvSpPr/>
          <p:nvPr/>
        </p:nvSpPr>
        <p:spPr>
          <a:xfrm>
            <a:off x="3786120" y="2857680"/>
            <a:ext cx="4734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  la chaleur échangée avec la source froide ne peut être que négative. Cela conduit à une chaleur échangée avec la source chaude positive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Object 5"/>
          <p:cNvGraphicFramePr/>
          <p:nvPr/>
        </p:nvGraphicFramePr>
        <p:xfrm>
          <a:off x="2714760" y="4878360"/>
          <a:ext cx="2643120" cy="593640"/>
        </p:xfrm>
        <a:graphic>
          <a:graphicData uri="http://schemas.openxmlformats.org/presentationml/2006/ole">
            <p:oleObj r:id="rId8" spid="">
              <p:embed/>
              <p:pic>
                <p:nvPicPr>
                  <p:cNvPr id="103" name="Object 5" descr=""/>
                  <p:cNvPicPr/>
                  <p:nvPr/>
                </p:nvPicPr>
                <p:blipFill>
                  <a:blip r:embed="rId9"/>
                  <a:stretch/>
                </p:blipFill>
                <p:spPr>
                  <a:xfrm>
                    <a:off x="2714760" y="4878360"/>
                    <a:ext cx="2643120" cy="59364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4" name="Object 6"/>
          <p:cNvGraphicFramePr/>
          <p:nvPr/>
        </p:nvGraphicFramePr>
        <p:xfrm>
          <a:off x="7143840" y="4962600"/>
          <a:ext cx="796680" cy="407880"/>
        </p:xfrm>
        <a:graphic>
          <a:graphicData uri="http://schemas.openxmlformats.org/presentationml/2006/ole">
            <p:oleObj r:id="rId10" spid="">
              <p:embed/>
              <p:pic>
                <p:nvPicPr>
                  <p:cNvPr id="105" name="Object 6" descr=""/>
                  <p:cNvPicPr/>
                  <p:nvPr/>
                </p:nvPicPr>
                <p:blipFill>
                  <a:blip r:embed="rId11"/>
                  <a:stretch/>
                </p:blipFill>
                <p:spPr>
                  <a:xfrm>
                    <a:off x="7143840" y="4962600"/>
                    <a:ext cx="796680" cy="40788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6" name="Object 7"/>
          <p:cNvGraphicFramePr/>
          <p:nvPr/>
        </p:nvGraphicFramePr>
        <p:xfrm>
          <a:off x="6402240" y="6105600"/>
          <a:ext cx="2670480" cy="676080"/>
        </p:xfrm>
        <a:graphic>
          <a:graphicData uri="http://schemas.openxmlformats.org/presentationml/2006/ole">
            <p:oleObj r:id="rId12" spid="">
              <p:embed/>
              <p:pic>
                <p:nvPicPr>
                  <p:cNvPr id="107" name="Object 7" descr=""/>
                  <p:cNvPicPr/>
                  <p:nvPr/>
                </p:nvPicPr>
                <p:blipFill>
                  <a:blip r:embed="rId13"/>
                  <a:stretch/>
                </p:blipFill>
                <p:spPr>
                  <a:xfrm>
                    <a:off x="6402240" y="6105600"/>
                    <a:ext cx="2670480" cy="67608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8" name="Object 8"/>
          <p:cNvGraphicFramePr/>
          <p:nvPr/>
        </p:nvGraphicFramePr>
        <p:xfrm>
          <a:off x="3111480" y="6105600"/>
          <a:ext cx="1746360" cy="717480"/>
        </p:xfrm>
        <a:graphic>
          <a:graphicData uri="http://schemas.openxmlformats.org/presentationml/2006/ole">
            <p:oleObj r:id="rId14" spid="">
              <p:embed/>
              <p:pic>
                <p:nvPicPr>
                  <p:cNvPr id="109" name="Object 8" descr=""/>
                  <p:cNvPicPr/>
                  <p:nvPr/>
                </p:nvPicPr>
                <p:blipFill>
                  <a:blip r:embed="rId15"/>
                  <a:stretch/>
                </p:blipFill>
                <p:spPr>
                  <a:xfrm>
                    <a:off x="3111480" y="6105600"/>
                    <a:ext cx="1746360" cy="71748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0" name="Rectangle 7"/>
          <p:cNvSpPr/>
          <p:nvPr/>
        </p:nvSpPr>
        <p:spPr>
          <a:xfrm>
            <a:off x="334440" y="4858920"/>
            <a:ext cx="194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Remarque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8"/>
          <p:cNvSpPr/>
          <p:nvPr/>
        </p:nvSpPr>
        <p:spPr>
          <a:xfrm>
            <a:off x="5863320" y="4892040"/>
            <a:ext cx="993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avec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Flèche droite 30"/>
          <p:cNvSpPr/>
          <p:nvPr/>
        </p:nvSpPr>
        <p:spPr>
          <a:xfrm rot="5400000">
            <a:off x="7214760" y="5605200"/>
            <a:ext cx="642960" cy="214200"/>
          </a:xfrm>
          <a:prstGeom prst="rightArrow">
            <a:avLst>
              <a:gd name="adj1" fmla="val 50000"/>
              <a:gd name="adj2" fmla="val 50028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Flèche droite 31"/>
          <p:cNvSpPr/>
          <p:nvPr/>
        </p:nvSpPr>
        <p:spPr>
          <a:xfrm rot="10800000">
            <a:off x="5285880" y="6319440"/>
            <a:ext cx="714600" cy="214200"/>
          </a:xfrm>
          <a:prstGeom prst="rightArrow">
            <a:avLst>
              <a:gd name="adj1" fmla="val 50000"/>
              <a:gd name="adj2" fmla="val 50042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nodeType="clickEffect" fill="hold">
                      <p:stCondLst>
                        <p:cond delay="indefinite"/>
                      </p:stCondLst>
                      <p:childTnLst>
                        <p:par>
                          <p:cTn id="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179280" y="977040"/>
            <a:ext cx="896472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 transformation de chaleur en travail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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à partir d'une source chaude n'est donc possible qu'à la condition de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rejeter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une partie de la chaleur à une autre source froide.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Cette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chaleur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rejetée est donc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perdue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et influera sur les </a:t>
            </a:r>
            <a:r>
              <a:rPr b="0" lang="fr-FR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performances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la machine thermique, d'où la notion de rendement thermique.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4"/>
          <p:cNvSpPr/>
          <p:nvPr/>
        </p:nvSpPr>
        <p:spPr>
          <a:xfrm>
            <a:off x="287280" y="617400"/>
            <a:ext cx="63356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RENDEMENT D’UN CYCLE MOTEUR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Object 2"/>
          <p:cNvGraphicFramePr/>
          <p:nvPr/>
        </p:nvGraphicFramePr>
        <p:xfrm>
          <a:off x="2214720" y="3876840"/>
          <a:ext cx="2286000" cy="7236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18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214720" y="3876840"/>
                    <a:ext cx="2286000" cy="72360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19" name="Object 3"/>
          <p:cNvGraphicFramePr/>
          <p:nvPr/>
        </p:nvGraphicFramePr>
        <p:xfrm>
          <a:off x="1428840" y="5715000"/>
          <a:ext cx="4286160" cy="10447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20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428840" y="5715000"/>
                    <a:ext cx="4286160" cy="104472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1" name="Rectangle 6"/>
          <p:cNvSpPr/>
          <p:nvPr/>
        </p:nvSpPr>
        <p:spPr>
          <a:xfrm>
            <a:off x="214200" y="3468240"/>
            <a:ext cx="9144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  <a:ea typeface="Times New Roman"/>
              </a:rPr>
              <a:t>Le rendement d’une machine thermique est défini par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214200" y="4505040"/>
            <a:ext cx="87138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le gain et les dépenses sont relatifs à l’opérateur.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Remarque : le signe (-) a été introduit pour avoir un rendement positif. (le rendement ne peut être que positif)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" dur="indefinite" restart="never" nodeType="tmRoot">
          <p:childTnLst>
            <p:seq>
              <p:cTn id="65" dur="indefinite" nodeType="mainSeq">
                <p:childTnLst>
                  <p:par>
                    <p:cTn id="66" nodeType="clickEffect" fill="hold">
                      <p:stCondLst>
                        <p:cond delay="indefinite"/>
                      </p:stCondLst>
                      <p:childTnLst>
                        <p:par>
                          <p:cTn id="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0" dur="8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71" dur="8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nodeType="afterEffect" fill="hold">
                            <p:stCondLst>
                              <p:cond delay="1400"/>
                            </p:stCondLst>
                            <p:childTnLst>
                              <p:par>
                                <p:cTn id="74" nodeType="after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6" dur="8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77" dur="8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8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nodeType="afterEffect" fill="hold">
                            <p:stCondLst>
                              <p:cond delay="5920"/>
                            </p:stCondLst>
                            <p:childTnLst>
                              <p:par>
                                <p:cTn id="80" nodeType="after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82" dur="8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3" dur="8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nodeType="clickEffect" fill="hold">
                      <p:stCondLst>
                        <p:cond delay="indefinite"/>
                      </p:stCondLst>
                      <p:childTnLst>
                        <p:par>
                          <p:cTn id="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97" dur="8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98" dur="8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8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nodeType="afterEffect" fill="hold">
                            <p:stCondLst>
                              <p:cond delay="1800"/>
                            </p:stCondLst>
                            <p:childTnLst>
                              <p:par>
                                <p:cTn id="101" nodeType="after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03" dur="8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04" dur="8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8,100,-91)"/>
                                          </p:val>
                                        </p:tav>
                                        <p:tav tm="50000">
                                          <p:val>
                                            <p:strVal val="rgb(31,31,-83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8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nodeType="clickEffect" fill="hold">
                      <p:stCondLst>
                        <p:cond delay="indefinite"/>
                      </p:stCondLst>
                      <p:childTnLst>
                        <p:par>
                          <p:cTn id="1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4" name="Object 3"/>
          <p:cNvGraphicFramePr/>
          <p:nvPr/>
        </p:nvGraphicFramePr>
        <p:xfrm>
          <a:off x="5286240" y="1500120"/>
          <a:ext cx="1309680" cy="538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25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286240" y="1500120"/>
                    <a:ext cx="1309680" cy="53820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6" name="Object 4"/>
          <p:cNvGraphicFramePr/>
          <p:nvPr/>
        </p:nvGraphicFramePr>
        <p:xfrm>
          <a:off x="285840" y="2143080"/>
          <a:ext cx="1143000" cy="6033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27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85840" y="2143080"/>
                    <a:ext cx="1143000" cy="60336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8" name="Object 5"/>
          <p:cNvGraphicFramePr/>
          <p:nvPr/>
        </p:nvGraphicFramePr>
        <p:xfrm>
          <a:off x="7072200" y="2143080"/>
          <a:ext cx="1074960" cy="52380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29" name="Object 5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7072200" y="2143080"/>
                    <a:ext cx="1074960" cy="52380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0" name="Rectangle 12"/>
          <p:cNvSpPr/>
          <p:nvPr/>
        </p:nvSpPr>
        <p:spPr>
          <a:xfrm>
            <a:off x="1577880" y="2144160"/>
            <a:ext cx="5601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est impossible, il correspond au cas où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3"/>
          <p:cNvSpPr/>
          <p:nvPr/>
        </p:nvSpPr>
        <p:spPr>
          <a:xfrm>
            <a:off x="-71280" y="3066480"/>
            <a:ext cx="9420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81756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c'est-à-dire que la source froide est supprimée : Cycle monotherme.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4"/>
          <p:cNvSpPr/>
          <p:nvPr/>
        </p:nvSpPr>
        <p:spPr>
          <a:xfrm>
            <a:off x="642960" y="3645720"/>
            <a:ext cx="82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81756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: est le résultat d’une combustion (essence, diesel, charbon, …) ou une fusion en chaine de noyau d’uranium.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5"/>
          <p:cNvSpPr/>
          <p:nvPr/>
        </p:nvSpPr>
        <p:spPr>
          <a:xfrm>
            <a:off x="714240" y="4431240"/>
            <a:ext cx="81378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81756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 constitue une perte d’énergie inévitable véhiculée par le gaz d’échappement et le circuit de refroidissement.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6"/>
          <p:cNvSpPr/>
          <p:nvPr/>
        </p:nvSpPr>
        <p:spPr>
          <a:xfrm>
            <a:off x="870480" y="630360"/>
            <a:ext cx="2587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REMARQUES 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5" name="Object 9"/>
              <p:cNvSpPr txBox="1"/>
              <p:nvPr/>
            </p:nvSpPr>
            <p:spPr>
              <a:xfrm>
                <a:off x="1928880" y="1235160"/>
                <a:ext cx="3000240" cy="944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ρ</m:t>
                    </m:r>
                    <m:r>
                      <m:t xml:space="preserve">=</m:t>
                    </m:r>
                    <m:r>
                      <m:t xml:space="preserve">1</m:t>
                    </m:r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den>
                    </m:f>
                    <m:r>
                      <m:t xml:space="preserve">≤</m:t>
                    </m:r>
                    <m:r>
                      <m:t xml:space="preserve">1</m:t>
                    </m:r>
                    <m:r>
                      <m:t xml:space="preserve"> </m:t>
                    </m:r>
                    <m:r>
                      <m:rPr>
                        <m:lit/>
                        <m:nor/>
                      </m:rPr>
                      <m:t xml:space="preserve">car</m:t>
                    </m:r>
                  </m:oMath>
                </a14:m>
              </a:p>
            </p:txBody>
          </p:sp>
        </mc:Choice>
        <mc:Fallback>
          <p:sp>
            <p:nvSpPr>
              <p:cNvPr id="135" name="Object 9"/>
              <p:cNvSpPr txBox="1"/>
              <p:nvPr/>
            </p:nvSpPr>
            <p:spPr>
              <a:xfrm>
                <a:off x="1928880" y="1235160"/>
                <a:ext cx="3000240" cy="944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36" name="Object 10"/>
              <p:cNvSpPr txBox="1"/>
              <p:nvPr/>
            </p:nvSpPr>
            <p:spPr>
              <a:xfrm>
                <a:off x="142920" y="3643200"/>
                <a:ext cx="388800" cy="44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6" name="Object 10"/>
              <p:cNvSpPr txBox="1"/>
              <p:nvPr/>
            </p:nvSpPr>
            <p:spPr>
              <a:xfrm>
                <a:off x="142920" y="3643200"/>
                <a:ext cx="388800" cy="444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37" name="Object 11"/>
              <p:cNvSpPr txBox="1"/>
              <p:nvPr/>
            </p:nvSpPr>
            <p:spPr>
              <a:xfrm>
                <a:off x="187200" y="4429080"/>
                <a:ext cx="444600" cy="44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7" name="Object 11"/>
              <p:cNvSpPr txBox="1"/>
              <p:nvPr/>
            </p:nvSpPr>
            <p:spPr>
              <a:xfrm>
                <a:off x="187200" y="4429080"/>
                <a:ext cx="444600" cy="444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94320" y="573120"/>
            <a:ext cx="4245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CYCLES RÉCEPTEURS</a:t>
            </a: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Object 2"/>
          <p:cNvGraphicFramePr/>
          <p:nvPr/>
        </p:nvGraphicFramePr>
        <p:xfrm>
          <a:off x="3786120" y="1490760"/>
          <a:ext cx="1285920" cy="5968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41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786120" y="1490760"/>
                    <a:ext cx="1285920" cy="59688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2" name="Object 3"/>
          <p:cNvGraphicFramePr/>
          <p:nvPr/>
        </p:nvGraphicFramePr>
        <p:xfrm>
          <a:off x="5929200" y="1428840"/>
          <a:ext cx="2381400" cy="6699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43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929200" y="1428840"/>
                    <a:ext cx="2381400" cy="669960"/>
                  </a:xfrm>
                  <a:prstGeom prst="rect">
                    <a:avLst/>
                  </a:prstGeom>
                  <a:solidFill>
                    <a:srgbClr val="ffff66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44" name="AutoShape 10"/>
          <p:cNvSpPr/>
          <p:nvPr/>
        </p:nvSpPr>
        <p:spPr>
          <a:xfrm>
            <a:off x="214200" y="1214280"/>
            <a:ext cx="3173400" cy="32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11"/>
          <p:cNvSpPr/>
          <p:nvPr/>
        </p:nvSpPr>
        <p:spPr>
          <a:xfrm>
            <a:off x="214200" y="3862440"/>
            <a:ext cx="3173400" cy="592200"/>
          </a:xfrm>
          <a:prstGeom prst="rect">
            <a:avLst/>
          </a:prstGeom>
          <a:solidFill>
            <a:srgbClr val="ffff66"/>
          </a:solidFill>
          <a:ln w="284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Source Froide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Oval 12"/>
          <p:cNvSpPr/>
          <p:nvPr/>
        </p:nvSpPr>
        <p:spPr>
          <a:xfrm>
            <a:off x="1122480" y="2306520"/>
            <a:ext cx="1415880" cy="96372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AutoShape 13"/>
          <p:cNvSpPr/>
          <p:nvPr/>
        </p:nvSpPr>
        <p:spPr>
          <a:xfrm rot="10800000">
            <a:off x="1820520" y="2666880"/>
            <a:ext cx="1366920" cy="347760"/>
          </a:xfrm>
          <a:custGeom>
            <a:avLst/>
            <a:gdLst>
              <a:gd name="textAreaLeft" fmla="*/ 213120 w 1366920"/>
              <a:gd name="textAreaRight" fmla="*/ 1196280 w 1366920"/>
              <a:gd name="textAreaTop" fmla="*/ 86400 h 347760"/>
              <a:gd name="textAreaBottom" fmla="*/ 261360 h 34776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99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AutoShape 14"/>
          <p:cNvSpPr/>
          <p:nvPr/>
        </p:nvSpPr>
        <p:spPr>
          <a:xfrm rot="16200000">
            <a:off x="1423800" y="3450600"/>
            <a:ext cx="793800" cy="311040"/>
          </a:xfrm>
          <a:custGeom>
            <a:avLst/>
            <a:gdLst>
              <a:gd name="textAreaLeft" fmla="*/ 124560 w 793800"/>
              <a:gd name="textAreaRight" fmla="*/ 694440 w 793800"/>
              <a:gd name="textAreaTop" fmla="*/ 77400 h 311040"/>
              <a:gd name="textAreaBottom" fmla="*/ 233640 h 31104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Box 15"/>
          <p:cNvSpPr/>
          <p:nvPr/>
        </p:nvSpPr>
        <p:spPr>
          <a:xfrm>
            <a:off x="214200" y="1214280"/>
            <a:ext cx="3089520" cy="667080"/>
          </a:xfrm>
          <a:prstGeom prst="rect">
            <a:avLst/>
          </a:prstGeom>
          <a:solidFill>
            <a:srgbClr val="ffff66"/>
          </a:solidFill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Source Chaude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AutoShape 16"/>
          <p:cNvSpPr/>
          <p:nvPr/>
        </p:nvSpPr>
        <p:spPr>
          <a:xfrm rot="16200000">
            <a:off x="1464480" y="1999440"/>
            <a:ext cx="738000" cy="311040"/>
          </a:xfrm>
          <a:custGeom>
            <a:avLst/>
            <a:gdLst>
              <a:gd name="textAreaLeft" fmla="*/ 115200 w 738000"/>
              <a:gd name="textAreaRight" fmla="*/ 646560 w 738000"/>
              <a:gd name="textAreaTop" fmla="*/ 77400 h 311040"/>
              <a:gd name="textAreaBottom" fmla="*/ 233640 h 31104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Box 17"/>
          <p:cNvSpPr/>
          <p:nvPr/>
        </p:nvSpPr>
        <p:spPr>
          <a:xfrm>
            <a:off x="2136600" y="1967040"/>
            <a:ext cx="6955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Q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Box 18"/>
          <p:cNvSpPr/>
          <p:nvPr/>
        </p:nvSpPr>
        <p:spPr>
          <a:xfrm>
            <a:off x="2057400" y="3341520"/>
            <a:ext cx="836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Q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Box 19"/>
          <p:cNvSpPr/>
          <p:nvPr/>
        </p:nvSpPr>
        <p:spPr>
          <a:xfrm>
            <a:off x="2793960" y="2347920"/>
            <a:ext cx="5526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Object 4"/>
          <p:cNvGraphicFramePr/>
          <p:nvPr/>
        </p:nvGraphicFramePr>
        <p:xfrm>
          <a:off x="3786120" y="2143080"/>
          <a:ext cx="1359000" cy="55404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55" name="Object 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3786120" y="2143080"/>
                    <a:ext cx="1359000" cy="55404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56" name="Object 5"/>
          <p:cNvGraphicFramePr/>
          <p:nvPr/>
        </p:nvGraphicFramePr>
        <p:xfrm>
          <a:off x="3786120" y="2714760"/>
          <a:ext cx="1270080" cy="61884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157" name="Object 5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3786120" y="2714760"/>
                    <a:ext cx="1270080" cy="61884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58" name="Text Box 24"/>
          <p:cNvSpPr/>
          <p:nvPr/>
        </p:nvSpPr>
        <p:spPr>
          <a:xfrm>
            <a:off x="3714840" y="3357720"/>
            <a:ext cx="49323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 cycle est le plus interessant dans ce cas, mais il n’est possible que lorsque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26"/>
          <p:cNvSpPr/>
          <p:nvPr/>
        </p:nvSpPr>
        <p:spPr>
          <a:xfrm>
            <a:off x="0" y="3319560"/>
            <a:ext cx="18432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Flèche droite 21"/>
          <p:cNvSpPr/>
          <p:nvPr/>
        </p:nvSpPr>
        <p:spPr>
          <a:xfrm>
            <a:off x="5214960" y="1714680"/>
            <a:ext cx="500040" cy="214200"/>
          </a:xfrm>
          <a:prstGeom prst="rightArrow">
            <a:avLst>
              <a:gd name="adj1" fmla="val 50000"/>
              <a:gd name="adj2" fmla="val 50029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1" name="Object 7"/>
              <p:cNvSpPr txBox="1"/>
              <p:nvPr/>
            </p:nvSpPr>
            <p:spPr>
              <a:xfrm>
                <a:off x="5715000" y="4259160"/>
                <a:ext cx="150012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e>
                    </m:d>
                    <m:r>
                      <m:t xml:space="preserve">&gt;</m:t>
                    </m:r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1" name="Object 7"/>
              <p:cNvSpPr txBox="1"/>
              <p:nvPr/>
            </p:nvSpPr>
            <p:spPr>
              <a:xfrm>
                <a:off x="5715000" y="4259160"/>
                <a:ext cx="1500120" cy="6429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nodeType="clickEffect" fill="hold">
                      <p:stCondLst>
                        <p:cond delay="indefinite"/>
                      </p:stCondLst>
                      <p:childTnLst>
                        <p:par>
                          <p:cTn id="1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nodeType="clickEffect" fill="hold">
                      <p:stCondLst>
                        <p:cond delay="indefinite"/>
                      </p:stCondLst>
                      <p:childTnLst>
                        <p:par>
                          <p:cTn id="1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4680" y="1070640"/>
            <a:ext cx="8550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On définit l’efficacité d’une machine frigorifique par le rapport 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4" name="Object 5"/>
              <p:cNvSpPr txBox="1"/>
              <p:nvPr/>
            </p:nvSpPr>
            <p:spPr>
              <a:xfrm>
                <a:off x="4357800" y="4000680"/>
                <a:ext cx="4698720" cy="94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e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Gain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dépenses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r>
                          <m:t xml:space="preserve">W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+</m:t>
                        </m:r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den>
                    </m:f>
                    <m:r>
                      <m:t xml:space="preserve">&gt;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64" name="Object 5"/>
              <p:cNvSpPr txBox="1"/>
              <p:nvPr/>
            </p:nvSpPr>
            <p:spPr>
              <a:xfrm>
                <a:off x="4357800" y="4000680"/>
                <a:ext cx="4698720" cy="9442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65" name="Rectangle 3"/>
          <p:cNvSpPr/>
          <p:nvPr/>
        </p:nvSpPr>
        <p:spPr>
          <a:xfrm>
            <a:off x="809640" y="620640"/>
            <a:ext cx="3378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Machine frigorifique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oupe 25"/>
          <p:cNvGrpSpPr/>
          <p:nvPr/>
        </p:nvGrpSpPr>
        <p:grpSpPr>
          <a:xfrm>
            <a:off x="928800" y="1571760"/>
            <a:ext cx="3214440" cy="3286080"/>
            <a:chOff x="928800" y="1571760"/>
            <a:chExt cx="3214440" cy="3286080"/>
          </a:xfrm>
        </p:grpSpPr>
        <p:grpSp>
          <p:nvGrpSpPr>
            <p:cNvPr id="167" name="Group 9"/>
            <p:cNvGrpSpPr/>
            <p:nvPr/>
          </p:nvGrpSpPr>
          <p:grpSpPr>
            <a:xfrm>
              <a:off x="1255680" y="1571760"/>
              <a:ext cx="2527920" cy="2843640"/>
              <a:chOff x="1255680" y="1571760"/>
              <a:chExt cx="2527920" cy="2843640"/>
            </a:xfrm>
          </p:grpSpPr>
          <p:sp>
            <p:nvSpPr>
              <p:cNvPr id="168" name="AutoShape 10"/>
              <p:cNvSpPr/>
              <p:nvPr/>
            </p:nvSpPr>
            <p:spPr>
              <a:xfrm>
                <a:off x="1276560" y="1571760"/>
                <a:ext cx="2483280" cy="2819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69" name="Text Box 11" descr=""/>
              <p:cNvPicPr/>
              <p:nvPr/>
            </p:nvPicPr>
            <p:blipFill>
              <a:blip r:embed="rId2"/>
              <a:stretch/>
            </p:blipFill>
            <p:spPr>
              <a:xfrm>
                <a:off x="1255680" y="3832560"/>
                <a:ext cx="2527920" cy="582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70" name="Oval 12"/>
              <p:cNvSpPr/>
              <p:nvPr/>
            </p:nvSpPr>
            <p:spPr>
              <a:xfrm>
                <a:off x="1987200" y="2521800"/>
                <a:ext cx="1108080" cy="838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AutoShape 13"/>
              <p:cNvSpPr/>
              <p:nvPr/>
            </p:nvSpPr>
            <p:spPr>
              <a:xfrm rot="10800000">
                <a:off x="2534400" y="2834640"/>
                <a:ext cx="1068480" cy="303480"/>
              </a:xfrm>
              <a:custGeom>
                <a:avLst/>
                <a:gdLst>
                  <a:gd name="textAreaLeft" fmla="*/ 166680 w 1068480"/>
                  <a:gd name="textAreaRight" fmla="*/ 935280 w 1068480"/>
                  <a:gd name="textAreaTop" fmla="*/ 75600 h 303480"/>
                  <a:gd name="textAreaBottom" fmla="*/ 227880 h 30348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33996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AutoShape 14"/>
              <p:cNvSpPr/>
              <p:nvPr/>
            </p:nvSpPr>
            <p:spPr>
              <a:xfrm rot="16200000">
                <a:off x="2188080" y="3531600"/>
                <a:ext cx="691200" cy="243360"/>
              </a:xfrm>
              <a:custGeom>
                <a:avLst/>
                <a:gdLst>
                  <a:gd name="textAreaLeft" fmla="*/ 108360 w 691200"/>
                  <a:gd name="textAreaRight" fmla="*/ 604800 w 691200"/>
                  <a:gd name="textAreaTop" fmla="*/ 60480 h 243360"/>
                  <a:gd name="textAreaBottom" fmla="*/ 182880 h 24336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3366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Text Box 15"/>
              <p:cNvSpPr/>
              <p:nvPr/>
            </p:nvSpPr>
            <p:spPr>
              <a:xfrm>
                <a:off x="1276560" y="1571760"/>
                <a:ext cx="2417760" cy="579960"/>
              </a:xfrm>
              <a:prstGeom prst="rect">
                <a:avLst/>
              </a:prstGeom>
              <a:solidFill>
                <a:srgbClr val="ffff66"/>
              </a:solidFill>
              <a:ln w="284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080" rIns="55080" tIns="27360" bIns="27360" anchor="t">
                <a:norm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Source Chaude</a:t>
                </a:r>
                <a:endParaRPr b="0" lang="en-US" sz="2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AutoShape 16"/>
              <p:cNvSpPr/>
              <p:nvPr/>
            </p:nvSpPr>
            <p:spPr>
              <a:xfrm rot="16200000">
                <a:off x="2222640" y="2268360"/>
                <a:ext cx="641520" cy="243360"/>
              </a:xfrm>
              <a:custGeom>
                <a:avLst/>
                <a:gdLst>
                  <a:gd name="textAreaLeft" fmla="*/ 100080 w 641520"/>
                  <a:gd name="textAreaRight" fmla="*/ 561960 w 641520"/>
                  <a:gd name="textAreaTop" fmla="*/ 60480 h 243360"/>
                  <a:gd name="textAreaBottom" fmla="*/ 182880 h 24336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Text Box 17"/>
              <p:cNvSpPr/>
              <p:nvPr/>
            </p:nvSpPr>
            <p:spPr>
              <a:xfrm>
                <a:off x="2781360" y="2225880"/>
                <a:ext cx="543600" cy="523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080" rIns="55080" tIns="27360" bIns="2736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Q</a:t>
                </a:r>
                <a:r>
                  <a:rPr b="0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1</a:t>
                </a:r>
                <a:endParaRPr b="0" lang="en-US" sz="2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Text Box 18"/>
              <p:cNvSpPr/>
              <p:nvPr/>
            </p:nvSpPr>
            <p:spPr>
              <a:xfrm>
                <a:off x="2718720" y="3423240"/>
                <a:ext cx="654480" cy="52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080" rIns="55080" tIns="27360" bIns="2736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Q</a:t>
                </a:r>
                <a:r>
                  <a:rPr b="0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2</a:t>
                </a:r>
                <a:endParaRPr b="0" lang="en-US" sz="2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Text Box 19"/>
              <p:cNvSpPr/>
              <p:nvPr/>
            </p:nvSpPr>
            <p:spPr>
              <a:xfrm>
                <a:off x="3295440" y="2558880"/>
                <a:ext cx="432000" cy="35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080" rIns="55080" tIns="27360" bIns="27360" anchor="t">
                <a:normAutofit fontScale="775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  <a:ea typeface="Arial"/>
                  </a:rPr>
                  <a:t>W</a:t>
                </a:r>
                <a:endParaRPr b="0" lang="en-US" sz="2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78" name="Rectangle 23" descr=""/>
            <p:cNvPicPr/>
            <p:nvPr/>
          </p:nvPicPr>
          <p:blipFill>
            <a:blip r:embed="rId3"/>
            <a:stretch/>
          </p:blipFill>
          <p:spPr>
            <a:xfrm>
              <a:off x="928800" y="3573720"/>
              <a:ext cx="3214440" cy="12841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79" name="Flèche droite 24" descr=""/>
          <p:cNvPicPr/>
          <p:nvPr/>
        </p:nvPicPr>
        <p:blipFill>
          <a:blip r:embed="rId4"/>
          <a:stretch/>
        </p:blipFill>
        <p:spPr>
          <a:xfrm>
            <a:off x="-36360" y="4425840"/>
            <a:ext cx="1000080" cy="36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MACHINES THERMIQUES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3"/>
          <p:cNvSpPr/>
          <p:nvPr/>
        </p:nvSpPr>
        <p:spPr>
          <a:xfrm>
            <a:off x="805680" y="620640"/>
            <a:ext cx="2865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Pompe à chaleur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0" y="4788720"/>
            <a:ext cx="9144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Une pompe à chaleur est caractérisée par un paramètre appelée </a:t>
            </a:r>
            <a:r>
              <a:rPr b="1" lang="fr-FR" sz="2400" strike="noStrike" u="sng">
                <a:solidFill>
                  <a:srgbClr val="c00000"/>
                </a:solidFill>
                <a:effectLst/>
                <a:uFillTx/>
                <a:latin typeface="Arial"/>
                <a:ea typeface="Times New Roman"/>
              </a:rPr>
              <a:t>performance de la pompe</a:t>
            </a:r>
            <a:r>
              <a:rPr b="0" lang="fr-FR" sz="2400" strike="noStrike" u="sng">
                <a:solidFill>
                  <a:srgbClr val="c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notée </a:t>
            </a:r>
            <a:r>
              <a:rPr b="1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et égale à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3" name="Object 5"/>
              <p:cNvSpPr txBox="1"/>
              <p:nvPr/>
            </p:nvSpPr>
            <p:spPr>
              <a:xfrm>
                <a:off x="4857840" y="5786280"/>
                <a:ext cx="3698640" cy="72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Gains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dépenses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r>
                          <m:t xml:space="preserve">W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=+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+</m:t>
                        </m:r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den>
                    </m:f>
                    <m:r>
                      <m:t xml:space="preserve">&gt;</m:t>
                    </m:r>
                    <m:r>
                      <m:t xml:space="preserve">1</m:t>
                    </m:r>
                  </m:oMath>
                </a14:m>
              </a:p>
            </p:txBody>
          </p:sp>
        </mc:Choice>
        <mc:Fallback>
          <p:sp>
            <p:nvSpPr>
              <p:cNvPr id="183" name="Object 5"/>
              <p:cNvSpPr txBox="1"/>
              <p:nvPr/>
            </p:nvSpPr>
            <p:spPr>
              <a:xfrm>
                <a:off x="4857840" y="5786280"/>
                <a:ext cx="3698640" cy="720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grpSp>
        <p:nvGrpSpPr>
          <p:cNvPr id="184" name="Group 9"/>
          <p:cNvGrpSpPr/>
          <p:nvPr/>
        </p:nvGrpSpPr>
        <p:grpSpPr>
          <a:xfrm>
            <a:off x="1041480" y="1285920"/>
            <a:ext cx="3173400" cy="3240000"/>
            <a:chOff x="1041480" y="1285920"/>
            <a:chExt cx="3173400" cy="3240000"/>
          </a:xfrm>
        </p:grpSpPr>
        <p:sp>
          <p:nvSpPr>
            <p:cNvPr id="185" name="AutoShape 10"/>
            <p:cNvSpPr/>
            <p:nvPr/>
          </p:nvSpPr>
          <p:spPr>
            <a:xfrm>
              <a:off x="1717560" y="2177640"/>
              <a:ext cx="1854000" cy="23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 Box 11"/>
            <p:cNvSpPr/>
            <p:nvPr/>
          </p:nvSpPr>
          <p:spPr>
            <a:xfrm>
              <a:off x="1717560" y="4096440"/>
              <a:ext cx="1854000" cy="429120"/>
            </a:xfrm>
            <a:prstGeom prst="rect">
              <a:avLst/>
            </a:prstGeom>
            <a:solidFill>
              <a:srgbClr val="ffff66"/>
            </a:solidFill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Source Froide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Oval 12"/>
            <p:cNvSpPr/>
            <p:nvPr/>
          </p:nvSpPr>
          <p:spPr>
            <a:xfrm>
              <a:off x="2247840" y="2968920"/>
              <a:ext cx="827280" cy="69804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AutoShape 13"/>
            <p:cNvSpPr/>
            <p:nvPr/>
          </p:nvSpPr>
          <p:spPr>
            <a:xfrm rot="10800000">
              <a:off x="2656800" y="3229920"/>
              <a:ext cx="797760" cy="252720"/>
            </a:xfrm>
            <a:custGeom>
              <a:avLst/>
              <a:gdLst>
                <a:gd name="textAreaLeft" fmla="*/ 124200 w 797760"/>
                <a:gd name="textAreaRight" fmla="*/ 698400 w 797760"/>
                <a:gd name="textAreaTop" fmla="*/ 62640 h 252720"/>
                <a:gd name="textAreaBottom" fmla="*/ 190080 h 2527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3399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AutoShape 14"/>
            <p:cNvSpPr/>
            <p:nvPr/>
          </p:nvSpPr>
          <p:spPr>
            <a:xfrm rot="16200000">
              <a:off x="2368080" y="3820320"/>
              <a:ext cx="575640" cy="181440"/>
            </a:xfrm>
            <a:custGeom>
              <a:avLst/>
              <a:gdLst>
                <a:gd name="textAreaLeft" fmla="*/ 90360 w 575640"/>
                <a:gd name="textAreaRight" fmla="*/ 503640 w 575640"/>
                <a:gd name="textAreaTop" fmla="*/ 45000 h 181440"/>
                <a:gd name="textAreaBottom" fmla="*/ 136440 h 1814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3366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640" bIns="44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0" name="Text Box 15" descr=""/>
            <p:cNvPicPr/>
            <p:nvPr/>
          </p:nvPicPr>
          <p:blipFill>
            <a:blip r:embed="rId2"/>
            <a:stretch/>
          </p:blipFill>
          <p:spPr>
            <a:xfrm>
              <a:off x="1041480" y="1285920"/>
              <a:ext cx="3173400" cy="2217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1" name="AutoShape 16"/>
            <p:cNvSpPr/>
            <p:nvPr/>
          </p:nvSpPr>
          <p:spPr>
            <a:xfrm rot="16200000">
              <a:off x="2396160" y="2768400"/>
              <a:ext cx="534240" cy="181440"/>
            </a:xfrm>
            <a:custGeom>
              <a:avLst/>
              <a:gdLst>
                <a:gd name="textAreaLeft" fmla="*/ 83520 w 534240"/>
                <a:gd name="textAreaRight" fmla="*/ 468000 w 534240"/>
                <a:gd name="textAreaTop" fmla="*/ 45000 h 181440"/>
                <a:gd name="textAreaBottom" fmla="*/ 136440 h 1814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640" bIns="44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Text Box 17"/>
            <p:cNvSpPr/>
            <p:nvPr/>
          </p:nvSpPr>
          <p:spPr>
            <a:xfrm>
              <a:off x="2841120" y="2722320"/>
              <a:ext cx="40572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5080" rIns="55080" tIns="27360" bIns="2736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 Box 18"/>
            <p:cNvSpPr/>
            <p:nvPr/>
          </p:nvSpPr>
          <p:spPr>
            <a:xfrm>
              <a:off x="2794320" y="3719880"/>
              <a:ext cx="488880" cy="43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5080" rIns="55080" tIns="27360" bIns="2736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24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 Box 19"/>
            <p:cNvSpPr/>
            <p:nvPr/>
          </p:nvSpPr>
          <p:spPr>
            <a:xfrm>
              <a:off x="3224880" y="2999880"/>
              <a:ext cx="322560" cy="29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5080" rIns="55080" tIns="27360" bIns="27360" anchor="t">
              <a:normAutofit fontScale="62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W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5" name="Flèche droite 22" descr=""/>
          <p:cNvPicPr/>
          <p:nvPr/>
        </p:nvPicPr>
        <p:blipFill>
          <a:blip r:embed="rId3"/>
          <a:stretch/>
        </p:blipFill>
        <p:spPr>
          <a:xfrm>
            <a:off x="-36360" y="1427040"/>
            <a:ext cx="1000080" cy="36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63"/>
          <p:cNvSpPr/>
          <p:nvPr/>
        </p:nvSpPr>
        <p:spPr>
          <a:xfrm>
            <a:off x="179280" y="3213000"/>
            <a:ext cx="8964720" cy="3645000"/>
          </a:xfrm>
          <a:prstGeom prst="rect">
            <a:avLst/>
          </a:prstGeom>
          <a:solidFill>
            <a:srgbClr val="ffff9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Groupe 65"/>
          <p:cNvGrpSpPr/>
          <p:nvPr/>
        </p:nvGrpSpPr>
        <p:grpSpPr>
          <a:xfrm>
            <a:off x="179280" y="3141720"/>
            <a:ext cx="3953160" cy="3708360"/>
            <a:chOff x="179280" y="3141720"/>
            <a:chExt cx="3953160" cy="3708360"/>
          </a:xfrm>
        </p:grpSpPr>
        <p:sp>
          <p:nvSpPr>
            <p:cNvPr id="198" name="AutoShape 4"/>
            <p:cNvSpPr/>
            <p:nvPr/>
          </p:nvSpPr>
          <p:spPr>
            <a:xfrm>
              <a:off x="179280" y="3141720"/>
              <a:ext cx="3953160" cy="370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Freeform 5"/>
            <p:cNvSpPr/>
            <p:nvPr/>
          </p:nvSpPr>
          <p:spPr>
            <a:xfrm>
              <a:off x="975240" y="4465080"/>
              <a:ext cx="1003320" cy="598320"/>
            </a:xfrm>
            <a:custGeom>
              <a:avLst/>
              <a:gdLst>
                <a:gd name="textAreaLeft" fmla="*/ 0 w 1003320"/>
                <a:gd name="textAreaRight" fmla="*/ 1003680 w 1003320"/>
                <a:gd name="textAreaTop" fmla="*/ 0 h 598320"/>
                <a:gd name="textAreaBottom" fmla="*/ 598680 h 598320"/>
                <a:gd name="GluePoint1X" fmla="*/ 2147483646 w 1111"/>
                <a:gd name="GluePoint1Y" fmla="*/ 2147483646 h 528"/>
                <a:gd name="GluePoint2X" fmla="*/ 2147483646 w 1111"/>
                <a:gd name="GluePoint2Y" fmla="*/ 2147483646 h 528"/>
                <a:gd name="GluePoint3X" fmla="*/ 2147483646 w 1111"/>
                <a:gd name="GluePoint3Y" fmla="*/ 2147483646 h 528"/>
                <a:gd name="GluePoint4X" fmla="*/ 2147483646 w 1111"/>
                <a:gd name="GluePoint4Y" fmla="*/ 2147483646 h 528"/>
                <a:gd name="GluePoint5X" fmla="*/ 0 w 1111"/>
                <a:gd name="GluePoint5Y" fmla="*/ 0 h 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11" h="528">
                  <a:moveTo>
                    <a:pt x="1111" y="528"/>
                  </a:moveTo>
                  <a:cubicBezTo>
                    <a:pt x="1046" y="504"/>
                    <a:pt x="981" y="480"/>
                    <a:pt x="902" y="451"/>
                  </a:cubicBezTo>
                  <a:cubicBezTo>
                    <a:pt x="823" y="422"/>
                    <a:pt x="739" y="396"/>
                    <a:pt x="638" y="352"/>
                  </a:cubicBezTo>
                  <a:cubicBezTo>
                    <a:pt x="537" y="308"/>
                    <a:pt x="403" y="246"/>
                    <a:pt x="297" y="187"/>
                  </a:cubicBezTo>
                  <a:cubicBezTo>
                    <a:pt x="191" y="128"/>
                    <a:pt x="49" y="31"/>
                    <a:pt x="0" y="0"/>
                  </a:cubicBezTo>
                </a:path>
              </a:pathLst>
            </a:custGeom>
            <a:noFill/>
            <a:ln w="284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Freeform 6"/>
            <p:cNvSpPr/>
            <p:nvPr/>
          </p:nvSpPr>
          <p:spPr>
            <a:xfrm>
              <a:off x="1760760" y="6030000"/>
              <a:ext cx="1003320" cy="149400"/>
            </a:xfrm>
            <a:custGeom>
              <a:avLst/>
              <a:gdLst>
                <a:gd name="textAreaLeft" fmla="*/ 0 w 1003320"/>
                <a:gd name="textAreaRight" fmla="*/ 1003680 w 1003320"/>
                <a:gd name="textAreaTop" fmla="*/ 0 h 149400"/>
                <a:gd name="textAreaBottom" fmla="*/ 149760 h 149400"/>
                <a:gd name="GluePoint1X" fmla="*/ 2147483646 w 1166"/>
                <a:gd name="GluePoint1Y" fmla="*/ 2147483646 h 143"/>
                <a:gd name="GluePoint2X" fmla="*/ 2147483646 w 1166"/>
                <a:gd name="GluePoint2Y" fmla="*/ 2147483646 h 143"/>
                <a:gd name="GluePoint3X" fmla="*/ 2147483646 w 1166"/>
                <a:gd name="GluePoint3Y" fmla="*/ 2147483646 h 143"/>
                <a:gd name="GluePoint4X" fmla="*/ 2147483646 w 1166"/>
                <a:gd name="GluePoint4Y" fmla="*/ 2147483646 h 143"/>
                <a:gd name="GluePoint5X" fmla="*/ 0 w 1166"/>
                <a:gd name="GluePoint5Y" fmla="*/ 0 h 1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66" h="143">
                  <a:moveTo>
                    <a:pt x="1166" y="143"/>
                  </a:moveTo>
                  <a:cubicBezTo>
                    <a:pt x="1031" y="135"/>
                    <a:pt x="896" y="128"/>
                    <a:pt x="792" y="121"/>
                  </a:cubicBezTo>
                  <a:cubicBezTo>
                    <a:pt x="688" y="114"/>
                    <a:pt x="625" y="110"/>
                    <a:pt x="539" y="99"/>
                  </a:cubicBezTo>
                  <a:cubicBezTo>
                    <a:pt x="453" y="88"/>
                    <a:pt x="365" y="71"/>
                    <a:pt x="275" y="55"/>
                  </a:cubicBezTo>
                  <a:cubicBezTo>
                    <a:pt x="185" y="39"/>
                    <a:pt x="92" y="19"/>
                    <a:pt x="0" y="0"/>
                  </a:cubicBezTo>
                </a:path>
              </a:pathLst>
            </a:custGeom>
            <a:noFill/>
            <a:ln w="381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AutoShape 7"/>
            <p:cNvSpPr/>
            <p:nvPr/>
          </p:nvSpPr>
          <p:spPr>
            <a:xfrm rot="5400000">
              <a:off x="1945440" y="6258600"/>
              <a:ext cx="727920" cy="131400"/>
            </a:xfrm>
            <a:custGeom>
              <a:avLst/>
              <a:gdLst>
                <a:gd name="textAreaLeft" fmla="*/ 113760 w 727920"/>
                <a:gd name="textAreaRight" fmla="*/ 637200 w 727920"/>
                <a:gd name="textAreaTop" fmla="*/ 32400 h 131400"/>
                <a:gd name="textAreaBottom" fmla="*/ 99000 h 131400"/>
                <a:gd name="GluePoint1X" fmla="*/ 2147483646 w 21600"/>
                <a:gd name="GluePoint1Y" fmla="*/ 0 h 21600"/>
                <a:gd name="GluePoint2X" fmla="*/ 0 w 21600"/>
                <a:gd name="GluePoint2Y" fmla="*/ 2147483646 h 21600"/>
                <a:gd name="GluePoint3X" fmla="*/ 2147483646 w 21600"/>
                <a:gd name="GluePoint3Y" fmla="*/ 2147483646 h 21600"/>
                <a:gd name="GluePoint4X" fmla="*/ 2147483646 w 21600"/>
                <a:gd name="GluePoint4Y" fmla="*/ 2147483646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00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 Box 8"/>
            <p:cNvSpPr/>
            <p:nvPr/>
          </p:nvSpPr>
          <p:spPr>
            <a:xfrm>
              <a:off x="1372680" y="4384440"/>
              <a:ext cx="47736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Box 9"/>
            <p:cNvSpPr/>
            <p:nvPr/>
          </p:nvSpPr>
          <p:spPr>
            <a:xfrm>
              <a:off x="2319480" y="6248880"/>
              <a:ext cx="547920" cy="47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Line 10"/>
            <p:cNvSpPr/>
            <p:nvPr/>
          </p:nvSpPr>
          <p:spPr>
            <a:xfrm flipH="1" flipV="1">
              <a:off x="1050480" y="4913640"/>
              <a:ext cx="104040" cy="356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Line 11"/>
            <p:cNvSpPr/>
            <p:nvPr/>
          </p:nvSpPr>
          <p:spPr>
            <a:xfrm>
              <a:off x="2101680" y="5477760"/>
              <a:ext cx="151200" cy="2876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Freeform 13"/>
            <p:cNvSpPr/>
            <p:nvPr/>
          </p:nvSpPr>
          <p:spPr>
            <a:xfrm rot="337800">
              <a:off x="605160" y="3913560"/>
              <a:ext cx="2269080" cy="133380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1333800"/>
                <a:gd name="textAreaBottom" fmla="*/ 1334160 h 1333800"/>
                <a:gd name="GluePoint1X" fmla="*/ 0 w 4455"/>
                <a:gd name="GluePoint1Y" fmla="*/ 0 h 2880"/>
                <a:gd name="GluePoint2X" fmla="*/ 2147483646 w 4455"/>
                <a:gd name="GluePoint2Y" fmla="*/ 2147483646 h 2880"/>
                <a:gd name="GluePoint3X" fmla="*/ 2147483646 w 4455"/>
                <a:gd name="GluePoint3Y" fmla="*/ 2147483646 h 2880"/>
                <a:gd name="GluePoint4X" fmla="*/ 2147483646 w 4455"/>
                <a:gd name="GluePoint4Y" fmla="*/ 2147483646 h 2880"/>
                <a:gd name="GluePoint5X" fmla="*/ 2147483646 w 4455"/>
                <a:gd name="GluePoint5Y" fmla="*/ 2147483646 h 2880"/>
                <a:gd name="GluePoint6X" fmla="*/ 2147483646 w 4455"/>
                <a:gd name="GluePoint6Y" fmla="*/ 2147483646 h 2880"/>
                <a:gd name="GluePoint7X" fmla="*/ 2147483646 w 4455"/>
                <a:gd name="GluePoint7Y" fmla="*/ 2147483646 h 2880"/>
                <a:gd name="GluePoint8X" fmla="*/ 2147483646 w 4455"/>
                <a:gd name="GluePoint8Y" fmla="*/ 2147483646 h 2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55" h="2880">
                  <a:moveTo>
                    <a:pt x="0" y="0"/>
                  </a:moveTo>
                  <a:cubicBezTo>
                    <a:pt x="69" y="234"/>
                    <a:pt x="138" y="468"/>
                    <a:pt x="225" y="660"/>
                  </a:cubicBezTo>
                  <a:cubicBezTo>
                    <a:pt x="312" y="852"/>
                    <a:pt x="383" y="990"/>
                    <a:pt x="525" y="1155"/>
                  </a:cubicBezTo>
                  <a:cubicBezTo>
                    <a:pt x="667" y="1320"/>
                    <a:pt x="860" y="1495"/>
                    <a:pt x="1080" y="1650"/>
                  </a:cubicBezTo>
                  <a:cubicBezTo>
                    <a:pt x="1300" y="1805"/>
                    <a:pt x="1580" y="1958"/>
                    <a:pt x="1845" y="2085"/>
                  </a:cubicBezTo>
                  <a:cubicBezTo>
                    <a:pt x="2110" y="2212"/>
                    <a:pt x="2395" y="2320"/>
                    <a:pt x="2670" y="2415"/>
                  </a:cubicBezTo>
                  <a:cubicBezTo>
                    <a:pt x="2945" y="2510"/>
                    <a:pt x="3197" y="2578"/>
                    <a:pt x="3495" y="2655"/>
                  </a:cubicBezTo>
                  <a:cubicBezTo>
                    <a:pt x="3793" y="2732"/>
                    <a:pt x="4124" y="2806"/>
                    <a:pt x="4455" y="2880"/>
                  </a:cubicBezTo>
                </a:path>
              </a:pathLst>
            </a:custGeom>
            <a:noFill/>
            <a:ln w="19080">
              <a:solidFill>
                <a:srgbClr val="ff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Box 14"/>
            <p:cNvSpPr/>
            <p:nvPr/>
          </p:nvSpPr>
          <p:spPr>
            <a:xfrm>
              <a:off x="2035440" y="471816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D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 Box 15"/>
            <p:cNvSpPr/>
            <p:nvPr/>
          </p:nvSpPr>
          <p:spPr>
            <a:xfrm>
              <a:off x="588600" y="432180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C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Box 16"/>
            <p:cNvSpPr/>
            <p:nvPr/>
          </p:nvSpPr>
          <p:spPr>
            <a:xfrm>
              <a:off x="1359720" y="596196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B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 Box 17"/>
            <p:cNvSpPr/>
            <p:nvPr/>
          </p:nvSpPr>
          <p:spPr>
            <a:xfrm>
              <a:off x="2639880" y="564372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A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Line 12"/>
            <p:cNvSpPr/>
            <p:nvPr/>
          </p:nvSpPr>
          <p:spPr>
            <a:xfrm flipH="1" flipV="1">
              <a:off x="1968840" y="6087600"/>
              <a:ext cx="245160" cy="46800"/>
            </a:xfrm>
            <a:prstGeom prst="line">
              <a:avLst/>
            </a:prstGeom>
            <a:ln w="9360">
              <a:solidFill>
                <a:srgbClr val="0000ff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18"/>
            <p:cNvSpPr/>
            <p:nvPr/>
          </p:nvSpPr>
          <p:spPr>
            <a:xfrm rot="229200">
              <a:off x="606600" y="4954680"/>
              <a:ext cx="2954160" cy="1170360"/>
            </a:xfrm>
            <a:custGeom>
              <a:avLst/>
              <a:gdLst>
                <a:gd name="textAreaLeft" fmla="*/ 0 w 2954160"/>
                <a:gd name="textAreaRight" fmla="*/ 2954520 w 2954160"/>
                <a:gd name="textAreaTop" fmla="*/ 0 h 1170360"/>
                <a:gd name="textAreaBottom" fmla="*/ 1170720 h 1170360"/>
                <a:gd name="GluePoint1X" fmla="*/ 0 w 5115"/>
                <a:gd name="GluePoint1Y" fmla="*/ 0 h 1930"/>
                <a:gd name="GluePoint2X" fmla="*/ 2147483646 w 5115"/>
                <a:gd name="GluePoint2Y" fmla="*/ 2147483646 h 1930"/>
                <a:gd name="GluePoint3X" fmla="*/ 2147483646 w 5115"/>
                <a:gd name="GluePoint3Y" fmla="*/ 2147483646 h 1930"/>
                <a:gd name="GluePoint4X" fmla="*/ 2147483646 w 5115"/>
                <a:gd name="GluePoint4Y" fmla="*/ 2147483646 h 1930"/>
                <a:gd name="GluePoint5X" fmla="*/ 2147483646 w 5115"/>
                <a:gd name="GluePoint5Y" fmla="*/ 2147483646 h 1930"/>
                <a:gd name="GluePoint6X" fmla="*/ 2147483646 w 5115"/>
                <a:gd name="GluePoint6Y" fmla="*/ 2147483646 h 1930"/>
                <a:gd name="GluePoint7X" fmla="*/ 2147483646 w 5115"/>
                <a:gd name="GluePoint7Y" fmla="*/ 2147483646 h 1930"/>
                <a:gd name="GluePoint8X" fmla="*/ 2147483646 w 5115"/>
                <a:gd name="GluePoint8Y" fmla="*/ 2147483646 h 1930"/>
                <a:gd name="GluePoint9X" fmla="*/ 2147483646 w 5115"/>
                <a:gd name="GluePoint9Y" fmla="*/ 2147483646 h 1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115" h="1930">
                  <a:moveTo>
                    <a:pt x="0" y="0"/>
                  </a:moveTo>
                  <a:cubicBezTo>
                    <a:pt x="62" y="219"/>
                    <a:pt x="125" y="438"/>
                    <a:pt x="225" y="615"/>
                  </a:cubicBezTo>
                  <a:cubicBezTo>
                    <a:pt x="325" y="792"/>
                    <a:pt x="453" y="930"/>
                    <a:pt x="600" y="1065"/>
                  </a:cubicBezTo>
                  <a:cubicBezTo>
                    <a:pt x="747" y="1200"/>
                    <a:pt x="913" y="1318"/>
                    <a:pt x="1110" y="1425"/>
                  </a:cubicBezTo>
                  <a:cubicBezTo>
                    <a:pt x="1307" y="1532"/>
                    <a:pt x="1525" y="1638"/>
                    <a:pt x="1785" y="1710"/>
                  </a:cubicBezTo>
                  <a:cubicBezTo>
                    <a:pt x="2045" y="1782"/>
                    <a:pt x="2405" y="1825"/>
                    <a:pt x="2670" y="1860"/>
                  </a:cubicBezTo>
                  <a:cubicBezTo>
                    <a:pt x="2935" y="1895"/>
                    <a:pt x="3090" y="1910"/>
                    <a:pt x="3375" y="1920"/>
                  </a:cubicBezTo>
                  <a:cubicBezTo>
                    <a:pt x="3660" y="1930"/>
                    <a:pt x="4090" y="1922"/>
                    <a:pt x="4380" y="1920"/>
                  </a:cubicBezTo>
                  <a:cubicBezTo>
                    <a:pt x="4670" y="1918"/>
                    <a:pt x="4892" y="1911"/>
                    <a:pt x="5115" y="190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19"/>
            <p:cNvSpPr/>
            <p:nvPr/>
          </p:nvSpPr>
          <p:spPr>
            <a:xfrm rot="21363000">
              <a:off x="1019520" y="4401000"/>
              <a:ext cx="684000" cy="1661040"/>
            </a:xfrm>
            <a:custGeom>
              <a:avLst/>
              <a:gdLst>
                <a:gd name="textAreaLeft" fmla="*/ 0 w 684000"/>
                <a:gd name="textAreaRight" fmla="*/ 684360 w 684000"/>
                <a:gd name="textAreaTop" fmla="*/ 0 h 1661040"/>
                <a:gd name="textAreaBottom" fmla="*/ 1661400 h 1661040"/>
                <a:gd name="GluePoint1X" fmla="*/ 0 w 1291"/>
                <a:gd name="GluePoint1Y" fmla="*/ 0 h 4202"/>
                <a:gd name="GluePoint2X" fmla="*/ 2147483646 w 1291"/>
                <a:gd name="GluePoint2Y" fmla="*/ 2147483646 h 4202"/>
                <a:gd name="GluePoint3X" fmla="*/ 2147483646 w 1291"/>
                <a:gd name="GluePoint3Y" fmla="*/ 2147483646 h 4202"/>
                <a:gd name="GluePoint4X" fmla="*/ 2147483646 w 1291"/>
                <a:gd name="GluePoint4Y" fmla="*/ 2147483646 h 4202"/>
                <a:gd name="GluePoint5X" fmla="*/ 2147483646 w 1291"/>
                <a:gd name="GluePoint5Y" fmla="*/ 2147483646 h 42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91" h="4202">
                  <a:moveTo>
                    <a:pt x="0" y="0"/>
                  </a:moveTo>
                  <a:cubicBezTo>
                    <a:pt x="23" y="250"/>
                    <a:pt x="73" y="1074"/>
                    <a:pt x="136" y="1502"/>
                  </a:cubicBezTo>
                  <a:cubicBezTo>
                    <a:pt x="199" y="1930"/>
                    <a:pt x="261" y="2232"/>
                    <a:pt x="376" y="2567"/>
                  </a:cubicBezTo>
                  <a:cubicBezTo>
                    <a:pt x="491" y="2902"/>
                    <a:pt x="673" y="3239"/>
                    <a:pt x="826" y="3512"/>
                  </a:cubicBezTo>
                  <a:cubicBezTo>
                    <a:pt x="979" y="3785"/>
                    <a:pt x="1213" y="4087"/>
                    <a:pt x="1291" y="420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20"/>
            <p:cNvSpPr/>
            <p:nvPr/>
          </p:nvSpPr>
          <p:spPr>
            <a:xfrm>
              <a:off x="927720" y="3717000"/>
              <a:ext cx="1221120" cy="2658240"/>
            </a:xfrm>
            <a:custGeom>
              <a:avLst/>
              <a:gdLst>
                <a:gd name="textAreaLeft" fmla="*/ 0 w 1221120"/>
                <a:gd name="textAreaRight" fmla="*/ 1221480 w 1221120"/>
                <a:gd name="textAreaTop" fmla="*/ 0 h 2658240"/>
                <a:gd name="textAreaBottom" fmla="*/ 2658600 h 2658240"/>
                <a:gd name="GluePoint1X" fmla="*/ 0 w 1419"/>
                <a:gd name="GluePoint1Y" fmla="*/ 0 h 2541"/>
                <a:gd name="GluePoint2X" fmla="*/ 2147483646 w 1419"/>
                <a:gd name="GluePoint2Y" fmla="*/ 2147483646 h 2541"/>
                <a:gd name="GluePoint3X" fmla="*/ 2147483646 w 1419"/>
                <a:gd name="GluePoint3Y" fmla="*/ 2147483646 h 2541"/>
                <a:gd name="GluePoint4X" fmla="*/ 2147483646 w 1419"/>
                <a:gd name="GluePoint4Y" fmla="*/ 2147483646 h 2541"/>
                <a:gd name="GluePoint5X" fmla="*/ 2147483646 w 1419"/>
                <a:gd name="GluePoint5Y" fmla="*/ 2147483646 h 2541"/>
                <a:gd name="GluePoint6X" fmla="*/ 2147483646 w 1419"/>
                <a:gd name="GluePoint6Y" fmla="*/ 2147483646 h 2541"/>
                <a:gd name="GluePoint7X" fmla="*/ 2147483646 w 1419"/>
                <a:gd name="GluePoint7Y" fmla="*/ 2147483646 h 2541"/>
                <a:gd name="GluePoint8X" fmla="*/ 2147483646 w 1419"/>
                <a:gd name="GluePoint8Y" fmla="*/ 2147483646 h 25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419" h="2541">
                  <a:moveTo>
                    <a:pt x="0" y="0"/>
                  </a:moveTo>
                  <a:cubicBezTo>
                    <a:pt x="14" y="168"/>
                    <a:pt x="29" y="336"/>
                    <a:pt x="44" y="484"/>
                  </a:cubicBezTo>
                  <a:cubicBezTo>
                    <a:pt x="59" y="632"/>
                    <a:pt x="59" y="741"/>
                    <a:pt x="88" y="891"/>
                  </a:cubicBezTo>
                  <a:cubicBezTo>
                    <a:pt x="117" y="1041"/>
                    <a:pt x="152" y="1232"/>
                    <a:pt x="220" y="1386"/>
                  </a:cubicBezTo>
                  <a:cubicBezTo>
                    <a:pt x="288" y="1540"/>
                    <a:pt x="391" y="1689"/>
                    <a:pt x="495" y="1815"/>
                  </a:cubicBezTo>
                  <a:cubicBezTo>
                    <a:pt x="599" y="1941"/>
                    <a:pt x="724" y="2044"/>
                    <a:pt x="847" y="2145"/>
                  </a:cubicBezTo>
                  <a:cubicBezTo>
                    <a:pt x="970" y="2246"/>
                    <a:pt x="1137" y="2354"/>
                    <a:pt x="1232" y="2420"/>
                  </a:cubicBezTo>
                  <a:cubicBezTo>
                    <a:pt x="1327" y="2486"/>
                    <a:pt x="1373" y="2513"/>
                    <a:pt x="1419" y="25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Freeform 21"/>
            <p:cNvSpPr/>
            <p:nvPr/>
          </p:nvSpPr>
          <p:spPr>
            <a:xfrm>
              <a:off x="1817640" y="3751560"/>
              <a:ext cx="1656360" cy="2715840"/>
            </a:xfrm>
            <a:custGeom>
              <a:avLst/>
              <a:gdLst>
                <a:gd name="textAreaLeft" fmla="*/ 0 w 1656360"/>
                <a:gd name="textAreaRight" fmla="*/ 1656720 w 1656360"/>
                <a:gd name="textAreaTop" fmla="*/ 0 h 2715840"/>
                <a:gd name="textAreaBottom" fmla="*/ 2715840 h 2715840"/>
                <a:gd name="GluePoint1X" fmla="*/ 0 w 1628"/>
                <a:gd name="GluePoint1Y" fmla="*/ 0 h 2497"/>
                <a:gd name="GluePoint2X" fmla="*/ 2147483646 w 1628"/>
                <a:gd name="GluePoint2Y" fmla="*/ 2147483646 h 2497"/>
                <a:gd name="GluePoint3X" fmla="*/ 2147483646 w 1628"/>
                <a:gd name="GluePoint3Y" fmla="*/ 2147483646 h 2497"/>
                <a:gd name="GluePoint4X" fmla="*/ 2147483646 w 1628"/>
                <a:gd name="GluePoint4Y" fmla="*/ 2147483646 h 2497"/>
                <a:gd name="GluePoint5X" fmla="*/ 2147483646 w 1628"/>
                <a:gd name="GluePoint5Y" fmla="*/ 2147483646 h 2497"/>
                <a:gd name="GluePoint6X" fmla="*/ 2147483646 w 1628"/>
                <a:gd name="GluePoint6Y" fmla="*/ 2147483646 h 2497"/>
                <a:gd name="GluePoint7X" fmla="*/ 2147483646 w 1628"/>
                <a:gd name="GluePoint7Y" fmla="*/ 2147483646 h 2497"/>
                <a:gd name="GluePoint8X" fmla="*/ 2147483646 w 1628"/>
                <a:gd name="GluePoint8Y" fmla="*/ 2147483646 h 2497"/>
                <a:gd name="GluePoint9X" fmla="*/ 2147483646 w 1628"/>
                <a:gd name="GluePoint9Y" fmla="*/ 2147483646 h 24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628" h="2497">
                  <a:moveTo>
                    <a:pt x="0" y="0"/>
                  </a:moveTo>
                  <a:cubicBezTo>
                    <a:pt x="21" y="176"/>
                    <a:pt x="42" y="352"/>
                    <a:pt x="66" y="528"/>
                  </a:cubicBezTo>
                  <a:cubicBezTo>
                    <a:pt x="90" y="704"/>
                    <a:pt x="117" y="915"/>
                    <a:pt x="143" y="1056"/>
                  </a:cubicBezTo>
                  <a:cubicBezTo>
                    <a:pt x="169" y="1197"/>
                    <a:pt x="180" y="1254"/>
                    <a:pt x="220" y="1375"/>
                  </a:cubicBezTo>
                  <a:cubicBezTo>
                    <a:pt x="260" y="1496"/>
                    <a:pt x="306" y="1661"/>
                    <a:pt x="385" y="1782"/>
                  </a:cubicBezTo>
                  <a:cubicBezTo>
                    <a:pt x="464" y="1903"/>
                    <a:pt x="587" y="2015"/>
                    <a:pt x="693" y="2101"/>
                  </a:cubicBezTo>
                  <a:cubicBezTo>
                    <a:pt x="799" y="2187"/>
                    <a:pt x="917" y="2246"/>
                    <a:pt x="1023" y="2299"/>
                  </a:cubicBezTo>
                  <a:cubicBezTo>
                    <a:pt x="1129" y="2352"/>
                    <a:pt x="1230" y="2387"/>
                    <a:pt x="1331" y="2420"/>
                  </a:cubicBezTo>
                  <a:cubicBezTo>
                    <a:pt x="1432" y="2453"/>
                    <a:pt x="1530" y="2475"/>
                    <a:pt x="1628" y="2497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Text Box 22"/>
            <p:cNvSpPr/>
            <p:nvPr/>
          </p:nvSpPr>
          <p:spPr>
            <a:xfrm>
              <a:off x="3137760" y="5715000"/>
              <a:ext cx="577440" cy="50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70c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1" lang="fr-FR" sz="1800" strike="noStrike" u="none" baseline="-25000">
                  <a:solidFill>
                    <a:srgbClr val="0070c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23"/>
            <p:cNvSpPr/>
            <p:nvPr/>
          </p:nvSpPr>
          <p:spPr>
            <a:xfrm rot="20568600">
              <a:off x="2147760" y="4926960"/>
              <a:ext cx="507600" cy="1401840"/>
            </a:xfrm>
            <a:custGeom>
              <a:avLst/>
              <a:gdLst>
                <a:gd name="textAreaLeft" fmla="*/ 0 w 507600"/>
                <a:gd name="textAreaRight" fmla="*/ 507960 w 507600"/>
                <a:gd name="textAreaTop" fmla="*/ 0 h 1401840"/>
                <a:gd name="textAreaBottom" fmla="*/ 1402200 h 1401840"/>
                <a:gd name="GluePoint1X" fmla="*/ 2147483646 w 1270"/>
                <a:gd name="GluePoint1Y" fmla="*/ 0 h 2916"/>
                <a:gd name="GluePoint2X" fmla="*/ 2147483646 w 1270"/>
                <a:gd name="GluePoint2Y" fmla="*/ 2147483646 h 2916"/>
                <a:gd name="GluePoint3X" fmla="*/ 2147483646 w 1270"/>
                <a:gd name="GluePoint3Y" fmla="*/ 2147483646 h 2916"/>
                <a:gd name="GluePoint4X" fmla="*/ 2147483646 w 1270"/>
                <a:gd name="GluePoint4Y" fmla="*/ 2147483646 h 2916"/>
                <a:gd name="GluePoint5X" fmla="*/ 2147483646 w 1270"/>
                <a:gd name="GluePoint5Y" fmla="*/ 2147483646 h 2916"/>
                <a:gd name="GluePoint6X" fmla="*/ 2147483646 w 1270"/>
                <a:gd name="GluePoint6Y" fmla="*/ 2147483646 h 2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270" h="2916">
                  <a:moveTo>
                    <a:pt x="9" y="0"/>
                  </a:moveTo>
                  <a:cubicBezTo>
                    <a:pt x="12" y="113"/>
                    <a:pt x="0" y="448"/>
                    <a:pt x="25" y="681"/>
                  </a:cubicBezTo>
                  <a:cubicBezTo>
                    <a:pt x="50" y="914"/>
                    <a:pt x="88" y="1176"/>
                    <a:pt x="160" y="1401"/>
                  </a:cubicBezTo>
                  <a:cubicBezTo>
                    <a:pt x="232" y="1626"/>
                    <a:pt x="355" y="1851"/>
                    <a:pt x="460" y="2031"/>
                  </a:cubicBezTo>
                  <a:cubicBezTo>
                    <a:pt x="565" y="2211"/>
                    <a:pt x="655" y="2334"/>
                    <a:pt x="790" y="2481"/>
                  </a:cubicBezTo>
                  <a:cubicBezTo>
                    <a:pt x="925" y="2628"/>
                    <a:pt x="1190" y="2843"/>
                    <a:pt x="1270" y="2916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AutoShape 24"/>
            <p:cNvSpPr/>
            <p:nvPr/>
          </p:nvSpPr>
          <p:spPr>
            <a:xfrm rot="6115200">
              <a:off x="970200" y="4762800"/>
              <a:ext cx="725760" cy="115200"/>
            </a:xfrm>
            <a:custGeom>
              <a:avLst/>
              <a:gdLst>
                <a:gd name="textAreaLeft" fmla="*/ 112680 w 725760"/>
                <a:gd name="textAreaRight" fmla="*/ 635040 w 725760"/>
                <a:gd name="textAreaTop" fmla="*/ 29160 h 115200"/>
                <a:gd name="textAreaBottom" fmla="*/ 86760 h 115200"/>
                <a:gd name="GluePoint1X" fmla="*/ 2147483646 w 21600"/>
                <a:gd name="GluePoint1Y" fmla="*/ 0 h 21600"/>
                <a:gd name="GluePoint2X" fmla="*/ 0 w 21600"/>
                <a:gd name="GluePoint2Y" fmla="*/ 0 h 21600"/>
                <a:gd name="GluePoint3X" fmla="*/ 2147483646 w 21600"/>
                <a:gd name="GluePoint3Y" fmla="*/ 2147483646 h 21600"/>
                <a:gd name="GluePoint4X" fmla="*/ 2147483646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 Box 25"/>
            <p:cNvSpPr/>
            <p:nvPr/>
          </p:nvSpPr>
          <p:spPr>
            <a:xfrm>
              <a:off x="2848680" y="5128200"/>
              <a:ext cx="542880" cy="432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ff000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1" lang="fr-FR" sz="1800" strike="noStrike" u="none" baseline="-25000">
                  <a:solidFill>
                    <a:srgbClr val="ff000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Line 26"/>
            <p:cNvSpPr/>
            <p:nvPr/>
          </p:nvSpPr>
          <p:spPr>
            <a:xfrm>
              <a:off x="1523160" y="4848840"/>
              <a:ext cx="195120" cy="122400"/>
            </a:xfrm>
            <a:prstGeom prst="line">
              <a:avLst/>
            </a:prstGeom>
            <a:ln w="9360">
              <a:solidFill>
                <a:srgbClr val="ff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1" name="Group 27"/>
            <p:cNvGrpSpPr/>
            <p:nvPr/>
          </p:nvGrpSpPr>
          <p:grpSpPr>
            <a:xfrm>
              <a:off x="292680" y="3308400"/>
              <a:ext cx="3552480" cy="3515400"/>
              <a:chOff x="292680" y="3308400"/>
              <a:chExt cx="3552480" cy="3515400"/>
            </a:xfrm>
          </p:grpSpPr>
          <p:sp>
            <p:nvSpPr>
              <p:cNvPr id="222" name="Line 28"/>
              <p:cNvSpPr/>
              <p:nvPr/>
            </p:nvSpPr>
            <p:spPr>
              <a:xfrm>
                <a:off x="292680" y="6823800"/>
                <a:ext cx="35524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Line 29"/>
              <p:cNvSpPr/>
              <p:nvPr/>
            </p:nvSpPr>
            <p:spPr>
              <a:xfrm flipV="1">
                <a:off x="301320" y="3308400"/>
                <a:ext cx="0" cy="34952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4" name="Text Box 30"/>
            <p:cNvSpPr/>
            <p:nvPr/>
          </p:nvSpPr>
          <p:spPr>
            <a:xfrm>
              <a:off x="3624840" y="6357960"/>
              <a:ext cx="507600" cy="37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V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Text Box 31"/>
            <p:cNvSpPr/>
            <p:nvPr/>
          </p:nvSpPr>
          <p:spPr>
            <a:xfrm>
              <a:off x="340200" y="3222000"/>
              <a:ext cx="685800" cy="45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P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Text Box 32"/>
            <p:cNvSpPr/>
            <p:nvPr/>
          </p:nvSpPr>
          <p:spPr>
            <a:xfrm>
              <a:off x="2082600" y="3501360"/>
              <a:ext cx="2039400" cy="4705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Cycle moteur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7" name="Group 33"/>
          <p:cNvGrpSpPr/>
          <p:nvPr/>
        </p:nvGrpSpPr>
        <p:grpSpPr>
          <a:xfrm>
            <a:off x="5234040" y="3149640"/>
            <a:ext cx="4219200" cy="3708360"/>
            <a:chOff x="5234040" y="3149640"/>
            <a:chExt cx="4219200" cy="3708360"/>
          </a:xfrm>
        </p:grpSpPr>
        <p:sp>
          <p:nvSpPr>
            <p:cNvPr id="228" name="AutoShape 34"/>
            <p:cNvSpPr/>
            <p:nvPr/>
          </p:nvSpPr>
          <p:spPr>
            <a:xfrm>
              <a:off x="5501520" y="3149640"/>
              <a:ext cx="3951720" cy="370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Freeform 35"/>
            <p:cNvSpPr/>
            <p:nvPr/>
          </p:nvSpPr>
          <p:spPr>
            <a:xfrm>
              <a:off x="5916240" y="4472640"/>
              <a:ext cx="1002960" cy="597960"/>
            </a:xfrm>
            <a:custGeom>
              <a:avLst/>
              <a:gdLst>
                <a:gd name="textAreaLeft" fmla="*/ 0 w 1002960"/>
                <a:gd name="textAreaRight" fmla="*/ 1003320 w 1002960"/>
                <a:gd name="textAreaTop" fmla="*/ 0 h 597960"/>
                <a:gd name="textAreaBottom" fmla="*/ 598320 h 597960"/>
                <a:gd name="GluePoint1X" fmla="*/ 2409 w 1111"/>
                <a:gd name="GluePoint1Y" fmla="*/ 1903 h 528"/>
                <a:gd name="GluePoint2X" fmla="*/ 1956 w 1111"/>
                <a:gd name="GluePoint2Y" fmla="*/ 1625 h 528"/>
                <a:gd name="GluePoint3X" fmla="*/ 1381 w 1111"/>
                <a:gd name="GluePoint3Y" fmla="*/ 1263 h 528"/>
                <a:gd name="GluePoint4X" fmla="*/ 645 w 1111"/>
                <a:gd name="GluePoint4Y" fmla="*/ 675 h 528"/>
                <a:gd name="GluePoint5X" fmla="*/ 0 w 1111"/>
                <a:gd name="GluePoint5Y" fmla="*/ 0 h 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11" h="528">
                  <a:moveTo>
                    <a:pt x="1111" y="528"/>
                  </a:moveTo>
                  <a:cubicBezTo>
                    <a:pt x="1046" y="504"/>
                    <a:pt x="981" y="480"/>
                    <a:pt x="902" y="451"/>
                  </a:cubicBezTo>
                  <a:cubicBezTo>
                    <a:pt x="823" y="422"/>
                    <a:pt x="739" y="396"/>
                    <a:pt x="638" y="352"/>
                  </a:cubicBezTo>
                  <a:cubicBezTo>
                    <a:pt x="537" y="308"/>
                    <a:pt x="403" y="246"/>
                    <a:pt x="297" y="187"/>
                  </a:cubicBezTo>
                  <a:cubicBezTo>
                    <a:pt x="191" y="128"/>
                    <a:pt x="49" y="31"/>
                    <a:pt x="0" y="0"/>
                  </a:cubicBezTo>
                </a:path>
              </a:pathLst>
            </a:custGeom>
            <a:noFill/>
            <a:ln w="284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Freeform 36"/>
            <p:cNvSpPr/>
            <p:nvPr/>
          </p:nvSpPr>
          <p:spPr>
            <a:xfrm>
              <a:off x="6701400" y="6037920"/>
              <a:ext cx="1002960" cy="149400"/>
            </a:xfrm>
            <a:custGeom>
              <a:avLst/>
              <a:gdLst>
                <a:gd name="textAreaLeft" fmla="*/ 0 w 1002960"/>
                <a:gd name="textAreaRight" fmla="*/ 1003320 w 1002960"/>
                <a:gd name="textAreaTop" fmla="*/ 0 h 149400"/>
                <a:gd name="textAreaBottom" fmla="*/ 149760 h 149400"/>
                <a:gd name="GluePoint1X" fmla="*/ 1166 w 1166"/>
                <a:gd name="GluePoint1Y" fmla="*/ 143 h 143"/>
                <a:gd name="GluePoint2X" fmla="*/ 792 w 1166"/>
                <a:gd name="GluePoint2Y" fmla="*/ 121 h 143"/>
                <a:gd name="GluePoint3X" fmla="*/ 539 w 1166"/>
                <a:gd name="GluePoint3Y" fmla="*/ 99 h 143"/>
                <a:gd name="GluePoint4X" fmla="*/ 275 w 1166"/>
                <a:gd name="GluePoint4Y" fmla="*/ 55 h 143"/>
                <a:gd name="GluePoint5X" fmla="*/ 0 w 1166"/>
                <a:gd name="GluePoint5Y" fmla="*/ 0 h 1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66" h="143">
                  <a:moveTo>
                    <a:pt x="1166" y="143"/>
                  </a:moveTo>
                  <a:cubicBezTo>
                    <a:pt x="1031" y="135"/>
                    <a:pt x="896" y="128"/>
                    <a:pt x="792" y="121"/>
                  </a:cubicBezTo>
                  <a:cubicBezTo>
                    <a:pt x="688" y="114"/>
                    <a:pt x="625" y="110"/>
                    <a:pt x="539" y="99"/>
                  </a:cubicBezTo>
                  <a:cubicBezTo>
                    <a:pt x="453" y="88"/>
                    <a:pt x="365" y="71"/>
                    <a:pt x="275" y="55"/>
                  </a:cubicBezTo>
                  <a:cubicBezTo>
                    <a:pt x="185" y="39"/>
                    <a:pt x="92" y="19"/>
                    <a:pt x="0" y="0"/>
                  </a:cubicBezTo>
                </a:path>
              </a:pathLst>
            </a:custGeom>
            <a:noFill/>
            <a:ln w="381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AutoShape 37"/>
            <p:cNvSpPr/>
            <p:nvPr/>
          </p:nvSpPr>
          <p:spPr>
            <a:xfrm rot="16200000">
              <a:off x="6885720" y="6201000"/>
              <a:ext cx="727920" cy="131400"/>
            </a:xfrm>
            <a:custGeom>
              <a:avLst/>
              <a:gdLst>
                <a:gd name="textAreaLeft" fmla="*/ 113760 w 727920"/>
                <a:gd name="textAreaRight" fmla="*/ 637200 w 727920"/>
                <a:gd name="textAreaTop" fmla="*/ 32400 h 131400"/>
                <a:gd name="textAreaBottom" fmla="*/ 99000 h 131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00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Text Box 38"/>
            <p:cNvSpPr/>
            <p:nvPr/>
          </p:nvSpPr>
          <p:spPr>
            <a:xfrm>
              <a:off x="6313680" y="4392000"/>
              <a:ext cx="47736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Text Box 39"/>
            <p:cNvSpPr/>
            <p:nvPr/>
          </p:nvSpPr>
          <p:spPr>
            <a:xfrm>
              <a:off x="7259760" y="6256440"/>
              <a:ext cx="547920" cy="47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Line 40"/>
            <p:cNvSpPr/>
            <p:nvPr/>
          </p:nvSpPr>
          <p:spPr>
            <a:xfrm>
              <a:off x="6072840" y="5278320"/>
              <a:ext cx="190800" cy="2941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Line 41"/>
            <p:cNvSpPr/>
            <p:nvPr/>
          </p:nvSpPr>
          <p:spPr>
            <a:xfrm flipH="1" flipV="1">
              <a:off x="6929640" y="5213880"/>
              <a:ext cx="71280" cy="271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Line 42"/>
            <p:cNvSpPr/>
            <p:nvPr/>
          </p:nvSpPr>
          <p:spPr>
            <a:xfrm>
              <a:off x="6858000" y="6072120"/>
              <a:ext cx="274320" cy="70920"/>
            </a:xfrm>
            <a:prstGeom prst="line">
              <a:avLst/>
            </a:prstGeom>
            <a:ln w="9360">
              <a:solidFill>
                <a:srgbClr val="0000ff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120" bIns="241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eform 43"/>
            <p:cNvSpPr/>
            <p:nvPr/>
          </p:nvSpPr>
          <p:spPr>
            <a:xfrm rot="337800">
              <a:off x="5546160" y="3921480"/>
              <a:ext cx="2268360" cy="1333440"/>
            </a:xfrm>
            <a:custGeom>
              <a:avLst/>
              <a:gdLst>
                <a:gd name="textAreaLeft" fmla="*/ 0 w 2268360"/>
                <a:gd name="textAreaRight" fmla="*/ 2268720 w 2268360"/>
                <a:gd name="textAreaTop" fmla="*/ 0 h 1333440"/>
                <a:gd name="textAreaBottom" fmla="*/ 1333800 h 1333440"/>
                <a:gd name="GluePoint1X" fmla="*/ 0 w 4455"/>
                <a:gd name="GluePoint1Y" fmla="*/ 0 h 2880"/>
                <a:gd name="GluePoint2X" fmla="*/ 1 w 4455"/>
                <a:gd name="GluePoint2Y" fmla="*/ 0 h 2880"/>
                <a:gd name="GluePoint3X" fmla="*/ 1 w 4455"/>
                <a:gd name="GluePoint3Y" fmla="*/ 0 h 2880"/>
                <a:gd name="GluePoint4X" fmla="*/ 1 w 4455"/>
                <a:gd name="GluePoint4Y" fmla="*/ 0 h 2880"/>
                <a:gd name="GluePoint5X" fmla="*/ 1 w 4455"/>
                <a:gd name="GluePoint5Y" fmla="*/ 0 h 2880"/>
                <a:gd name="GluePoint6X" fmla="*/ 1 w 4455"/>
                <a:gd name="GluePoint6Y" fmla="*/ 0 h 2880"/>
                <a:gd name="GluePoint7X" fmla="*/ 1 w 4455"/>
                <a:gd name="GluePoint7Y" fmla="*/ 0 h 2880"/>
                <a:gd name="GluePoint8X" fmla="*/ 1 w 4455"/>
                <a:gd name="GluePoint8Y" fmla="*/ 0 h 2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55" h="2880">
                  <a:moveTo>
                    <a:pt x="0" y="0"/>
                  </a:moveTo>
                  <a:cubicBezTo>
                    <a:pt x="69" y="234"/>
                    <a:pt x="138" y="468"/>
                    <a:pt x="225" y="660"/>
                  </a:cubicBezTo>
                  <a:cubicBezTo>
                    <a:pt x="312" y="852"/>
                    <a:pt x="383" y="990"/>
                    <a:pt x="525" y="1155"/>
                  </a:cubicBezTo>
                  <a:cubicBezTo>
                    <a:pt x="667" y="1320"/>
                    <a:pt x="860" y="1495"/>
                    <a:pt x="1080" y="1650"/>
                  </a:cubicBezTo>
                  <a:cubicBezTo>
                    <a:pt x="1300" y="1805"/>
                    <a:pt x="1580" y="1958"/>
                    <a:pt x="1845" y="2085"/>
                  </a:cubicBezTo>
                  <a:cubicBezTo>
                    <a:pt x="2110" y="2212"/>
                    <a:pt x="2395" y="2320"/>
                    <a:pt x="2670" y="2415"/>
                  </a:cubicBezTo>
                  <a:cubicBezTo>
                    <a:pt x="2945" y="2510"/>
                    <a:pt x="3197" y="2578"/>
                    <a:pt x="3495" y="2655"/>
                  </a:cubicBezTo>
                  <a:cubicBezTo>
                    <a:pt x="3793" y="2732"/>
                    <a:pt x="4124" y="2806"/>
                    <a:pt x="4455" y="2880"/>
                  </a:cubicBezTo>
                </a:path>
              </a:pathLst>
            </a:custGeom>
            <a:noFill/>
            <a:ln w="19080">
              <a:solidFill>
                <a:srgbClr val="ff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 Box 44"/>
            <p:cNvSpPr/>
            <p:nvPr/>
          </p:nvSpPr>
          <p:spPr>
            <a:xfrm>
              <a:off x="6976080" y="472572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D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 Box 45"/>
            <p:cNvSpPr/>
            <p:nvPr/>
          </p:nvSpPr>
          <p:spPr>
            <a:xfrm>
              <a:off x="5577840" y="432108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C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Text Box 46"/>
            <p:cNvSpPr/>
            <p:nvPr/>
          </p:nvSpPr>
          <p:spPr>
            <a:xfrm>
              <a:off x="6300720" y="5990760"/>
              <a:ext cx="50328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B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 Box 47"/>
            <p:cNvSpPr/>
            <p:nvPr/>
          </p:nvSpPr>
          <p:spPr>
            <a:xfrm>
              <a:off x="7534440" y="580752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A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48"/>
            <p:cNvSpPr/>
            <p:nvPr/>
          </p:nvSpPr>
          <p:spPr>
            <a:xfrm rot="229200">
              <a:off x="5573520" y="4954680"/>
              <a:ext cx="2953080" cy="1170360"/>
            </a:xfrm>
            <a:custGeom>
              <a:avLst/>
              <a:gdLst>
                <a:gd name="textAreaLeft" fmla="*/ 0 w 2953080"/>
                <a:gd name="textAreaRight" fmla="*/ 2953440 w 2953080"/>
                <a:gd name="textAreaTop" fmla="*/ 0 h 1170360"/>
                <a:gd name="textAreaBottom" fmla="*/ 1170720 h 1170360"/>
                <a:gd name="GluePoint1X" fmla="*/ 0 w 5115"/>
                <a:gd name="GluePoint1Y" fmla="*/ 0 h 1930"/>
                <a:gd name="GluePoint2X" fmla="*/ 1 w 5115"/>
                <a:gd name="GluePoint2Y" fmla="*/ 1 h 1930"/>
                <a:gd name="GluePoint3X" fmla="*/ 1 w 5115"/>
                <a:gd name="GluePoint3Y" fmla="*/ 1 h 1930"/>
                <a:gd name="GluePoint4X" fmla="*/ 2 w 5115"/>
                <a:gd name="GluePoint4Y" fmla="*/ 1 h 1930"/>
                <a:gd name="GluePoint5X" fmla="*/ 3 w 5115"/>
                <a:gd name="GluePoint5Y" fmla="*/ 1 h 1930"/>
                <a:gd name="GluePoint6X" fmla="*/ 5 w 5115"/>
                <a:gd name="GluePoint6Y" fmla="*/ 1 h 1930"/>
                <a:gd name="GluePoint7X" fmla="*/ 6 w 5115"/>
                <a:gd name="GluePoint7Y" fmla="*/ 1 h 1930"/>
                <a:gd name="GluePoint8X" fmla="*/ 7 w 5115"/>
                <a:gd name="GluePoint8Y" fmla="*/ 1 h 1930"/>
                <a:gd name="GluePoint9X" fmla="*/ 9 w 5115"/>
                <a:gd name="GluePoint9Y" fmla="*/ 1 h 1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115" h="1930">
                  <a:moveTo>
                    <a:pt x="0" y="0"/>
                  </a:moveTo>
                  <a:cubicBezTo>
                    <a:pt x="62" y="219"/>
                    <a:pt x="125" y="438"/>
                    <a:pt x="225" y="615"/>
                  </a:cubicBezTo>
                  <a:cubicBezTo>
                    <a:pt x="325" y="792"/>
                    <a:pt x="453" y="930"/>
                    <a:pt x="600" y="1065"/>
                  </a:cubicBezTo>
                  <a:cubicBezTo>
                    <a:pt x="747" y="1200"/>
                    <a:pt x="913" y="1318"/>
                    <a:pt x="1110" y="1425"/>
                  </a:cubicBezTo>
                  <a:cubicBezTo>
                    <a:pt x="1307" y="1532"/>
                    <a:pt x="1525" y="1638"/>
                    <a:pt x="1785" y="1710"/>
                  </a:cubicBezTo>
                  <a:cubicBezTo>
                    <a:pt x="2045" y="1782"/>
                    <a:pt x="2405" y="1825"/>
                    <a:pt x="2670" y="1860"/>
                  </a:cubicBezTo>
                  <a:cubicBezTo>
                    <a:pt x="2935" y="1895"/>
                    <a:pt x="3090" y="1910"/>
                    <a:pt x="3375" y="1920"/>
                  </a:cubicBezTo>
                  <a:cubicBezTo>
                    <a:pt x="3660" y="1930"/>
                    <a:pt x="4090" y="1922"/>
                    <a:pt x="4380" y="1920"/>
                  </a:cubicBezTo>
                  <a:cubicBezTo>
                    <a:pt x="4670" y="1918"/>
                    <a:pt x="4892" y="1911"/>
                    <a:pt x="5115" y="190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49"/>
            <p:cNvSpPr/>
            <p:nvPr/>
          </p:nvSpPr>
          <p:spPr>
            <a:xfrm rot="21363000">
              <a:off x="5914080" y="4408920"/>
              <a:ext cx="683640" cy="1661040"/>
            </a:xfrm>
            <a:custGeom>
              <a:avLst/>
              <a:gdLst>
                <a:gd name="textAreaLeft" fmla="*/ 0 w 683640"/>
                <a:gd name="textAreaRight" fmla="*/ 684000 w 683640"/>
                <a:gd name="textAreaTop" fmla="*/ 0 h 1661040"/>
                <a:gd name="textAreaBottom" fmla="*/ 1661400 h 1661040"/>
                <a:gd name="GluePoint1X" fmla="*/ 0 w 1291"/>
                <a:gd name="GluePoint1Y" fmla="*/ 0 h 4202"/>
                <a:gd name="GluePoint2X" fmla="*/ 1 w 1291"/>
                <a:gd name="GluePoint2Y" fmla="*/ 0 h 4202"/>
                <a:gd name="GluePoint3X" fmla="*/ 1 w 1291"/>
                <a:gd name="GluePoint3Y" fmla="*/ 0 h 4202"/>
                <a:gd name="GluePoint4X" fmla="*/ 1 w 1291"/>
                <a:gd name="GluePoint4Y" fmla="*/ 0 h 4202"/>
                <a:gd name="GluePoint5X" fmla="*/ 1 w 1291"/>
                <a:gd name="GluePoint5Y" fmla="*/ 0 h 42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91" h="4202">
                  <a:moveTo>
                    <a:pt x="0" y="0"/>
                  </a:moveTo>
                  <a:cubicBezTo>
                    <a:pt x="23" y="250"/>
                    <a:pt x="73" y="1074"/>
                    <a:pt x="136" y="1502"/>
                  </a:cubicBezTo>
                  <a:cubicBezTo>
                    <a:pt x="199" y="1930"/>
                    <a:pt x="261" y="2232"/>
                    <a:pt x="376" y="2567"/>
                  </a:cubicBezTo>
                  <a:cubicBezTo>
                    <a:pt x="491" y="2902"/>
                    <a:pt x="673" y="3239"/>
                    <a:pt x="826" y="3512"/>
                  </a:cubicBezTo>
                  <a:cubicBezTo>
                    <a:pt x="979" y="3785"/>
                    <a:pt x="1213" y="4087"/>
                    <a:pt x="1291" y="420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 50"/>
            <p:cNvSpPr/>
            <p:nvPr/>
          </p:nvSpPr>
          <p:spPr>
            <a:xfrm>
              <a:off x="5787000" y="3643200"/>
              <a:ext cx="1220400" cy="2657880"/>
            </a:xfrm>
            <a:custGeom>
              <a:avLst/>
              <a:gdLst>
                <a:gd name="textAreaLeft" fmla="*/ 0 w 1220400"/>
                <a:gd name="textAreaRight" fmla="*/ 1220760 w 1220400"/>
                <a:gd name="textAreaTop" fmla="*/ 0 h 2657880"/>
                <a:gd name="textAreaBottom" fmla="*/ 2658240 h 2657880"/>
                <a:gd name="GluePoint1X" fmla="*/ 0 w 1419"/>
                <a:gd name="GluePoint1Y" fmla="*/ 0 h 2541"/>
                <a:gd name="GluePoint2X" fmla="*/ 44 w 1419"/>
                <a:gd name="GluePoint2Y" fmla="*/ 484 h 2541"/>
                <a:gd name="GluePoint3X" fmla="*/ 88 w 1419"/>
                <a:gd name="GluePoint3Y" fmla="*/ 891 h 2541"/>
                <a:gd name="GluePoint4X" fmla="*/ 220 w 1419"/>
                <a:gd name="GluePoint4Y" fmla="*/ 1386 h 2541"/>
                <a:gd name="GluePoint5X" fmla="*/ 495 w 1419"/>
                <a:gd name="GluePoint5Y" fmla="*/ 1815 h 2541"/>
                <a:gd name="GluePoint6X" fmla="*/ 847 w 1419"/>
                <a:gd name="GluePoint6Y" fmla="*/ 2145 h 2541"/>
                <a:gd name="GluePoint7X" fmla="*/ 1232 w 1419"/>
                <a:gd name="GluePoint7Y" fmla="*/ 2420 h 2541"/>
                <a:gd name="GluePoint8X" fmla="*/ 1419 w 1419"/>
                <a:gd name="GluePoint8Y" fmla="*/ 2541 h 25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419" h="2541">
                  <a:moveTo>
                    <a:pt x="0" y="0"/>
                  </a:moveTo>
                  <a:cubicBezTo>
                    <a:pt x="14" y="168"/>
                    <a:pt x="29" y="336"/>
                    <a:pt x="44" y="484"/>
                  </a:cubicBezTo>
                  <a:cubicBezTo>
                    <a:pt x="59" y="632"/>
                    <a:pt x="59" y="741"/>
                    <a:pt x="88" y="891"/>
                  </a:cubicBezTo>
                  <a:cubicBezTo>
                    <a:pt x="117" y="1041"/>
                    <a:pt x="152" y="1232"/>
                    <a:pt x="220" y="1386"/>
                  </a:cubicBezTo>
                  <a:cubicBezTo>
                    <a:pt x="288" y="1540"/>
                    <a:pt x="391" y="1689"/>
                    <a:pt x="495" y="1815"/>
                  </a:cubicBezTo>
                  <a:cubicBezTo>
                    <a:pt x="599" y="1941"/>
                    <a:pt x="724" y="2044"/>
                    <a:pt x="847" y="2145"/>
                  </a:cubicBezTo>
                  <a:cubicBezTo>
                    <a:pt x="970" y="2246"/>
                    <a:pt x="1137" y="2354"/>
                    <a:pt x="1232" y="2420"/>
                  </a:cubicBezTo>
                  <a:cubicBezTo>
                    <a:pt x="1327" y="2486"/>
                    <a:pt x="1373" y="2513"/>
                    <a:pt x="1419" y="25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 51"/>
            <p:cNvSpPr/>
            <p:nvPr/>
          </p:nvSpPr>
          <p:spPr>
            <a:xfrm>
              <a:off x="6715440" y="3786480"/>
              <a:ext cx="1656000" cy="2715840"/>
            </a:xfrm>
            <a:custGeom>
              <a:avLst/>
              <a:gdLst>
                <a:gd name="textAreaLeft" fmla="*/ 0 w 1656000"/>
                <a:gd name="textAreaRight" fmla="*/ 1656360 w 1656000"/>
                <a:gd name="textAreaTop" fmla="*/ 0 h 2715840"/>
                <a:gd name="textAreaBottom" fmla="*/ 2715840 h 2715840"/>
                <a:gd name="GluePoint1X" fmla="*/ 0 w 1628"/>
                <a:gd name="GluePoint1Y" fmla="*/ 0 h 2497"/>
                <a:gd name="GluePoint2X" fmla="*/ 967 w 1628"/>
                <a:gd name="GluePoint2Y" fmla="*/ 986 h 2497"/>
                <a:gd name="GluePoint3X" fmla="*/ 2080 w 1628"/>
                <a:gd name="GluePoint3Y" fmla="*/ 1967 h 2497"/>
                <a:gd name="GluePoint4X" fmla="*/ 3202 w 1628"/>
                <a:gd name="GluePoint4Y" fmla="*/ 2562 h 2497"/>
                <a:gd name="GluePoint5X" fmla="*/ 5617 w 1628"/>
                <a:gd name="GluePoint5Y" fmla="*/ 3319 h 2497"/>
                <a:gd name="GluePoint6X" fmla="*/ 10113 w 1628"/>
                <a:gd name="GluePoint6Y" fmla="*/ 3914 h 2497"/>
                <a:gd name="GluePoint7X" fmla="*/ 14946 w 1628"/>
                <a:gd name="GluePoint7Y" fmla="*/ 4281 h 2497"/>
                <a:gd name="GluePoint8X" fmla="*/ 19446 w 1628"/>
                <a:gd name="GluePoint8Y" fmla="*/ 4509 h 2497"/>
                <a:gd name="GluePoint9X" fmla="*/ 23773 w 1628"/>
                <a:gd name="GluePoint9Y" fmla="*/ 4651 h 24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628" h="2497">
                  <a:moveTo>
                    <a:pt x="0" y="0"/>
                  </a:moveTo>
                  <a:cubicBezTo>
                    <a:pt x="21" y="176"/>
                    <a:pt x="42" y="352"/>
                    <a:pt x="66" y="528"/>
                  </a:cubicBezTo>
                  <a:cubicBezTo>
                    <a:pt x="90" y="704"/>
                    <a:pt x="117" y="915"/>
                    <a:pt x="143" y="1056"/>
                  </a:cubicBezTo>
                  <a:cubicBezTo>
                    <a:pt x="169" y="1197"/>
                    <a:pt x="180" y="1254"/>
                    <a:pt x="220" y="1375"/>
                  </a:cubicBezTo>
                  <a:cubicBezTo>
                    <a:pt x="260" y="1496"/>
                    <a:pt x="306" y="1661"/>
                    <a:pt x="385" y="1782"/>
                  </a:cubicBezTo>
                  <a:cubicBezTo>
                    <a:pt x="464" y="1903"/>
                    <a:pt x="587" y="2015"/>
                    <a:pt x="693" y="2101"/>
                  </a:cubicBezTo>
                  <a:cubicBezTo>
                    <a:pt x="799" y="2187"/>
                    <a:pt x="917" y="2246"/>
                    <a:pt x="1023" y="2299"/>
                  </a:cubicBezTo>
                  <a:cubicBezTo>
                    <a:pt x="1129" y="2352"/>
                    <a:pt x="1230" y="2387"/>
                    <a:pt x="1331" y="2420"/>
                  </a:cubicBezTo>
                  <a:cubicBezTo>
                    <a:pt x="1432" y="2453"/>
                    <a:pt x="1530" y="2475"/>
                    <a:pt x="1628" y="2497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Text Box 52"/>
            <p:cNvSpPr/>
            <p:nvPr/>
          </p:nvSpPr>
          <p:spPr>
            <a:xfrm>
              <a:off x="8044560" y="5842080"/>
              <a:ext cx="577080" cy="50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53"/>
            <p:cNvSpPr/>
            <p:nvPr/>
          </p:nvSpPr>
          <p:spPr>
            <a:xfrm rot="20568600">
              <a:off x="7048800" y="4952160"/>
              <a:ext cx="403920" cy="1353600"/>
            </a:xfrm>
            <a:custGeom>
              <a:avLst/>
              <a:gdLst>
                <a:gd name="textAreaLeft" fmla="*/ 0 w 403920"/>
                <a:gd name="textAreaRight" fmla="*/ 404280 w 403920"/>
                <a:gd name="textAreaTop" fmla="*/ 0 h 1353600"/>
                <a:gd name="textAreaBottom" fmla="*/ 1353960 h 1353600"/>
                <a:gd name="GluePoint1X" fmla="*/ 0 w 1270"/>
                <a:gd name="GluePoint1Y" fmla="*/ 0 h 2916"/>
                <a:gd name="GluePoint2X" fmla="*/ 0 w 1270"/>
                <a:gd name="GluePoint2Y" fmla="*/ 0 h 2916"/>
                <a:gd name="GluePoint3X" fmla="*/ 0 w 1270"/>
                <a:gd name="GluePoint3Y" fmla="*/ 0 h 2916"/>
                <a:gd name="GluePoint4X" fmla="*/ 0 w 1270"/>
                <a:gd name="GluePoint4Y" fmla="*/ 0 h 2916"/>
                <a:gd name="GluePoint5X" fmla="*/ 0 w 1270"/>
                <a:gd name="GluePoint5Y" fmla="*/ 0 h 2916"/>
                <a:gd name="GluePoint6X" fmla="*/ 0 w 1270"/>
                <a:gd name="GluePoint6Y" fmla="*/ 0 h 2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270" h="2916">
                  <a:moveTo>
                    <a:pt x="9" y="0"/>
                  </a:moveTo>
                  <a:cubicBezTo>
                    <a:pt x="12" y="113"/>
                    <a:pt x="0" y="448"/>
                    <a:pt x="25" y="681"/>
                  </a:cubicBezTo>
                  <a:cubicBezTo>
                    <a:pt x="50" y="914"/>
                    <a:pt x="88" y="1176"/>
                    <a:pt x="160" y="1401"/>
                  </a:cubicBezTo>
                  <a:cubicBezTo>
                    <a:pt x="232" y="1626"/>
                    <a:pt x="355" y="1851"/>
                    <a:pt x="460" y="2031"/>
                  </a:cubicBezTo>
                  <a:cubicBezTo>
                    <a:pt x="565" y="2211"/>
                    <a:pt x="655" y="2334"/>
                    <a:pt x="790" y="2481"/>
                  </a:cubicBezTo>
                  <a:cubicBezTo>
                    <a:pt x="925" y="2628"/>
                    <a:pt x="1190" y="2843"/>
                    <a:pt x="1270" y="2916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AutoShape 54"/>
            <p:cNvSpPr/>
            <p:nvPr/>
          </p:nvSpPr>
          <p:spPr>
            <a:xfrm rot="17273400">
              <a:off x="5910840" y="4770360"/>
              <a:ext cx="725760" cy="115200"/>
            </a:xfrm>
            <a:custGeom>
              <a:avLst/>
              <a:gdLst>
                <a:gd name="textAreaLeft" fmla="*/ 112680 w 725760"/>
                <a:gd name="textAreaRight" fmla="*/ 635040 w 725760"/>
                <a:gd name="textAreaTop" fmla="*/ 29160 h 115200"/>
                <a:gd name="textAreaBottom" fmla="*/ 86760 h 1152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Text Box 55"/>
            <p:cNvSpPr/>
            <p:nvPr/>
          </p:nvSpPr>
          <p:spPr>
            <a:xfrm>
              <a:off x="7697880" y="5053320"/>
              <a:ext cx="542520" cy="432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Line 56"/>
            <p:cNvSpPr/>
            <p:nvPr/>
          </p:nvSpPr>
          <p:spPr>
            <a:xfrm flipH="1" flipV="1">
              <a:off x="6357960" y="4786560"/>
              <a:ext cx="214200" cy="143280"/>
            </a:xfrm>
            <a:prstGeom prst="line">
              <a:avLst/>
            </a:prstGeom>
            <a:ln w="9360">
              <a:solidFill>
                <a:srgbClr val="ff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oup 57"/>
            <p:cNvGrpSpPr/>
            <p:nvPr/>
          </p:nvGrpSpPr>
          <p:grpSpPr>
            <a:xfrm>
              <a:off x="5234040" y="3316320"/>
              <a:ext cx="3551040" cy="3515400"/>
              <a:chOff x="5234040" y="3316320"/>
              <a:chExt cx="3551040" cy="3515400"/>
            </a:xfrm>
          </p:grpSpPr>
          <p:sp>
            <p:nvSpPr>
              <p:cNvPr id="252" name="Line 58"/>
              <p:cNvSpPr/>
              <p:nvPr/>
            </p:nvSpPr>
            <p:spPr>
              <a:xfrm>
                <a:off x="5234040" y="6831720"/>
                <a:ext cx="355104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Line 59"/>
              <p:cNvSpPr/>
              <p:nvPr/>
            </p:nvSpPr>
            <p:spPr>
              <a:xfrm flipV="1">
                <a:off x="5242680" y="3316320"/>
                <a:ext cx="0" cy="34952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Text Box 60"/>
            <p:cNvSpPr/>
            <p:nvPr/>
          </p:nvSpPr>
          <p:spPr>
            <a:xfrm>
              <a:off x="8565120" y="6357960"/>
              <a:ext cx="507600" cy="37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V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Text Box 61"/>
            <p:cNvSpPr/>
            <p:nvPr/>
          </p:nvSpPr>
          <p:spPr>
            <a:xfrm>
              <a:off x="5281200" y="3229920"/>
              <a:ext cx="68544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P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 Box 62"/>
            <p:cNvSpPr/>
            <p:nvPr/>
          </p:nvSpPr>
          <p:spPr>
            <a:xfrm>
              <a:off x="6541560" y="3383640"/>
              <a:ext cx="2038680" cy="4708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Arial"/>
                </a:rPr>
                <a:t>Cycle récepteur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Rectangle 64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Box 66"/>
          <p:cNvSpPr/>
          <p:nvPr/>
        </p:nvSpPr>
        <p:spPr>
          <a:xfrm>
            <a:off x="179280" y="1144440"/>
            <a:ext cx="896472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 cycle de Carnot est un cycle 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ditherme réversible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évoluant entre deux sources de température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(avec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&gt;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), formé de deux transformations isothermes (AB et CD) et de deux transformations adiabatiques (BC et DA)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2"/>
          <p:cNvSpPr/>
          <p:nvPr/>
        </p:nvSpPr>
        <p:spPr>
          <a:xfrm>
            <a:off x="358920" y="864720"/>
            <a:ext cx="7480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Calcul du rendement d’un cycle de Carnot </a:t>
            </a:r>
            <a:r>
              <a:rPr b="1" lang="fr-FR" sz="2400" strike="noStrike" u="sng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moteur</a:t>
            </a:r>
            <a:r>
              <a:rPr b="0" lang="fr-FR" sz="24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5"/>
          <p:cNvSpPr/>
          <p:nvPr/>
        </p:nvSpPr>
        <p:spPr>
          <a:xfrm>
            <a:off x="397080" y="1452960"/>
            <a:ext cx="3823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La quantité à calculer est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Picture 4" descr=""/>
          <p:cNvPicPr/>
          <p:nvPr/>
        </p:nvPicPr>
        <p:blipFill>
          <a:blip r:embed="rId1"/>
          <a:stretch/>
        </p:blipFill>
        <p:spPr>
          <a:xfrm>
            <a:off x="3132000" y="2060640"/>
            <a:ext cx="1871640" cy="118908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</p:pic>
      <p:sp>
        <p:nvSpPr>
          <p:cNvPr id="263" name="Rectangle 6"/>
          <p:cNvSpPr/>
          <p:nvPr/>
        </p:nvSpPr>
        <p:spPr>
          <a:xfrm>
            <a:off x="0" y="3296160"/>
            <a:ext cx="9144000" cy="96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qui représente l’expression du rendement d’un cycle ditherme dans le cas général,</a:t>
            </a:r>
            <a:r>
              <a:rPr b="0" lang="fr-FR" sz="2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Box 7"/>
          <p:cNvSpPr/>
          <p:nvPr/>
        </p:nvSpPr>
        <p:spPr>
          <a:xfrm>
            <a:off x="0" y="4581360"/>
            <a:ext cx="896472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 quantité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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est entièrement déterminée dans le cas du cycle de Carnot, si l’on calcule les quantités :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9"/>
          <p:cNvSpPr/>
          <p:nvPr/>
        </p:nvSpPr>
        <p:spPr>
          <a:xfrm>
            <a:off x="0" y="333360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6" name="Object 2"/>
          <p:cNvGraphicFramePr/>
          <p:nvPr/>
        </p:nvGraphicFramePr>
        <p:xfrm>
          <a:off x="2771640" y="5661000"/>
          <a:ext cx="771840" cy="90792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67" name="Object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2771640" y="5661000"/>
                    <a:ext cx="771840" cy="90792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68" name="Object 3"/>
          <p:cNvGraphicFramePr/>
          <p:nvPr/>
        </p:nvGraphicFramePr>
        <p:xfrm>
          <a:off x="4716360" y="5661000"/>
          <a:ext cx="811440" cy="91908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269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4716360" y="5661000"/>
                    <a:ext cx="811440" cy="919080"/>
                  </a:xfrm>
                  <a:prstGeom prst="rect">
                    <a:avLst/>
                  </a:prstGeom>
                  <a:solidFill>
                    <a:srgbClr val="ffff99"/>
                  </a:solidFill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90"/>
          <p:cNvSpPr/>
          <p:nvPr/>
        </p:nvSpPr>
        <p:spPr>
          <a:xfrm>
            <a:off x="5219640" y="1989000"/>
            <a:ext cx="3924360" cy="3745080"/>
          </a:xfrm>
          <a:prstGeom prst="rect">
            <a:avLst/>
          </a:prstGeom>
          <a:solidFill>
            <a:srgbClr val="fbeec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59"/>
          <p:cNvSpPr/>
          <p:nvPr/>
        </p:nvSpPr>
        <p:spPr>
          <a:xfrm>
            <a:off x="108000" y="1268280"/>
            <a:ext cx="5111640" cy="5400720"/>
          </a:xfrm>
          <a:prstGeom prst="rect">
            <a:avLst/>
          </a:prstGeom>
          <a:solidFill>
            <a:srgbClr val="ffff9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2" name="Group 2"/>
          <p:cNvGrpSpPr/>
          <p:nvPr/>
        </p:nvGrpSpPr>
        <p:grpSpPr>
          <a:xfrm>
            <a:off x="179280" y="1341360"/>
            <a:ext cx="5113080" cy="5255640"/>
            <a:chOff x="179280" y="1341360"/>
            <a:chExt cx="5113080" cy="5255640"/>
          </a:xfrm>
        </p:grpSpPr>
        <p:grpSp>
          <p:nvGrpSpPr>
            <p:cNvPr id="273" name="Group 3"/>
            <p:cNvGrpSpPr/>
            <p:nvPr/>
          </p:nvGrpSpPr>
          <p:grpSpPr>
            <a:xfrm>
              <a:off x="184680" y="1341360"/>
              <a:ext cx="2450520" cy="893880"/>
              <a:chOff x="184680" y="1341360"/>
              <a:chExt cx="2450520" cy="893880"/>
            </a:xfrm>
          </p:grpSpPr>
          <p:sp>
            <p:nvSpPr>
              <p:cNvPr id="274" name="Freeform 4"/>
              <p:cNvSpPr/>
              <p:nvPr/>
            </p:nvSpPr>
            <p:spPr>
              <a:xfrm rot="5400000">
                <a:off x="1185120" y="1394640"/>
                <a:ext cx="891360" cy="784800"/>
              </a:xfrm>
              <a:custGeom>
                <a:avLst/>
                <a:gdLst>
                  <a:gd name="textAreaLeft" fmla="*/ 0 w 891360"/>
                  <a:gd name="textAreaRight" fmla="*/ 891720 w 891360"/>
                  <a:gd name="textAreaTop" fmla="*/ 0 h 784800"/>
                  <a:gd name="textAreaBottom" fmla="*/ 785160 h 784800"/>
                  <a:gd name="GluePoint1X" fmla="*/ 0 w 1239"/>
                  <a:gd name="GluePoint1Y" fmla="*/ 125 h 923"/>
                  <a:gd name="GluePoint2X" fmla="*/ 51 w 1239"/>
                  <a:gd name="GluePoint2Y" fmla="*/ 74 h 923"/>
                  <a:gd name="GluePoint3X" fmla="*/ 128 w 1239"/>
                  <a:gd name="GluePoint3Y" fmla="*/ 54 h 923"/>
                  <a:gd name="GluePoint4X" fmla="*/ 210 w 1239"/>
                  <a:gd name="GluePoint4Y" fmla="*/ 31 h 923"/>
                  <a:gd name="GluePoint5X" fmla="*/ 336 w 1239"/>
                  <a:gd name="GluePoint5Y" fmla="*/ 12 h 923"/>
                  <a:gd name="GluePoint6X" fmla="*/ 460 w 1239"/>
                  <a:gd name="GluePoint6Y" fmla="*/ 3 h 923"/>
                  <a:gd name="GluePoint7X" fmla="*/ 581 w 1239"/>
                  <a:gd name="GluePoint7Y" fmla="*/ 0 h 923"/>
                  <a:gd name="GluePoint8X" fmla="*/ 690 w 1239"/>
                  <a:gd name="GluePoint8Y" fmla="*/ 3 h 923"/>
                  <a:gd name="GluePoint9X" fmla="*/ 822 w 1239"/>
                  <a:gd name="GluePoint9Y" fmla="*/ 6 h 923"/>
                  <a:gd name="GluePoint10X" fmla="*/ 930 w 1239"/>
                  <a:gd name="GluePoint10Y" fmla="*/ 19 h 923"/>
                  <a:gd name="GluePoint11X" fmla="*/ 1045 w 1239"/>
                  <a:gd name="GluePoint11Y" fmla="*/ 36 h 923"/>
                  <a:gd name="GluePoint12X" fmla="*/ 1142 w 1239"/>
                  <a:gd name="GluePoint12Y" fmla="*/ 63 h 923"/>
                  <a:gd name="GluePoint13X" fmla="*/ 1200 w 1239"/>
                  <a:gd name="GluePoint13Y" fmla="*/ 95 h 923"/>
                  <a:gd name="GluePoint14X" fmla="*/ 1239 w 1239"/>
                  <a:gd name="GluePoint14Y" fmla="*/ 131 h 923"/>
                  <a:gd name="GluePoint15X" fmla="*/ 1235 w 1239"/>
                  <a:gd name="GluePoint15Y" fmla="*/ 831 h 923"/>
                  <a:gd name="GluePoint16X" fmla="*/ 1181 w 1239"/>
                  <a:gd name="GluePoint16Y" fmla="*/ 864 h 923"/>
                  <a:gd name="GluePoint17X" fmla="*/ 1080 w 1239"/>
                  <a:gd name="GluePoint17Y" fmla="*/ 889 h 923"/>
                  <a:gd name="GluePoint18X" fmla="*/ 999 w 1239"/>
                  <a:gd name="GluePoint18Y" fmla="*/ 901 h 923"/>
                  <a:gd name="GluePoint19X" fmla="*/ 892 w 1239"/>
                  <a:gd name="GluePoint19Y" fmla="*/ 913 h 923"/>
                  <a:gd name="GluePoint20X" fmla="*/ 773 w 1239"/>
                  <a:gd name="GluePoint20Y" fmla="*/ 920 h 923"/>
                  <a:gd name="GluePoint21X" fmla="*/ 670 w 1239"/>
                  <a:gd name="GluePoint21Y" fmla="*/ 923 h 923"/>
                  <a:gd name="GluePoint22X" fmla="*/ 534 w 1239"/>
                  <a:gd name="GluePoint22Y" fmla="*/ 923 h 923"/>
                  <a:gd name="GluePoint23X" fmla="*/ 402 w 1239"/>
                  <a:gd name="GluePoint23Y" fmla="*/ 917 h 923"/>
                  <a:gd name="GluePoint24X" fmla="*/ 286 w 1239"/>
                  <a:gd name="GluePoint24Y" fmla="*/ 907 h 923"/>
                  <a:gd name="GluePoint25X" fmla="*/ 169 w 1239"/>
                  <a:gd name="GluePoint25Y" fmla="*/ 892 h 923"/>
                  <a:gd name="GluePoint26X" fmla="*/ 56 w 1239"/>
                  <a:gd name="GluePoint26Y" fmla="*/ 864 h 923"/>
                  <a:gd name="GluePoint27X" fmla="*/ 8 w 1239"/>
                  <a:gd name="GluePoint27Y" fmla="*/ 831 h 923"/>
                  <a:gd name="GluePoint28X" fmla="*/ 0 w 1239"/>
                  <a:gd name="GluePoint28Y" fmla="*/ 125 h 92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9" h="923">
                    <a:moveTo>
                      <a:pt x="0" y="125"/>
                    </a:moveTo>
                    <a:lnTo>
                      <a:pt x="51" y="74"/>
                    </a:lnTo>
                    <a:lnTo>
                      <a:pt x="128" y="54"/>
                    </a:lnTo>
                    <a:lnTo>
                      <a:pt x="210" y="31"/>
                    </a:lnTo>
                    <a:lnTo>
                      <a:pt x="336" y="12"/>
                    </a:lnTo>
                    <a:lnTo>
                      <a:pt x="460" y="3"/>
                    </a:lnTo>
                    <a:lnTo>
                      <a:pt x="581" y="0"/>
                    </a:lnTo>
                    <a:lnTo>
                      <a:pt x="690" y="3"/>
                    </a:lnTo>
                    <a:lnTo>
                      <a:pt x="822" y="6"/>
                    </a:lnTo>
                    <a:lnTo>
                      <a:pt x="930" y="19"/>
                    </a:lnTo>
                    <a:lnTo>
                      <a:pt x="1045" y="36"/>
                    </a:lnTo>
                    <a:lnTo>
                      <a:pt x="1142" y="63"/>
                    </a:lnTo>
                    <a:lnTo>
                      <a:pt x="1200" y="95"/>
                    </a:lnTo>
                    <a:lnTo>
                      <a:pt x="1239" y="131"/>
                    </a:lnTo>
                    <a:lnTo>
                      <a:pt x="1235" y="831"/>
                    </a:lnTo>
                    <a:lnTo>
                      <a:pt x="1181" y="864"/>
                    </a:lnTo>
                    <a:lnTo>
                      <a:pt x="1080" y="889"/>
                    </a:lnTo>
                    <a:lnTo>
                      <a:pt x="999" y="901"/>
                    </a:lnTo>
                    <a:lnTo>
                      <a:pt x="892" y="913"/>
                    </a:lnTo>
                    <a:lnTo>
                      <a:pt x="773" y="920"/>
                    </a:lnTo>
                    <a:lnTo>
                      <a:pt x="670" y="923"/>
                    </a:lnTo>
                    <a:lnTo>
                      <a:pt x="534" y="923"/>
                    </a:lnTo>
                    <a:lnTo>
                      <a:pt x="402" y="917"/>
                    </a:lnTo>
                    <a:lnTo>
                      <a:pt x="286" y="907"/>
                    </a:lnTo>
                    <a:lnTo>
                      <a:pt x="169" y="892"/>
                    </a:lnTo>
                    <a:lnTo>
                      <a:pt x="56" y="864"/>
                    </a:lnTo>
                    <a:lnTo>
                      <a:pt x="8" y="831"/>
                    </a:lnTo>
                    <a:lnTo>
                      <a:pt x="0" y="125"/>
                    </a:lnTo>
                    <a:close/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eform 5"/>
              <p:cNvSpPr/>
              <p:nvPr/>
            </p:nvSpPr>
            <p:spPr>
              <a:xfrm rot="5400000">
                <a:off x="512280" y="1016640"/>
                <a:ext cx="890640" cy="1545840"/>
              </a:xfrm>
              <a:custGeom>
                <a:avLst/>
                <a:gdLst>
                  <a:gd name="textAreaLeft" fmla="*/ 0 w 890640"/>
                  <a:gd name="textAreaRight" fmla="*/ 891000 w 890640"/>
                  <a:gd name="textAreaTop" fmla="*/ 0 h 1545840"/>
                  <a:gd name="textAreaBottom" fmla="*/ 1546200 h 1545840"/>
                  <a:gd name="GluePoint1X" fmla="*/ 0 w 1238"/>
                  <a:gd name="GluePoint1Y" fmla="*/ 1654 h 1818"/>
                  <a:gd name="GluePoint2X" fmla="*/ 46 w 1238"/>
                  <a:gd name="GluePoint2Y" fmla="*/ 1716 h 1818"/>
                  <a:gd name="GluePoint3X" fmla="*/ 124 w 1238"/>
                  <a:gd name="GluePoint3Y" fmla="*/ 1749 h 1818"/>
                  <a:gd name="GluePoint4X" fmla="*/ 220 w 1238"/>
                  <a:gd name="GluePoint4Y" fmla="*/ 1779 h 1818"/>
                  <a:gd name="GluePoint5X" fmla="*/ 340 w 1238"/>
                  <a:gd name="GluePoint5Y" fmla="*/ 1800 h 1818"/>
                  <a:gd name="GluePoint6X" fmla="*/ 472 w 1238"/>
                  <a:gd name="GluePoint6Y" fmla="*/ 1815 h 1818"/>
                  <a:gd name="GluePoint7X" fmla="*/ 577 w 1238"/>
                  <a:gd name="GluePoint7Y" fmla="*/ 1818 h 1818"/>
                  <a:gd name="GluePoint8X" fmla="*/ 691 w 1238"/>
                  <a:gd name="GluePoint8Y" fmla="*/ 1815 h 1818"/>
                  <a:gd name="GluePoint9X" fmla="*/ 817 w 1238"/>
                  <a:gd name="GluePoint9Y" fmla="*/ 1812 h 1818"/>
                  <a:gd name="GluePoint10X" fmla="*/ 931 w 1238"/>
                  <a:gd name="GluePoint10Y" fmla="*/ 1803 h 1818"/>
                  <a:gd name="GluePoint11X" fmla="*/ 1045 w 1238"/>
                  <a:gd name="GluePoint11Y" fmla="*/ 1776 h 1818"/>
                  <a:gd name="GluePoint12X" fmla="*/ 1138 w 1238"/>
                  <a:gd name="GluePoint12Y" fmla="*/ 1743 h 1818"/>
                  <a:gd name="GluePoint13X" fmla="*/ 1215 w 1238"/>
                  <a:gd name="GluePoint13Y" fmla="*/ 1691 h 1818"/>
                  <a:gd name="GluePoint14X" fmla="*/ 1238 w 1238"/>
                  <a:gd name="GluePoint14Y" fmla="*/ 1641 h 1818"/>
                  <a:gd name="GluePoint15X" fmla="*/ 1229 w 1238"/>
                  <a:gd name="GluePoint15Y" fmla="*/ 185 h 1818"/>
                  <a:gd name="GluePoint16X" fmla="*/ 1174 w 1238"/>
                  <a:gd name="GluePoint16Y" fmla="*/ 118 h 1818"/>
                  <a:gd name="GluePoint17X" fmla="*/ 1073 w 1238"/>
                  <a:gd name="GluePoint17Y" fmla="*/ 68 h 1818"/>
                  <a:gd name="GluePoint18X" fmla="*/ 992 w 1238"/>
                  <a:gd name="GluePoint18Y" fmla="*/ 44 h 1818"/>
                  <a:gd name="GluePoint19X" fmla="*/ 885 w 1238"/>
                  <a:gd name="GluePoint19Y" fmla="*/ 19 h 1818"/>
                  <a:gd name="GluePoint20X" fmla="*/ 767 w 1238"/>
                  <a:gd name="GluePoint20Y" fmla="*/ 7 h 1818"/>
                  <a:gd name="GluePoint21X" fmla="*/ 664 w 1238"/>
                  <a:gd name="GluePoint21Y" fmla="*/ 0 h 1818"/>
                  <a:gd name="GluePoint22X" fmla="*/ 528 w 1238"/>
                  <a:gd name="GluePoint22Y" fmla="*/ 0 h 1818"/>
                  <a:gd name="GluePoint23X" fmla="*/ 396 w 1238"/>
                  <a:gd name="GluePoint23Y" fmla="*/ 12 h 1818"/>
                  <a:gd name="GluePoint24X" fmla="*/ 279 w 1238"/>
                  <a:gd name="GluePoint24Y" fmla="*/ 31 h 1818"/>
                  <a:gd name="GluePoint25X" fmla="*/ 163 w 1238"/>
                  <a:gd name="GluePoint25Y" fmla="*/ 62 h 1818"/>
                  <a:gd name="GluePoint26X" fmla="*/ 50 w 1238"/>
                  <a:gd name="GluePoint26Y" fmla="*/ 118 h 1818"/>
                  <a:gd name="GluePoint27X" fmla="*/ 2 w 1238"/>
                  <a:gd name="GluePoint27Y" fmla="*/ 185 h 1818"/>
                  <a:gd name="GluePoint28X" fmla="*/ 0 w 1238"/>
                  <a:gd name="GluePoint28Y" fmla="*/ 1654 h 18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8" h="1818">
                    <a:moveTo>
                      <a:pt x="0" y="1654"/>
                    </a:moveTo>
                    <a:lnTo>
                      <a:pt x="46" y="1716"/>
                    </a:lnTo>
                    <a:lnTo>
                      <a:pt x="124" y="1749"/>
                    </a:lnTo>
                    <a:lnTo>
                      <a:pt x="220" y="1779"/>
                    </a:lnTo>
                    <a:lnTo>
                      <a:pt x="340" y="1800"/>
                    </a:lnTo>
                    <a:lnTo>
                      <a:pt x="472" y="1815"/>
                    </a:lnTo>
                    <a:lnTo>
                      <a:pt x="577" y="1818"/>
                    </a:lnTo>
                    <a:lnTo>
                      <a:pt x="691" y="1815"/>
                    </a:lnTo>
                    <a:lnTo>
                      <a:pt x="817" y="1812"/>
                    </a:lnTo>
                    <a:lnTo>
                      <a:pt x="931" y="1803"/>
                    </a:lnTo>
                    <a:lnTo>
                      <a:pt x="1045" y="1776"/>
                    </a:lnTo>
                    <a:lnTo>
                      <a:pt x="1138" y="1743"/>
                    </a:lnTo>
                    <a:lnTo>
                      <a:pt x="1215" y="1691"/>
                    </a:lnTo>
                    <a:lnTo>
                      <a:pt x="1238" y="1641"/>
                    </a:lnTo>
                    <a:lnTo>
                      <a:pt x="1229" y="185"/>
                    </a:lnTo>
                    <a:lnTo>
                      <a:pt x="1174" y="118"/>
                    </a:lnTo>
                    <a:lnTo>
                      <a:pt x="1073" y="68"/>
                    </a:lnTo>
                    <a:lnTo>
                      <a:pt x="992" y="44"/>
                    </a:lnTo>
                    <a:lnTo>
                      <a:pt x="885" y="19"/>
                    </a:lnTo>
                    <a:lnTo>
                      <a:pt x="767" y="7"/>
                    </a:lnTo>
                    <a:lnTo>
                      <a:pt x="664" y="0"/>
                    </a:lnTo>
                    <a:lnTo>
                      <a:pt x="528" y="0"/>
                    </a:lnTo>
                    <a:lnTo>
                      <a:pt x="396" y="12"/>
                    </a:lnTo>
                    <a:lnTo>
                      <a:pt x="279" y="31"/>
                    </a:lnTo>
                    <a:lnTo>
                      <a:pt x="163" y="62"/>
                    </a:lnTo>
                    <a:lnTo>
                      <a:pt x="50" y="118"/>
                    </a:lnTo>
                    <a:lnTo>
                      <a:pt x="2" y="185"/>
                    </a:lnTo>
                    <a:lnTo>
                      <a:pt x="0" y="16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0"/>
              </a:gra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Oval 6"/>
              <p:cNvSpPr/>
              <p:nvPr/>
            </p:nvSpPr>
            <p:spPr>
              <a:xfrm rot="5400000">
                <a:off x="1197720" y="1662120"/>
                <a:ext cx="803520" cy="253440"/>
              </a:xfrm>
              <a:prstGeom prst="ellipse">
                <a:avLst/>
              </a:prstGeom>
              <a:solidFill>
                <a:srgbClr val="666699"/>
              </a:solidFill>
              <a:ln w="38160">
                <a:solidFill>
                  <a:srgbClr val="6666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Oval 7"/>
              <p:cNvSpPr/>
              <p:nvPr/>
            </p:nvSpPr>
            <p:spPr>
              <a:xfrm rot="5400000">
                <a:off x="1604160" y="1762920"/>
                <a:ext cx="81360" cy="36360"/>
              </a:xfrm>
              <a:prstGeom prst="ellipse">
                <a:avLst/>
              </a:prstGeom>
              <a:solidFill>
                <a:srgbClr val="9933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0520" bIns="-2052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Rectangle 8"/>
              <p:cNvSpPr/>
              <p:nvPr/>
            </p:nvSpPr>
            <p:spPr>
              <a:xfrm rot="5400000">
                <a:off x="2104560" y="1291680"/>
                <a:ext cx="80280" cy="980640"/>
              </a:xfrm>
              <a:prstGeom prst="rect">
                <a:avLst/>
              </a:prstGeom>
              <a:solidFill>
                <a:srgbClr val="9933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Oval 9"/>
              <p:cNvSpPr/>
              <p:nvPr/>
            </p:nvSpPr>
            <p:spPr>
              <a:xfrm rot="5400000">
                <a:off x="1463040" y="1655640"/>
                <a:ext cx="8827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Oval 10"/>
              <p:cNvSpPr/>
              <p:nvPr/>
            </p:nvSpPr>
            <p:spPr>
              <a:xfrm rot="5400000">
                <a:off x="-117360" y="1650240"/>
                <a:ext cx="882720" cy="27864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1" name="Group 11"/>
            <p:cNvGrpSpPr/>
            <p:nvPr/>
          </p:nvGrpSpPr>
          <p:grpSpPr>
            <a:xfrm>
              <a:off x="179280" y="2433600"/>
              <a:ext cx="2085480" cy="874800"/>
              <a:chOff x="179280" y="2433600"/>
              <a:chExt cx="2085480" cy="874800"/>
            </a:xfrm>
          </p:grpSpPr>
          <p:sp>
            <p:nvSpPr>
              <p:cNvPr id="282" name="Freeform 12"/>
              <p:cNvSpPr/>
              <p:nvPr/>
            </p:nvSpPr>
            <p:spPr>
              <a:xfrm rot="5400000">
                <a:off x="950760" y="2237040"/>
                <a:ext cx="870480" cy="1263600"/>
              </a:xfrm>
              <a:custGeom>
                <a:avLst/>
                <a:gdLst>
                  <a:gd name="textAreaLeft" fmla="*/ 0 w 870480"/>
                  <a:gd name="textAreaRight" fmla="*/ 870840 w 870480"/>
                  <a:gd name="textAreaTop" fmla="*/ 0 h 1263600"/>
                  <a:gd name="textAreaBottom" fmla="*/ 1263600 h 1263600"/>
                  <a:gd name="GluePoint1X" fmla="*/ 0 w 1232"/>
                  <a:gd name="GluePoint1Y" fmla="*/ 15 h 1388"/>
                  <a:gd name="GluePoint2X" fmla="*/ 1 w 1232"/>
                  <a:gd name="GluePoint2Y" fmla="*/ 9 h 1388"/>
                  <a:gd name="GluePoint3X" fmla="*/ 1 w 1232"/>
                  <a:gd name="GluePoint3Y" fmla="*/ 7 h 1388"/>
                  <a:gd name="GluePoint4X" fmla="*/ 1 w 1232"/>
                  <a:gd name="GluePoint4Y" fmla="*/ 3 h 1388"/>
                  <a:gd name="GluePoint5X" fmla="*/ 1 w 1232"/>
                  <a:gd name="GluePoint5Y" fmla="*/ 3 h 1388"/>
                  <a:gd name="GluePoint6X" fmla="*/ 1 w 1232"/>
                  <a:gd name="GluePoint6Y" fmla="*/ 3 h 1388"/>
                  <a:gd name="GluePoint7X" fmla="*/ 1 w 1232"/>
                  <a:gd name="GluePoint7Y" fmla="*/ 0 h 1388"/>
                  <a:gd name="GluePoint8X" fmla="*/ 1 w 1232"/>
                  <a:gd name="GluePoint8Y" fmla="*/ 3 h 1388"/>
                  <a:gd name="GluePoint9X" fmla="*/ 1 w 1232"/>
                  <a:gd name="GluePoint9Y" fmla="*/ 3 h 1388"/>
                  <a:gd name="GluePoint10X" fmla="*/ 1 w 1232"/>
                  <a:gd name="GluePoint10Y" fmla="*/ 3 h 1388"/>
                  <a:gd name="GluePoint11X" fmla="*/ 1 w 1232"/>
                  <a:gd name="GluePoint11Y" fmla="*/ 4 h 1388"/>
                  <a:gd name="GluePoint12X" fmla="*/ 1 w 1232"/>
                  <a:gd name="GluePoint12Y" fmla="*/ 6 h 1388"/>
                  <a:gd name="GluePoint13X" fmla="*/ 1 w 1232"/>
                  <a:gd name="GluePoint13Y" fmla="*/ 11 h 1388"/>
                  <a:gd name="GluePoint14X" fmla="*/ 1 w 1232"/>
                  <a:gd name="GluePoint14Y" fmla="*/ 17 h 1388"/>
                  <a:gd name="GluePoint15X" fmla="*/ 1 w 1232"/>
                  <a:gd name="GluePoint15Y" fmla="*/ 108 h 1388"/>
                  <a:gd name="GluePoint16X" fmla="*/ 1 w 1232"/>
                  <a:gd name="GluePoint16Y" fmla="*/ 112 h 1388"/>
                  <a:gd name="GluePoint17X" fmla="*/ 1 w 1232"/>
                  <a:gd name="GluePoint17Y" fmla="*/ 115 h 1388"/>
                  <a:gd name="GluePoint18X" fmla="*/ 1 w 1232"/>
                  <a:gd name="GluePoint18Y" fmla="*/ 117 h 1388"/>
                  <a:gd name="GluePoint19X" fmla="*/ 1 w 1232"/>
                  <a:gd name="GluePoint19Y" fmla="*/ 118 h 1388"/>
                  <a:gd name="GluePoint20X" fmla="*/ 1 w 1232"/>
                  <a:gd name="GluePoint20Y" fmla="*/ 120 h 1388"/>
                  <a:gd name="GluePoint21X" fmla="*/ 1 w 1232"/>
                  <a:gd name="GluePoint21Y" fmla="*/ 120 h 1388"/>
                  <a:gd name="GluePoint22X" fmla="*/ 1 w 1232"/>
                  <a:gd name="GluePoint22Y" fmla="*/ 120 h 1388"/>
                  <a:gd name="GluePoint23X" fmla="*/ 1 w 1232"/>
                  <a:gd name="GluePoint23Y" fmla="*/ 120 h 1388"/>
                  <a:gd name="GluePoint24X" fmla="*/ 1 w 1232"/>
                  <a:gd name="GluePoint24Y" fmla="*/ 118 h 1388"/>
                  <a:gd name="GluePoint25X" fmla="*/ 1 w 1232"/>
                  <a:gd name="GluePoint25Y" fmla="*/ 117 h 1388"/>
                  <a:gd name="GluePoint26X" fmla="*/ 1 w 1232"/>
                  <a:gd name="GluePoint26Y" fmla="*/ 112 h 1388"/>
                  <a:gd name="GluePoint27X" fmla="*/ 1 w 1232"/>
                  <a:gd name="GluePoint27Y" fmla="*/ 108 h 1388"/>
                  <a:gd name="GluePoint28X" fmla="*/ 0 w 1232"/>
                  <a:gd name="GluePoint28Y" fmla="*/ 15 h 13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2" h="1388">
                    <a:moveTo>
                      <a:pt x="0" y="168"/>
                    </a:moveTo>
                    <a:lnTo>
                      <a:pt x="38" y="115"/>
                    </a:lnTo>
                    <a:lnTo>
                      <a:pt x="121" y="81"/>
                    </a:lnTo>
                    <a:lnTo>
                      <a:pt x="203" y="47"/>
                    </a:lnTo>
                    <a:lnTo>
                      <a:pt x="329" y="18"/>
                    </a:lnTo>
                    <a:lnTo>
                      <a:pt x="453" y="5"/>
                    </a:lnTo>
                    <a:lnTo>
                      <a:pt x="574" y="0"/>
                    </a:lnTo>
                    <a:lnTo>
                      <a:pt x="683" y="5"/>
                    </a:lnTo>
                    <a:lnTo>
                      <a:pt x="815" y="9"/>
                    </a:lnTo>
                    <a:lnTo>
                      <a:pt x="923" y="28"/>
                    </a:lnTo>
                    <a:lnTo>
                      <a:pt x="1035" y="48"/>
                    </a:lnTo>
                    <a:lnTo>
                      <a:pt x="1140" y="70"/>
                    </a:lnTo>
                    <a:lnTo>
                      <a:pt x="1200" y="123"/>
                    </a:lnTo>
                    <a:lnTo>
                      <a:pt x="1232" y="197"/>
                    </a:lnTo>
                    <a:lnTo>
                      <a:pt x="1228" y="1249"/>
                    </a:lnTo>
                    <a:lnTo>
                      <a:pt x="1174" y="1300"/>
                    </a:lnTo>
                    <a:lnTo>
                      <a:pt x="1073" y="1337"/>
                    </a:lnTo>
                    <a:lnTo>
                      <a:pt x="992" y="1355"/>
                    </a:lnTo>
                    <a:lnTo>
                      <a:pt x="885" y="1373"/>
                    </a:lnTo>
                    <a:lnTo>
                      <a:pt x="766" y="1383"/>
                    </a:lnTo>
                    <a:lnTo>
                      <a:pt x="663" y="1388"/>
                    </a:lnTo>
                    <a:lnTo>
                      <a:pt x="527" y="1388"/>
                    </a:lnTo>
                    <a:lnTo>
                      <a:pt x="395" y="1379"/>
                    </a:lnTo>
                    <a:lnTo>
                      <a:pt x="279" y="1364"/>
                    </a:lnTo>
                    <a:lnTo>
                      <a:pt x="162" y="1342"/>
                    </a:lnTo>
                    <a:lnTo>
                      <a:pt x="49" y="1300"/>
                    </a:lnTo>
                    <a:lnTo>
                      <a:pt x="1" y="1249"/>
                    </a:lnTo>
                    <a:lnTo>
                      <a:pt x="0" y="168"/>
                    </a:lnTo>
                    <a:close/>
                  </a:path>
                </a:pathLst>
              </a:custGeom>
              <a:noFill/>
              <a:ln w="64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eform 13"/>
              <p:cNvSpPr/>
              <p:nvPr/>
            </p:nvSpPr>
            <p:spPr>
              <a:xfrm rot="5400000">
                <a:off x="171000" y="2444040"/>
                <a:ext cx="872640" cy="8560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56080"/>
                  <a:gd name="textAreaBottom" fmla="*/ 856440 h 856080"/>
                  <a:gd name="GluePoint1X" fmla="*/ 0 w 1236"/>
                  <a:gd name="GluePoint1Y" fmla="*/ 83 h 930"/>
                  <a:gd name="GluePoint2X" fmla="*/ 1 w 1236"/>
                  <a:gd name="GluePoint2Y" fmla="*/ 87 h 930"/>
                  <a:gd name="GluePoint3X" fmla="*/ 1 w 1236"/>
                  <a:gd name="GluePoint3Y" fmla="*/ 89 h 930"/>
                  <a:gd name="GluePoint4X" fmla="*/ 1 w 1236"/>
                  <a:gd name="GluePoint4Y" fmla="*/ 92 h 930"/>
                  <a:gd name="GluePoint5X" fmla="*/ 1 w 1236"/>
                  <a:gd name="GluePoint5Y" fmla="*/ 94 h 930"/>
                  <a:gd name="GluePoint6X" fmla="*/ 1 w 1236"/>
                  <a:gd name="GluePoint6Y" fmla="*/ 95 h 930"/>
                  <a:gd name="GluePoint7X" fmla="*/ 1 w 1236"/>
                  <a:gd name="GluePoint7Y" fmla="*/ 96 h 930"/>
                  <a:gd name="GluePoint8X" fmla="*/ 1 w 1236"/>
                  <a:gd name="GluePoint8Y" fmla="*/ 96 h 930"/>
                  <a:gd name="GluePoint9X" fmla="*/ 1 w 1236"/>
                  <a:gd name="GluePoint9Y" fmla="*/ 95 h 930"/>
                  <a:gd name="GluePoint10X" fmla="*/ 1 w 1236"/>
                  <a:gd name="GluePoint10Y" fmla="*/ 94 h 930"/>
                  <a:gd name="GluePoint11X" fmla="*/ 1 w 1236"/>
                  <a:gd name="GluePoint11Y" fmla="*/ 91 h 930"/>
                  <a:gd name="GluePoint12X" fmla="*/ 1 w 1236"/>
                  <a:gd name="GluePoint12Y" fmla="*/ 89 h 930"/>
                  <a:gd name="GluePoint13X" fmla="*/ 1 w 1236"/>
                  <a:gd name="GluePoint13Y" fmla="*/ 86 h 930"/>
                  <a:gd name="GluePoint14X" fmla="*/ 1 w 1236"/>
                  <a:gd name="GluePoint14Y" fmla="*/ 81 h 930"/>
                  <a:gd name="GluePoint15X" fmla="*/ 1 w 1236"/>
                  <a:gd name="GluePoint15Y" fmla="*/ 9 h 930"/>
                  <a:gd name="GluePoint16X" fmla="*/ 1 w 1236"/>
                  <a:gd name="GluePoint16Y" fmla="*/ 6 h 930"/>
                  <a:gd name="GluePoint17X" fmla="*/ 1 w 1236"/>
                  <a:gd name="GluePoint17Y" fmla="*/ 3 h 930"/>
                  <a:gd name="GluePoint18X" fmla="*/ 1 w 1236"/>
                  <a:gd name="GluePoint18Y" fmla="*/ 3 h 930"/>
                  <a:gd name="GluePoint19X" fmla="*/ 1 w 1236"/>
                  <a:gd name="GluePoint19Y" fmla="*/ 3 h 930"/>
                  <a:gd name="GluePoint20X" fmla="*/ 1 w 1236"/>
                  <a:gd name="GluePoint20Y" fmla="*/ 3 h 930"/>
                  <a:gd name="GluePoint21X" fmla="*/ 1 w 1236"/>
                  <a:gd name="GluePoint21Y" fmla="*/ 0 h 930"/>
                  <a:gd name="GluePoint22X" fmla="*/ 1 w 1236"/>
                  <a:gd name="GluePoint22Y" fmla="*/ 0 h 930"/>
                  <a:gd name="GluePoint23X" fmla="*/ 1 w 1236"/>
                  <a:gd name="GluePoint23Y" fmla="*/ 3 h 930"/>
                  <a:gd name="GluePoint24X" fmla="*/ 1 w 1236"/>
                  <a:gd name="GluePoint24Y" fmla="*/ 3 h 930"/>
                  <a:gd name="GluePoint25X" fmla="*/ 1 w 1236"/>
                  <a:gd name="GluePoint25Y" fmla="*/ 3 h 930"/>
                  <a:gd name="GluePoint26X" fmla="*/ 1 w 1236"/>
                  <a:gd name="GluePoint26Y" fmla="*/ 6 h 930"/>
                  <a:gd name="GluePoint27X" fmla="*/ 1 w 1236"/>
                  <a:gd name="GluePoint27Y" fmla="*/ 9 h 930"/>
                  <a:gd name="GluePoint28X" fmla="*/ 0 w 1236"/>
                  <a:gd name="GluePoint28Y" fmla="*/ 83 h 9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6" h="930">
                    <a:moveTo>
                      <a:pt x="0" y="803"/>
                    </a:moveTo>
                    <a:lnTo>
                      <a:pt x="39" y="836"/>
                    </a:lnTo>
                    <a:lnTo>
                      <a:pt x="111" y="867"/>
                    </a:lnTo>
                    <a:lnTo>
                      <a:pt x="204" y="891"/>
                    </a:lnTo>
                    <a:lnTo>
                      <a:pt x="327" y="912"/>
                    </a:lnTo>
                    <a:lnTo>
                      <a:pt x="453" y="921"/>
                    </a:lnTo>
                    <a:lnTo>
                      <a:pt x="576" y="924"/>
                    </a:lnTo>
                    <a:lnTo>
                      <a:pt x="687" y="930"/>
                    </a:lnTo>
                    <a:lnTo>
                      <a:pt x="828" y="921"/>
                    </a:lnTo>
                    <a:lnTo>
                      <a:pt x="939" y="906"/>
                    </a:lnTo>
                    <a:lnTo>
                      <a:pt x="1038" y="888"/>
                    </a:lnTo>
                    <a:lnTo>
                      <a:pt x="1149" y="852"/>
                    </a:lnTo>
                    <a:lnTo>
                      <a:pt x="1215" y="821"/>
                    </a:lnTo>
                    <a:lnTo>
                      <a:pt x="1236" y="780"/>
                    </a:lnTo>
                    <a:lnTo>
                      <a:pt x="1229" y="90"/>
                    </a:lnTo>
                    <a:lnTo>
                      <a:pt x="1174" y="57"/>
                    </a:lnTo>
                    <a:lnTo>
                      <a:pt x="1073" y="33"/>
                    </a:lnTo>
                    <a:lnTo>
                      <a:pt x="992" y="21"/>
                    </a:lnTo>
                    <a:lnTo>
                      <a:pt x="885" y="9"/>
                    </a:lnTo>
                    <a:lnTo>
                      <a:pt x="767" y="3"/>
                    </a:lnTo>
                    <a:lnTo>
                      <a:pt x="664" y="0"/>
                    </a:lnTo>
                    <a:lnTo>
                      <a:pt x="528" y="0"/>
                    </a:lnTo>
                    <a:lnTo>
                      <a:pt x="396" y="6"/>
                    </a:lnTo>
                    <a:lnTo>
                      <a:pt x="279" y="15"/>
                    </a:lnTo>
                    <a:lnTo>
                      <a:pt x="163" y="30"/>
                    </a:lnTo>
                    <a:lnTo>
                      <a:pt x="50" y="57"/>
                    </a:lnTo>
                    <a:lnTo>
                      <a:pt x="2" y="90"/>
                    </a:lnTo>
                    <a:lnTo>
                      <a:pt x="0" y="8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16200000"/>
              </a:gradFill>
              <a:ln w="64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Oval 14"/>
              <p:cNvSpPr/>
              <p:nvPr/>
            </p:nvSpPr>
            <p:spPr>
              <a:xfrm rot="5400000">
                <a:off x="1444320" y="2734560"/>
                <a:ext cx="866880" cy="271440"/>
              </a:xfrm>
              <a:prstGeom prst="ellipse">
                <a:avLst/>
              </a:prstGeom>
              <a:solidFill>
                <a:srgbClr val="ffffff"/>
              </a:solidFill>
              <a:ln w="64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Oval 15"/>
              <p:cNvSpPr/>
              <p:nvPr/>
            </p:nvSpPr>
            <p:spPr>
              <a:xfrm rot="5400000">
                <a:off x="530280" y="2730600"/>
                <a:ext cx="788760" cy="270360"/>
              </a:xfrm>
              <a:prstGeom prst="ellipse">
                <a:avLst/>
              </a:prstGeom>
              <a:solidFill>
                <a:srgbClr val="666699"/>
              </a:solidFill>
              <a:ln w="38160">
                <a:solidFill>
                  <a:srgbClr val="6666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Oval 16"/>
              <p:cNvSpPr/>
              <p:nvPr/>
            </p:nvSpPr>
            <p:spPr>
              <a:xfrm rot="5400000">
                <a:off x="-118440" y="2734560"/>
                <a:ext cx="866880" cy="27144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87" name="Group 17"/>
              <p:cNvGrpSpPr/>
              <p:nvPr/>
            </p:nvGrpSpPr>
            <p:grpSpPr>
              <a:xfrm>
                <a:off x="915120" y="2814120"/>
                <a:ext cx="1349640" cy="93600"/>
                <a:chOff x="915120" y="2814120"/>
                <a:chExt cx="1349640" cy="93600"/>
              </a:xfrm>
            </p:grpSpPr>
            <p:sp>
              <p:nvSpPr>
                <p:cNvPr id="288" name="Oval 18"/>
                <p:cNvSpPr/>
                <p:nvPr/>
              </p:nvSpPr>
              <p:spPr>
                <a:xfrm rot="5400000">
                  <a:off x="883800" y="2845080"/>
                  <a:ext cx="93600" cy="31320"/>
                </a:xfrm>
                <a:prstGeom prst="ellipse">
                  <a:avLst/>
                </a:prstGeom>
                <a:solidFill>
                  <a:srgbClr val="993300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4120" bIns="-24120" anchor="t">
                  <a:normAutofit fontScale="25000" lnSpcReduction="19999"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9" name="Rectangle 19"/>
                <p:cNvSpPr/>
                <p:nvPr/>
              </p:nvSpPr>
              <p:spPr>
                <a:xfrm rot="5400000">
                  <a:off x="1554480" y="2191680"/>
                  <a:ext cx="86400" cy="1334160"/>
                </a:xfrm>
                <a:prstGeom prst="rect">
                  <a:avLst/>
                </a:prstGeom>
                <a:solidFill>
                  <a:srgbClr val="9933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rmAutofit fontScale="25000" lnSpcReduction="19999"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90" name="Group 20"/>
            <p:cNvGrpSpPr/>
            <p:nvPr/>
          </p:nvGrpSpPr>
          <p:grpSpPr>
            <a:xfrm>
              <a:off x="188280" y="3506040"/>
              <a:ext cx="1957680" cy="878400"/>
              <a:chOff x="188280" y="3506040"/>
              <a:chExt cx="1957680" cy="878400"/>
            </a:xfrm>
          </p:grpSpPr>
          <p:sp>
            <p:nvSpPr>
              <p:cNvPr id="291" name="Freeform 21"/>
              <p:cNvSpPr/>
              <p:nvPr/>
            </p:nvSpPr>
            <p:spPr>
              <a:xfrm rot="5400000">
                <a:off x="795960" y="3145680"/>
                <a:ext cx="871920" cy="1592640"/>
              </a:xfrm>
              <a:custGeom>
                <a:avLst/>
                <a:gdLst>
                  <a:gd name="textAreaLeft" fmla="*/ 0 w 871920"/>
                  <a:gd name="textAreaRight" fmla="*/ 872280 w 871920"/>
                  <a:gd name="textAreaTop" fmla="*/ 0 h 1592640"/>
                  <a:gd name="textAreaBottom" fmla="*/ 1593000 h 1592640"/>
                  <a:gd name="GluePoint1X" fmla="*/ 0 w 1232"/>
                  <a:gd name="GluePoint1Y" fmla="*/ 18 h 1748"/>
                  <a:gd name="GluePoint2X" fmla="*/ 1 w 1232"/>
                  <a:gd name="GluePoint2Y" fmla="*/ 13 h 1748"/>
                  <a:gd name="GluePoint3X" fmla="*/ 1 w 1232"/>
                  <a:gd name="GluePoint3Y" fmla="*/ 7 h 1748"/>
                  <a:gd name="GluePoint4X" fmla="*/ 1 w 1232"/>
                  <a:gd name="GluePoint4Y" fmla="*/ 3 h 1748"/>
                  <a:gd name="GluePoint5X" fmla="*/ 1 w 1232"/>
                  <a:gd name="GluePoint5Y" fmla="*/ 3 h 1748"/>
                  <a:gd name="GluePoint6X" fmla="*/ 1 w 1232"/>
                  <a:gd name="GluePoint6Y" fmla="*/ 3 h 1748"/>
                  <a:gd name="GluePoint7X" fmla="*/ 1 w 1232"/>
                  <a:gd name="GluePoint7Y" fmla="*/ 0 h 1748"/>
                  <a:gd name="GluePoint8X" fmla="*/ 1 w 1232"/>
                  <a:gd name="GluePoint8Y" fmla="*/ 3 h 1748"/>
                  <a:gd name="GluePoint9X" fmla="*/ 1 w 1232"/>
                  <a:gd name="GluePoint9Y" fmla="*/ 3 h 1748"/>
                  <a:gd name="GluePoint10X" fmla="*/ 1 w 1232"/>
                  <a:gd name="GluePoint10Y" fmla="*/ 3 h 1748"/>
                  <a:gd name="GluePoint11X" fmla="*/ 1 w 1232"/>
                  <a:gd name="GluePoint11Y" fmla="*/ 4 h 1748"/>
                  <a:gd name="GluePoint12X" fmla="*/ 1 w 1232"/>
                  <a:gd name="GluePoint12Y" fmla="*/ 8 h 1748"/>
                  <a:gd name="GluePoint13X" fmla="*/ 1 w 1232"/>
                  <a:gd name="GluePoint13Y" fmla="*/ 13 h 1748"/>
                  <a:gd name="GluePoint14X" fmla="*/ 1 w 1232"/>
                  <a:gd name="GluePoint14Y" fmla="*/ 21 h 1748"/>
                  <a:gd name="GluePoint15X" fmla="*/ 1 w 1232"/>
                  <a:gd name="GluePoint15Y" fmla="*/ 137 h 1748"/>
                  <a:gd name="GluePoint16X" fmla="*/ 1 w 1232"/>
                  <a:gd name="GluePoint16Y" fmla="*/ 143 h 1748"/>
                  <a:gd name="GluePoint17X" fmla="*/ 1 w 1232"/>
                  <a:gd name="GluePoint17Y" fmla="*/ 148 h 1748"/>
                  <a:gd name="GluePoint18X" fmla="*/ 1 w 1232"/>
                  <a:gd name="GluePoint18Y" fmla="*/ 149 h 1748"/>
                  <a:gd name="GluePoint19X" fmla="*/ 1 w 1232"/>
                  <a:gd name="GluePoint19Y" fmla="*/ 151 h 1748"/>
                  <a:gd name="GluePoint20X" fmla="*/ 1 w 1232"/>
                  <a:gd name="GluePoint20Y" fmla="*/ 152 h 1748"/>
                  <a:gd name="GluePoint21X" fmla="*/ 1 w 1232"/>
                  <a:gd name="GluePoint21Y" fmla="*/ 154 h 1748"/>
                  <a:gd name="GluePoint22X" fmla="*/ 1 w 1232"/>
                  <a:gd name="GluePoint22Y" fmla="*/ 154 h 1748"/>
                  <a:gd name="GluePoint23X" fmla="*/ 1 w 1232"/>
                  <a:gd name="GluePoint23Y" fmla="*/ 152 h 1748"/>
                  <a:gd name="GluePoint24X" fmla="*/ 1 w 1232"/>
                  <a:gd name="GluePoint24Y" fmla="*/ 150 h 1748"/>
                  <a:gd name="GluePoint25X" fmla="*/ 1 w 1232"/>
                  <a:gd name="GluePoint25Y" fmla="*/ 148 h 1748"/>
                  <a:gd name="GluePoint26X" fmla="*/ 1 w 1232"/>
                  <a:gd name="GluePoint26Y" fmla="*/ 143 h 1748"/>
                  <a:gd name="GluePoint27X" fmla="*/ 1 w 1232"/>
                  <a:gd name="GluePoint27Y" fmla="*/ 137 h 1748"/>
                  <a:gd name="GluePoint28X" fmla="*/ 0 w 1232"/>
                  <a:gd name="GluePoint28Y" fmla="*/ 18 h 17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2" h="1748">
                    <a:moveTo>
                      <a:pt x="0" y="212"/>
                    </a:moveTo>
                    <a:lnTo>
                      <a:pt x="3" y="151"/>
                    </a:lnTo>
                    <a:lnTo>
                      <a:pt x="99" y="76"/>
                    </a:lnTo>
                    <a:lnTo>
                      <a:pt x="204" y="46"/>
                    </a:lnTo>
                    <a:lnTo>
                      <a:pt x="329" y="23"/>
                    </a:lnTo>
                    <a:lnTo>
                      <a:pt x="453" y="6"/>
                    </a:lnTo>
                    <a:lnTo>
                      <a:pt x="574" y="0"/>
                    </a:lnTo>
                    <a:lnTo>
                      <a:pt x="683" y="6"/>
                    </a:lnTo>
                    <a:lnTo>
                      <a:pt x="815" y="11"/>
                    </a:lnTo>
                    <a:lnTo>
                      <a:pt x="927" y="25"/>
                    </a:lnTo>
                    <a:lnTo>
                      <a:pt x="1047" y="49"/>
                    </a:lnTo>
                    <a:lnTo>
                      <a:pt x="1140" y="88"/>
                    </a:lnTo>
                    <a:lnTo>
                      <a:pt x="1230" y="148"/>
                    </a:lnTo>
                    <a:lnTo>
                      <a:pt x="1232" y="248"/>
                    </a:lnTo>
                    <a:lnTo>
                      <a:pt x="1228" y="1573"/>
                    </a:lnTo>
                    <a:lnTo>
                      <a:pt x="1174" y="1637"/>
                    </a:lnTo>
                    <a:lnTo>
                      <a:pt x="1073" y="1684"/>
                    </a:lnTo>
                    <a:lnTo>
                      <a:pt x="992" y="1706"/>
                    </a:lnTo>
                    <a:lnTo>
                      <a:pt x="885" y="1729"/>
                    </a:lnTo>
                    <a:lnTo>
                      <a:pt x="766" y="1742"/>
                    </a:lnTo>
                    <a:lnTo>
                      <a:pt x="663" y="1748"/>
                    </a:lnTo>
                    <a:lnTo>
                      <a:pt x="527" y="1748"/>
                    </a:lnTo>
                    <a:lnTo>
                      <a:pt x="395" y="1737"/>
                    </a:lnTo>
                    <a:lnTo>
                      <a:pt x="279" y="1718"/>
                    </a:lnTo>
                    <a:lnTo>
                      <a:pt x="162" y="1690"/>
                    </a:lnTo>
                    <a:lnTo>
                      <a:pt x="49" y="1637"/>
                    </a:lnTo>
                    <a:lnTo>
                      <a:pt x="1" y="1573"/>
                    </a:lnTo>
                    <a:lnTo>
                      <a:pt x="0" y="212"/>
                    </a:lnTo>
                    <a:close/>
                  </a:path>
                </a:pathLst>
              </a:custGeom>
              <a:noFill/>
              <a:ln w="284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Freeform 22"/>
              <p:cNvSpPr/>
              <p:nvPr/>
            </p:nvSpPr>
            <p:spPr>
              <a:xfrm rot="5400000">
                <a:off x="-4680" y="3707640"/>
                <a:ext cx="876240" cy="477360"/>
              </a:xfrm>
              <a:custGeom>
                <a:avLst/>
                <a:gdLst>
                  <a:gd name="textAreaLeft" fmla="*/ 0 w 876240"/>
                  <a:gd name="textAreaRight" fmla="*/ 876600 w 876240"/>
                  <a:gd name="textAreaTop" fmla="*/ 0 h 477360"/>
                  <a:gd name="textAreaBottom" fmla="*/ 477720 h 477360"/>
                  <a:gd name="GluePoint1X" fmla="*/ 0 w 1239"/>
                  <a:gd name="GluePoint1Y" fmla="*/ 34 h 524"/>
                  <a:gd name="GluePoint2X" fmla="*/ 1 w 1239"/>
                  <a:gd name="GluePoint2Y" fmla="*/ 39 h 524"/>
                  <a:gd name="GluePoint3X" fmla="*/ 1 w 1239"/>
                  <a:gd name="GluePoint3Y" fmla="*/ 41 h 524"/>
                  <a:gd name="GluePoint4X" fmla="*/ 1 w 1239"/>
                  <a:gd name="GluePoint4Y" fmla="*/ 43 h 524"/>
                  <a:gd name="GluePoint5X" fmla="*/ 1 w 1239"/>
                  <a:gd name="GluePoint5Y" fmla="*/ 45 h 524"/>
                  <a:gd name="GluePoint6X" fmla="*/ 1 w 1239"/>
                  <a:gd name="GluePoint6Y" fmla="*/ 45 h 524"/>
                  <a:gd name="GluePoint7X" fmla="*/ 1 w 1239"/>
                  <a:gd name="GluePoint7Y" fmla="*/ 46 h 524"/>
                  <a:gd name="GluePoint8X" fmla="*/ 1 w 1239"/>
                  <a:gd name="GluePoint8Y" fmla="*/ 45 h 524"/>
                  <a:gd name="GluePoint9X" fmla="*/ 1 w 1239"/>
                  <a:gd name="GluePoint9Y" fmla="*/ 45 h 524"/>
                  <a:gd name="GluePoint10X" fmla="*/ 1 w 1239"/>
                  <a:gd name="GluePoint10Y" fmla="*/ 45 h 524"/>
                  <a:gd name="GluePoint11X" fmla="*/ 1 w 1239"/>
                  <a:gd name="GluePoint11Y" fmla="*/ 45 h 524"/>
                  <a:gd name="GluePoint12X" fmla="*/ 1 w 1239"/>
                  <a:gd name="GluePoint12Y" fmla="*/ 40 h 524"/>
                  <a:gd name="GluePoint13X" fmla="*/ 1 w 1239"/>
                  <a:gd name="GluePoint13Y" fmla="*/ 37 h 524"/>
                  <a:gd name="GluePoint14X" fmla="*/ 1 w 1239"/>
                  <a:gd name="GluePoint14Y" fmla="*/ 33 h 524"/>
                  <a:gd name="GluePoint15X" fmla="*/ 1 w 1239"/>
                  <a:gd name="GluePoint15Y" fmla="*/ 4 h 524"/>
                  <a:gd name="GluePoint16X" fmla="*/ 1 w 1239"/>
                  <a:gd name="GluePoint16Y" fmla="*/ 3 h 524"/>
                  <a:gd name="GluePoint17X" fmla="*/ 1 w 1239"/>
                  <a:gd name="GluePoint17Y" fmla="*/ 3 h 524"/>
                  <a:gd name="GluePoint18X" fmla="*/ 1 w 1239"/>
                  <a:gd name="GluePoint18Y" fmla="*/ 3 h 524"/>
                  <a:gd name="GluePoint19X" fmla="*/ 1 w 1239"/>
                  <a:gd name="GluePoint19Y" fmla="*/ 3 h 524"/>
                  <a:gd name="GluePoint20X" fmla="*/ 1 w 1239"/>
                  <a:gd name="GluePoint20Y" fmla="*/ 2 h 524"/>
                  <a:gd name="GluePoint21X" fmla="*/ 1 w 1239"/>
                  <a:gd name="GluePoint21Y" fmla="*/ 0 h 524"/>
                  <a:gd name="GluePoint22X" fmla="*/ 1 w 1239"/>
                  <a:gd name="GluePoint22Y" fmla="*/ 0 h 524"/>
                  <a:gd name="GluePoint23X" fmla="*/ 1 w 1239"/>
                  <a:gd name="GluePoint23Y" fmla="*/ 3 h 524"/>
                  <a:gd name="GluePoint24X" fmla="*/ 1 w 1239"/>
                  <a:gd name="GluePoint24Y" fmla="*/ 3 h 524"/>
                  <a:gd name="GluePoint25X" fmla="*/ 1 w 1239"/>
                  <a:gd name="GluePoint25Y" fmla="*/ 3 h 524"/>
                  <a:gd name="GluePoint26X" fmla="*/ 1 w 1239"/>
                  <a:gd name="GluePoint26Y" fmla="*/ 3 h 524"/>
                  <a:gd name="GluePoint27X" fmla="*/ 1 w 1239"/>
                  <a:gd name="GluePoint27Y" fmla="*/ 4 h 524"/>
                  <a:gd name="GluePoint28X" fmla="*/ 0 w 1239"/>
                  <a:gd name="GluePoint28Y" fmla="*/ 34 h 52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9" h="524">
                    <a:moveTo>
                      <a:pt x="0" y="386"/>
                    </a:moveTo>
                    <a:lnTo>
                      <a:pt x="54" y="440"/>
                    </a:lnTo>
                    <a:lnTo>
                      <a:pt x="123" y="470"/>
                    </a:lnTo>
                    <a:lnTo>
                      <a:pt x="210" y="494"/>
                    </a:lnTo>
                    <a:lnTo>
                      <a:pt x="330" y="512"/>
                    </a:lnTo>
                    <a:lnTo>
                      <a:pt x="453" y="518"/>
                    </a:lnTo>
                    <a:lnTo>
                      <a:pt x="573" y="524"/>
                    </a:lnTo>
                    <a:lnTo>
                      <a:pt x="687" y="520"/>
                    </a:lnTo>
                    <a:lnTo>
                      <a:pt x="828" y="515"/>
                    </a:lnTo>
                    <a:lnTo>
                      <a:pt x="939" y="507"/>
                    </a:lnTo>
                    <a:lnTo>
                      <a:pt x="1038" y="497"/>
                    </a:lnTo>
                    <a:lnTo>
                      <a:pt x="1143" y="458"/>
                    </a:lnTo>
                    <a:lnTo>
                      <a:pt x="1200" y="422"/>
                    </a:lnTo>
                    <a:lnTo>
                      <a:pt x="1239" y="380"/>
                    </a:lnTo>
                    <a:lnTo>
                      <a:pt x="1229" y="50"/>
                    </a:lnTo>
                    <a:lnTo>
                      <a:pt x="1174" y="32"/>
                    </a:lnTo>
                    <a:lnTo>
                      <a:pt x="1073" y="18"/>
                    </a:lnTo>
                    <a:lnTo>
                      <a:pt x="992" y="12"/>
                    </a:lnTo>
                    <a:lnTo>
                      <a:pt x="885" y="5"/>
                    </a:lnTo>
                    <a:lnTo>
                      <a:pt x="767" y="2"/>
                    </a:lnTo>
                    <a:lnTo>
                      <a:pt x="664" y="0"/>
                    </a:lnTo>
                    <a:lnTo>
                      <a:pt x="528" y="0"/>
                    </a:lnTo>
                    <a:lnTo>
                      <a:pt x="396" y="3"/>
                    </a:lnTo>
                    <a:lnTo>
                      <a:pt x="279" y="8"/>
                    </a:lnTo>
                    <a:lnTo>
                      <a:pt x="163" y="17"/>
                    </a:lnTo>
                    <a:lnTo>
                      <a:pt x="50" y="32"/>
                    </a:lnTo>
                    <a:lnTo>
                      <a:pt x="2" y="50"/>
                    </a:lnTo>
                    <a:lnTo>
                      <a:pt x="0" y="3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16200000"/>
              </a:gradFill>
              <a:ln w="284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Oval 23"/>
              <p:cNvSpPr/>
              <p:nvPr/>
            </p:nvSpPr>
            <p:spPr>
              <a:xfrm rot="5400000">
                <a:off x="1451880" y="3807360"/>
                <a:ext cx="868680" cy="272520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Oval 24"/>
              <p:cNvSpPr/>
              <p:nvPr/>
            </p:nvSpPr>
            <p:spPr>
              <a:xfrm rot="5400000">
                <a:off x="-110520" y="3808080"/>
                <a:ext cx="868680" cy="27108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Oval 25"/>
              <p:cNvSpPr/>
              <p:nvPr/>
            </p:nvSpPr>
            <p:spPr>
              <a:xfrm rot="5400000">
                <a:off x="256680" y="3803760"/>
                <a:ext cx="790200" cy="270360"/>
              </a:xfrm>
              <a:prstGeom prst="ellipse">
                <a:avLst/>
              </a:prstGeom>
              <a:solidFill>
                <a:srgbClr val="666699"/>
              </a:solidFill>
              <a:ln w="28440">
                <a:solidFill>
                  <a:srgbClr val="6666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96" name="Group 26"/>
              <p:cNvGrpSpPr/>
              <p:nvPr/>
            </p:nvGrpSpPr>
            <p:grpSpPr>
              <a:xfrm>
                <a:off x="642600" y="3895560"/>
                <a:ext cx="1503360" cy="78120"/>
                <a:chOff x="642600" y="3895560"/>
                <a:chExt cx="1503360" cy="78120"/>
              </a:xfrm>
            </p:grpSpPr>
            <p:sp>
              <p:nvSpPr>
                <p:cNvPr id="297" name="Oval 27"/>
                <p:cNvSpPr/>
                <p:nvPr/>
              </p:nvSpPr>
              <p:spPr>
                <a:xfrm rot="5400000">
                  <a:off x="621000" y="3917160"/>
                  <a:ext cx="78120" cy="34920"/>
                </a:xfrm>
                <a:prstGeom prst="ellipse">
                  <a:avLst/>
                </a:prstGeom>
                <a:solidFill>
                  <a:srgbClr val="993300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21960" bIns="-21960" anchor="t">
                  <a:normAutofit fontScale="25000" lnSpcReduction="19999"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8" name="Rectangle 28"/>
                <p:cNvSpPr/>
                <p:nvPr/>
              </p:nvSpPr>
              <p:spPr>
                <a:xfrm rot="5400000">
                  <a:off x="1366920" y="3189600"/>
                  <a:ext cx="72000" cy="1486080"/>
                </a:xfrm>
                <a:prstGeom prst="rect">
                  <a:avLst/>
                </a:prstGeom>
                <a:solidFill>
                  <a:srgbClr val="9933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rmAutofit fontScale="25000" lnSpcReduction="19999"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99" name="Group 29"/>
            <p:cNvGrpSpPr/>
            <p:nvPr/>
          </p:nvGrpSpPr>
          <p:grpSpPr>
            <a:xfrm>
              <a:off x="180000" y="4590720"/>
              <a:ext cx="2233080" cy="877320"/>
              <a:chOff x="180000" y="4590720"/>
              <a:chExt cx="2233080" cy="877320"/>
            </a:xfrm>
          </p:grpSpPr>
          <p:sp>
            <p:nvSpPr>
              <p:cNvPr id="300" name="Freeform 30"/>
              <p:cNvSpPr/>
              <p:nvPr/>
            </p:nvSpPr>
            <p:spPr>
              <a:xfrm rot="5400000">
                <a:off x="952560" y="4394160"/>
                <a:ext cx="870480" cy="1263600"/>
              </a:xfrm>
              <a:custGeom>
                <a:avLst/>
                <a:gdLst>
                  <a:gd name="textAreaLeft" fmla="*/ 0 w 870480"/>
                  <a:gd name="textAreaRight" fmla="*/ 870840 w 870480"/>
                  <a:gd name="textAreaTop" fmla="*/ 0 h 1263600"/>
                  <a:gd name="textAreaBottom" fmla="*/ 1263600 h 1263600"/>
                  <a:gd name="GluePoint1X" fmla="*/ 0 w 1232"/>
                  <a:gd name="GluePoint1Y" fmla="*/ 15 h 1388"/>
                  <a:gd name="GluePoint2X" fmla="*/ 1 w 1232"/>
                  <a:gd name="GluePoint2Y" fmla="*/ 9 h 1388"/>
                  <a:gd name="GluePoint3X" fmla="*/ 1 w 1232"/>
                  <a:gd name="GluePoint3Y" fmla="*/ 7 h 1388"/>
                  <a:gd name="GluePoint4X" fmla="*/ 1 w 1232"/>
                  <a:gd name="GluePoint4Y" fmla="*/ 3 h 1388"/>
                  <a:gd name="GluePoint5X" fmla="*/ 1 w 1232"/>
                  <a:gd name="GluePoint5Y" fmla="*/ 3 h 1388"/>
                  <a:gd name="GluePoint6X" fmla="*/ 1 w 1232"/>
                  <a:gd name="GluePoint6Y" fmla="*/ 3 h 1388"/>
                  <a:gd name="GluePoint7X" fmla="*/ 1 w 1232"/>
                  <a:gd name="GluePoint7Y" fmla="*/ 0 h 1388"/>
                  <a:gd name="GluePoint8X" fmla="*/ 1 w 1232"/>
                  <a:gd name="GluePoint8Y" fmla="*/ 3 h 1388"/>
                  <a:gd name="GluePoint9X" fmla="*/ 1 w 1232"/>
                  <a:gd name="GluePoint9Y" fmla="*/ 3 h 1388"/>
                  <a:gd name="GluePoint10X" fmla="*/ 1 w 1232"/>
                  <a:gd name="GluePoint10Y" fmla="*/ 3 h 1388"/>
                  <a:gd name="GluePoint11X" fmla="*/ 1 w 1232"/>
                  <a:gd name="GluePoint11Y" fmla="*/ 4 h 1388"/>
                  <a:gd name="GluePoint12X" fmla="*/ 1 w 1232"/>
                  <a:gd name="GluePoint12Y" fmla="*/ 6 h 1388"/>
                  <a:gd name="GluePoint13X" fmla="*/ 1 w 1232"/>
                  <a:gd name="GluePoint13Y" fmla="*/ 11 h 1388"/>
                  <a:gd name="GluePoint14X" fmla="*/ 1 w 1232"/>
                  <a:gd name="GluePoint14Y" fmla="*/ 17 h 1388"/>
                  <a:gd name="GluePoint15X" fmla="*/ 1 w 1232"/>
                  <a:gd name="GluePoint15Y" fmla="*/ 108 h 1388"/>
                  <a:gd name="GluePoint16X" fmla="*/ 1 w 1232"/>
                  <a:gd name="GluePoint16Y" fmla="*/ 112 h 1388"/>
                  <a:gd name="GluePoint17X" fmla="*/ 1 w 1232"/>
                  <a:gd name="GluePoint17Y" fmla="*/ 115 h 1388"/>
                  <a:gd name="GluePoint18X" fmla="*/ 1 w 1232"/>
                  <a:gd name="GluePoint18Y" fmla="*/ 117 h 1388"/>
                  <a:gd name="GluePoint19X" fmla="*/ 1 w 1232"/>
                  <a:gd name="GluePoint19Y" fmla="*/ 118 h 1388"/>
                  <a:gd name="GluePoint20X" fmla="*/ 1 w 1232"/>
                  <a:gd name="GluePoint20Y" fmla="*/ 120 h 1388"/>
                  <a:gd name="GluePoint21X" fmla="*/ 1 w 1232"/>
                  <a:gd name="GluePoint21Y" fmla="*/ 120 h 1388"/>
                  <a:gd name="GluePoint22X" fmla="*/ 1 w 1232"/>
                  <a:gd name="GluePoint22Y" fmla="*/ 120 h 1388"/>
                  <a:gd name="GluePoint23X" fmla="*/ 1 w 1232"/>
                  <a:gd name="GluePoint23Y" fmla="*/ 120 h 1388"/>
                  <a:gd name="GluePoint24X" fmla="*/ 1 w 1232"/>
                  <a:gd name="GluePoint24Y" fmla="*/ 118 h 1388"/>
                  <a:gd name="GluePoint25X" fmla="*/ 1 w 1232"/>
                  <a:gd name="GluePoint25Y" fmla="*/ 117 h 1388"/>
                  <a:gd name="GluePoint26X" fmla="*/ 1 w 1232"/>
                  <a:gd name="GluePoint26Y" fmla="*/ 112 h 1388"/>
                  <a:gd name="GluePoint27X" fmla="*/ 1 w 1232"/>
                  <a:gd name="GluePoint27Y" fmla="*/ 108 h 1388"/>
                  <a:gd name="GluePoint28X" fmla="*/ 0 w 1232"/>
                  <a:gd name="GluePoint28Y" fmla="*/ 15 h 13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2" h="1388">
                    <a:moveTo>
                      <a:pt x="0" y="168"/>
                    </a:moveTo>
                    <a:lnTo>
                      <a:pt x="38" y="115"/>
                    </a:lnTo>
                    <a:lnTo>
                      <a:pt x="121" y="81"/>
                    </a:lnTo>
                    <a:lnTo>
                      <a:pt x="203" y="47"/>
                    </a:lnTo>
                    <a:lnTo>
                      <a:pt x="329" y="18"/>
                    </a:lnTo>
                    <a:lnTo>
                      <a:pt x="453" y="5"/>
                    </a:lnTo>
                    <a:lnTo>
                      <a:pt x="574" y="0"/>
                    </a:lnTo>
                    <a:lnTo>
                      <a:pt x="683" y="5"/>
                    </a:lnTo>
                    <a:lnTo>
                      <a:pt x="815" y="9"/>
                    </a:lnTo>
                    <a:lnTo>
                      <a:pt x="923" y="28"/>
                    </a:lnTo>
                    <a:lnTo>
                      <a:pt x="1035" y="48"/>
                    </a:lnTo>
                    <a:lnTo>
                      <a:pt x="1140" y="70"/>
                    </a:lnTo>
                    <a:lnTo>
                      <a:pt x="1200" y="123"/>
                    </a:lnTo>
                    <a:lnTo>
                      <a:pt x="1232" y="197"/>
                    </a:lnTo>
                    <a:lnTo>
                      <a:pt x="1228" y="1249"/>
                    </a:lnTo>
                    <a:lnTo>
                      <a:pt x="1174" y="1300"/>
                    </a:lnTo>
                    <a:lnTo>
                      <a:pt x="1073" y="1337"/>
                    </a:lnTo>
                    <a:lnTo>
                      <a:pt x="992" y="1355"/>
                    </a:lnTo>
                    <a:lnTo>
                      <a:pt x="885" y="1373"/>
                    </a:lnTo>
                    <a:lnTo>
                      <a:pt x="766" y="1383"/>
                    </a:lnTo>
                    <a:lnTo>
                      <a:pt x="663" y="1388"/>
                    </a:lnTo>
                    <a:lnTo>
                      <a:pt x="527" y="1388"/>
                    </a:lnTo>
                    <a:lnTo>
                      <a:pt x="395" y="1379"/>
                    </a:lnTo>
                    <a:lnTo>
                      <a:pt x="279" y="1364"/>
                    </a:lnTo>
                    <a:lnTo>
                      <a:pt x="162" y="1342"/>
                    </a:lnTo>
                    <a:lnTo>
                      <a:pt x="49" y="1300"/>
                    </a:lnTo>
                    <a:lnTo>
                      <a:pt x="1" y="1249"/>
                    </a:lnTo>
                    <a:lnTo>
                      <a:pt x="0" y="168"/>
                    </a:lnTo>
                    <a:close/>
                  </a:path>
                </a:pathLst>
              </a:custGeom>
              <a:noFill/>
              <a:ln w="64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eform 31"/>
              <p:cNvSpPr/>
              <p:nvPr/>
            </p:nvSpPr>
            <p:spPr>
              <a:xfrm rot="5400000">
                <a:off x="375480" y="4395960"/>
                <a:ext cx="877320" cy="1266840"/>
              </a:xfrm>
              <a:custGeom>
                <a:avLst/>
                <a:gdLst>
                  <a:gd name="textAreaLeft" fmla="*/ 0 w 877320"/>
                  <a:gd name="textAreaRight" fmla="*/ 877680 w 877320"/>
                  <a:gd name="textAreaTop" fmla="*/ 0 h 1266840"/>
                  <a:gd name="textAreaBottom" fmla="*/ 1266840 h 1266840"/>
                  <a:gd name="GluePoint1X" fmla="*/ 0 w 1242"/>
                  <a:gd name="GluePoint1Y" fmla="*/ 110 h 1390"/>
                  <a:gd name="GluePoint2X" fmla="*/ 1 w 1242"/>
                  <a:gd name="GluePoint2Y" fmla="*/ 114 h 1390"/>
                  <a:gd name="GluePoint3X" fmla="*/ 1 w 1242"/>
                  <a:gd name="GluePoint3Y" fmla="*/ 117 h 1390"/>
                  <a:gd name="GluePoint4X" fmla="*/ 1 w 1242"/>
                  <a:gd name="GluePoint4Y" fmla="*/ 118 h 1390"/>
                  <a:gd name="GluePoint5X" fmla="*/ 1 w 1242"/>
                  <a:gd name="GluePoint5Y" fmla="*/ 121 h 1390"/>
                  <a:gd name="GluePoint6X" fmla="*/ 1 w 1242"/>
                  <a:gd name="GluePoint6Y" fmla="*/ 122 h 1390"/>
                  <a:gd name="GluePoint7X" fmla="*/ 1 w 1242"/>
                  <a:gd name="GluePoint7Y" fmla="*/ 122 h 1390"/>
                  <a:gd name="GluePoint8X" fmla="*/ 1 w 1242"/>
                  <a:gd name="GluePoint8Y" fmla="*/ 122 h 1390"/>
                  <a:gd name="GluePoint9X" fmla="*/ 1 w 1242"/>
                  <a:gd name="GluePoint9Y" fmla="*/ 121 h 1390"/>
                  <a:gd name="GluePoint10X" fmla="*/ 1 w 1242"/>
                  <a:gd name="GluePoint10Y" fmla="*/ 120 h 1390"/>
                  <a:gd name="GluePoint11X" fmla="*/ 1 w 1242"/>
                  <a:gd name="GluePoint11Y" fmla="*/ 118 h 1390"/>
                  <a:gd name="GluePoint12X" fmla="*/ 1 w 1242"/>
                  <a:gd name="GluePoint12Y" fmla="*/ 114 h 1390"/>
                  <a:gd name="GluePoint13X" fmla="*/ 1 w 1242"/>
                  <a:gd name="GluePoint13Y" fmla="*/ 112 h 1390"/>
                  <a:gd name="GluePoint14X" fmla="*/ 1 w 1242"/>
                  <a:gd name="GluePoint14Y" fmla="*/ 109 h 1390"/>
                  <a:gd name="GluePoint15X" fmla="*/ 1 w 1242"/>
                  <a:gd name="GluePoint15Y" fmla="*/ 11 h 1390"/>
                  <a:gd name="GluePoint16X" fmla="*/ 1 w 1242"/>
                  <a:gd name="GluePoint16Y" fmla="*/ 7 h 1390"/>
                  <a:gd name="GluePoint17X" fmla="*/ 1 w 1242"/>
                  <a:gd name="GluePoint17Y" fmla="*/ 4 h 1390"/>
                  <a:gd name="GluePoint18X" fmla="*/ 1 w 1242"/>
                  <a:gd name="GluePoint18Y" fmla="*/ 3 h 1390"/>
                  <a:gd name="GluePoint19X" fmla="*/ 1 w 1242"/>
                  <a:gd name="GluePoint19Y" fmla="*/ 3 h 1390"/>
                  <a:gd name="GluePoint20X" fmla="*/ 1 w 1242"/>
                  <a:gd name="GluePoint20Y" fmla="*/ 3 h 1390"/>
                  <a:gd name="GluePoint21X" fmla="*/ 1 w 1242"/>
                  <a:gd name="GluePoint21Y" fmla="*/ 0 h 1390"/>
                  <a:gd name="GluePoint22X" fmla="*/ 1 w 1242"/>
                  <a:gd name="GluePoint22Y" fmla="*/ 0 h 1390"/>
                  <a:gd name="GluePoint23X" fmla="*/ 1 w 1242"/>
                  <a:gd name="GluePoint23Y" fmla="*/ 3 h 1390"/>
                  <a:gd name="GluePoint24X" fmla="*/ 1 w 1242"/>
                  <a:gd name="GluePoint24Y" fmla="*/ 3 h 1390"/>
                  <a:gd name="GluePoint25X" fmla="*/ 1 w 1242"/>
                  <a:gd name="GluePoint25Y" fmla="*/ 3 h 1390"/>
                  <a:gd name="GluePoint26X" fmla="*/ 1 w 1242"/>
                  <a:gd name="GluePoint26Y" fmla="*/ 7 h 1390"/>
                  <a:gd name="GluePoint27X" fmla="*/ 1 w 1242"/>
                  <a:gd name="GluePoint27Y" fmla="*/ 11 h 1390"/>
                  <a:gd name="GluePoint28X" fmla="*/ 0 w 1242"/>
                  <a:gd name="GluePoint28Y" fmla="*/ 110 h 13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42" h="1390">
                    <a:moveTo>
                      <a:pt x="0" y="1249"/>
                    </a:moveTo>
                    <a:lnTo>
                      <a:pt x="42" y="1297"/>
                    </a:lnTo>
                    <a:lnTo>
                      <a:pt x="117" y="1330"/>
                    </a:lnTo>
                    <a:lnTo>
                      <a:pt x="210" y="1354"/>
                    </a:lnTo>
                    <a:lnTo>
                      <a:pt x="333" y="1375"/>
                    </a:lnTo>
                    <a:lnTo>
                      <a:pt x="459" y="1387"/>
                    </a:lnTo>
                    <a:lnTo>
                      <a:pt x="576" y="1387"/>
                    </a:lnTo>
                    <a:lnTo>
                      <a:pt x="690" y="1390"/>
                    </a:lnTo>
                    <a:lnTo>
                      <a:pt x="831" y="1377"/>
                    </a:lnTo>
                    <a:lnTo>
                      <a:pt x="954" y="1366"/>
                    </a:lnTo>
                    <a:lnTo>
                      <a:pt x="1053" y="1351"/>
                    </a:lnTo>
                    <a:lnTo>
                      <a:pt x="1170" y="1309"/>
                    </a:lnTo>
                    <a:lnTo>
                      <a:pt x="1221" y="1273"/>
                    </a:lnTo>
                    <a:lnTo>
                      <a:pt x="1242" y="1240"/>
                    </a:lnTo>
                    <a:lnTo>
                      <a:pt x="1232" y="135"/>
                    </a:lnTo>
                    <a:lnTo>
                      <a:pt x="1177" y="85"/>
                    </a:lnTo>
                    <a:lnTo>
                      <a:pt x="1076" y="49"/>
                    </a:lnTo>
                    <a:lnTo>
                      <a:pt x="995" y="31"/>
                    </a:lnTo>
                    <a:lnTo>
                      <a:pt x="888" y="13"/>
                    </a:lnTo>
                    <a:lnTo>
                      <a:pt x="770" y="4"/>
                    </a:lnTo>
                    <a:lnTo>
                      <a:pt x="667" y="0"/>
                    </a:lnTo>
                    <a:lnTo>
                      <a:pt x="531" y="0"/>
                    </a:lnTo>
                    <a:lnTo>
                      <a:pt x="399" y="9"/>
                    </a:lnTo>
                    <a:lnTo>
                      <a:pt x="282" y="22"/>
                    </a:lnTo>
                    <a:lnTo>
                      <a:pt x="166" y="45"/>
                    </a:lnTo>
                    <a:lnTo>
                      <a:pt x="53" y="85"/>
                    </a:lnTo>
                    <a:lnTo>
                      <a:pt x="5" y="135"/>
                    </a:lnTo>
                    <a:lnTo>
                      <a:pt x="0" y="124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16200000"/>
              </a:gradFill>
              <a:ln w="64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Oval 32"/>
              <p:cNvSpPr/>
              <p:nvPr/>
            </p:nvSpPr>
            <p:spPr>
              <a:xfrm rot="5400000">
                <a:off x="1444320" y="4890960"/>
                <a:ext cx="867240" cy="272880"/>
              </a:xfrm>
              <a:prstGeom prst="ellipse">
                <a:avLst/>
              </a:prstGeom>
              <a:solidFill>
                <a:srgbClr val="ffffff"/>
              </a:solidFill>
              <a:ln w="64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Oval 33"/>
              <p:cNvSpPr/>
              <p:nvPr/>
            </p:nvSpPr>
            <p:spPr>
              <a:xfrm rot="5400000">
                <a:off x="-117720" y="4891680"/>
                <a:ext cx="867240" cy="27144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Oval 34"/>
              <p:cNvSpPr/>
              <p:nvPr/>
            </p:nvSpPr>
            <p:spPr>
              <a:xfrm rot="5400000">
                <a:off x="979920" y="4887000"/>
                <a:ext cx="788760" cy="271440"/>
              </a:xfrm>
              <a:prstGeom prst="ellipse">
                <a:avLst/>
              </a:prstGeom>
              <a:solidFill>
                <a:srgbClr val="666699"/>
              </a:solidFill>
              <a:ln w="57240">
                <a:solidFill>
                  <a:srgbClr val="6666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Oval 35"/>
              <p:cNvSpPr/>
              <p:nvPr/>
            </p:nvSpPr>
            <p:spPr>
              <a:xfrm rot="5400000">
                <a:off x="1343160" y="5000760"/>
                <a:ext cx="79200" cy="37800"/>
              </a:xfrm>
              <a:prstGeom prst="ellipse">
                <a:avLst/>
              </a:prstGeom>
              <a:solidFill>
                <a:srgbClr val="9933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Rectangle 36"/>
              <p:cNvSpPr/>
              <p:nvPr/>
            </p:nvSpPr>
            <p:spPr>
              <a:xfrm rot="5400000">
                <a:off x="1850400" y="4507920"/>
                <a:ext cx="93960" cy="1031400"/>
              </a:xfrm>
              <a:prstGeom prst="rect">
                <a:avLst/>
              </a:prstGeom>
              <a:solidFill>
                <a:srgbClr val="9933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07" name="Group 37"/>
            <p:cNvGrpSpPr/>
            <p:nvPr/>
          </p:nvGrpSpPr>
          <p:grpSpPr>
            <a:xfrm>
              <a:off x="2562480" y="1497960"/>
              <a:ext cx="2729880" cy="4900320"/>
              <a:chOff x="2562480" y="1497960"/>
              <a:chExt cx="2729880" cy="4900320"/>
            </a:xfrm>
          </p:grpSpPr>
          <p:sp>
            <p:nvSpPr>
              <p:cNvPr id="308" name="Text Box 38"/>
              <p:cNvSpPr/>
              <p:nvPr/>
            </p:nvSpPr>
            <p:spPr>
              <a:xfrm>
                <a:off x="2800080" y="2063160"/>
                <a:ext cx="2492280" cy="390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Compression isotherme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Text Box 39"/>
              <p:cNvSpPr/>
              <p:nvPr/>
            </p:nvSpPr>
            <p:spPr>
              <a:xfrm>
                <a:off x="2809800" y="3072600"/>
                <a:ext cx="2467080" cy="361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92500" lnSpcReduction="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Compression adiabatique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Text Box 40"/>
              <p:cNvSpPr/>
              <p:nvPr/>
            </p:nvSpPr>
            <p:spPr>
              <a:xfrm>
                <a:off x="2800080" y="4280400"/>
                <a:ext cx="2215440" cy="345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85000" lnSpcReduction="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Détente isotherme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Text Box 41"/>
              <p:cNvSpPr/>
              <p:nvPr/>
            </p:nvSpPr>
            <p:spPr>
              <a:xfrm>
                <a:off x="2800080" y="5386320"/>
                <a:ext cx="2350080" cy="421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Détente adiabatique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AutoShape 42"/>
              <p:cNvSpPr/>
              <p:nvPr/>
            </p:nvSpPr>
            <p:spPr>
              <a:xfrm rot="5400000">
                <a:off x="2488680" y="2139480"/>
                <a:ext cx="625680" cy="170640"/>
              </a:xfrm>
              <a:custGeom>
                <a:avLst/>
                <a:gdLst>
                  <a:gd name="textAreaLeft" fmla="*/ 97200 w 625680"/>
                  <a:gd name="textAreaRight" fmla="*/ 547560 w 625680"/>
                  <a:gd name="textAreaTop" fmla="*/ 42480 h 170640"/>
                  <a:gd name="textAreaBottom" fmla="*/ 128160 h 17064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0000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Text Box 43"/>
              <p:cNvSpPr/>
              <p:nvPr/>
            </p:nvSpPr>
            <p:spPr>
              <a:xfrm>
                <a:off x="2590920" y="1497960"/>
                <a:ext cx="468720" cy="40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A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Text Box 44"/>
              <p:cNvSpPr/>
              <p:nvPr/>
            </p:nvSpPr>
            <p:spPr>
              <a:xfrm>
                <a:off x="2600640" y="2588040"/>
                <a:ext cx="468720" cy="40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B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Text Box 45"/>
              <p:cNvSpPr/>
              <p:nvPr/>
            </p:nvSpPr>
            <p:spPr>
              <a:xfrm>
                <a:off x="2568960" y="3708360"/>
                <a:ext cx="468720" cy="40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C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Text Box 46"/>
              <p:cNvSpPr/>
              <p:nvPr/>
            </p:nvSpPr>
            <p:spPr>
              <a:xfrm>
                <a:off x="2596320" y="4844520"/>
                <a:ext cx="468000" cy="40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D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Text Box 47"/>
              <p:cNvSpPr/>
              <p:nvPr/>
            </p:nvSpPr>
            <p:spPr>
              <a:xfrm>
                <a:off x="2562480" y="5996520"/>
                <a:ext cx="468000" cy="40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4e3b30"/>
                    </a:solidFill>
                    <a:effectLst/>
                    <a:uFillTx/>
                    <a:latin typeface="Times New Roman"/>
                    <a:ea typeface="Arial"/>
                  </a:rPr>
                  <a:t>A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AutoShape 48"/>
              <p:cNvSpPr/>
              <p:nvPr/>
            </p:nvSpPr>
            <p:spPr>
              <a:xfrm rot="5400000">
                <a:off x="2330640" y="3397320"/>
                <a:ext cx="839160" cy="142920"/>
              </a:xfrm>
              <a:custGeom>
                <a:avLst/>
                <a:gdLst>
                  <a:gd name="textAreaLeft" fmla="*/ 130680 w 839160"/>
                  <a:gd name="textAreaRight" fmla="*/ 734040 w 839160"/>
                  <a:gd name="textAreaTop" fmla="*/ 36000 h 142920"/>
                  <a:gd name="textAreaBottom" fmla="*/ 106920 h 14292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0000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120" bIns="2412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AutoShape 49"/>
              <p:cNvSpPr/>
              <p:nvPr/>
            </p:nvSpPr>
            <p:spPr>
              <a:xfrm rot="5400000">
                <a:off x="2328840" y="4492440"/>
                <a:ext cx="847440" cy="165240"/>
              </a:xfrm>
              <a:custGeom>
                <a:avLst/>
                <a:gdLst>
                  <a:gd name="textAreaLeft" fmla="*/ 132120 w 847440"/>
                  <a:gd name="textAreaRight" fmla="*/ 741240 w 847440"/>
                  <a:gd name="textAreaTop" fmla="*/ 41400 h 165240"/>
                  <a:gd name="textAreaBottom" fmla="*/ 124200 h 16524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0000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00" bIns="36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AutoShape 50"/>
              <p:cNvSpPr/>
              <p:nvPr/>
            </p:nvSpPr>
            <p:spPr>
              <a:xfrm rot="5400000">
                <a:off x="2269080" y="5661000"/>
                <a:ext cx="952560" cy="179280"/>
              </a:xfrm>
              <a:custGeom>
                <a:avLst/>
                <a:gdLst>
                  <a:gd name="textAreaLeft" fmla="*/ 147600 w 952560"/>
                  <a:gd name="textAreaRight" fmla="*/ 833040 w 952560"/>
                  <a:gd name="textAreaTop" fmla="*/ 44640 h 179280"/>
                  <a:gd name="textAreaBottom" fmla="*/ 134640 h 17928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0000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200" bIns="432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1" name="Group 51"/>
            <p:cNvGrpSpPr/>
            <p:nvPr/>
          </p:nvGrpSpPr>
          <p:grpSpPr>
            <a:xfrm>
              <a:off x="184680" y="5703120"/>
              <a:ext cx="2450520" cy="893880"/>
              <a:chOff x="184680" y="5703120"/>
              <a:chExt cx="2450520" cy="893880"/>
            </a:xfrm>
          </p:grpSpPr>
          <p:sp>
            <p:nvSpPr>
              <p:cNvPr id="322" name="Freeform 52"/>
              <p:cNvSpPr/>
              <p:nvPr/>
            </p:nvSpPr>
            <p:spPr>
              <a:xfrm rot="5400000">
                <a:off x="1185120" y="5756400"/>
                <a:ext cx="891360" cy="784800"/>
              </a:xfrm>
              <a:custGeom>
                <a:avLst/>
                <a:gdLst>
                  <a:gd name="textAreaLeft" fmla="*/ 0 w 891360"/>
                  <a:gd name="textAreaRight" fmla="*/ 891720 w 891360"/>
                  <a:gd name="textAreaTop" fmla="*/ 0 h 784800"/>
                  <a:gd name="textAreaBottom" fmla="*/ 785160 h 784800"/>
                  <a:gd name="GluePoint1X" fmla="*/ 0 w 1239"/>
                  <a:gd name="GluePoint1Y" fmla="*/ 125 h 923"/>
                  <a:gd name="GluePoint2X" fmla="*/ 51 w 1239"/>
                  <a:gd name="GluePoint2Y" fmla="*/ 74 h 923"/>
                  <a:gd name="GluePoint3X" fmla="*/ 128 w 1239"/>
                  <a:gd name="GluePoint3Y" fmla="*/ 54 h 923"/>
                  <a:gd name="GluePoint4X" fmla="*/ 210 w 1239"/>
                  <a:gd name="GluePoint4Y" fmla="*/ 31 h 923"/>
                  <a:gd name="GluePoint5X" fmla="*/ 336 w 1239"/>
                  <a:gd name="GluePoint5Y" fmla="*/ 12 h 923"/>
                  <a:gd name="GluePoint6X" fmla="*/ 460 w 1239"/>
                  <a:gd name="GluePoint6Y" fmla="*/ 3 h 923"/>
                  <a:gd name="GluePoint7X" fmla="*/ 581 w 1239"/>
                  <a:gd name="GluePoint7Y" fmla="*/ 0 h 923"/>
                  <a:gd name="GluePoint8X" fmla="*/ 690 w 1239"/>
                  <a:gd name="GluePoint8Y" fmla="*/ 3 h 923"/>
                  <a:gd name="GluePoint9X" fmla="*/ 822 w 1239"/>
                  <a:gd name="GluePoint9Y" fmla="*/ 6 h 923"/>
                  <a:gd name="GluePoint10X" fmla="*/ 930 w 1239"/>
                  <a:gd name="GluePoint10Y" fmla="*/ 19 h 923"/>
                  <a:gd name="GluePoint11X" fmla="*/ 1045 w 1239"/>
                  <a:gd name="GluePoint11Y" fmla="*/ 36 h 923"/>
                  <a:gd name="GluePoint12X" fmla="*/ 1142 w 1239"/>
                  <a:gd name="GluePoint12Y" fmla="*/ 63 h 923"/>
                  <a:gd name="GluePoint13X" fmla="*/ 1200 w 1239"/>
                  <a:gd name="GluePoint13Y" fmla="*/ 95 h 923"/>
                  <a:gd name="GluePoint14X" fmla="*/ 1239 w 1239"/>
                  <a:gd name="GluePoint14Y" fmla="*/ 131 h 923"/>
                  <a:gd name="GluePoint15X" fmla="*/ 1235 w 1239"/>
                  <a:gd name="GluePoint15Y" fmla="*/ 831 h 923"/>
                  <a:gd name="GluePoint16X" fmla="*/ 1181 w 1239"/>
                  <a:gd name="GluePoint16Y" fmla="*/ 864 h 923"/>
                  <a:gd name="GluePoint17X" fmla="*/ 1080 w 1239"/>
                  <a:gd name="GluePoint17Y" fmla="*/ 889 h 923"/>
                  <a:gd name="GluePoint18X" fmla="*/ 999 w 1239"/>
                  <a:gd name="GluePoint18Y" fmla="*/ 901 h 923"/>
                  <a:gd name="GluePoint19X" fmla="*/ 892 w 1239"/>
                  <a:gd name="GluePoint19Y" fmla="*/ 913 h 923"/>
                  <a:gd name="GluePoint20X" fmla="*/ 773 w 1239"/>
                  <a:gd name="GluePoint20Y" fmla="*/ 920 h 923"/>
                  <a:gd name="GluePoint21X" fmla="*/ 670 w 1239"/>
                  <a:gd name="GluePoint21Y" fmla="*/ 923 h 923"/>
                  <a:gd name="GluePoint22X" fmla="*/ 534 w 1239"/>
                  <a:gd name="GluePoint22Y" fmla="*/ 923 h 923"/>
                  <a:gd name="GluePoint23X" fmla="*/ 402 w 1239"/>
                  <a:gd name="GluePoint23Y" fmla="*/ 917 h 923"/>
                  <a:gd name="GluePoint24X" fmla="*/ 286 w 1239"/>
                  <a:gd name="GluePoint24Y" fmla="*/ 907 h 923"/>
                  <a:gd name="GluePoint25X" fmla="*/ 169 w 1239"/>
                  <a:gd name="GluePoint25Y" fmla="*/ 892 h 923"/>
                  <a:gd name="GluePoint26X" fmla="*/ 56 w 1239"/>
                  <a:gd name="GluePoint26Y" fmla="*/ 864 h 923"/>
                  <a:gd name="GluePoint27X" fmla="*/ 8 w 1239"/>
                  <a:gd name="GluePoint27Y" fmla="*/ 831 h 923"/>
                  <a:gd name="GluePoint28X" fmla="*/ 0 w 1239"/>
                  <a:gd name="GluePoint28Y" fmla="*/ 125 h 92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9" h="923">
                    <a:moveTo>
                      <a:pt x="0" y="125"/>
                    </a:moveTo>
                    <a:lnTo>
                      <a:pt x="51" y="74"/>
                    </a:lnTo>
                    <a:lnTo>
                      <a:pt x="128" y="54"/>
                    </a:lnTo>
                    <a:lnTo>
                      <a:pt x="210" y="31"/>
                    </a:lnTo>
                    <a:lnTo>
                      <a:pt x="336" y="12"/>
                    </a:lnTo>
                    <a:lnTo>
                      <a:pt x="460" y="3"/>
                    </a:lnTo>
                    <a:lnTo>
                      <a:pt x="581" y="0"/>
                    </a:lnTo>
                    <a:lnTo>
                      <a:pt x="690" y="3"/>
                    </a:lnTo>
                    <a:lnTo>
                      <a:pt x="822" y="6"/>
                    </a:lnTo>
                    <a:lnTo>
                      <a:pt x="930" y="19"/>
                    </a:lnTo>
                    <a:lnTo>
                      <a:pt x="1045" y="36"/>
                    </a:lnTo>
                    <a:lnTo>
                      <a:pt x="1142" y="63"/>
                    </a:lnTo>
                    <a:lnTo>
                      <a:pt x="1200" y="95"/>
                    </a:lnTo>
                    <a:lnTo>
                      <a:pt x="1239" y="131"/>
                    </a:lnTo>
                    <a:lnTo>
                      <a:pt x="1235" y="831"/>
                    </a:lnTo>
                    <a:lnTo>
                      <a:pt x="1181" y="864"/>
                    </a:lnTo>
                    <a:lnTo>
                      <a:pt x="1080" y="889"/>
                    </a:lnTo>
                    <a:lnTo>
                      <a:pt x="999" y="901"/>
                    </a:lnTo>
                    <a:lnTo>
                      <a:pt x="892" y="913"/>
                    </a:lnTo>
                    <a:lnTo>
                      <a:pt x="773" y="920"/>
                    </a:lnTo>
                    <a:lnTo>
                      <a:pt x="670" y="923"/>
                    </a:lnTo>
                    <a:lnTo>
                      <a:pt x="534" y="923"/>
                    </a:lnTo>
                    <a:lnTo>
                      <a:pt x="402" y="917"/>
                    </a:lnTo>
                    <a:lnTo>
                      <a:pt x="286" y="907"/>
                    </a:lnTo>
                    <a:lnTo>
                      <a:pt x="169" y="892"/>
                    </a:lnTo>
                    <a:lnTo>
                      <a:pt x="56" y="864"/>
                    </a:lnTo>
                    <a:lnTo>
                      <a:pt x="8" y="831"/>
                    </a:lnTo>
                    <a:lnTo>
                      <a:pt x="0" y="125"/>
                    </a:lnTo>
                    <a:close/>
                  </a:path>
                </a:pathLst>
              </a:custGeom>
              <a:noFill/>
              <a:ln w="284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eform 53"/>
              <p:cNvSpPr/>
              <p:nvPr/>
            </p:nvSpPr>
            <p:spPr>
              <a:xfrm rot="5400000">
                <a:off x="512280" y="5378760"/>
                <a:ext cx="890640" cy="1545840"/>
              </a:xfrm>
              <a:custGeom>
                <a:avLst/>
                <a:gdLst>
                  <a:gd name="textAreaLeft" fmla="*/ 0 w 890640"/>
                  <a:gd name="textAreaRight" fmla="*/ 891000 w 890640"/>
                  <a:gd name="textAreaTop" fmla="*/ 0 h 1545840"/>
                  <a:gd name="textAreaBottom" fmla="*/ 1546200 h 1545840"/>
                  <a:gd name="GluePoint1X" fmla="*/ 0 w 1238"/>
                  <a:gd name="GluePoint1Y" fmla="*/ 1654 h 1818"/>
                  <a:gd name="GluePoint2X" fmla="*/ 46 w 1238"/>
                  <a:gd name="GluePoint2Y" fmla="*/ 1716 h 1818"/>
                  <a:gd name="GluePoint3X" fmla="*/ 124 w 1238"/>
                  <a:gd name="GluePoint3Y" fmla="*/ 1749 h 1818"/>
                  <a:gd name="GluePoint4X" fmla="*/ 220 w 1238"/>
                  <a:gd name="GluePoint4Y" fmla="*/ 1779 h 1818"/>
                  <a:gd name="GluePoint5X" fmla="*/ 340 w 1238"/>
                  <a:gd name="GluePoint5Y" fmla="*/ 1800 h 1818"/>
                  <a:gd name="GluePoint6X" fmla="*/ 472 w 1238"/>
                  <a:gd name="GluePoint6Y" fmla="*/ 1815 h 1818"/>
                  <a:gd name="GluePoint7X" fmla="*/ 577 w 1238"/>
                  <a:gd name="GluePoint7Y" fmla="*/ 1818 h 1818"/>
                  <a:gd name="GluePoint8X" fmla="*/ 691 w 1238"/>
                  <a:gd name="GluePoint8Y" fmla="*/ 1815 h 1818"/>
                  <a:gd name="GluePoint9X" fmla="*/ 817 w 1238"/>
                  <a:gd name="GluePoint9Y" fmla="*/ 1812 h 1818"/>
                  <a:gd name="GluePoint10X" fmla="*/ 931 w 1238"/>
                  <a:gd name="GluePoint10Y" fmla="*/ 1803 h 1818"/>
                  <a:gd name="GluePoint11X" fmla="*/ 1045 w 1238"/>
                  <a:gd name="GluePoint11Y" fmla="*/ 1776 h 1818"/>
                  <a:gd name="GluePoint12X" fmla="*/ 1138 w 1238"/>
                  <a:gd name="GluePoint12Y" fmla="*/ 1743 h 1818"/>
                  <a:gd name="GluePoint13X" fmla="*/ 1215 w 1238"/>
                  <a:gd name="GluePoint13Y" fmla="*/ 1691 h 1818"/>
                  <a:gd name="GluePoint14X" fmla="*/ 1238 w 1238"/>
                  <a:gd name="GluePoint14Y" fmla="*/ 1641 h 1818"/>
                  <a:gd name="GluePoint15X" fmla="*/ 1229 w 1238"/>
                  <a:gd name="GluePoint15Y" fmla="*/ 185 h 1818"/>
                  <a:gd name="GluePoint16X" fmla="*/ 1174 w 1238"/>
                  <a:gd name="GluePoint16Y" fmla="*/ 118 h 1818"/>
                  <a:gd name="GluePoint17X" fmla="*/ 1073 w 1238"/>
                  <a:gd name="GluePoint17Y" fmla="*/ 68 h 1818"/>
                  <a:gd name="GluePoint18X" fmla="*/ 992 w 1238"/>
                  <a:gd name="GluePoint18Y" fmla="*/ 44 h 1818"/>
                  <a:gd name="GluePoint19X" fmla="*/ 885 w 1238"/>
                  <a:gd name="GluePoint19Y" fmla="*/ 19 h 1818"/>
                  <a:gd name="GluePoint20X" fmla="*/ 767 w 1238"/>
                  <a:gd name="GluePoint20Y" fmla="*/ 7 h 1818"/>
                  <a:gd name="GluePoint21X" fmla="*/ 664 w 1238"/>
                  <a:gd name="GluePoint21Y" fmla="*/ 0 h 1818"/>
                  <a:gd name="GluePoint22X" fmla="*/ 528 w 1238"/>
                  <a:gd name="GluePoint22Y" fmla="*/ 0 h 1818"/>
                  <a:gd name="GluePoint23X" fmla="*/ 396 w 1238"/>
                  <a:gd name="GluePoint23Y" fmla="*/ 12 h 1818"/>
                  <a:gd name="GluePoint24X" fmla="*/ 279 w 1238"/>
                  <a:gd name="GluePoint24Y" fmla="*/ 31 h 1818"/>
                  <a:gd name="GluePoint25X" fmla="*/ 163 w 1238"/>
                  <a:gd name="GluePoint25Y" fmla="*/ 62 h 1818"/>
                  <a:gd name="GluePoint26X" fmla="*/ 50 w 1238"/>
                  <a:gd name="GluePoint26Y" fmla="*/ 118 h 1818"/>
                  <a:gd name="GluePoint27X" fmla="*/ 2 w 1238"/>
                  <a:gd name="GluePoint27Y" fmla="*/ 185 h 1818"/>
                  <a:gd name="GluePoint28X" fmla="*/ 0 w 1238"/>
                  <a:gd name="GluePoint28Y" fmla="*/ 1654 h 18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</a:cxnLst>
                <a:rect l="textAreaLeft" t="textAreaTop" r="textAreaRight" b="textAreaBottom"/>
                <a:pathLst>
                  <a:path w="1238" h="1818">
                    <a:moveTo>
                      <a:pt x="0" y="1654"/>
                    </a:moveTo>
                    <a:lnTo>
                      <a:pt x="46" y="1716"/>
                    </a:lnTo>
                    <a:lnTo>
                      <a:pt x="124" y="1749"/>
                    </a:lnTo>
                    <a:lnTo>
                      <a:pt x="220" y="1779"/>
                    </a:lnTo>
                    <a:lnTo>
                      <a:pt x="340" y="1800"/>
                    </a:lnTo>
                    <a:lnTo>
                      <a:pt x="472" y="1815"/>
                    </a:lnTo>
                    <a:lnTo>
                      <a:pt x="577" y="1818"/>
                    </a:lnTo>
                    <a:lnTo>
                      <a:pt x="691" y="1815"/>
                    </a:lnTo>
                    <a:lnTo>
                      <a:pt x="817" y="1812"/>
                    </a:lnTo>
                    <a:lnTo>
                      <a:pt x="931" y="1803"/>
                    </a:lnTo>
                    <a:lnTo>
                      <a:pt x="1045" y="1776"/>
                    </a:lnTo>
                    <a:lnTo>
                      <a:pt x="1138" y="1743"/>
                    </a:lnTo>
                    <a:lnTo>
                      <a:pt x="1215" y="1691"/>
                    </a:lnTo>
                    <a:lnTo>
                      <a:pt x="1238" y="1641"/>
                    </a:lnTo>
                    <a:lnTo>
                      <a:pt x="1229" y="185"/>
                    </a:lnTo>
                    <a:lnTo>
                      <a:pt x="1174" y="118"/>
                    </a:lnTo>
                    <a:lnTo>
                      <a:pt x="1073" y="68"/>
                    </a:lnTo>
                    <a:lnTo>
                      <a:pt x="992" y="44"/>
                    </a:lnTo>
                    <a:lnTo>
                      <a:pt x="885" y="19"/>
                    </a:lnTo>
                    <a:lnTo>
                      <a:pt x="767" y="7"/>
                    </a:lnTo>
                    <a:lnTo>
                      <a:pt x="664" y="0"/>
                    </a:lnTo>
                    <a:lnTo>
                      <a:pt x="528" y="0"/>
                    </a:lnTo>
                    <a:lnTo>
                      <a:pt x="396" y="12"/>
                    </a:lnTo>
                    <a:lnTo>
                      <a:pt x="279" y="31"/>
                    </a:lnTo>
                    <a:lnTo>
                      <a:pt x="163" y="62"/>
                    </a:lnTo>
                    <a:lnTo>
                      <a:pt x="50" y="118"/>
                    </a:lnTo>
                    <a:lnTo>
                      <a:pt x="2" y="185"/>
                    </a:lnTo>
                    <a:lnTo>
                      <a:pt x="0" y="16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0"/>
              </a:gradFill>
              <a:ln w="284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Oval 54"/>
              <p:cNvSpPr/>
              <p:nvPr/>
            </p:nvSpPr>
            <p:spPr>
              <a:xfrm rot="5400000">
                <a:off x="1197720" y="6023880"/>
                <a:ext cx="803520" cy="253440"/>
              </a:xfrm>
              <a:prstGeom prst="ellipse">
                <a:avLst/>
              </a:prstGeom>
              <a:solidFill>
                <a:srgbClr val="666699"/>
              </a:solidFill>
              <a:ln w="38160">
                <a:solidFill>
                  <a:srgbClr val="6666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Oval 55"/>
              <p:cNvSpPr/>
              <p:nvPr/>
            </p:nvSpPr>
            <p:spPr>
              <a:xfrm rot="5400000">
                <a:off x="1604160" y="6124680"/>
                <a:ext cx="81360" cy="36360"/>
              </a:xfrm>
              <a:prstGeom prst="ellipse">
                <a:avLst/>
              </a:prstGeom>
              <a:solidFill>
                <a:srgbClr val="9933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0520" bIns="-2052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Rectangle 56"/>
              <p:cNvSpPr/>
              <p:nvPr/>
            </p:nvSpPr>
            <p:spPr>
              <a:xfrm rot="5400000">
                <a:off x="2104560" y="5653440"/>
                <a:ext cx="80280" cy="980640"/>
              </a:xfrm>
              <a:prstGeom prst="rect">
                <a:avLst/>
              </a:prstGeom>
              <a:solidFill>
                <a:srgbClr val="9933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Oval 57"/>
              <p:cNvSpPr/>
              <p:nvPr/>
            </p:nvSpPr>
            <p:spPr>
              <a:xfrm rot="5400000">
                <a:off x="1463040" y="6017400"/>
                <a:ext cx="882720" cy="254160"/>
              </a:xfrm>
              <a:prstGeom prst="ellipse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Oval 58"/>
              <p:cNvSpPr/>
              <p:nvPr/>
            </p:nvSpPr>
            <p:spPr>
              <a:xfrm rot="5400000">
                <a:off x="-117360" y="6012000"/>
                <a:ext cx="882720" cy="27864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Rectangle 91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30" name="Group 92"/>
          <p:cNvGrpSpPr/>
          <p:nvPr/>
        </p:nvGrpSpPr>
        <p:grpSpPr>
          <a:xfrm>
            <a:off x="5191200" y="1989000"/>
            <a:ext cx="3952800" cy="3708360"/>
            <a:chOff x="5191200" y="1989000"/>
            <a:chExt cx="3952800" cy="3708360"/>
          </a:xfrm>
        </p:grpSpPr>
        <p:sp>
          <p:nvSpPr>
            <p:cNvPr id="331" name="AutoShape 93"/>
            <p:cNvSpPr/>
            <p:nvPr/>
          </p:nvSpPr>
          <p:spPr>
            <a:xfrm>
              <a:off x="5191200" y="1989000"/>
              <a:ext cx="3952800" cy="370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Freeform 94"/>
            <p:cNvSpPr/>
            <p:nvPr/>
          </p:nvSpPr>
          <p:spPr>
            <a:xfrm>
              <a:off x="5986800" y="3312000"/>
              <a:ext cx="1002960" cy="597960"/>
            </a:xfrm>
            <a:custGeom>
              <a:avLst/>
              <a:gdLst>
                <a:gd name="textAreaLeft" fmla="*/ 0 w 1002960"/>
                <a:gd name="textAreaRight" fmla="*/ 1003320 w 1002960"/>
                <a:gd name="textAreaTop" fmla="*/ 0 h 597960"/>
                <a:gd name="textAreaBottom" fmla="*/ 598320 h 597960"/>
                <a:gd name="GluePoint1X" fmla="*/ 2409 w 1111"/>
                <a:gd name="GluePoint1Y" fmla="*/ 1903 h 528"/>
                <a:gd name="GluePoint2X" fmla="*/ 1956 w 1111"/>
                <a:gd name="GluePoint2Y" fmla="*/ 1625 h 528"/>
                <a:gd name="GluePoint3X" fmla="*/ 1381 w 1111"/>
                <a:gd name="GluePoint3Y" fmla="*/ 1263 h 528"/>
                <a:gd name="GluePoint4X" fmla="*/ 645 w 1111"/>
                <a:gd name="GluePoint4Y" fmla="*/ 675 h 528"/>
                <a:gd name="GluePoint5X" fmla="*/ 0 w 1111"/>
                <a:gd name="GluePoint5Y" fmla="*/ 0 h 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11" h="528">
                  <a:moveTo>
                    <a:pt x="1111" y="528"/>
                  </a:moveTo>
                  <a:cubicBezTo>
                    <a:pt x="1046" y="504"/>
                    <a:pt x="981" y="480"/>
                    <a:pt x="902" y="451"/>
                  </a:cubicBezTo>
                  <a:cubicBezTo>
                    <a:pt x="823" y="422"/>
                    <a:pt x="739" y="396"/>
                    <a:pt x="638" y="352"/>
                  </a:cubicBezTo>
                  <a:cubicBezTo>
                    <a:pt x="537" y="308"/>
                    <a:pt x="403" y="246"/>
                    <a:pt x="297" y="187"/>
                  </a:cubicBezTo>
                  <a:cubicBezTo>
                    <a:pt x="191" y="128"/>
                    <a:pt x="49" y="31"/>
                    <a:pt x="0" y="0"/>
                  </a:cubicBezTo>
                </a:path>
              </a:pathLst>
            </a:custGeom>
            <a:noFill/>
            <a:ln w="284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Freeform 95"/>
            <p:cNvSpPr/>
            <p:nvPr/>
          </p:nvSpPr>
          <p:spPr>
            <a:xfrm>
              <a:off x="6772320" y="4877280"/>
              <a:ext cx="1002960" cy="149400"/>
            </a:xfrm>
            <a:custGeom>
              <a:avLst/>
              <a:gdLst>
                <a:gd name="textAreaLeft" fmla="*/ 0 w 1002960"/>
                <a:gd name="textAreaRight" fmla="*/ 1003320 w 1002960"/>
                <a:gd name="textAreaTop" fmla="*/ 0 h 149400"/>
                <a:gd name="textAreaBottom" fmla="*/ 149760 h 149400"/>
                <a:gd name="GluePoint1X" fmla="*/ 1166 w 1166"/>
                <a:gd name="GluePoint1Y" fmla="*/ 143 h 143"/>
                <a:gd name="GluePoint2X" fmla="*/ 792 w 1166"/>
                <a:gd name="GluePoint2Y" fmla="*/ 121 h 143"/>
                <a:gd name="GluePoint3X" fmla="*/ 539 w 1166"/>
                <a:gd name="GluePoint3Y" fmla="*/ 99 h 143"/>
                <a:gd name="GluePoint4X" fmla="*/ 275 w 1166"/>
                <a:gd name="GluePoint4Y" fmla="*/ 55 h 143"/>
                <a:gd name="GluePoint5X" fmla="*/ 0 w 1166"/>
                <a:gd name="GluePoint5Y" fmla="*/ 0 h 1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66" h="143">
                  <a:moveTo>
                    <a:pt x="1166" y="143"/>
                  </a:moveTo>
                  <a:cubicBezTo>
                    <a:pt x="1031" y="135"/>
                    <a:pt x="896" y="128"/>
                    <a:pt x="792" y="121"/>
                  </a:cubicBezTo>
                  <a:cubicBezTo>
                    <a:pt x="688" y="114"/>
                    <a:pt x="625" y="110"/>
                    <a:pt x="539" y="99"/>
                  </a:cubicBezTo>
                  <a:cubicBezTo>
                    <a:pt x="453" y="88"/>
                    <a:pt x="365" y="71"/>
                    <a:pt x="275" y="55"/>
                  </a:cubicBezTo>
                  <a:cubicBezTo>
                    <a:pt x="185" y="39"/>
                    <a:pt x="92" y="19"/>
                    <a:pt x="0" y="0"/>
                  </a:cubicBezTo>
                </a:path>
              </a:pathLst>
            </a:custGeom>
            <a:noFill/>
            <a:ln w="381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AutoShape 96"/>
            <p:cNvSpPr/>
            <p:nvPr/>
          </p:nvSpPr>
          <p:spPr>
            <a:xfrm rot="5400000">
              <a:off x="6956280" y="5106240"/>
              <a:ext cx="727920" cy="131400"/>
            </a:xfrm>
            <a:custGeom>
              <a:avLst/>
              <a:gdLst>
                <a:gd name="textAreaLeft" fmla="*/ 113760 w 727920"/>
                <a:gd name="textAreaRight" fmla="*/ 637200 w 727920"/>
                <a:gd name="textAreaTop" fmla="*/ 32400 h 131400"/>
                <a:gd name="textAreaBottom" fmla="*/ 99000 h 131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00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Text Box 97"/>
            <p:cNvSpPr/>
            <p:nvPr/>
          </p:nvSpPr>
          <p:spPr>
            <a:xfrm>
              <a:off x="6384600" y="3231360"/>
              <a:ext cx="47736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Text Box 98"/>
            <p:cNvSpPr/>
            <p:nvPr/>
          </p:nvSpPr>
          <p:spPr>
            <a:xfrm>
              <a:off x="7331040" y="5095800"/>
              <a:ext cx="547920" cy="47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Q</a:t>
              </a:r>
              <a:r>
                <a:rPr b="0" lang="fr-FR" sz="1800" strike="noStrike" u="none" baseline="-25000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Line 99"/>
            <p:cNvSpPr/>
            <p:nvPr/>
          </p:nvSpPr>
          <p:spPr>
            <a:xfrm flipH="1" flipV="1">
              <a:off x="6062400" y="3760920"/>
              <a:ext cx="104040" cy="356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Line 100"/>
            <p:cNvSpPr/>
            <p:nvPr/>
          </p:nvSpPr>
          <p:spPr>
            <a:xfrm>
              <a:off x="7113240" y="4325040"/>
              <a:ext cx="151200" cy="287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Line 101"/>
            <p:cNvSpPr/>
            <p:nvPr/>
          </p:nvSpPr>
          <p:spPr>
            <a:xfrm flipH="1" flipV="1">
              <a:off x="6980400" y="4934160"/>
              <a:ext cx="245160" cy="47160"/>
            </a:xfrm>
            <a:prstGeom prst="line">
              <a:avLst/>
            </a:prstGeom>
            <a:ln w="9360">
              <a:solidFill>
                <a:srgbClr val="0000ff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" bIns="36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Freeform 102"/>
            <p:cNvSpPr/>
            <p:nvPr/>
          </p:nvSpPr>
          <p:spPr>
            <a:xfrm rot="337800">
              <a:off x="5617080" y="2760840"/>
              <a:ext cx="2268720" cy="1333440"/>
            </a:xfrm>
            <a:custGeom>
              <a:avLst/>
              <a:gdLst>
                <a:gd name="textAreaLeft" fmla="*/ 0 w 2268720"/>
                <a:gd name="textAreaRight" fmla="*/ 2269080 w 2268720"/>
                <a:gd name="textAreaTop" fmla="*/ 0 h 1333440"/>
                <a:gd name="textAreaBottom" fmla="*/ 1333800 h 1333440"/>
                <a:gd name="GluePoint1X" fmla="*/ 0 w 4455"/>
                <a:gd name="GluePoint1Y" fmla="*/ 0 h 2880"/>
                <a:gd name="GluePoint2X" fmla="*/ 1 w 4455"/>
                <a:gd name="GluePoint2Y" fmla="*/ 0 h 2880"/>
                <a:gd name="GluePoint3X" fmla="*/ 1 w 4455"/>
                <a:gd name="GluePoint3Y" fmla="*/ 0 h 2880"/>
                <a:gd name="GluePoint4X" fmla="*/ 1 w 4455"/>
                <a:gd name="GluePoint4Y" fmla="*/ 0 h 2880"/>
                <a:gd name="GluePoint5X" fmla="*/ 1 w 4455"/>
                <a:gd name="GluePoint5Y" fmla="*/ 0 h 2880"/>
                <a:gd name="GluePoint6X" fmla="*/ 1 w 4455"/>
                <a:gd name="GluePoint6Y" fmla="*/ 0 h 2880"/>
                <a:gd name="GluePoint7X" fmla="*/ 1 w 4455"/>
                <a:gd name="GluePoint7Y" fmla="*/ 0 h 2880"/>
                <a:gd name="GluePoint8X" fmla="*/ 1 w 4455"/>
                <a:gd name="GluePoint8Y" fmla="*/ 0 h 2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55" h="2880">
                  <a:moveTo>
                    <a:pt x="0" y="0"/>
                  </a:moveTo>
                  <a:cubicBezTo>
                    <a:pt x="69" y="234"/>
                    <a:pt x="138" y="468"/>
                    <a:pt x="225" y="660"/>
                  </a:cubicBezTo>
                  <a:cubicBezTo>
                    <a:pt x="312" y="852"/>
                    <a:pt x="383" y="990"/>
                    <a:pt x="525" y="1155"/>
                  </a:cubicBezTo>
                  <a:cubicBezTo>
                    <a:pt x="667" y="1320"/>
                    <a:pt x="860" y="1495"/>
                    <a:pt x="1080" y="1650"/>
                  </a:cubicBezTo>
                  <a:cubicBezTo>
                    <a:pt x="1300" y="1805"/>
                    <a:pt x="1580" y="1958"/>
                    <a:pt x="1845" y="2085"/>
                  </a:cubicBezTo>
                  <a:cubicBezTo>
                    <a:pt x="2110" y="2212"/>
                    <a:pt x="2395" y="2320"/>
                    <a:pt x="2670" y="2415"/>
                  </a:cubicBezTo>
                  <a:cubicBezTo>
                    <a:pt x="2945" y="2510"/>
                    <a:pt x="3197" y="2578"/>
                    <a:pt x="3495" y="2655"/>
                  </a:cubicBezTo>
                  <a:cubicBezTo>
                    <a:pt x="3793" y="2732"/>
                    <a:pt x="4124" y="2806"/>
                    <a:pt x="4455" y="2880"/>
                  </a:cubicBezTo>
                </a:path>
              </a:pathLst>
            </a:custGeom>
            <a:noFill/>
            <a:ln w="19080">
              <a:solidFill>
                <a:srgbClr val="ff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Text Box 103"/>
            <p:cNvSpPr/>
            <p:nvPr/>
          </p:nvSpPr>
          <p:spPr>
            <a:xfrm>
              <a:off x="7047000" y="356508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D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Text Box 104"/>
            <p:cNvSpPr/>
            <p:nvPr/>
          </p:nvSpPr>
          <p:spPr>
            <a:xfrm>
              <a:off x="5600520" y="316872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C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Text Box 105"/>
            <p:cNvSpPr/>
            <p:nvPr/>
          </p:nvSpPr>
          <p:spPr>
            <a:xfrm>
              <a:off x="6371640" y="480924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B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Text Box 106"/>
            <p:cNvSpPr/>
            <p:nvPr/>
          </p:nvSpPr>
          <p:spPr>
            <a:xfrm>
              <a:off x="7629480" y="4562280"/>
              <a:ext cx="503280" cy="43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A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Freeform 107"/>
            <p:cNvSpPr/>
            <p:nvPr/>
          </p:nvSpPr>
          <p:spPr>
            <a:xfrm rot="229200">
              <a:off x="5644080" y="3821040"/>
              <a:ext cx="2953800" cy="1170720"/>
            </a:xfrm>
            <a:custGeom>
              <a:avLst/>
              <a:gdLst>
                <a:gd name="textAreaLeft" fmla="*/ 0 w 2953800"/>
                <a:gd name="textAreaRight" fmla="*/ 2954160 w 2953800"/>
                <a:gd name="textAreaTop" fmla="*/ 0 h 1170720"/>
                <a:gd name="textAreaBottom" fmla="*/ 1171080 h 1170720"/>
                <a:gd name="GluePoint1X" fmla="*/ 0 w 5115"/>
                <a:gd name="GluePoint1Y" fmla="*/ 0 h 1930"/>
                <a:gd name="GluePoint2X" fmla="*/ 1 w 5115"/>
                <a:gd name="GluePoint2Y" fmla="*/ 1 h 1930"/>
                <a:gd name="GluePoint3X" fmla="*/ 1 w 5115"/>
                <a:gd name="GluePoint3Y" fmla="*/ 1 h 1930"/>
                <a:gd name="GluePoint4X" fmla="*/ 2 w 5115"/>
                <a:gd name="GluePoint4Y" fmla="*/ 1 h 1930"/>
                <a:gd name="GluePoint5X" fmla="*/ 3 w 5115"/>
                <a:gd name="GluePoint5Y" fmla="*/ 1 h 1930"/>
                <a:gd name="GluePoint6X" fmla="*/ 5 w 5115"/>
                <a:gd name="GluePoint6Y" fmla="*/ 1 h 1930"/>
                <a:gd name="GluePoint7X" fmla="*/ 6 w 5115"/>
                <a:gd name="GluePoint7Y" fmla="*/ 1 h 1930"/>
                <a:gd name="GluePoint8X" fmla="*/ 7 w 5115"/>
                <a:gd name="GluePoint8Y" fmla="*/ 1 h 1930"/>
                <a:gd name="GluePoint9X" fmla="*/ 9 w 5115"/>
                <a:gd name="GluePoint9Y" fmla="*/ 1 h 1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115" h="1930">
                  <a:moveTo>
                    <a:pt x="0" y="0"/>
                  </a:moveTo>
                  <a:cubicBezTo>
                    <a:pt x="62" y="219"/>
                    <a:pt x="125" y="438"/>
                    <a:pt x="225" y="615"/>
                  </a:cubicBezTo>
                  <a:cubicBezTo>
                    <a:pt x="325" y="792"/>
                    <a:pt x="453" y="930"/>
                    <a:pt x="600" y="1065"/>
                  </a:cubicBezTo>
                  <a:cubicBezTo>
                    <a:pt x="747" y="1200"/>
                    <a:pt x="913" y="1318"/>
                    <a:pt x="1110" y="1425"/>
                  </a:cubicBezTo>
                  <a:cubicBezTo>
                    <a:pt x="1307" y="1532"/>
                    <a:pt x="1525" y="1638"/>
                    <a:pt x="1785" y="1710"/>
                  </a:cubicBezTo>
                  <a:cubicBezTo>
                    <a:pt x="2045" y="1782"/>
                    <a:pt x="2405" y="1825"/>
                    <a:pt x="2670" y="1860"/>
                  </a:cubicBezTo>
                  <a:cubicBezTo>
                    <a:pt x="2935" y="1895"/>
                    <a:pt x="3090" y="1910"/>
                    <a:pt x="3375" y="1920"/>
                  </a:cubicBezTo>
                  <a:cubicBezTo>
                    <a:pt x="3660" y="1930"/>
                    <a:pt x="4090" y="1922"/>
                    <a:pt x="4380" y="1920"/>
                  </a:cubicBezTo>
                  <a:cubicBezTo>
                    <a:pt x="4670" y="1918"/>
                    <a:pt x="4892" y="1911"/>
                    <a:pt x="5115" y="190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Freeform 108"/>
            <p:cNvSpPr/>
            <p:nvPr/>
          </p:nvSpPr>
          <p:spPr>
            <a:xfrm rot="21363000">
              <a:off x="6031440" y="3248280"/>
              <a:ext cx="683640" cy="1661040"/>
            </a:xfrm>
            <a:custGeom>
              <a:avLst/>
              <a:gdLst>
                <a:gd name="textAreaLeft" fmla="*/ 0 w 683640"/>
                <a:gd name="textAreaRight" fmla="*/ 684000 w 683640"/>
                <a:gd name="textAreaTop" fmla="*/ 0 h 1661040"/>
                <a:gd name="textAreaBottom" fmla="*/ 1661400 h 1661040"/>
                <a:gd name="GluePoint1X" fmla="*/ 0 w 1291"/>
                <a:gd name="GluePoint1Y" fmla="*/ 0 h 4202"/>
                <a:gd name="GluePoint2X" fmla="*/ 1 w 1291"/>
                <a:gd name="GluePoint2Y" fmla="*/ 0 h 4202"/>
                <a:gd name="GluePoint3X" fmla="*/ 1 w 1291"/>
                <a:gd name="GluePoint3Y" fmla="*/ 0 h 4202"/>
                <a:gd name="GluePoint4X" fmla="*/ 1 w 1291"/>
                <a:gd name="GluePoint4Y" fmla="*/ 0 h 4202"/>
                <a:gd name="GluePoint5X" fmla="*/ 1 w 1291"/>
                <a:gd name="GluePoint5Y" fmla="*/ 0 h 42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91" h="4202">
                  <a:moveTo>
                    <a:pt x="0" y="0"/>
                  </a:moveTo>
                  <a:cubicBezTo>
                    <a:pt x="23" y="250"/>
                    <a:pt x="73" y="1074"/>
                    <a:pt x="136" y="1502"/>
                  </a:cubicBezTo>
                  <a:cubicBezTo>
                    <a:pt x="199" y="1930"/>
                    <a:pt x="261" y="2232"/>
                    <a:pt x="376" y="2567"/>
                  </a:cubicBezTo>
                  <a:cubicBezTo>
                    <a:pt x="491" y="2902"/>
                    <a:pt x="673" y="3239"/>
                    <a:pt x="826" y="3512"/>
                  </a:cubicBezTo>
                  <a:cubicBezTo>
                    <a:pt x="979" y="3785"/>
                    <a:pt x="1213" y="4087"/>
                    <a:pt x="1291" y="420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Freeform 109"/>
            <p:cNvSpPr/>
            <p:nvPr/>
          </p:nvSpPr>
          <p:spPr>
            <a:xfrm>
              <a:off x="5939640" y="2564280"/>
              <a:ext cx="1220760" cy="2657880"/>
            </a:xfrm>
            <a:custGeom>
              <a:avLst/>
              <a:gdLst>
                <a:gd name="textAreaLeft" fmla="*/ 0 w 1220760"/>
                <a:gd name="textAreaRight" fmla="*/ 1221120 w 1220760"/>
                <a:gd name="textAreaTop" fmla="*/ 0 h 2657880"/>
                <a:gd name="textAreaBottom" fmla="*/ 2658240 h 2657880"/>
                <a:gd name="GluePoint1X" fmla="*/ 0 w 1419"/>
                <a:gd name="GluePoint1Y" fmla="*/ 0 h 2541"/>
                <a:gd name="GluePoint2X" fmla="*/ 44 w 1419"/>
                <a:gd name="GluePoint2Y" fmla="*/ 484 h 2541"/>
                <a:gd name="GluePoint3X" fmla="*/ 88 w 1419"/>
                <a:gd name="GluePoint3Y" fmla="*/ 891 h 2541"/>
                <a:gd name="GluePoint4X" fmla="*/ 220 w 1419"/>
                <a:gd name="GluePoint4Y" fmla="*/ 1386 h 2541"/>
                <a:gd name="GluePoint5X" fmla="*/ 495 w 1419"/>
                <a:gd name="GluePoint5Y" fmla="*/ 1815 h 2541"/>
                <a:gd name="GluePoint6X" fmla="*/ 847 w 1419"/>
                <a:gd name="GluePoint6Y" fmla="*/ 2145 h 2541"/>
                <a:gd name="GluePoint7X" fmla="*/ 1232 w 1419"/>
                <a:gd name="GluePoint7Y" fmla="*/ 2420 h 2541"/>
                <a:gd name="GluePoint8X" fmla="*/ 1419 w 1419"/>
                <a:gd name="GluePoint8Y" fmla="*/ 2541 h 25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419" h="2541">
                  <a:moveTo>
                    <a:pt x="0" y="0"/>
                  </a:moveTo>
                  <a:cubicBezTo>
                    <a:pt x="14" y="168"/>
                    <a:pt x="29" y="336"/>
                    <a:pt x="44" y="484"/>
                  </a:cubicBezTo>
                  <a:cubicBezTo>
                    <a:pt x="59" y="632"/>
                    <a:pt x="59" y="741"/>
                    <a:pt x="88" y="891"/>
                  </a:cubicBezTo>
                  <a:cubicBezTo>
                    <a:pt x="117" y="1041"/>
                    <a:pt x="152" y="1232"/>
                    <a:pt x="220" y="1386"/>
                  </a:cubicBezTo>
                  <a:cubicBezTo>
                    <a:pt x="288" y="1540"/>
                    <a:pt x="391" y="1689"/>
                    <a:pt x="495" y="1815"/>
                  </a:cubicBezTo>
                  <a:cubicBezTo>
                    <a:pt x="599" y="1941"/>
                    <a:pt x="724" y="2044"/>
                    <a:pt x="847" y="2145"/>
                  </a:cubicBezTo>
                  <a:cubicBezTo>
                    <a:pt x="970" y="2246"/>
                    <a:pt x="1137" y="2354"/>
                    <a:pt x="1232" y="2420"/>
                  </a:cubicBezTo>
                  <a:cubicBezTo>
                    <a:pt x="1327" y="2486"/>
                    <a:pt x="1373" y="2513"/>
                    <a:pt x="1419" y="25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Freeform 110"/>
            <p:cNvSpPr/>
            <p:nvPr/>
          </p:nvSpPr>
          <p:spPr>
            <a:xfrm>
              <a:off x="6829200" y="2598480"/>
              <a:ext cx="1656360" cy="2715840"/>
            </a:xfrm>
            <a:custGeom>
              <a:avLst/>
              <a:gdLst>
                <a:gd name="textAreaLeft" fmla="*/ 0 w 1656360"/>
                <a:gd name="textAreaRight" fmla="*/ 1656720 w 1656360"/>
                <a:gd name="textAreaTop" fmla="*/ 0 h 2715840"/>
                <a:gd name="textAreaBottom" fmla="*/ 2715840 h 2715840"/>
                <a:gd name="GluePoint1X" fmla="*/ 0 w 1628"/>
                <a:gd name="GluePoint1Y" fmla="*/ 0 h 2497"/>
                <a:gd name="GluePoint2X" fmla="*/ 967 w 1628"/>
                <a:gd name="GluePoint2Y" fmla="*/ 986 h 2497"/>
                <a:gd name="GluePoint3X" fmla="*/ 2080 w 1628"/>
                <a:gd name="GluePoint3Y" fmla="*/ 1967 h 2497"/>
                <a:gd name="GluePoint4X" fmla="*/ 3202 w 1628"/>
                <a:gd name="GluePoint4Y" fmla="*/ 2562 h 2497"/>
                <a:gd name="GluePoint5X" fmla="*/ 5617 w 1628"/>
                <a:gd name="GluePoint5Y" fmla="*/ 3319 h 2497"/>
                <a:gd name="GluePoint6X" fmla="*/ 10113 w 1628"/>
                <a:gd name="GluePoint6Y" fmla="*/ 3914 h 2497"/>
                <a:gd name="GluePoint7X" fmla="*/ 14946 w 1628"/>
                <a:gd name="GluePoint7Y" fmla="*/ 4281 h 2497"/>
                <a:gd name="GluePoint8X" fmla="*/ 19446 w 1628"/>
                <a:gd name="GluePoint8Y" fmla="*/ 4509 h 2497"/>
                <a:gd name="GluePoint9X" fmla="*/ 23773 w 1628"/>
                <a:gd name="GluePoint9Y" fmla="*/ 4651 h 24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628" h="2497">
                  <a:moveTo>
                    <a:pt x="0" y="0"/>
                  </a:moveTo>
                  <a:cubicBezTo>
                    <a:pt x="21" y="176"/>
                    <a:pt x="42" y="352"/>
                    <a:pt x="66" y="528"/>
                  </a:cubicBezTo>
                  <a:cubicBezTo>
                    <a:pt x="90" y="704"/>
                    <a:pt x="117" y="915"/>
                    <a:pt x="143" y="1056"/>
                  </a:cubicBezTo>
                  <a:cubicBezTo>
                    <a:pt x="169" y="1197"/>
                    <a:pt x="180" y="1254"/>
                    <a:pt x="220" y="1375"/>
                  </a:cubicBezTo>
                  <a:cubicBezTo>
                    <a:pt x="260" y="1496"/>
                    <a:pt x="306" y="1661"/>
                    <a:pt x="385" y="1782"/>
                  </a:cubicBezTo>
                  <a:cubicBezTo>
                    <a:pt x="464" y="1903"/>
                    <a:pt x="587" y="2015"/>
                    <a:pt x="693" y="2101"/>
                  </a:cubicBezTo>
                  <a:cubicBezTo>
                    <a:pt x="799" y="2187"/>
                    <a:pt x="917" y="2246"/>
                    <a:pt x="1023" y="2299"/>
                  </a:cubicBezTo>
                  <a:cubicBezTo>
                    <a:pt x="1129" y="2352"/>
                    <a:pt x="1230" y="2387"/>
                    <a:pt x="1331" y="2420"/>
                  </a:cubicBezTo>
                  <a:cubicBezTo>
                    <a:pt x="1432" y="2453"/>
                    <a:pt x="1530" y="2475"/>
                    <a:pt x="1628" y="2497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Text Box 111"/>
            <p:cNvSpPr/>
            <p:nvPr/>
          </p:nvSpPr>
          <p:spPr>
            <a:xfrm>
              <a:off x="8139600" y="4585320"/>
              <a:ext cx="5770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0" lang="fr-FR" sz="1800" strike="noStrike" u="none" baseline="-25000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2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eform 112"/>
            <p:cNvSpPr/>
            <p:nvPr/>
          </p:nvSpPr>
          <p:spPr>
            <a:xfrm rot="20568600">
              <a:off x="7159320" y="3774240"/>
              <a:ext cx="507240" cy="1401480"/>
            </a:xfrm>
            <a:custGeom>
              <a:avLst/>
              <a:gdLst>
                <a:gd name="textAreaLeft" fmla="*/ 0 w 507240"/>
                <a:gd name="textAreaRight" fmla="*/ 507600 w 507240"/>
                <a:gd name="textAreaTop" fmla="*/ 0 h 1401480"/>
                <a:gd name="textAreaBottom" fmla="*/ 1401840 h 1401480"/>
                <a:gd name="GluePoint1X" fmla="*/ 0 w 1270"/>
                <a:gd name="GluePoint1Y" fmla="*/ 0 h 2916"/>
                <a:gd name="GluePoint2X" fmla="*/ 0 w 1270"/>
                <a:gd name="GluePoint2Y" fmla="*/ 0 h 2916"/>
                <a:gd name="GluePoint3X" fmla="*/ 0 w 1270"/>
                <a:gd name="GluePoint3Y" fmla="*/ 0 h 2916"/>
                <a:gd name="GluePoint4X" fmla="*/ 0 w 1270"/>
                <a:gd name="GluePoint4Y" fmla="*/ 0 h 2916"/>
                <a:gd name="GluePoint5X" fmla="*/ 0 w 1270"/>
                <a:gd name="GluePoint5Y" fmla="*/ 0 h 2916"/>
                <a:gd name="GluePoint6X" fmla="*/ 0 w 1270"/>
                <a:gd name="GluePoint6Y" fmla="*/ 0 h 29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270" h="2916">
                  <a:moveTo>
                    <a:pt x="9" y="0"/>
                  </a:moveTo>
                  <a:cubicBezTo>
                    <a:pt x="12" y="113"/>
                    <a:pt x="0" y="448"/>
                    <a:pt x="25" y="681"/>
                  </a:cubicBezTo>
                  <a:cubicBezTo>
                    <a:pt x="50" y="914"/>
                    <a:pt x="88" y="1176"/>
                    <a:pt x="160" y="1401"/>
                  </a:cubicBezTo>
                  <a:cubicBezTo>
                    <a:pt x="232" y="1626"/>
                    <a:pt x="355" y="1851"/>
                    <a:pt x="460" y="2031"/>
                  </a:cubicBezTo>
                  <a:cubicBezTo>
                    <a:pt x="565" y="2211"/>
                    <a:pt x="655" y="2334"/>
                    <a:pt x="790" y="2481"/>
                  </a:cubicBezTo>
                  <a:cubicBezTo>
                    <a:pt x="925" y="2628"/>
                    <a:pt x="1190" y="2843"/>
                    <a:pt x="1270" y="2916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AutoShape 113"/>
            <p:cNvSpPr/>
            <p:nvPr/>
          </p:nvSpPr>
          <p:spPr>
            <a:xfrm rot="6115200">
              <a:off x="5981760" y="3610080"/>
              <a:ext cx="725760" cy="115200"/>
            </a:xfrm>
            <a:custGeom>
              <a:avLst/>
              <a:gdLst>
                <a:gd name="textAreaLeft" fmla="*/ 112680 w 725760"/>
                <a:gd name="textAreaRight" fmla="*/ 635040 w 725760"/>
                <a:gd name="textAreaTop" fmla="*/ 29160 h 115200"/>
                <a:gd name="textAreaBottom" fmla="*/ 86760 h 1152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Text Box 114"/>
            <p:cNvSpPr/>
            <p:nvPr/>
          </p:nvSpPr>
          <p:spPr>
            <a:xfrm>
              <a:off x="7860240" y="3975480"/>
              <a:ext cx="542880" cy="43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T</a:t>
              </a:r>
              <a:r>
                <a:rPr b="0" lang="fr-FR" sz="1800" strike="noStrike" u="none" baseline="-25000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1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Line 115"/>
            <p:cNvSpPr/>
            <p:nvPr/>
          </p:nvSpPr>
          <p:spPr>
            <a:xfrm>
              <a:off x="6535080" y="3696120"/>
              <a:ext cx="195120" cy="122400"/>
            </a:xfrm>
            <a:prstGeom prst="line">
              <a:avLst/>
            </a:prstGeom>
            <a:ln w="9360">
              <a:solidFill>
                <a:srgbClr val="ff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4" name="Group 116"/>
            <p:cNvGrpSpPr/>
            <p:nvPr/>
          </p:nvGrpSpPr>
          <p:grpSpPr>
            <a:xfrm>
              <a:off x="5304600" y="2155680"/>
              <a:ext cx="3551760" cy="3515400"/>
              <a:chOff x="5304600" y="2155680"/>
              <a:chExt cx="3551760" cy="3515400"/>
            </a:xfrm>
          </p:grpSpPr>
          <p:sp>
            <p:nvSpPr>
              <p:cNvPr id="355" name="Line 117"/>
              <p:cNvSpPr/>
              <p:nvPr/>
            </p:nvSpPr>
            <p:spPr>
              <a:xfrm>
                <a:off x="5304600" y="5671080"/>
                <a:ext cx="35517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Line 118"/>
              <p:cNvSpPr/>
              <p:nvPr/>
            </p:nvSpPr>
            <p:spPr>
              <a:xfrm flipV="1">
                <a:off x="5313240" y="2155680"/>
                <a:ext cx="0" cy="34952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7" name="Text Box 119"/>
            <p:cNvSpPr/>
            <p:nvPr/>
          </p:nvSpPr>
          <p:spPr>
            <a:xfrm>
              <a:off x="8636400" y="5212800"/>
              <a:ext cx="507600" cy="37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V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Text Box 120"/>
            <p:cNvSpPr/>
            <p:nvPr/>
          </p:nvSpPr>
          <p:spPr>
            <a:xfrm>
              <a:off x="5352120" y="2069280"/>
              <a:ext cx="68544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P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Text Box 121"/>
            <p:cNvSpPr/>
            <p:nvPr/>
          </p:nvSpPr>
          <p:spPr>
            <a:xfrm>
              <a:off x="7094520" y="2348640"/>
              <a:ext cx="2039040" cy="4705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4e3b30"/>
                  </a:solidFill>
                  <a:effectLst/>
                  <a:uFillTx/>
                  <a:latin typeface="Times New Roman"/>
                  <a:ea typeface="Arial"/>
                </a:rPr>
                <a:t>Cycle moteur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Object 2"/>
          <p:cNvGraphicFramePr/>
          <p:nvPr/>
        </p:nvGraphicFramePr>
        <p:xfrm>
          <a:off x="1763640" y="1557360"/>
          <a:ext cx="5327640" cy="7905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61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763640" y="1557360"/>
                    <a:ext cx="5327640" cy="79056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62" name="Object 3"/>
          <p:cNvGraphicFramePr/>
          <p:nvPr/>
        </p:nvGraphicFramePr>
        <p:xfrm>
          <a:off x="928800" y="2571840"/>
          <a:ext cx="6192720" cy="9684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63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928800" y="2571840"/>
                    <a:ext cx="6192720" cy="96840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64" name="Rectangle 66"/>
          <p:cNvSpPr/>
          <p:nvPr/>
        </p:nvSpPr>
        <p:spPr>
          <a:xfrm>
            <a:off x="179280" y="676800"/>
            <a:ext cx="6193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99"/>
                </a:solidFill>
                <a:effectLst/>
                <a:uFillTx/>
                <a:latin typeface="Arial"/>
                <a:ea typeface="Times New Roman"/>
              </a:rPr>
              <a:t>COMPRESSION </a:t>
            </a:r>
            <a:r>
              <a:rPr b="1" lang="fr-FR" sz="2000" strike="noStrike" u="sng">
                <a:solidFill>
                  <a:srgbClr val="000099"/>
                </a:solidFill>
                <a:effectLst/>
                <a:uFillTx/>
                <a:latin typeface="Arial"/>
                <a:ea typeface="Times New Roman"/>
              </a:rPr>
              <a:t>ISOTHERME</a:t>
            </a:r>
            <a:r>
              <a:rPr b="1" lang="fr-FR" sz="2000" strike="noStrike" u="none">
                <a:solidFill>
                  <a:srgbClr val="000099"/>
                </a:solidFill>
                <a:effectLst/>
                <a:uFillTx/>
                <a:latin typeface="Arial"/>
                <a:ea typeface="Times New Roman"/>
              </a:rPr>
              <a:t> AB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79"/>
          <p:cNvSpPr/>
          <p:nvPr/>
        </p:nvSpPr>
        <p:spPr>
          <a:xfrm>
            <a:off x="252360" y="1051560"/>
            <a:ext cx="86407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La variation de l’énergie interne au cours de cette transformation est égale à :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81"/>
          <p:cNvSpPr/>
          <p:nvPr/>
        </p:nvSpPr>
        <p:spPr>
          <a:xfrm>
            <a:off x="195120" y="3572640"/>
            <a:ext cx="8489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Le système a donc reçu du travail du milieu extérieur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85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86"/>
          <p:cNvSpPr/>
          <p:nvPr/>
        </p:nvSpPr>
        <p:spPr>
          <a:xfrm>
            <a:off x="375840" y="4136040"/>
            <a:ext cx="3461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DÉTENTE </a:t>
            </a:r>
            <a:r>
              <a:rPr b="1" lang="fr-FR" sz="2000" strike="noStrike" u="sng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ISOTHERME</a:t>
            </a:r>
            <a:r>
              <a:rPr b="1" lang="fr-FR" sz="20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CD</a:t>
            </a:r>
            <a:r>
              <a:rPr b="0" lang="fr-FR" sz="20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90"/>
          <p:cNvSpPr/>
          <p:nvPr/>
        </p:nvSpPr>
        <p:spPr>
          <a:xfrm>
            <a:off x="179280" y="5922000"/>
            <a:ext cx="87138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 système a reçu de la chaleur du milieu extérieur et i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 a, en contre partie, fournit du travail au milieu extérieur.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0" name="Object 5"/>
              <p:cNvSpPr txBox="1"/>
              <p:nvPr/>
            </p:nvSpPr>
            <p:spPr>
              <a:xfrm>
                <a:off x="1190520" y="4500720"/>
                <a:ext cx="6586560" cy="1204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CD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W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CD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C</m:t>
                        </m:r>
                      </m:sub>
                      <m:sup>
                        <m:r>
                          <m:t xml:space="preserve">D</m:t>
                        </m:r>
                      </m:sup>
                      <m:e>
                        <m:r>
                          <m:rPr>
                            <m:lit/>
                            <m:nor/>
                          </m:rPr>
                          <m:t xml:space="preserve">PdV</m:t>
                        </m:r>
                        <m:r>
                          <m:t xml:space="preserve">=</m:t>
                        </m:r>
                      </m:e>
                    </m:nary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ln</m:t>
                    </m:r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D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</m:den>
                    </m:f>
                    <m:r>
                      <m:t xml:space="preserve">&gt;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70" name="Object 5"/>
              <p:cNvSpPr txBox="1"/>
              <p:nvPr/>
            </p:nvSpPr>
            <p:spPr>
              <a:xfrm>
                <a:off x="1190520" y="4500720"/>
                <a:ext cx="6586560" cy="1204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6" dur="indefinite" restart="never" nodeType="tmRoot">
          <p:childTnLst>
            <p:seq>
              <p:cTn id="127" dur="indefinite" nodeType="mainSeq">
                <p:childTnLst>
                  <p:par>
                    <p:cTn id="128" nodeType="clickEffect" fill="hold">
                      <p:stCondLst>
                        <p:cond delay="indefinite"/>
                      </p:stCondLst>
                      <p:childTnLst>
                        <p:par>
                          <p:cTn id="1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5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8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1" name="Object 2"/>
          <p:cNvGraphicFramePr/>
          <p:nvPr/>
        </p:nvGraphicFramePr>
        <p:xfrm>
          <a:off x="2484360" y="1916280"/>
          <a:ext cx="2449440" cy="5760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7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84360" y="1916280"/>
                    <a:ext cx="2449440" cy="57600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73" name="Rectangle 8"/>
          <p:cNvSpPr/>
          <p:nvPr/>
        </p:nvSpPr>
        <p:spPr>
          <a:xfrm>
            <a:off x="257400" y="704880"/>
            <a:ext cx="5514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TRANSFORMATIONS </a:t>
            </a:r>
            <a:r>
              <a:rPr b="1" lang="fr-FR" sz="1800" strike="noStrike" u="sng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ADIABATIQUES</a:t>
            </a:r>
            <a:r>
              <a:rPr b="1" lang="fr-FR" sz="18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BC ET DA</a:t>
            </a:r>
            <a:r>
              <a:rPr b="0" lang="fr-FR" sz="1800" strike="noStrike" u="non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9"/>
          <p:cNvSpPr/>
          <p:nvPr/>
        </p:nvSpPr>
        <p:spPr>
          <a:xfrm>
            <a:off x="324000" y="1411200"/>
            <a:ext cx="8820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 cours de cette transformation il n’y a pas d’échange de chaleur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10"/>
          <p:cNvSpPr/>
          <p:nvPr/>
        </p:nvSpPr>
        <p:spPr>
          <a:xfrm>
            <a:off x="755280" y="2827440"/>
            <a:ext cx="2259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Compression BC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1"/>
          <p:cNvSpPr/>
          <p:nvPr/>
        </p:nvSpPr>
        <p:spPr>
          <a:xfrm>
            <a:off x="0" y="3284640"/>
            <a:ext cx="89647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L’équation du gaz parfait au cours de cette transformation conduit à 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12"/>
          <p:cNvSpPr/>
          <p:nvPr/>
        </p:nvSpPr>
        <p:spPr>
          <a:xfrm>
            <a:off x="799920" y="4772160"/>
            <a:ext cx="2259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Compression DA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13"/>
          <p:cNvSpPr/>
          <p:nvPr/>
        </p:nvSpPr>
        <p:spPr>
          <a:xfrm>
            <a:off x="397440" y="5229360"/>
            <a:ext cx="5026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Dans ce cas, on obtient la relation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15"/>
          <p:cNvSpPr/>
          <p:nvPr/>
        </p:nvSpPr>
        <p:spPr>
          <a:xfrm>
            <a:off x="0" y="3238560"/>
            <a:ext cx="18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0" name="Object 5"/>
          <p:cNvGraphicFramePr/>
          <p:nvPr/>
        </p:nvGraphicFramePr>
        <p:xfrm>
          <a:off x="6300720" y="4361040"/>
          <a:ext cx="2484360" cy="17427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81" name="Object 5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300720" y="4361040"/>
                    <a:ext cx="2484360" cy="1742760"/>
                  </a:xfrm>
                  <a:prstGeom prst="rect">
                    <a:avLst/>
                  </a:prstGeom>
                  <a:solidFill>
                    <a:srgbClr val="99ff33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82" name="Rectangle 16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3" name="ZoneTexte 1" descr=""/>
          <p:cNvPicPr/>
          <p:nvPr/>
        </p:nvPicPr>
        <p:blipFill>
          <a:blip r:embed="rId5"/>
          <a:stretch/>
        </p:blipFill>
        <p:spPr>
          <a:xfrm>
            <a:off x="2060640" y="4035600"/>
            <a:ext cx="3187800" cy="60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ZoneTexte 14" descr=""/>
          <p:cNvPicPr/>
          <p:nvPr/>
        </p:nvPicPr>
        <p:blipFill>
          <a:blip r:embed="rId6"/>
          <a:stretch/>
        </p:blipFill>
        <p:spPr>
          <a:xfrm>
            <a:off x="2060640" y="5827680"/>
            <a:ext cx="318780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Flèche droite 2"/>
          <p:cNvSpPr/>
          <p:nvPr/>
        </p:nvSpPr>
        <p:spPr>
          <a:xfrm>
            <a:off x="5643720" y="5014800"/>
            <a:ext cx="591840" cy="435240"/>
          </a:xfrm>
          <a:prstGeom prst="rightArrow">
            <a:avLst>
              <a:gd name="adj1" fmla="val 50000"/>
              <a:gd name="adj2" fmla="val 49992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Accolade fermante 3"/>
          <p:cNvSpPr/>
          <p:nvPr/>
        </p:nvSpPr>
        <p:spPr>
          <a:xfrm>
            <a:off x="5103720" y="3936960"/>
            <a:ext cx="527040" cy="2586240"/>
          </a:xfrm>
          <a:custGeom>
            <a:avLst/>
            <a:gdLst>
              <a:gd name="textAreaLeft" fmla="*/ 0 w 527040"/>
              <a:gd name="textAreaRight" fmla="*/ 190440 w 527040"/>
              <a:gd name="textAreaTop" fmla="*/ 13680 h 2586240"/>
              <a:gd name="textAreaBottom" fmla="*/ 2572560 h 258624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184"/>
                  <a:pt x="10800" y="367"/>
                </a:cubicBezTo>
                <a:lnTo>
                  <a:pt x="10800" y="10433"/>
                </a:lnTo>
                <a:cubicBezTo>
                  <a:pt x="10800" y="10617"/>
                  <a:pt x="16200" y="10800"/>
                  <a:pt x="21600" y="10800"/>
                </a:cubicBezTo>
                <a:cubicBezTo>
                  <a:pt x="16200" y="10800"/>
                  <a:pt x="10800" y="10984"/>
                  <a:pt x="10800" y="11167"/>
                </a:cubicBezTo>
                <a:lnTo>
                  <a:pt x="10800" y="21233"/>
                </a:lnTo>
                <a:cubicBezTo>
                  <a:pt x="10800" y="21417"/>
                  <a:pt x="5400" y="21600"/>
                  <a:pt x="0" y="21600"/>
                </a:cubicBezTo>
              </a:path>
            </a:pathLst>
          </a:custGeom>
          <a:noFill/>
          <a:ln w="10080">
            <a:solidFill>
              <a:srgbClr val="f0a2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Picture 2" descr=""/>
          <p:cNvPicPr/>
          <p:nvPr/>
        </p:nvPicPr>
        <p:blipFill>
          <a:blip r:embed="rId1"/>
          <a:stretch/>
        </p:blipFill>
        <p:spPr>
          <a:xfrm>
            <a:off x="6507000" y="1600200"/>
            <a:ext cx="1731960" cy="1035000"/>
          </a:xfrm>
          <a:prstGeom prst="rect">
            <a:avLst/>
          </a:prstGeom>
          <a:solidFill>
            <a:srgbClr val="99ff33"/>
          </a:solidFill>
          <a:ln w="0">
            <a:noFill/>
          </a:ln>
        </p:spPr>
      </p:pic>
      <p:pic>
        <p:nvPicPr>
          <p:cNvPr id="388" name="Picture 8" descr=""/>
          <p:cNvPicPr/>
          <p:nvPr/>
        </p:nvPicPr>
        <p:blipFill>
          <a:blip r:embed="rId2"/>
          <a:stretch/>
        </p:blipFill>
        <p:spPr>
          <a:xfrm>
            <a:off x="1627200" y="3365640"/>
            <a:ext cx="2106720" cy="1338120"/>
          </a:xfrm>
          <a:prstGeom prst="rect">
            <a:avLst/>
          </a:prstGeom>
          <a:solidFill>
            <a:srgbClr val="99ff33"/>
          </a:solidFill>
          <a:ln w="0">
            <a:noFill/>
          </a:ln>
        </p:spPr>
      </p:pic>
      <p:pic>
        <p:nvPicPr>
          <p:cNvPr id="389" name="Picture 7" descr=""/>
          <p:cNvPicPr/>
          <p:nvPr/>
        </p:nvPicPr>
        <p:blipFill>
          <a:blip r:embed="rId3"/>
          <a:stretch/>
        </p:blipFill>
        <p:spPr>
          <a:xfrm>
            <a:off x="5257800" y="3400560"/>
            <a:ext cx="1928880" cy="1285920"/>
          </a:xfrm>
          <a:prstGeom prst="rect">
            <a:avLst/>
          </a:prstGeom>
          <a:solidFill>
            <a:srgbClr val="99ff33"/>
          </a:solidFill>
          <a:ln w="0">
            <a:noFill/>
          </a:ln>
        </p:spPr>
      </p:pic>
      <p:pic>
        <p:nvPicPr>
          <p:cNvPr id="390" name="Picture 6" descr=""/>
          <p:cNvPicPr/>
          <p:nvPr/>
        </p:nvPicPr>
        <p:blipFill>
          <a:blip r:embed="rId4"/>
          <a:stretch/>
        </p:blipFill>
        <p:spPr>
          <a:xfrm>
            <a:off x="4842000" y="4897440"/>
            <a:ext cx="2500200" cy="147312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</p:pic>
      <p:sp>
        <p:nvSpPr>
          <p:cNvPr id="391" name="Rectangle 9"/>
          <p:cNvSpPr/>
          <p:nvPr/>
        </p:nvSpPr>
        <p:spPr>
          <a:xfrm>
            <a:off x="0" y="4452840"/>
            <a:ext cx="18432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12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93" name="Object 5"/>
              <p:cNvSpPr txBox="1"/>
              <p:nvPr/>
            </p:nvSpPr>
            <p:spPr>
              <a:xfrm>
                <a:off x="2732040" y="2152800"/>
                <a:ext cx="2152800" cy="925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ln</m:t>
                    </m:r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D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93" name="Object 5"/>
              <p:cNvSpPr txBox="1"/>
              <p:nvPr/>
            </p:nvSpPr>
            <p:spPr>
              <a:xfrm>
                <a:off x="2732040" y="2152800"/>
                <a:ext cx="2152800" cy="925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4" name="Object 13"/>
              <p:cNvSpPr txBox="1"/>
              <p:nvPr/>
            </p:nvSpPr>
            <p:spPr>
              <a:xfrm>
                <a:off x="2730600" y="1120680"/>
                <a:ext cx="2154240" cy="903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Q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ln</m:t>
                    </m:r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B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A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94" name="Object 13"/>
              <p:cNvSpPr txBox="1"/>
              <p:nvPr/>
            </p:nvSpPr>
            <p:spPr>
              <a:xfrm>
                <a:off x="2730600" y="1120680"/>
                <a:ext cx="2154240" cy="903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5" name="Object 15"/>
              <p:cNvSpPr txBox="1"/>
              <p:nvPr/>
            </p:nvSpPr>
            <p:spPr>
              <a:xfrm>
                <a:off x="826920" y="1647720"/>
                <a:ext cx="1222560" cy="924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B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A</m:t>
                            </m:r>
                          </m:sub>
                        </m:sSub>
                      </m:den>
                    </m:f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V</m:t>
                            </m:r>
                          </m:e>
                          <m:sub>
                            <m:r>
                              <m:t xml:space="preserve">D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95" name="Object 15"/>
              <p:cNvSpPr txBox="1"/>
              <p:nvPr/>
            </p:nvSpPr>
            <p:spPr>
              <a:xfrm>
                <a:off x="826920" y="1647720"/>
                <a:ext cx="1222560" cy="924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396" name="Flèche droite 16"/>
          <p:cNvSpPr/>
          <p:nvPr/>
        </p:nvSpPr>
        <p:spPr>
          <a:xfrm>
            <a:off x="5046840" y="1771560"/>
            <a:ext cx="1180800" cy="728640"/>
          </a:xfrm>
          <a:prstGeom prst="rightArrow">
            <a:avLst>
              <a:gd name="adj1" fmla="val 50000"/>
              <a:gd name="adj2" fmla="val 49989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Flèche droite 17"/>
          <p:cNvSpPr/>
          <p:nvPr/>
        </p:nvSpPr>
        <p:spPr>
          <a:xfrm>
            <a:off x="3946680" y="3773520"/>
            <a:ext cx="1054080" cy="531720"/>
          </a:xfrm>
          <a:prstGeom prst="rightArrow">
            <a:avLst>
              <a:gd name="adj1" fmla="val 50000"/>
              <a:gd name="adj2" fmla="val 50009"/>
            </a:avLst>
          </a:prstGeom>
          <a:solidFill>
            <a:srgbClr val="f0a22e"/>
          </a:solidFill>
          <a:ln w="25560">
            <a:solidFill>
              <a:srgbClr val="b076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nodeType="clickEffect" fill="hold">
                      <p:stCondLst>
                        <p:cond delay="indefinite"/>
                      </p:stCondLst>
                      <p:childTnLst>
                        <p:par>
                          <p:cTn id="1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5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9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nodeType="clickEffect" fill="hold">
                      <p:stCondLst>
                        <p:cond delay="indefinite"/>
                      </p:stCondLst>
                      <p:childTnLst>
                        <p:par>
                          <p:cTn id="1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4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8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2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3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9" name="Object 2"/>
          <p:cNvGraphicFramePr/>
          <p:nvPr/>
        </p:nvGraphicFramePr>
        <p:xfrm>
          <a:off x="2771640" y="1773360"/>
          <a:ext cx="1835280" cy="9936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00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771640" y="1773360"/>
                    <a:ext cx="1835280" cy="99360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01" name="Object 3"/>
          <p:cNvGraphicFramePr/>
          <p:nvPr/>
        </p:nvGraphicFramePr>
        <p:xfrm>
          <a:off x="971640" y="3213000"/>
          <a:ext cx="7129440" cy="12240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02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971640" y="3213000"/>
                    <a:ext cx="7129440" cy="122400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03" name="Object 4"/>
          <p:cNvGraphicFramePr/>
          <p:nvPr/>
        </p:nvGraphicFramePr>
        <p:xfrm>
          <a:off x="900000" y="5516640"/>
          <a:ext cx="7056720" cy="116028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404" name="Object 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900000" y="5516640"/>
                    <a:ext cx="7056720" cy="1160280"/>
                  </a:xfrm>
                  <a:prstGeom prst="rect">
                    <a:avLst/>
                  </a:prstGeom>
                  <a:solidFill>
                    <a:srgbClr val="fbeec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05" name="Rectangle 7"/>
          <p:cNvSpPr/>
          <p:nvPr/>
        </p:nvSpPr>
        <p:spPr>
          <a:xfrm>
            <a:off x="469440" y="2029320"/>
            <a:ext cx="1909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Du fait que 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0"/>
          <p:cNvSpPr/>
          <p:nvPr/>
        </p:nvSpPr>
        <p:spPr>
          <a:xfrm>
            <a:off x="561960" y="620640"/>
            <a:ext cx="4144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Cycles de Carnot </a:t>
            </a:r>
            <a:r>
              <a:rPr b="1" lang="fr-FR" sz="2400" strike="noStrike" u="sng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récepteur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11"/>
          <p:cNvSpPr/>
          <p:nvPr/>
        </p:nvSpPr>
        <p:spPr>
          <a:xfrm>
            <a:off x="663840" y="1341360"/>
            <a:ext cx="5806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CALCUL DE L’EFFICACITÉ D’UNE </a:t>
            </a:r>
            <a:r>
              <a:rPr b="1" lang="fr-FR" sz="1800" strike="noStrike" u="sng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MACHINE FRIGO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2"/>
          <p:cNvSpPr/>
          <p:nvPr/>
        </p:nvSpPr>
        <p:spPr>
          <a:xfrm>
            <a:off x="639000" y="4797360"/>
            <a:ext cx="6860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CALCUL DE LA PERFORMANCE D’UNE </a:t>
            </a:r>
            <a:r>
              <a:rPr b="1" lang="fr-FR" sz="1800" strike="noStrike" u="sng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POMPE À CHALEUR</a:t>
            </a:r>
            <a:r>
              <a:rPr b="0" lang="fr-FR" sz="1800" strike="noStrike" u="sng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22"/>
          <p:cNvSpPr/>
          <p:nvPr/>
        </p:nvSpPr>
        <p:spPr>
          <a:xfrm>
            <a:off x="2016000" y="3716280"/>
            <a:ext cx="5364360" cy="2997360"/>
          </a:xfrm>
          <a:prstGeom prst="rect">
            <a:avLst/>
          </a:prstGeom>
          <a:solidFill>
            <a:srgbClr val="fbeec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"/>
          <p:cNvSpPr/>
          <p:nvPr/>
        </p:nvSpPr>
        <p:spPr>
          <a:xfrm>
            <a:off x="315000" y="648720"/>
            <a:ext cx="3144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Théorème de Carnot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3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Cycle de Carnot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Picture 41" descr=""/>
          <p:cNvPicPr/>
          <p:nvPr/>
        </p:nvPicPr>
        <p:blipFill>
          <a:blip r:embed="rId1"/>
          <a:stretch/>
        </p:blipFill>
        <p:spPr>
          <a:xfrm>
            <a:off x="2087640" y="3784680"/>
            <a:ext cx="5292720" cy="28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Box 42"/>
          <p:cNvSpPr/>
          <p:nvPr/>
        </p:nvSpPr>
        <p:spPr>
          <a:xfrm>
            <a:off x="0" y="1341360"/>
            <a:ext cx="874872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a le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même rendement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pour tous les cycles réversibles fonctionnant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entre les mêmes sources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 chaleur.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 rendement est supérieur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 rendement de tous les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cycles irréversibles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fonctionnant entre les mêmes températures 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AutoShape 26"/>
          <p:cNvSpPr/>
          <p:nvPr/>
        </p:nvSpPr>
        <p:spPr>
          <a:xfrm>
            <a:off x="285840" y="1571760"/>
            <a:ext cx="2895480" cy="29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Box 25"/>
          <p:cNvSpPr/>
          <p:nvPr/>
        </p:nvSpPr>
        <p:spPr>
          <a:xfrm>
            <a:off x="285840" y="3941640"/>
            <a:ext cx="2895480" cy="582840"/>
          </a:xfrm>
          <a:prstGeom prst="rect">
            <a:avLst/>
          </a:prstGeom>
          <a:solidFill>
            <a:srgbClr val="ffff66"/>
          </a:solidFill>
          <a:ln w="284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Source Froide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Oval 24"/>
          <p:cNvSpPr/>
          <p:nvPr/>
        </p:nvSpPr>
        <p:spPr>
          <a:xfrm>
            <a:off x="1114560" y="2567160"/>
            <a:ext cx="1292040" cy="87768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AutoShape 23"/>
          <p:cNvSpPr/>
          <p:nvPr/>
        </p:nvSpPr>
        <p:spPr>
          <a:xfrm>
            <a:off x="1665360" y="2873520"/>
            <a:ext cx="1290600" cy="317520"/>
          </a:xfrm>
          <a:custGeom>
            <a:avLst/>
            <a:gdLst>
              <a:gd name="textAreaLeft" fmla="*/ 201600 w 1290600"/>
              <a:gd name="textAreaRight" fmla="*/ 1129320 w 1290600"/>
              <a:gd name="textAreaTop" fmla="*/ 78840 h 317520"/>
              <a:gd name="textAreaBottom" fmla="*/ 238680 h 317520"/>
              <a:gd name="GluePoint1X" fmla="*/ 2147483646 w 21600"/>
              <a:gd name="GluePoint1Y" fmla="*/ 0 h 21600"/>
              <a:gd name="GluePoint2X" fmla="*/ 0 w 21600"/>
              <a:gd name="GluePoint2Y" fmla="*/ 0 h 21600"/>
              <a:gd name="GluePoint3X" fmla="*/ 2147483646 w 21600"/>
              <a:gd name="GluePoint3Y" fmla="*/ 0 h 21600"/>
              <a:gd name="GluePoint4X" fmla="*/ 2147483646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99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AutoShape 22"/>
          <p:cNvSpPr/>
          <p:nvPr/>
        </p:nvSpPr>
        <p:spPr>
          <a:xfrm rot="5400000">
            <a:off x="1410840" y="3654360"/>
            <a:ext cx="723960" cy="282600"/>
          </a:xfrm>
          <a:custGeom>
            <a:avLst/>
            <a:gdLst>
              <a:gd name="textAreaLeft" fmla="*/ 113400 w 723960"/>
              <a:gd name="textAreaRight" fmla="*/ 633600 w 723960"/>
              <a:gd name="textAreaTop" fmla="*/ 70200 h 282600"/>
              <a:gd name="textAreaBottom" fmla="*/ 212400 h 28260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 rot="10800000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Box 21"/>
          <p:cNvSpPr/>
          <p:nvPr/>
        </p:nvSpPr>
        <p:spPr>
          <a:xfrm>
            <a:off x="285840" y="1571760"/>
            <a:ext cx="2819160" cy="608040"/>
          </a:xfrm>
          <a:prstGeom prst="rect">
            <a:avLst/>
          </a:prstGeom>
          <a:solidFill>
            <a:srgbClr val="ffff66"/>
          </a:solidFill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Source Chaude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AutoShape 20"/>
          <p:cNvSpPr/>
          <p:nvPr/>
        </p:nvSpPr>
        <p:spPr>
          <a:xfrm rot="5400000">
            <a:off x="1426320" y="2286720"/>
            <a:ext cx="673200" cy="284400"/>
          </a:xfrm>
          <a:custGeom>
            <a:avLst/>
            <a:gdLst>
              <a:gd name="textAreaLeft" fmla="*/ 105120 w 673200"/>
              <a:gd name="textAreaRight" fmla="*/ 589680 w 673200"/>
              <a:gd name="textAreaTop" fmla="*/ 70560 h 284400"/>
              <a:gd name="textAreaBottom" fmla="*/ 213840 h 28440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 rot="10800000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Box 19"/>
          <p:cNvSpPr/>
          <p:nvPr/>
        </p:nvSpPr>
        <p:spPr>
          <a:xfrm>
            <a:off x="2039760" y="2257560"/>
            <a:ext cx="635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b="0" lang="fr-FR" sz="2800" strike="noStrike" u="none" baseline="-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Box 18"/>
          <p:cNvSpPr/>
          <p:nvPr/>
        </p:nvSpPr>
        <p:spPr>
          <a:xfrm>
            <a:off x="1967040" y="3511440"/>
            <a:ext cx="7635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b="0" lang="fr-FR" sz="2400" strike="noStrike" u="none" baseline="-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Box 17"/>
          <p:cNvSpPr/>
          <p:nvPr/>
        </p:nvSpPr>
        <p:spPr>
          <a:xfrm>
            <a:off x="2639880" y="2604960"/>
            <a:ext cx="5032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5080" rIns="55080" tIns="27360" bIns="27360" anchor="t">
            <a:normAutofit fontScale="850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4" name=""/>
          <p:cNvGraphicFramePr/>
          <p:nvPr/>
        </p:nvGraphicFramePr>
        <p:xfrm>
          <a:off x="3397320" y="1057320"/>
          <a:ext cx="5688000" cy="5824440"/>
        </p:xfrm>
        <a:graphic>
          <a:graphicData uri="http://schemas.openxmlformats.org/drawingml/2006/table">
            <a:tbl>
              <a:tblPr/>
              <a:tblGrid>
                <a:gridCol w="557280"/>
                <a:gridCol w="618840"/>
                <a:gridCol w="947880"/>
                <a:gridCol w="971640"/>
                <a:gridCol w="1015920"/>
                <a:gridCol w="1576440"/>
              </a:tblGrid>
              <a:tr h="7016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</a:t>
                      </a:r>
                      <a:r>
                        <a:rPr b="0" lang="fr-FR" sz="2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</a:t>
                      </a:r>
                      <a:r>
                        <a:rPr b="0" lang="fr-FR" sz="2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fr-FR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ièr</a:t>
                      </a: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Prin.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fr-FR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ème</a:t>
                      </a: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Prin.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82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Impossible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11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Sans intérêt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Pompe et réfrigérateur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15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Sans intérêt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7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Impossible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15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Impossible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Machine thermique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7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ff3300"/>
                          </a:solidFill>
                          <a:effectLst/>
                          <a:uFillTx/>
                          <a:latin typeface="Calibri"/>
                        </a:rPr>
                        <a:t>&lt;0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800" strike="noStrike" u="none">
                          <a:solidFill>
                            <a:srgbClr val="008000"/>
                          </a:solidFill>
                          <a:effectLst/>
                          <a:uFillTx/>
                          <a:latin typeface="Calibri"/>
                        </a:rPr>
                        <a:t>&gt;0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Oui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Impossible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5" name="AutoShape 13"/>
          <p:cNvSpPr/>
          <p:nvPr/>
        </p:nvSpPr>
        <p:spPr>
          <a:xfrm rot="10800000">
            <a:off x="1402920" y="2852640"/>
            <a:ext cx="1366920" cy="347760"/>
          </a:xfrm>
          <a:custGeom>
            <a:avLst/>
            <a:gdLst>
              <a:gd name="textAreaLeft" fmla="*/ 213120 w 1366920"/>
              <a:gd name="textAreaRight" fmla="*/ 1196280 w 1366920"/>
              <a:gd name="textAreaTop" fmla="*/ 86400 h 347760"/>
              <a:gd name="textAreaBottom" fmla="*/ 261360 h 347760"/>
              <a:gd name="GluePoint1X" fmla="*/ 2147483646 w 21600"/>
              <a:gd name="GluePoint1Y" fmla="*/ 0 h 21600"/>
              <a:gd name="GluePoint2X" fmla="*/ 0 w 21600"/>
              <a:gd name="GluePoint2Y" fmla="*/ 0 h 21600"/>
              <a:gd name="GluePoint3X" fmla="*/ 2147483646 w 21600"/>
              <a:gd name="GluePoint3Y" fmla="*/ 0 h 21600"/>
              <a:gd name="GluePoint4X" fmla="*/ 2147483646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99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rot="10800000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AutoShape 14"/>
          <p:cNvSpPr/>
          <p:nvPr/>
        </p:nvSpPr>
        <p:spPr>
          <a:xfrm rot="16200000">
            <a:off x="1377720" y="3453840"/>
            <a:ext cx="793800" cy="311040"/>
          </a:xfrm>
          <a:custGeom>
            <a:avLst/>
            <a:gdLst>
              <a:gd name="textAreaLeft" fmla="*/ 124560 w 793800"/>
              <a:gd name="textAreaRight" fmla="*/ 694440 w 793800"/>
              <a:gd name="textAreaTop" fmla="*/ 77400 h 311040"/>
              <a:gd name="textAreaBottom" fmla="*/ 233640 h 31104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AutoShape 16"/>
          <p:cNvSpPr/>
          <p:nvPr/>
        </p:nvSpPr>
        <p:spPr>
          <a:xfrm rot="16200000">
            <a:off x="1418400" y="2105280"/>
            <a:ext cx="738360" cy="311400"/>
          </a:xfrm>
          <a:custGeom>
            <a:avLst/>
            <a:gdLst>
              <a:gd name="textAreaLeft" fmla="*/ 115200 w 738360"/>
              <a:gd name="textAreaRight" fmla="*/ 646920 w 738360"/>
              <a:gd name="textAreaTop" fmla="*/ 77400 h 311400"/>
              <a:gd name="textAreaBottom" fmla="*/ 234000 h 311400"/>
              <a:gd name="GluePoint1X" fmla="*/ 0 w 21600"/>
              <a:gd name="GluePoint1Y" fmla="*/ 0 h 21600"/>
              <a:gd name="GluePoint2X" fmla="*/ 0 w 21600"/>
              <a:gd name="GluePoint2Y" fmla="*/ 0 h 21600"/>
              <a:gd name="GluePoint3X" fmla="*/ 0 w 21600"/>
              <a:gd name="GluePoint3Y" fmla="*/ 0 h 21600"/>
              <a:gd name="GluePoint4X" fmla="*/ 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318"/>
          <p:cNvSpPr/>
          <p:nvPr/>
        </p:nvSpPr>
        <p:spPr>
          <a:xfrm>
            <a:off x="5543640" y="1768320"/>
            <a:ext cx="3529080" cy="5889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319"/>
          <p:cNvSpPr/>
          <p:nvPr/>
        </p:nvSpPr>
        <p:spPr>
          <a:xfrm>
            <a:off x="5543640" y="2403360"/>
            <a:ext cx="936360" cy="60192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20"/>
          <p:cNvSpPr/>
          <p:nvPr/>
        </p:nvSpPr>
        <p:spPr>
          <a:xfrm>
            <a:off x="5549760" y="4343400"/>
            <a:ext cx="3529080" cy="549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319"/>
          <p:cNvSpPr/>
          <p:nvPr/>
        </p:nvSpPr>
        <p:spPr>
          <a:xfrm>
            <a:off x="6526080" y="2398680"/>
            <a:ext cx="9352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319"/>
          <p:cNvSpPr/>
          <p:nvPr/>
        </p:nvSpPr>
        <p:spPr>
          <a:xfrm>
            <a:off x="7526160" y="2387520"/>
            <a:ext cx="1500480" cy="60192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319"/>
          <p:cNvSpPr/>
          <p:nvPr/>
        </p:nvSpPr>
        <p:spPr>
          <a:xfrm>
            <a:off x="5537160" y="3041640"/>
            <a:ext cx="9367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319"/>
          <p:cNvSpPr/>
          <p:nvPr/>
        </p:nvSpPr>
        <p:spPr>
          <a:xfrm>
            <a:off x="6537240" y="3041640"/>
            <a:ext cx="9367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319"/>
          <p:cNvSpPr/>
          <p:nvPr/>
        </p:nvSpPr>
        <p:spPr>
          <a:xfrm>
            <a:off x="7537320" y="3019320"/>
            <a:ext cx="1500480" cy="64944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319"/>
          <p:cNvSpPr/>
          <p:nvPr/>
        </p:nvSpPr>
        <p:spPr>
          <a:xfrm>
            <a:off x="5537160" y="3679920"/>
            <a:ext cx="936720" cy="60300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319"/>
          <p:cNvSpPr/>
          <p:nvPr/>
        </p:nvSpPr>
        <p:spPr>
          <a:xfrm>
            <a:off x="6537240" y="3679920"/>
            <a:ext cx="936720" cy="60300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319"/>
          <p:cNvSpPr/>
          <p:nvPr/>
        </p:nvSpPr>
        <p:spPr>
          <a:xfrm>
            <a:off x="7537320" y="3679920"/>
            <a:ext cx="1500480" cy="60300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319"/>
          <p:cNvSpPr/>
          <p:nvPr/>
        </p:nvSpPr>
        <p:spPr>
          <a:xfrm>
            <a:off x="5549760" y="4933800"/>
            <a:ext cx="9352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319"/>
          <p:cNvSpPr/>
          <p:nvPr/>
        </p:nvSpPr>
        <p:spPr>
          <a:xfrm>
            <a:off x="6550200" y="4933800"/>
            <a:ext cx="9349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319"/>
          <p:cNvSpPr/>
          <p:nvPr/>
        </p:nvSpPr>
        <p:spPr>
          <a:xfrm>
            <a:off x="7550280" y="4933800"/>
            <a:ext cx="15001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319"/>
          <p:cNvSpPr/>
          <p:nvPr/>
        </p:nvSpPr>
        <p:spPr>
          <a:xfrm>
            <a:off x="5549760" y="5576760"/>
            <a:ext cx="9352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319"/>
          <p:cNvSpPr/>
          <p:nvPr/>
        </p:nvSpPr>
        <p:spPr>
          <a:xfrm>
            <a:off x="6537240" y="5576760"/>
            <a:ext cx="9367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319"/>
          <p:cNvSpPr/>
          <p:nvPr/>
        </p:nvSpPr>
        <p:spPr>
          <a:xfrm>
            <a:off x="7550280" y="5576760"/>
            <a:ext cx="15001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319"/>
          <p:cNvSpPr/>
          <p:nvPr/>
        </p:nvSpPr>
        <p:spPr>
          <a:xfrm>
            <a:off x="5549760" y="6219720"/>
            <a:ext cx="9352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19"/>
          <p:cNvSpPr/>
          <p:nvPr/>
        </p:nvSpPr>
        <p:spPr>
          <a:xfrm>
            <a:off x="6537240" y="6219720"/>
            <a:ext cx="9367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319"/>
          <p:cNvSpPr/>
          <p:nvPr/>
        </p:nvSpPr>
        <p:spPr>
          <a:xfrm>
            <a:off x="7550280" y="6219720"/>
            <a:ext cx="15001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319"/>
          <p:cNvSpPr/>
          <p:nvPr/>
        </p:nvSpPr>
        <p:spPr>
          <a:xfrm>
            <a:off x="3965400" y="1755720"/>
            <a:ext cx="5716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319"/>
          <p:cNvSpPr/>
          <p:nvPr/>
        </p:nvSpPr>
        <p:spPr>
          <a:xfrm>
            <a:off x="3989520" y="2387520"/>
            <a:ext cx="571320" cy="60192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319"/>
          <p:cNvSpPr/>
          <p:nvPr/>
        </p:nvSpPr>
        <p:spPr>
          <a:xfrm>
            <a:off x="3965400" y="3041640"/>
            <a:ext cx="57168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319"/>
          <p:cNvSpPr/>
          <p:nvPr/>
        </p:nvSpPr>
        <p:spPr>
          <a:xfrm>
            <a:off x="3954600" y="3673440"/>
            <a:ext cx="571320" cy="6015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319"/>
          <p:cNvSpPr/>
          <p:nvPr/>
        </p:nvSpPr>
        <p:spPr>
          <a:xfrm>
            <a:off x="3978360" y="4327560"/>
            <a:ext cx="5713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319"/>
          <p:cNvSpPr/>
          <p:nvPr/>
        </p:nvSpPr>
        <p:spPr>
          <a:xfrm>
            <a:off x="3978360" y="4933800"/>
            <a:ext cx="5713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319"/>
          <p:cNvSpPr/>
          <p:nvPr/>
        </p:nvSpPr>
        <p:spPr>
          <a:xfrm>
            <a:off x="3978360" y="5576760"/>
            <a:ext cx="5713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319"/>
          <p:cNvSpPr/>
          <p:nvPr/>
        </p:nvSpPr>
        <p:spPr>
          <a:xfrm>
            <a:off x="3978360" y="6219720"/>
            <a:ext cx="5713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319"/>
          <p:cNvSpPr/>
          <p:nvPr/>
        </p:nvSpPr>
        <p:spPr>
          <a:xfrm>
            <a:off x="4608360" y="1755720"/>
            <a:ext cx="8575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319"/>
          <p:cNvSpPr/>
          <p:nvPr/>
        </p:nvSpPr>
        <p:spPr>
          <a:xfrm>
            <a:off x="4621320" y="2398680"/>
            <a:ext cx="85716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319"/>
          <p:cNvSpPr/>
          <p:nvPr/>
        </p:nvSpPr>
        <p:spPr>
          <a:xfrm>
            <a:off x="4608360" y="3041640"/>
            <a:ext cx="85752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319"/>
          <p:cNvSpPr/>
          <p:nvPr/>
        </p:nvSpPr>
        <p:spPr>
          <a:xfrm>
            <a:off x="4597560" y="3673440"/>
            <a:ext cx="857160" cy="6015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319"/>
          <p:cNvSpPr/>
          <p:nvPr/>
        </p:nvSpPr>
        <p:spPr>
          <a:xfrm>
            <a:off x="4621320" y="4327560"/>
            <a:ext cx="85716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319"/>
          <p:cNvSpPr/>
          <p:nvPr/>
        </p:nvSpPr>
        <p:spPr>
          <a:xfrm>
            <a:off x="4621320" y="4894200"/>
            <a:ext cx="857160" cy="6015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319"/>
          <p:cNvSpPr/>
          <p:nvPr/>
        </p:nvSpPr>
        <p:spPr>
          <a:xfrm>
            <a:off x="4621320" y="5576760"/>
            <a:ext cx="85716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319"/>
          <p:cNvSpPr/>
          <p:nvPr/>
        </p:nvSpPr>
        <p:spPr>
          <a:xfrm>
            <a:off x="4621320" y="6219720"/>
            <a:ext cx="857160" cy="603360"/>
          </a:xfrm>
          <a:prstGeom prst="rect">
            <a:avLst/>
          </a:prstGeom>
          <a:solidFill>
            <a:srgbClr val="f0a22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3"/>
          <p:cNvSpPr/>
          <p:nvPr/>
        </p:nvSpPr>
        <p:spPr>
          <a:xfrm>
            <a:off x="0" y="0"/>
            <a:ext cx="9144000" cy="62064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Application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nodeType="clickEffect" fill="hold">
                      <p:stCondLst>
                        <p:cond delay="0"/>
                      </p:stCondLst>
                      <p:childTnLst>
                        <p:par>
                          <p:cTn id="1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nodeType="clickEffect" fill="hold">
                      <p:stCondLst>
                        <p:cond delay="indefinite"/>
                      </p:stCondLst>
                      <p:childTnLst>
                        <p:par>
                          <p:cTn id="1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nodeType="clickEffect" fill="hold">
                      <p:stCondLst>
                        <p:cond delay="indefinite"/>
                      </p:stCondLst>
                      <p:childTnLst>
                        <p:par>
                          <p:cTn id="1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nodeType="clickEffect" fill="hold">
                      <p:stCondLst>
                        <p:cond delay="indefinite"/>
                      </p:stCondLst>
                      <p:childTnLst>
                        <p:par>
                          <p:cTn id="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4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5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54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nodeType="clickEffect" fill="hold">
                      <p:stCondLst>
                        <p:cond delay="indefinite"/>
                      </p:stCondLst>
                      <p:childTnLst>
                        <p:par>
                          <p:cTn id="2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nodeType="clickEffect" fill="hold">
                      <p:stCondLst>
                        <p:cond delay="indefinite"/>
                      </p:stCondLst>
                      <p:childTnLst>
                        <p:par>
                          <p:cTn id="2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66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6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nodeType="clickEffect" fill="hold">
                      <p:stCondLst>
                        <p:cond delay="indefinite"/>
                      </p:stCondLst>
                      <p:childTnLst>
                        <p:par>
                          <p:cTn id="2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nodeType="clickEffect" fill="hold">
                      <p:stCondLst>
                        <p:cond delay="indefinite"/>
                      </p:stCondLst>
                      <p:childTnLst>
                        <p:par>
                          <p:cTn id="2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nodeType="clickEffect" fill="hold">
                      <p:stCondLst>
                        <p:cond delay="indefinite"/>
                      </p:stCondLst>
                      <p:childTnLst>
                        <p:par>
                          <p:cTn id="2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nodeType="clickEffect" fill="hold">
                      <p:stCondLst>
                        <p:cond delay="indefinite"/>
                      </p:stCondLst>
                      <p:childTnLst>
                        <p:par>
                          <p:cTn id="2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9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9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01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nodeType="clickEffect" fill="hold">
                      <p:stCondLst>
                        <p:cond delay="indefinite"/>
                      </p:stCondLst>
                      <p:childTnLst>
                        <p:par>
                          <p:cTn id="3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nodeType="clickEffect" fill="hold">
                      <p:stCondLst>
                        <p:cond delay="indefinite"/>
                      </p:stCondLst>
                      <p:childTnLst>
                        <p:par>
                          <p:cTn id="3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nodeType="clickEffect" fill="hold">
                      <p:stCondLst>
                        <p:cond delay="indefinite"/>
                      </p:stCondLst>
                      <p:childTnLst>
                        <p:par>
                          <p:cTn id="3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7"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nodeType="clickEffect" fill="hold">
                      <p:stCondLst>
                        <p:cond delay="indefinite"/>
                      </p:stCondLst>
                      <p:childTnLst>
                        <p:par>
                          <p:cTn id="3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23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nodeType="clickEffect" fill="hold">
                      <p:stCondLst>
                        <p:cond delay="indefinite"/>
                      </p:stCondLst>
                      <p:childTnLst>
                        <p:par>
                          <p:cTn id="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1"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nodeType="clickEffect" fill="hold">
                      <p:stCondLst>
                        <p:cond delay="indefinite"/>
                      </p:stCondLst>
                      <p:childTnLst>
                        <p:par>
                          <p:cTn id="3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7"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nodeType="clickEffect" fill="hold">
                      <p:stCondLst>
                        <p:cond delay="indefinite"/>
                      </p:stCondLst>
                      <p:childTnLst>
                        <p:par>
                          <p:cTn id="3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3" dur="50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nodeType="clickEffect" fill="hold">
                      <p:stCondLst>
                        <p:cond delay="indefinite"/>
                      </p:stCondLst>
                      <p:childTnLst>
                        <p:par>
                          <p:cTn id="3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49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5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nodeType="clickEffect" fill="hold">
                      <p:stCondLst>
                        <p:cond delay="indefinite"/>
                      </p:stCondLst>
                      <p:childTnLst>
                        <p:par>
                          <p:cTn id="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7" dur="5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nodeType="clickEffect" fill="hold">
                      <p:stCondLst>
                        <p:cond delay="indefinite"/>
                      </p:stCondLst>
                      <p:childTnLst>
                        <p:par>
                          <p:cTn id="3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63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67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nodeType="clickEffect" fill="hold">
                      <p:stCondLst>
                        <p:cond delay="indefinite"/>
                      </p:stCondLst>
                      <p:childTnLst>
                        <p:par>
                          <p:cTn id="3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1" dur="500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500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nodeType="clickEffect" fill="hold">
                      <p:stCondLst>
                        <p:cond delay="indefinite"/>
                      </p:stCondLst>
                      <p:childTnLst>
                        <p:par>
                          <p:cTn id="3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7" dur="500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nodeType="clickEffect" fill="hold">
                      <p:stCondLst>
                        <p:cond delay="indefinite"/>
                      </p:stCondLst>
                      <p:childTnLst>
                        <p:par>
                          <p:cTn id="3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3" dur="5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5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nodeType="clickEffect" fill="hold">
                      <p:stCondLst>
                        <p:cond delay="indefinite"/>
                      </p:stCondLst>
                      <p:childTnLst>
                        <p:par>
                          <p:cTn id="3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89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3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nodeType="with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39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nodeType="clickEffect" fill="hold">
                      <p:stCondLst>
                        <p:cond delay="indefinite"/>
                      </p:stCondLst>
                      <p:childTnLst>
                        <p:par>
                          <p:cTn id="4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3" dur="5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nodeType="clickEffect" fill="hold">
                      <p:stCondLst>
                        <p:cond delay="indefinite"/>
                      </p:stCondLst>
                      <p:childTnLst>
                        <p:par>
                          <p:cTn id="4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9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nodeType="clickEffect" fill="hold">
                      <p:stCondLst>
                        <p:cond delay="indefinite"/>
                      </p:stCondLst>
                      <p:childTnLst>
                        <p:par>
                          <p:cTn id="4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5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nodeType="clickEffect" fill="hold">
                      <p:stCondLst>
                        <p:cond delay="indefinite"/>
                      </p:stCondLst>
                      <p:childTnLst>
                        <p:par>
                          <p:cTn id="4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42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nodeType="clickEffect" fill="hold">
                      <p:stCondLst>
                        <p:cond delay="indefinite"/>
                      </p:stCondLst>
                      <p:childTnLst>
                        <p:par>
                          <p:cTn id="4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9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nodeType="clickEffect" fill="hold">
                      <p:stCondLst>
                        <p:cond delay="indefinite"/>
                      </p:stCondLst>
                      <p:childTnLst>
                        <p:par>
                          <p:cTn id="4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5" dur="5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nodeType="clickEffect" fill="hold">
                      <p:stCondLst>
                        <p:cond delay="indefinite"/>
                      </p:stCondLst>
                      <p:childTnLst>
                        <p:par>
                          <p:cTn id="4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1"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Line 42"/>
          <p:cNvSpPr/>
          <p:nvPr/>
        </p:nvSpPr>
        <p:spPr>
          <a:xfrm>
            <a:off x="539640" y="2565360"/>
            <a:ext cx="8209080" cy="2158920"/>
          </a:xfrm>
          <a:prstGeom prst="line">
            <a:avLst/>
          </a:prstGeom>
          <a:ln w="9360">
            <a:solidFill>
              <a:srgbClr val="000000"/>
            </a:solidFill>
            <a:prstDash val="dash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AutoShape 28"/>
          <p:cNvSpPr/>
          <p:nvPr/>
        </p:nvSpPr>
        <p:spPr>
          <a:xfrm>
            <a:off x="539640" y="2565360"/>
            <a:ext cx="4464000" cy="1152720"/>
          </a:xfrm>
          <a:prstGeom prst="rtTriangle">
            <a:avLst/>
          </a:prstGeom>
          <a:solidFill>
            <a:srgbClr val="00ff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AutoShape 25"/>
          <p:cNvSpPr/>
          <p:nvPr/>
        </p:nvSpPr>
        <p:spPr>
          <a:xfrm rot="10800000">
            <a:off x="1329840" y="835920"/>
            <a:ext cx="7272360" cy="5832360"/>
          </a:xfrm>
          <a:prstGeom prst="rtTriangle">
            <a:avLst/>
          </a:prstGeom>
          <a:solidFill>
            <a:srgbClr val="ffff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Box 6"/>
          <p:cNvSpPr/>
          <p:nvPr/>
        </p:nvSpPr>
        <p:spPr>
          <a:xfrm>
            <a:off x="4794840" y="260280"/>
            <a:ext cx="4323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1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Box 7"/>
          <p:cNvSpPr/>
          <p:nvPr/>
        </p:nvSpPr>
        <p:spPr>
          <a:xfrm>
            <a:off x="8704800" y="3357720"/>
            <a:ext cx="4323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1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Line 8"/>
          <p:cNvSpPr/>
          <p:nvPr/>
        </p:nvSpPr>
        <p:spPr>
          <a:xfrm flipH="1" flipV="1">
            <a:off x="1185840" y="765000"/>
            <a:ext cx="7416720" cy="590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71" name="Object 15"/>
              <p:cNvSpPr txBox="1"/>
              <p:nvPr/>
            </p:nvSpPr>
            <p:spPr>
              <a:xfrm>
                <a:off x="754200" y="620640"/>
                <a:ext cx="774720" cy="43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den>
                    </m:f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71" name="Object 15"/>
              <p:cNvSpPr txBox="1"/>
              <p:nvPr/>
            </p:nvSpPr>
            <p:spPr>
              <a:xfrm>
                <a:off x="754200" y="620640"/>
                <a:ext cx="774720" cy="4320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72" name="Object 3"/>
              <p:cNvSpPr txBox="1"/>
              <p:nvPr/>
            </p:nvSpPr>
            <p:spPr>
              <a:xfrm>
                <a:off x="5362560" y="1916280"/>
                <a:ext cx="1531800" cy="853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den>
                    </m:f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T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den>
                    </m:f>
                    <m:r>
                      <m:t xml:space="preserve">&gt;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72" name="Object 3"/>
              <p:cNvSpPr txBox="1"/>
              <p:nvPr/>
            </p:nvSpPr>
            <p:spPr>
              <a:xfrm>
                <a:off x="5362560" y="1916280"/>
                <a:ext cx="1531800" cy="8539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73" name="Text Box 11"/>
          <p:cNvSpPr/>
          <p:nvPr/>
        </p:nvSpPr>
        <p:spPr>
          <a:xfrm>
            <a:off x="4578480" y="6491160"/>
            <a:ext cx="693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1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Box 12"/>
          <p:cNvSpPr/>
          <p:nvPr/>
        </p:nvSpPr>
        <p:spPr>
          <a:xfrm>
            <a:off x="-101520" y="3500280"/>
            <a:ext cx="693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1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1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=0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Box 27"/>
          <p:cNvSpPr/>
          <p:nvPr/>
        </p:nvSpPr>
        <p:spPr>
          <a:xfrm>
            <a:off x="5292000" y="2995560"/>
            <a:ext cx="177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Impossible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Box 29"/>
          <p:cNvSpPr/>
          <p:nvPr/>
        </p:nvSpPr>
        <p:spPr>
          <a:xfrm>
            <a:off x="546480" y="2997360"/>
            <a:ext cx="69300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Box 30"/>
          <p:cNvSpPr/>
          <p:nvPr/>
        </p:nvSpPr>
        <p:spPr>
          <a:xfrm>
            <a:off x="1477800" y="3141720"/>
            <a:ext cx="657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Box 31"/>
          <p:cNvSpPr/>
          <p:nvPr/>
        </p:nvSpPr>
        <p:spPr>
          <a:xfrm rot="754800">
            <a:off x="-100440" y="2348640"/>
            <a:ext cx="10782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+Q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=0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Box 32"/>
          <p:cNvSpPr/>
          <p:nvPr/>
        </p:nvSpPr>
        <p:spPr>
          <a:xfrm rot="2217600">
            <a:off x="2844000" y="2707560"/>
            <a:ext cx="657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Box 33"/>
          <p:cNvSpPr/>
          <p:nvPr/>
        </p:nvSpPr>
        <p:spPr>
          <a:xfrm rot="2152800">
            <a:off x="1043280" y="1844280"/>
            <a:ext cx="2124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 thermique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34"/>
          <p:cNvSpPr/>
          <p:nvPr/>
        </p:nvSpPr>
        <p:spPr>
          <a:xfrm>
            <a:off x="539640" y="3716280"/>
            <a:ext cx="4319640" cy="2881440"/>
          </a:xfrm>
          <a:prstGeom prst="rect">
            <a:avLst/>
          </a:prstGeom>
          <a:solidFill>
            <a:srgbClr val="00ff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Box 35"/>
          <p:cNvSpPr/>
          <p:nvPr/>
        </p:nvSpPr>
        <p:spPr>
          <a:xfrm>
            <a:off x="690840" y="3933720"/>
            <a:ext cx="69300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Box 36"/>
          <p:cNvSpPr/>
          <p:nvPr/>
        </p:nvSpPr>
        <p:spPr>
          <a:xfrm>
            <a:off x="1549440" y="4076640"/>
            <a:ext cx="657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Box 37"/>
          <p:cNvSpPr/>
          <p:nvPr/>
        </p:nvSpPr>
        <p:spPr>
          <a:xfrm>
            <a:off x="5226120" y="4797360"/>
            <a:ext cx="657000" cy="368280"/>
          </a:xfrm>
          <a:prstGeom prst="rect">
            <a:avLst/>
          </a:prstGeom>
          <a:noFill/>
          <a:ln w="9360">
            <a:solidFill>
              <a:srgbClr val="fffff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Box 38"/>
          <p:cNvSpPr/>
          <p:nvPr/>
        </p:nvSpPr>
        <p:spPr>
          <a:xfrm>
            <a:off x="5077800" y="5877000"/>
            <a:ext cx="2340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Machines réceptrices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Box 39"/>
          <p:cNvSpPr/>
          <p:nvPr/>
        </p:nvSpPr>
        <p:spPr>
          <a:xfrm>
            <a:off x="1620360" y="5157720"/>
            <a:ext cx="2290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Sans intérêt pratique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Box 40"/>
          <p:cNvSpPr/>
          <p:nvPr/>
        </p:nvSpPr>
        <p:spPr>
          <a:xfrm>
            <a:off x="5010480" y="5300640"/>
            <a:ext cx="69300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Box 41"/>
          <p:cNvSpPr/>
          <p:nvPr/>
        </p:nvSpPr>
        <p:spPr>
          <a:xfrm rot="2487600">
            <a:off x="808200" y="1906920"/>
            <a:ext cx="69300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&gt;0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Line 4"/>
          <p:cNvSpPr/>
          <p:nvPr/>
        </p:nvSpPr>
        <p:spPr>
          <a:xfrm>
            <a:off x="538200" y="3716280"/>
            <a:ext cx="8137440" cy="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Line 5"/>
          <p:cNvSpPr/>
          <p:nvPr/>
        </p:nvSpPr>
        <p:spPr>
          <a:xfrm flipV="1">
            <a:off x="4859280" y="476280"/>
            <a:ext cx="0" cy="612144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27"/>
          <p:cNvSpPr/>
          <p:nvPr/>
        </p:nvSpPr>
        <p:spPr>
          <a:xfrm>
            <a:off x="2574720" y="-90360"/>
            <a:ext cx="3989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Diagramme de Raveau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44" dur="indefinite" restart="never" nodeType="tmRoot">
          <p:childTnLst>
            <p:seq>
              <p:cTn id="445" dur="indefinite" nodeType="mainSeq">
                <p:childTnLst>
                  <p:par>
                    <p:cTn id="446" nodeType="clickEffect" fill="hold">
                      <p:stCondLst>
                        <p:cond delay="indefinite"/>
                      </p:stCondLst>
                      <p:childTnLst>
                        <p:par>
                          <p:cTn id="4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nodeType="clickEffect" fill="hold">
                      <p:stCondLst>
                        <p:cond delay="indefinite"/>
                      </p:stCondLst>
                      <p:childTnLst>
                        <p:par>
                          <p:cTn id="4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6"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nodeType="clickEffect" fill="hold">
                      <p:stCondLst>
                        <p:cond delay="indefinite"/>
                      </p:stCondLst>
                      <p:childTnLst>
                        <p:par>
                          <p:cTn id="4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61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nodeType="clickEffect" fill="hold">
                      <p:stCondLst>
                        <p:cond delay="indefinite"/>
                      </p:stCondLst>
                      <p:childTnLst>
                        <p:par>
                          <p:cTn id="4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66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nodeType="clickEffect" fill="hold">
                      <p:stCondLst>
                        <p:cond delay="indefinite"/>
                      </p:stCondLst>
                      <p:childTnLst>
                        <p:par>
                          <p:cTn id="4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71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74" dur="2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nodeType="clickEffect" fill="hold">
                      <p:stCondLst>
                        <p:cond delay="indefinite"/>
                      </p:stCondLst>
                      <p:childTnLst>
                        <p:par>
                          <p:cTn id="4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79" dur="2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8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85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nodeType="clickEffect" fill="hold">
                      <p:stCondLst>
                        <p:cond delay="indefinite"/>
                      </p:stCondLst>
                      <p:childTnLst>
                        <p:par>
                          <p:cTn id="4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8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490" dur="2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nodeType="clickEffect" fill="hold">
                      <p:stCondLst>
                        <p:cond delay="indefinite"/>
                      </p:stCondLst>
                      <p:childTnLst>
                        <p:par>
                          <p:cTn id="4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95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98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nodeType="clickEffect" fill="hold">
                      <p:stCondLst>
                        <p:cond delay="indefinite"/>
                      </p:stCondLst>
                      <p:childTnLst>
                        <p:par>
                          <p:cTn id="5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503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nodeType="clickEffect" fill="hold">
                      <p:stCondLst>
                        <p:cond delay="indefinite"/>
                      </p:stCondLst>
                      <p:childTnLst>
                        <p:par>
                          <p:cTn id="5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08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1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14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nodeType="clickEffect" fill="hold">
                      <p:stCondLst>
                        <p:cond delay="indefinite"/>
                      </p:stCondLst>
                      <p:childTnLst>
                        <p:par>
                          <p:cTn id="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19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22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3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25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nodeType="clickEffect" fill="hold">
                      <p:stCondLst>
                        <p:cond delay="indefinite"/>
                      </p:stCondLst>
                      <p:childTnLst>
                        <p:par>
                          <p:cTn id="5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30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33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36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Rectangle 4" descr=""/>
          <p:cNvPicPr/>
          <p:nvPr/>
        </p:nvPicPr>
        <p:blipFill>
          <a:blip r:embed="rId1"/>
          <a:stretch/>
        </p:blipFill>
        <p:spPr>
          <a:xfrm>
            <a:off x="262080" y="384120"/>
            <a:ext cx="8424720" cy="11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 Box 37"/>
          <p:cNvSpPr/>
          <p:nvPr/>
        </p:nvSpPr>
        <p:spPr>
          <a:xfrm>
            <a:off x="4211640" y="1484280"/>
            <a:ext cx="468144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On étudie un moteur à « air chaud ». L’air chaud est assimilé à un gaz parfait. La masse d’air mise en jeu est de 70 g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Le diagramme du cycle est donné ci-contre.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Box 39"/>
          <p:cNvSpPr/>
          <p:nvPr/>
        </p:nvSpPr>
        <p:spPr>
          <a:xfrm>
            <a:off x="5003640" y="4292640"/>
            <a:ext cx="36720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La masse molaire de l’air est de 29 g.mol</a:t>
            </a:r>
            <a:r>
              <a:rPr b="0" lang="fr-FR" sz="1800" strike="noStrike" u="none" baseline="30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-1.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Le nombre de moles concernées par ce cycle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Box 41"/>
          <p:cNvSpPr/>
          <p:nvPr/>
        </p:nvSpPr>
        <p:spPr>
          <a:xfrm>
            <a:off x="468360" y="5950080"/>
            <a:ext cx="8209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n =         avec m = 70 g et M = 29 g.mol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-1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. On trouve n = 2,4 moles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46"/>
          <p:cNvSpPr/>
          <p:nvPr/>
        </p:nvSpPr>
        <p:spPr>
          <a:xfrm>
            <a:off x="0" y="3067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7" name="Object 2"/>
              <p:cNvSpPr txBox="1"/>
              <p:nvPr/>
            </p:nvSpPr>
            <p:spPr>
              <a:xfrm>
                <a:off x="928800" y="5734080"/>
                <a:ext cx="342720" cy="72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m</m:t>
                        </m:r>
                      </m:num>
                      <m:den>
                        <m:r>
                          <m:t xml:space="preserve">M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97" name="Object 2"/>
              <p:cNvSpPr txBox="1"/>
              <p:nvPr/>
            </p:nvSpPr>
            <p:spPr>
              <a:xfrm>
                <a:off x="928800" y="5734080"/>
                <a:ext cx="342720" cy="723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98" name="Text Box 47"/>
          <p:cNvSpPr/>
          <p:nvPr/>
        </p:nvSpPr>
        <p:spPr>
          <a:xfrm>
            <a:off x="4067280" y="3573360"/>
            <a:ext cx="460836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Données : R = 8,32 j.kg</a:t>
            </a:r>
            <a:r>
              <a:rPr b="1" i="1" lang="fr-FR" sz="1600" strike="noStrike" u="none" baseline="30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-1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.K</a:t>
            </a:r>
            <a:r>
              <a:rPr b="1" i="1" lang="fr-FR" sz="1600" strike="noStrike" u="none" baseline="30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-1.  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 </a:t>
            </a:r>
            <a:r>
              <a:rPr b="1" i="1" lang="fr-FR" sz="2000" strike="noStrike" u="none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1" i="1" lang="fr-FR" sz="20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 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= Cp/Cv = 1,4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C</a:t>
            </a:r>
            <a:r>
              <a:rPr b="1" i="1" lang="fr-FR" sz="1600" strike="noStrike" u="none" baseline="-25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P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 = 29,1 J.mol</a:t>
            </a:r>
            <a:r>
              <a:rPr b="1" i="1" lang="fr-FR" sz="1600" strike="noStrike" u="none" baseline="30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-1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.K</a:t>
            </a:r>
            <a:r>
              <a:rPr b="1" i="1" lang="fr-FR" sz="1600" strike="noStrike" u="none" baseline="30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-1  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T</a:t>
            </a:r>
            <a:r>
              <a:rPr b="1" i="1" lang="fr-FR" sz="1600" strike="noStrike" u="none" baseline="-25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A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=300K T</a:t>
            </a:r>
            <a:r>
              <a:rPr b="1" i="1" lang="fr-FR" sz="1600" strike="noStrike" u="none" baseline="-25000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C</a:t>
            </a:r>
            <a:r>
              <a:rPr b="1" i="1" lang="fr-FR" sz="1600" strike="noStrike" u="none">
                <a:solidFill>
                  <a:srgbClr val="4e3b30"/>
                </a:solidFill>
                <a:effectLst/>
                <a:uFillTx/>
                <a:latin typeface="Times New Roman"/>
                <a:ea typeface="Arial"/>
              </a:rPr>
              <a:t>=700K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9" name="Group 34"/>
          <p:cNvGrpSpPr/>
          <p:nvPr/>
        </p:nvGrpSpPr>
        <p:grpSpPr>
          <a:xfrm>
            <a:off x="-22320" y="1525680"/>
            <a:ext cx="4664160" cy="3095640"/>
            <a:chOff x="-22320" y="1525680"/>
            <a:chExt cx="4664160" cy="3095640"/>
          </a:xfrm>
        </p:grpSpPr>
        <p:sp>
          <p:nvSpPr>
            <p:cNvPr id="500" name="Line 5"/>
            <p:cNvSpPr/>
            <p:nvPr/>
          </p:nvSpPr>
          <p:spPr>
            <a:xfrm>
              <a:off x="434880" y="4264200"/>
              <a:ext cx="344484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Line 6"/>
            <p:cNvSpPr/>
            <p:nvPr/>
          </p:nvSpPr>
          <p:spPr>
            <a:xfrm flipV="1">
              <a:off x="426960" y="1630440"/>
              <a:ext cx="0" cy="26258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 Box 7"/>
            <p:cNvSpPr/>
            <p:nvPr/>
          </p:nvSpPr>
          <p:spPr>
            <a:xfrm>
              <a:off x="492120" y="1525680"/>
              <a:ext cx="603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Text Box 8"/>
            <p:cNvSpPr/>
            <p:nvPr/>
          </p:nvSpPr>
          <p:spPr>
            <a:xfrm>
              <a:off x="3441600" y="4027680"/>
              <a:ext cx="1200240" cy="59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Line 9"/>
            <p:cNvSpPr/>
            <p:nvPr/>
          </p:nvSpPr>
          <p:spPr>
            <a:xfrm>
              <a:off x="1103400" y="2036880"/>
              <a:ext cx="81252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Oval 10"/>
            <p:cNvSpPr/>
            <p:nvPr/>
          </p:nvSpPr>
          <p:spPr>
            <a:xfrm>
              <a:off x="1063440" y="199224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Oval 11"/>
            <p:cNvSpPr/>
            <p:nvPr/>
          </p:nvSpPr>
          <p:spPr>
            <a:xfrm>
              <a:off x="1908000" y="200016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Oval 12"/>
            <p:cNvSpPr/>
            <p:nvPr/>
          </p:nvSpPr>
          <p:spPr>
            <a:xfrm>
              <a:off x="2905200" y="3240000"/>
              <a:ext cx="7776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Oval 13"/>
            <p:cNvSpPr/>
            <p:nvPr/>
          </p:nvSpPr>
          <p:spPr>
            <a:xfrm>
              <a:off x="2913120" y="3737160"/>
              <a:ext cx="77760" cy="712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Text Box 14"/>
            <p:cNvSpPr/>
            <p:nvPr/>
          </p:nvSpPr>
          <p:spPr>
            <a:xfrm>
              <a:off x="982440" y="175896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Text Box 15"/>
            <p:cNvSpPr/>
            <p:nvPr/>
          </p:nvSpPr>
          <p:spPr>
            <a:xfrm>
              <a:off x="1803240" y="1766880"/>
              <a:ext cx="281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Line 16"/>
            <p:cNvSpPr/>
            <p:nvPr/>
          </p:nvSpPr>
          <p:spPr>
            <a:xfrm flipH="1">
              <a:off x="426600" y="2036880"/>
              <a:ext cx="7174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Line 17"/>
            <p:cNvSpPr/>
            <p:nvPr/>
          </p:nvSpPr>
          <p:spPr>
            <a:xfrm>
              <a:off x="2946240" y="3264120"/>
              <a:ext cx="0" cy="5029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 Box 18"/>
            <p:cNvSpPr/>
            <p:nvPr/>
          </p:nvSpPr>
          <p:spPr>
            <a:xfrm>
              <a:off x="3043080" y="3121200"/>
              <a:ext cx="281160" cy="26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Text Box 19"/>
            <p:cNvSpPr/>
            <p:nvPr/>
          </p:nvSpPr>
          <p:spPr>
            <a:xfrm>
              <a:off x="3073320" y="364644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Line 20"/>
            <p:cNvSpPr/>
            <p:nvPr/>
          </p:nvSpPr>
          <p:spPr>
            <a:xfrm flipH="1">
              <a:off x="426960" y="376704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Line 21"/>
            <p:cNvSpPr/>
            <p:nvPr/>
          </p:nvSpPr>
          <p:spPr>
            <a:xfrm flipH="1">
              <a:off x="426960" y="327024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Line 22"/>
            <p:cNvSpPr/>
            <p:nvPr/>
          </p:nvSpPr>
          <p:spPr>
            <a:xfrm>
              <a:off x="2946240" y="3338640"/>
              <a:ext cx="7920" cy="9255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Line 23"/>
            <p:cNvSpPr/>
            <p:nvPr/>
          </p:nvSpPr>
          <p:spPr>
            <a:xfrm>
              <a:off x="1947600" y="2036880"/>
              <a:ext cx="0" cy="22194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Line 24"/>
            <p:cNvSpPr/>
            <p:nvPr/>
          </p:nvSpPr>
          <p:spPr>
            <a:xfrm>
              <a:off x="1095120" y="2030400"/>
              <a:ext cx="0" cy="22338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Text Box 25"/>
            <p:cNvSpPr/>
            <p:nvPr/>
          </p:nvSpPr>
          <p:spPr>
            <a:xfrm>
              <a:off x="982440" y="4294080"/>
              <a:ext cx="28260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Text Box 26"/>
            <p:cNvSpPr/>
            <p:nvPr/>
          </p:nvSpPr>
          <p:spPr>
            <a:xfrm>
              <a:off x="2786040" y="4260960"/>
              <a:ext cx="480960" cy="25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Text Box 27"/>
            <p:cNvSpPr/>
            <p:nvPr/>
          </p:nvSpPr>
          <p:spPr>
            <a:xfrm>
              <a:off x="122040" y="3640320"/>
              <a:ext cx="28116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Text Box 28"/>
            <p:cNvSpPr/>
            <p:nvPr/>
          </p:nvSpPr>
          <p:spPr>
            <a:xfrm>
              <a:off x="-22320" y="3110040"/>
              <a:ext cx="42552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eform 29"/>
            <p:cNvSpPr/>
            <p:nvPr/>
          </p:nvSpPr>
          <p:spPr>
            <a:xfrm>
              <a:off x="1947600" y="2030400"/>
              <a:ext cx="998640" cy="12398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1239840"/>
                <a:gd name="textAreaBottom" fmla="*/ 1240200 h 1239840"/>
                <a:gd name="GluePoint1X" fmla="*/ 0 w 1860"/>
                <a:gd name="GluePoint1Y" fmla="*/ 0 h 2475"/>
                <a:gd name="GluePoint2X" fmla="*/ 0 w 1860"/>
                <a:gd name="GluePoint2Y" fmla="*/ 0 h 2475"/>
                <a:gd name="GluePoint3X" fmla="*/ 0 w 1860"/>
                <a:gd name="GluePoint3Y" fmla="*/ 0 h 2475"/>
                <a:gd name="GluePoint4X" fmla="*/ 0 w 1860"/>
                <a:gd name="GluePoint4Y" fmla="*/ 0 h 2475"/>
                <a:gd name="GluePoint5X" fmla="*/ 0 w 1860"/>
                <a:gd name="GluePoint5Y" fmla="*/ 0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eform 30"/>
            <p:cNvSpPr/>
            <p:nvPr/>
          </p:nvSpPr>
          <p:spPr>
            <a:xfrm>
              <a:off x="1087200" y="2022480"/>
              <a:ext cx="1859040" cy="1736640"/>
            </a:xfrm>
            <a:custGeom>
              <a:avLst/>
              <a:gdLst>
                <a:gd name="textAreaLeft" fmla="*/ 0 w 1859040"/>
                <a:gd name="textAreaRight" fmla="*/ 1859400 w 1859040"/>
                <a:gd name="textAreaTop" fmla="*/ 0 h 1736640"/>
                <a:gd name="textAreaBottom" fmla="*/ 1737000 h 1736640"/>
                <a:gd name="GluePoint1X" fmla="*/ 0 w 3465"/>
                <a:gd name="GluePoint1Y" fmla="*/ 0 h 3465"/>
                <a:gd name="GluePoint2X" fmla="*/ 0 w 3465"/>
                <a:gd name="GluePoint2Y" fmla="*/ 0 h 3465"/>
                <a:gd name="GluePoint3X" fmla="*/ 0 w 3465"/>
                <a:gd name="GluePoint3Y" fmla="*/ 0 h 3465"/>
                <a:gd name="GluePoint4X" fmla="*/ 0 w 3465"/>
                <a:gd name="GluePoint4Y" fmla="*/ 0 h 3465"/>
                <a:gd name="GluePoint5X" fmla="*/ 0 w 3465"/>
                <a:gd name="GluePoint5Y" fmla="*/ 0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Line 31"/>
            <p:cNvSpPr/>
            <p:nvPr/>
          </p:nvSpPr>
          <p:spPr>
            <a:xfrm flipH="1" flipV="1">
              <a:off x="1464840" y="3014640"/>
              <a:ext cx="33480" cy="604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Line 32"/>
            <p:cNvSpPr/>
            <p:nvPr/>
          </p:nvSpPr>
          <p:spPr>
            <a:xfrm>
              <a:off x="1562040" y="2036880"/>
              <a:ext cx="11268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Line 33"/>
            <p:cNvSpPr/>
            <p:nvPr/>
          </p:nvSpPr>
          <p:spPr>
            <a:xfrm>
              <a:off x="2301840" y="2849760"/>
              <a:ext cx="23760" cy="442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537" dur="indefinite" restart="never" nodeType="tmRoot">
          <p:childTnLst>
            <p:seq>
              <p:cTn id="538" dur="indefinite" nodeType="mainSeq">
                <p:childTnLst>
                  <p:par>
                    <p:cTn id="539" nodeType="clickEffect" fill="hold">
                      <p:stCondLst>
                        <p:cond delay="indefinite"/>
                      </p:stCondLst>
                      <p:childTnLst>
                        <p:par>
                          <p:cTn id="5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43"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nodeType="clickEffect" fill="hold">
                      <p:stCondLst>
                        <p:cond delay="indefinite"/>
                      </p:stCondLst>
                      <p:childTnLst>
                        <p:par>
                          <p:cTn id="5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8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9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3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4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5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Rectangle 2" descr=""/>
          <p:cNvPicPr/>
          <p:nvPr/>
        </p:nvPicPr>
        <p:blipFill>
          <a:blip r:embed="rId1"/>
          <a:stretch/>
        </p:blipFill>
        <p:spPr>
          <a:xfrm>
            <a:off x="334800" y="317520"/>
            <a:ext cx="8352000" cy="88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0" name="Group 34"/>
          <p:cNvGrpSpPr/>
          <p:nvPr/>
        </p:nvGrpSpPr>
        <p:grpSpPr>
          <a:xfrm>
            <a:off x="395280" y="1125360"/>
            <a:ext cx="4583160" cy="3095640"/>
            <a:chOff x="395280" y="1125360"/>
            <a:chExt cx="4583160" cy="3095640"/>
          </a:xfrm>
        </p:grpSpPr>
        <p:sp>
          <p:nvSpPr>
            <p:cNvPr id="531" name="Line 5"/>
            <p:cNvSpPr/>
            <p:nvPr/>
          </p:nvSpPr>
          <p:spPr>
            <a:xfrm>
              <a:off x="852480" y="3863880"/>
              <a:ext cx="344484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Line 6"/>
            <p:cNvSpPr/>
            <p:nvPr/>
          </p:nvSpPr>
          <p:spPr>
            <a:xfrm flipV="1">
              <a:off x="844560" y="1230120"/>
              <a:ext cx="0" cy="26258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Text Box 7"/>
            <p:cNvSpPr/>
            <p:nvPr/>
          </p:nvSpPr>
          <p:spPr>
            <a:xfrm>
              <a:off x="909720" y="1125360"/>
              <a:ext cx="603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Text Box 8"/>
            <p:cNvSpPr/>
            <p:nvPr/>
          </p:nvSpPr>
          <p:spPr>
            <a:xfrm>
              <a:off x="3778200" y="3627360"/>
              <a:ext cx="1200240" cy="59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Line 9"/>
            <p:cNvSpPr/>
            <p:nvPr/>
          </p:nvSpPr>
          <p:spPr>
            <a:xfrm>
              <a:off x="1521000" y="1636560"/>
              <a:ext cx="81252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Oval 10"/>
            <p:cNvSpPr/>
            <p:nvPr/>
          </p:nvSpPr>
          <p:spPr>
            <a:xfrm>
              <a:off x="1481040" y="159192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Oval 11"/>
            <p:cNvSpPr/>
            <p:nvPr/>
          </p:nvSpPr>
          <p:spPr>
            <a:xfrm>
              <a:off x="2325600" y="159984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Oval 12"/>
            <p:cNvSpPr/>
            <p:nvPr/>
          </p:nvSpPr>
          <p:spPr>
            <a:xfrm>
              <a:off x="3322800" y="2839680"/>
              <a:ext cx="7776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Oval 13"/>
            <p:cNvSpPr/>
            <p:nvPr/>
          </p:nvSpPr>
          <p:spPr>
            <a:xfrm>
              <a:off x="3330720" y="3336840"/>
              <a:ext cx="77760" cy="712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Text Box 14"/>
            <p:cNvSpPr/>
            <p:nvPr/>
          </p:nvSpPr>
          <p:spPr>
            <a:xfrm>
              <a:off x="1400040" y="135864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Text Box 15"/>
            <p:cNvSpPr/>
            <p:nvPr/>
          </p:nvSpPr>
          <p:spPr>
            <a:xfrm>
              <a:off x="2220840" y="1366560"/>
              <a:ext cx="281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Line 16"/>
            <p:cNvSpPr/>
            <p:nvPr/>
          </p:nvSpPr>
          <p:spPr>
            <a:xfrm flipH="1">
              <a:off x="844200" y="1636560"/>
              <a:ext cx="7174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Line 17"/>
            <p:cNvSpPr/>
            <p:nvPr/>
          </p:nvSpPr>
          <p:spPr>
            <a:xfrm>
              <a:off x="3363840" y="2863800"/>
              <a:ext cx="0" cy="5029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Text Box 18"/>
            <p:cNvSpPr/>
            <p:nvPr/>
          </p:nvSpPr>
          <p:spPr>
            <a:xfrm>
              <a:off x="3460680" y="2720880"/>
              <a:ext cx="281160" cy="26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Text Box 19"/>
            <p:cNvSpPr/>
            <p:nvPr/>
          </p:nvSpPr>
          <p:spPr>
            <a:xfrm>
              <a:off x="3490920" y="324612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Line 20"/>
            <p:cNvSpPr/>
            <p:nvPr/>
          </p:nvSpPr>
          <p:spPr>
            <a:xfrm flipH="1">
              <a:off x="844560" y="336672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Line 21"/>
            <p:cNvSpPr/>
            <p:nvPr/>
          </p:nvSpPr>
          <p:spPr>
            <a:xfrm flipH="1">
              <a:off x="844560" y="286992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Line 22"/>
            <p:cNvSpPr/>
            <p:nvPr/>
          </p:nvSpPr>
          <p:spPr>
            <a:xfrm>
              <a:off x="3363840" y="2938320"/>
              <a:ext cx="7920" cy="9255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Line 23"/>
            <p:cNvSpPr/>
            <p:nvPr/>
          </p:nvSpPr>
          <p:spPr>
            <a:xfrm>
              <a:off x="2365200" y="1636560"/>
              <a:ext cx="0" cy="22194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Line 24"/>
            <p:cNvSpPr/>
            <p:nvPr/>
          </p:nvSpPr>
          <p:spPr>
            <a:xfrm>
              <a:off x="1512720" y="1630080"/>
              <a:ext cx="0" cy="22338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Text Box 25"/>
            <p:cNvSpPr/>
            <p:nvPr/>
          </p:nvSpPr>
          <p:spPr>
            <a:xfrm>
              <a:off x="1400040" y="3893760"/>
              <a:ext cx="28260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Text Box 26"/>
            <p:cNvSpPr/>
            <p:nvPr/>
          </p:nvSpPr>
          <p:spPr>
            <a:xfrm>
              <a:off x="3203640" y="3860640"/>
              <a:ext cx="480960" cy="25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Text Box 27"/>
            <p:cNvSpPr/>
            <p:nvPr/>
          </p:nvSpPr>
          <p:spPr>
            <a:xfrm>
              <a:off x="539640" y="3240000"/>
              <a:ext cx="28116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Text Box 28"/>
            <p:cNvSpPr/>
            <p:nvPr/>
          </p:nvSpPr>
          <p:spPr>
            <a:xfrm>
              <a:off x="395280" y="2709720"/>
              <a:ext cx="42552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eform 29"/>
            <p:cNvSpPr/>
            <p:nvPr/>
          </p:nvSpPr>
          <p:spPr>
            <a:xfrm>
              <a:off x="2365200" y="1630080"/>
              <a:ext cx="998640" cy="12398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1239840"/>
                <a:gd name="textAreaBottom" fmla="*/ 1240200 h 1239840"/>
                <a:gd name="GluePoint1X" fmla="*/ 0 w 1860"/>
                <a:gd name="GluePoint1Y" fmla="*/ 0 h 2475"/>
                <a:gd name="GluePoint2X" fmla="*/ 0 w 1860"/>
                <a:gd name="GluePoint2Y" fmla="*/ 0 h 2475"/>
                <a:gd name="GluePoint3X" fmla="*/ 0 w 1860"/>
                <a:gd name="GluePoint3Y" fmla="*/ 0 h 2475"/>
                <a:gd name="GluePoint4X" fmla="*/ 0 w 1860"/>
                <a:gd name="GluePoint4Y" fmla="*/ 0 h 2475"/>
                <a:gd name="GluePoint5X" fmla="*/ 0 w 1860"/>
                <a:gd name="GluePoint5Y" fmla="*/ 0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Freeform 30"/>
            <p:cNvSpPr/>
            <p:nvPr/>
          </p:nvSpPr>
          <p:spPr>
            <a:xfrm>
              <a:off x="1504800" y="1622160"/>
              <a:ext cx="1859040" cy="1736640"/>
            </a:xfrm>
            <a:custGeom>
              <a:avLst/>
              <a:gdLst>
                <a:gd name="textAreaLeft" fmla="*/ 0 w 1859040"/>
                <a:gd name="textAreaRight" fmla="*/ 1859400 w 1859040"/>
                <a:gd name="textAreaTop" fmla="*/ 0 h 1736640"/>
                <a:gd name="textAreaBottom" fmla="*/ 1737000 h 1736640"/>
                <a:gd name="GluePoint1X" fmla="*/ 0 w 3465"/>
                <a:gd name="GluePoint1Y" fmla="*/ 0 h 3465"/>
                <a:gd name="GluePoint2X" fmla="*/ 0 w 3465"/>
                <a:gd name="GluePoint2Y" fmla="*/ 0 h 3465"/>
                <a:gd name="GluePoint3X" fmla="*/ 0 w 3465"/>
                <a:gd name="GluePoint3Y" fmla="*/ 0 h 3465"/>
                <a:gd name="GluePoint4X" fmla="*/ 0 w 3465"/>
                <a:gd name="GluePoint4Y" fmla="*/ 0 h 3465"/>
                <a:gd name="GluePoint5X" fmla="*/ 0 w 3465"/>
                <a:gd name="GluePoint5Y" fmla="*/ 0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Line 31"/>
            <p:cNvSpPr/>
            <p:nvPr/>
          </p:nvSpPr>
          <p:spPr>
            <a:xfrm flipH="1" flipV="1">
              <a:off x="1882440" y="2614320"/>
              <a:ext cx="33480" cy="604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Line 32"/>
            <p:cNvSpPr/>
            <p:nvPr/>
          </p:nvSpPr>
          <p:spPr>
            <a:xfrm>
              <a:off x="1979640" y="1636560"/>
              <a:ext cx="11268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Line 33"/>
            <p:cNvSpPr/>
            <p:nvPr/>
          </p:nvSpPr>
          <p:spPr>
            <a:xfrm>
              <a:off x="2719440" y="2449440"/>
              <a:ext cx="23760" cy="442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0" name="Text Box 37"/>
          <p:cNvSpPr/>
          <p:nvPr/>
        </p:nvSpPr>
        <p:spPr>
          <a:xfrm>
            <a:off x="4284720" y="2565360"/>
            <a:ext cx="3887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Le cycle est celui d’un moteur à explosion. Ou se situe l’explosion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Box 38"/>
          <p:cNvSpPr/>
          <p:nvPr/>
        </p:nvSpPr>
        <p:spPr>
          <a:xfrm>
            <a:off x="4932360" y="3284640"/>
            <a:ext cx="3166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L’explosion a lieu en fin de compression au point 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Box 39"/>
          <p:cNvSpPr/>
          <p:nvPr/>
        </p:nvSpPr>
        <p:spPr>
          <a:xfrm>
            <a:off x="684360" y="4221000"/>
            <a:ext cx="5903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Quelle conversion énergétique effectue le moteur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Box 40"/>
          <p:cNvSpPr/>
          <p:nvPr/>
        </p:nvSpPr>
        <p:spPr>
          <a:xfrm>
            <a:off x="684360" y="4581360"/>
            <a:ext cx="6696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Le moteur convertit de la chaleur reçue par combustion du carburant en énergie mécanique de rotation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Box 41"/>
          <p:cNvSpPr/>
          <p:nvPr/>
        </p:nvSpPr>
        <p:spPr>
          <a:xfrm>
            <a:off x="684360" y="5229360"/>
            <a:ext cx="6624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Quelle est la phase ou le gaz du moteur reçoit de l’énergie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Box 42"/>
          <p:cNvSpPr/>
          <p:nvPr/>
        </p:nvSpPr>
        <p:spPr>
          <a:xfrm>
            <a:off x="684360" y="5661000"/>
            <a:ext cx="770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C’est la phase BC , ou le carburant brûle pendant l’explosion.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56" dur="indefinite" restart="never" nodeType="tmRoot">
          <p:childTnLst>
            <p:seq>
              <p:cTn id="557" dur="indefinite" nodeType="mainSeq">
                <p:childTnLst>
                  <p:par>
                    <p:cTn id="558" nodeType="clickEffect" fill="hold">
                      <p:stCondLst>
                        <p:cond delay="indefinite"/>
                      </p:stCondLst>
                      <p:childTnLst>
                        <p:par>
                          <p:cTn id="5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6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nodeType="clickEffect" fill="hold">
                      <p:stCondLst>
                        <p:cond delay="indefinite"/>
                      </p:stCondLst>
                      <p:childTnLst>
                        <p:par>
                          <p:cTn id="5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7" dur="20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8" dur="20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69" dur="2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nodeType="clickEffect" fill="hold">
                      <p:stCondLst>
                        <p:cond delay="indefinite"/>
                      </p:stCondLst>
                      <p:childTnLst>
                        <p:par>
                          <p:cTn id="5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74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nodeType="clickEffect" fill="hold">
                      <p:stCondLst>
                        <p:cond delay="indefinite"/>
                      </p:stCondLst>
                      <p:childTnLst>
                        <p:par>
                          <p:cTn id="5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9" dur="20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0" dur="20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81" dur="2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nodeType="clickEffect" fill="hold">
                      <p:stCondLst>
                        <p:cond delay="indefinite"/>
                      </p:stCondLst>
                      <p:childTnLst>
                        <p:par>
                          <p:cTn id="5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8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nodeType="clickEffect" fill="hold">
                      <p:stCondLst>
                        <p:cond delay="indefinite"/>
                      </p:stCondLst>
                      <p:childTnLst>
                        <p:par>
                          <p:cTn id="5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1" dur="20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2" dur="20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93" dur="2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Rectangle 2" descr=""/>
          <p:cNvPicPr/>
          <p:nvPr/>
        </p:nvPicPr>
        <p:blipFill>
          <a:blip r:embed="rId1"/>
          <a:stretch/>
        </p:blipFill>
        <p:spPr>
          <a:xfrm>
            <a:off x="311040" y="317520"/>
            <a:ext cx="8375760" cy="974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7" name="Group 4"/>
          <p:cNvGrpSpPr/>
          <p:nvPr/>
        </p:nvGrpSpPr>
        <p:grpSpPr>
          <a:xfrm>
            <a:off x="179280" y="1125360"/>
            <a:ext cx="4591080" cy="3095640"/>
            <a:chOff x="179280" y="1125360"/>
            <a:chExt cx="4591080" cy="3095640"/>
          </a:xfrm>
        </p:grpSpPr>
        <p:sp>
          <p:nvSpPr>
            <p:cNvPr id="568" name="Line 5"/>
            <p:cNvSpPr/>
            <p:nvPr/>
          </p:nvSpPr>
          <p:spPr>
            <a:xfrm>
              <a:off x="636480" y="3863880"/>
              <a:ext cx="344484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Line 6"/>
            <p:cNvSpPr/>
            <p:nvPr/>
          </p:nvSpPr>
          <p:spPr>
            <a:xfrm flipV="1">
              <a:off x="628560" y="1230120"/>
              <a:ext cx="0" cy="26258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Text Box 7"/>
            <p:cNvSpPr/>
            <p:nvPr/>
          </p:nvSpPr>
          <p:spPr>
            <a:xfrm>
              <a:off x="693720" y="1125360"/>
              <a:ext cx="603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Text Box 8"/>
            <p:cNvSpPr/>
            <p:nvPr/>
          </p:nvSpPr>
          <p:spPr>
            <a:xfrm>
              <a:off x="3570120" y="3627360"/>
              <a:ext cx="1200240" cy="59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Line 9"/>
            <p:cNvSpPr/>
            <p:nvPr/>
          </p:nvSpPr>
          <p:spPr>
            <a:xfrm>
              <a:off x="1305000" y="1636560"/>
              <a:ext cx="81252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Oval 10"/>
            <p:cNvSpPr/>
            <p:nvPr/>
          </p:nvSpPr>
          <p:spPr>
            <a:xfrm>
              <a:off x="1265040" y="159192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Oval 11"/>
            <p:cNvSpPr/>
            <p:nvPr/>
          </p:nvSpPr>
          <p:spPr>
            <a:xfrm>
              <a:off x="2109600" y="159984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Oval 12"/>
            <p:cNvSpPr/>
            <p:nvPr/>
          </p:nvSpPr>
          <p:spPr>
            <a:xfrm>
              <a:off x="3106800" y="2839680"/>
              <a:ext cx="7776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Oval 13"/>
            <p:cNvSpPr/>
            <p:nvPr/>
          </p:nvSpPr>
          <p:spPr>
            <a:xfrm>
              <a:off x="3114720" y="3336840"/>
              <a:ext cx="77760" cy="712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Text Box 14"/>
            <p:cNvSpPr/>
            <p:nvPr/>
          </p:nvSpPr>
          <p:spPr>
            <a:xfrm>
              <a:off x="1184040" y="135864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Text Box 15"/>
            <p:cNvSpPr/>
            <p:nvPr/>
          </p:nvSpPr>
          <p:spPr>
            <a:xfrm>
              <a:off x="2004840" y="1366560"/>
              <a:ext cx="281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Line 16"/>
            <p:cNvSpPr/>
            <p:nvPr/>
          </p:nvSpPr>
          <p:spPr>
            <a:xfrm flipH="1">
              <a:off x="628200" y="1636560"/>
              <a:ext cx="7174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Line 17"/>
            <p:cNvSpPr/>
            <p:nvPr/>
          </p:nvSpPr>
          <p:spPr>
            <a:xfrm>
              <a:off x="3147840" y="2863800"/>
              <a:ext cx="0" cy="5029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Text Box 18"/>
            <p:cNvSpPr/>
            <p:nvPr/>
          </p:nvSpPr>
          <p:spPr>
            <a:xfrm>
              <a:off x="3244680" y="2720880"/>
              <a:ext cx="281160" cy="26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 Box 19"/>
            <p:cNvSpPr/>
            <p:nvPr/>
          </p:nvSpPr>
          <p:spPr>
            <a:xfrm>
              <a:off x="3274920" y="324612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Line 20"/>
            <p:cNvSpPr/>
            <p:nvPr/>
          </p:nvSpPr>
          <p:spPr>
            <a:xfrm flipH="1">
              <a:off x="628560" y="336672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Line 21"/>
            <p:cNvSpPr/>
            <p:nvPr/>
          </p:nvSpPr>
          <p:spPr>
            <a:xfrm flipH="1">
              <a:off x="628560" y="286992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Line 22"/>
            <p:cNvSpPr/>
            <p:nvPr/>
          </p:nvSpPr>
          <p:spPr>
            <a:xfrm>
              <a:off x="3147840" y="2938320"/>
              <a:ext cx="7920" cy="9255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Line 23"/>
            <p:cNvSpPr/>
            <p:nvPr/>
          </p:nvSpPr>
          <p:spPr>
            <a:xfrm>
              <a:off x="2149200" y="1636560"/>
              <a:ext cx="0" cy="22194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Line 24"/>
            <p:cNvSpPr/>
            <p:nvPr/>
          </p:nvSpPr>
          <p:spPr>
            <a:xfrm>
              <a:off x="1296720" y="1630080"/>
              <a:ext cx="0" cy="22338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Text Box 25"/>
            <p:cNvSpPr/>
            <p:nvPr/>
          </p:nvSpPr>
          <p:spPr>
            <a:xfrm>
              <a:off x="1184040" y="3893760"/>
              <a:ext cx="28260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Text Box 26"/>
            <p:cNvSpPr/>
            <p:nvPr/>
          </p:nvSpPr>
          <p:spPr>
            <a:xfrm>
              <a:off x="2987640" y="3860640"/>
              <a:ext cx="480960" cy="25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Text Box 27"/>
            <p:cNvSpPr/>
            <p:nvPr/>
          </p:nvSpPr>
          <p:spPr>
            <a:xfrm>
              <a:off x="323640" y="3240000"/>
              <a:ext cx="28116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 Box 28"/>
            <p:cNvSpPr/>
            <p:nvPr/>
          </p:nvSpPr>
          <p:spPr>
            <a:xfrm>
              <a:off x="179280" y="2709720"/>
              <a:ext cx="42552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eform 29"/>
            <p:cNvSpPr/>
            <p:nvPr/>
          </p:nvSpPr>
          <p:spPr>
            <a:xfrm>
              <a:off x="2149200" y="1630080"/>
              <a:ext cx="998640" cy="12398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1239840"/>
                <a:gd name="textAreaBottom" fmla="*/ 1240200 h 1239840"/>
                <a:gd name="GluePoint1X" fmla="*/ 0 w 1860"/>
                <a:gd name="GluePoint1Y" fmla="*/ 0 h 2475"/>
                <a:gd name="GluePoint2X" fmla="*/ 0 w 1860"/>
                <a:gd name="GluePoint2Y" fmla="*/ 0 h 2475"/>
                <a:gd name="GluePoint3X" fmla="*/ 0 w 1860"/>
                <a:gd name="GluePoint3Y" fmla="*/ 0 h 2475"/>
                <a:gd name="GluePoint4X" fmla="*/ 0 w 1860"/>
                <a:gd name="GluePoint4Y" fmla="*/ 0 h 2475"/>
                <a:gd name="GluePoint5X" fmla="*/ 0 w 1860"/>
                <a:gd name="GluePoint5Y" fmla="*/ 0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eform 30"/>
            <p:cNvSpPr/>
            <p:nvPr/>
          </p:nvSpPr>
          <p:spPr>
            <a:xfrm>
              <a:off x="1288800" y="1622160"/>
              <a:ext cx="1859040" cy="1736640"/>
            </a:xfrm>
            <a:custGeom>
              <a:avLst/>
              <a:gdLst>
                <a:gd name="textAreaLeft" fmla="*/ 0 w 1859040"/>
                <a:gd name="textAreaRight" fmla="*/ 1859400 w 1859040"/>
                <a:gd name="textAreaTop" fmla="*/ 0 h 1736640"/>
                <a:gd name="textAreaBottom" fmla="*/ 1737000 h 1736640"/>
                <a:gd name="GluePoint1X" fmla="*/ 0 w 3465"/>
                <a:gd name="GluePoint1Y" fmla="*/ 0 h 3465"/>
                <a:gd name="GluePoint2X" fmla="*/ 0 w 3465"/>
                <a:gd name="GluePoint2Y" fmla="*/ 0 h 3465"/>
                <a:gd name="GluePoint3X" fmla="*/ 0 w 3465"/>
                <a:gd name="GluePoint3Y" fmla="*/ 0 h 3465"/>
                <a:gd name="GluePoint4X" fmla="*/ 0 w 3465"/>
                <a:gd name="GluePoint4Y" fmla="*/ 0 h 3465"/>
                <a:gd name="GluePoint5X" fmla="*/ 0 w 3465"/>
                <a:gd name="GluePoint5Y" fmla="*/ 0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Line 31"/>
            <p:cNvSpPr/>
            <p:nvPr/>
          </p:nvSpPr>
          <p:spPr>
            <a:xfrm flipH="1" flipV="1">
              <a:off x="1666440" y="2614320"/>
              <a:ext cx="33480" cy="604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Line 32"/>
            <p:cNvSpPr/>
            <p:nvPr/>
          </p:nvSpPr>
          <p:spPr>
            <a:xfrm>
              <a:off x="1763640" y="1636560"/>
              <a:ext cx="11268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Line 33"/>
            <p:cNvSpPr/>
            <p:nvPr/>
          </p:nvSpPr>
          <p:spPr>
            <a:xfrm>
              <a:off x="2503440" y="2449440"/>
              <a:ext cx="23760" cy="442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7" name="Text Box 35"/>
          <p:cNvSpPr/>
          <p:nvPr/>
        </p:nvSpPr>
        <p:spPr>
          <a:xfrm>
            <a:off x="3635280" y="2060640"/>
            <a:ext cx="52578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La pression doit être en Pascal (Pa) et non en bar. 1 bar = 10</a:t>
            </a:r>
            <a:r>
              <a:rPr b="0" lang="fr-FR" sz="1800" strike="noStrike" u="none" baseline="30000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+5</a:t>
            </a: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Pa.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Le volume doit être en m</a:t>
            </a:r>
            <a:r>
              <a:rPr b="0" lang="fr-FR" sz="1800" strike="noStrike" u="none" baseline="30000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.  1 dm</a:t>
            </a:r>
            <a:r>
              <a:rPr b="0" lang="fr-FR" sz="1800" strike="noStrike" u="none" baseline="30000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 = 1 litre soit 10</a:t>
            </a:r>
            <a:r>
              <a:rPr b="0" lang="fr-FR" sz="1800" strike="noStrike" u="none" baseline="30000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-3</a:t>
            </a: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 m</a:t>
            </a:r>
            <a:r>
              <a:rPr b="0" lang="fr-FR" sz="1800" strike="noStrike" u="none" baseline="30000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Box 75"/>
          <p:cNvSpPr/>
          <p:nvPr/>
        </p:nvSpPr>
        <p:spPr>
          <a:xfrm>
            <a:off x="4500720" y="3500280"/>
            <a:ext cx="417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Complétez le tableau suivant: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Rectangle 119"/>
          <p:cNvSpPr/>
          <p:nvPr/>
        </p:nvSpPr>
        <p:spPr>
          <a:xfrm>
            <a:off x="7020000" y="5445000"/>
            <a:ext cx="1646280" cy="576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V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D</a:t>
            </a: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 = V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A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118"/>
          <p:cNvSpPr/>
          <p:nvPr/>
        </p:nvSpPr>
        <p:spPr>
          <a:xfrm>
            <a:off x="5364000" y="5516640"/>
            <a:ext cx="1646280" cy="576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Q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C-D</a:t>
            </a: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= 0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117"/>
          <p:cNvSpPr/>
          <p:nvPr/>
        </p:nvSpPr>
        <p:spPr>
          <a:xfrm>
            <a:off x="3780000" y="5516640"/>
            <a:ext cx="1644480" cy="576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P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B</a:t>
            </a: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 = P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C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116"/>
          <p:cNvSpPr/>
          <p:nvPr/>
        </p:nvSpPr>
        <p:spPr>
          <a:xfrm>
            <a:off x="2268360" y="5516640"/>
            <a:ext cx="1481400" cy="57636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Q</a:t>
            </a:r>
            <a:r>
              <a:rPr b="0" lang="fr-FR" sz="2800" strike="noStrike" u="none" baseline="-25000">
                <a:solidFill>
                  <a:srgbClr val="4e3b30"/>
                </a:solidFill>
                <a:effectLst/>
                <a:uFillTx/>
                <a:latin typeface="Arial"/>
              </a:rPr>
              <a:t>A-B</a:t>
            </a: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 = 0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Rectangle 115"/>
          <p:cNvSpPr/>
          <p:nvPr/>
        </p:nvSpPr>
        <p:spPr>
          <a:xfrm>
            <a:off x="457200" y="5519880"/>
            <a:ext cx="181116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Propriétés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114"/>
          <p:cNvSpPr/>
          <p:nvPr/>
        </p:nvSpPr>
        <p:spPr>
          <a:xfrm>
            <a:off x="7020000" y="4941720"/>
            <a:ext cx="1646280" cy="5781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isochore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ectangle 113"/>
          <p:cNvSpPr/>
          <p:nvPr/>
        </p:nvSpPr>
        <p:spPr>
          <a:xfrm>
            <a:off x="5394240" y="4941720"/>
            <a:ext cx="1646280" cy="57816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adiabatique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112"/>
          <p:cNvSpPr/>
          <p:nvPr/>
        </p:nvSpPr>
        <p:spPr>
          <a:xfrm>
            <a:off x="3708360" y="4941720"/>
            <a:ext cx="1644840" cy="5781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isobare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Rectangle 111"/>
          <p:cNvSpPr/>
          <p:nvPr/>
        </p:nvSpPr>
        <p:spPr>
          <a:xfrm>
            <a:off x="2268360" y="4941720"/>
            <a:ext cx="1481400" cy="57816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adiabatique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110"/>
          <p:cNvSpPr/>
          <p:nvPr/>
        </p:nvSpPr>
        <p:spPr>
          <a:xfrm>
            <a:off x="457200" y="4941720"/>
            <a:ext cx="1811160" cy="57816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Nom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109"/>
          <p:cNvSpPr/>
          <p:nvPr/>
        </p:nvSpPr>
        <p:spPr>
          <a:xfrm>
            <a:off x="7040520" y="4365720"/>
            <a:ext cx="164628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D--A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108"/>
          <p:cNvSpPr/>
          <p:nvPr/>
        </p:nvSpPr>
        <p:spPr>
          <a:xfrm>
            <a:off x="5394240" y="4365720"/>
            <a:ext cx="164628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C--D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ectangle 107"/>
          <p:cNvSpPr/>
          <p:nvPr/>
        </p:nvSpPr>
        <p:spPr>
          <a:xfrm>
            <a:off x="3749760" y="4365720"/>
            <a:ext cx="164448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B--C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106"/>
          <p:cNvSpPr/>
          <p:nvPr/>
        </p:nvSpPr>
        <p:spPr>
          <a:xfrm>
            <a:off x="2268360" y="4365720"/>
            <a:ext cx="148140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A--B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Rectangle 105"/>
          <p:cNvSpPr/>
          <p:nvPr/>
        </p:nvSpPr>
        <p:spPr>
          <a:xfrm>
            <a:off x="457200" y="4365720"/>
            <a:ext cx="1811160" cy="576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Transformation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Line 120"/>
          <p:cNvSpPr/>
          <p:nvPr/>
        </p:nvSpPr>
        <p:spPr>
          <a:xfrm>
            <a:off x="457200" y="4365720"/>
            <a:ext cx="822960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Line 121"/>
          <p:cNvSpPr/>
          <p:nvPr/>
        </p:nvSpPr>
        <p:spPr>
          <a:xfrm>
            <a:off x="457200" y="4941720"/>
            <a:ext cx="82296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Line 122"/>
          <p:cNvSpPr/>
          <p:nvPr/>
        </p:nvSpPr>
        <p:spPr>
          <a:xfrm>
            <a:off x="468360" y="5516640"/>
            <a:ext cx="82296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Line 123"/>
          <p:cNvSpPr/>
          <p:nvPr/>
        </p:nvSpPr>
        <p:spPr>
          <a:xfrm>
            <a:off x="457200" y="6095880"/>
            <a:ext cx="822960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Line 124"/>
          <p:cNvSpPr/>
          <p:nvPr/>
        </p:nvSpPr>
        <p:spPr>
          <a:xfrm>
            <a:off x="457200" y="4365720"/>
            <a:ext cx="0" cy="173016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Line 125"/>
          <p:cNvSpPr/>
          <p:nvPr/>
        </p:nvSpPr>
        <p:spPr>
          <a:xfrm>
            <a:off x="2268360" y="4365720"/>
            <a:ext cx="0" cy="1730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Line 126"/>
          <p:cNvSpPr/>
          <p:nvPr/>
        </p:nvSpPr>
        <p:spPr>
          <a:xfrm>
            <a:off x="3749760" y="4365720"/>
            <a:ext cx="0" cy="1730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Line 127"/>
          <p:cNvSpPr/>
          <p:nvPr/>
        </p:nvSpPr>
        <p:spPr>
          <a:xfrm>
            <a:off x="5394240" y="4365720"/>
            <a:ext cx="0" cy="1730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Line 128"/>
          <p:cNvSpPr/>
          <p:nvPr/>
        </p:nvSpPr>
        <p:spPr>
          <a:xfrm>
            <a:off x="7040520" y="4365720"/>
            <a:ext cx="0" cy="1730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Line 129"/>
          <p:cNvSpPr/>
          <p:nvPr/>
        </p:nvSpPr>
        <p:spPr>
          <a:xfrm>
            <a:off x="8686800" y="4365720"/>
            <a:ext cx="0" cy="173016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94" dur="indefinite" restart="never" nodeType="tmRoot">
          <p:childTnLst>
            <p:seq>
              <p:cTn id="595" dur="indefinite" nodeType="mainSeq">
                <p:childTnLst>
                  <p:par>
                    <p:cTn id="596" nodeType="clickEffect" fill="hold">
                      <p:stCondLst>
                        <p:cond delay="indefinite"/>
                      </p:stCondLst>
                      <p:childTnLst>
                        <p:par>
                          <p:cTn id="5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0" dur="2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1" dur="2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02" dur="2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nodeType="clickEffect" fill="hold">
                      <p:stCondLst>
                        <p:cond delay="indefinite"/>
                      </p:stCondLst>
                      <p:childTnLst>
                        <p:par>
                          <p:cTn id="6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07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nodeType="clickEffect" fill="hold">
                      <p:stCondLst>
                        <p:cond delay="indefinite"/>
                      </p:stCondLst>
                      <p:childTnLst>
                        <p:par>
                          <p:cTn id="6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2" dur="20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3" dur="20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14" dur="2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7" dur="20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8" dur="20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19" dur="2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2" dur="20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3" dur="20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4" dur="2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7" dur="20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8" dur="20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9" dur="2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2" dur="20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3" dur="20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34" dur="2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7" dur="20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8" dur="20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39" dur="2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2" dur="20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3" dur="20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44" dur="2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7" dur="2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8" dur="2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49" dur="2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2" dur="20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3" dur="20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54" dur="2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7" dur="20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8" dur="20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59" dur="2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2" dur="20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3" dur="20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64" dur="2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7" dur="20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8" dur="20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69" dur="2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2" dur="20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3" dur="20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74" dur="2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7" dur="2000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8" dur="2000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79" dur="2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2" dur="2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3" dur="2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84" dur="2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7" dur="2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8" dur="2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89" dur="2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2" dur="20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3" dur="20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94" dur="2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7" dur="20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8" dur="20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99" dur="2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2" dur="20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3" dur="20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04" dur="2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nodeType="clickEffect" fill="hold">
                      <p:stCondLst>
                        <p:cond delay="indefinite"/>
                      </p:stCondLst>
                      <p:childTnLst>
                        <p:par>
                          <p:cTn id="7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9" dur="5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0" dur="5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11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nodeType="clickEffect" fill="hold">
                      <p:stCondLst>
                        <p:cond delay="indefinite"/>
                      </p:stCondLst>
                      <p:childTnLst>
                        <p:par>
                          <p:cTn id="7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6" dur="5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7" dur="5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18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1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2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23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nodeType="clickEffect" fill="hold">
                      <p:stCondLst>
                        <p:cond delay="indefinite"/>
                      </p:stCondLst>
                      <p:childTnLst>
                        <p:par>
                          <p:cTn id="7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8" dur="10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9" dur="10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30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nodeType="clickEffect" fill="hold">
                      <p:stCondLst>
                        <p:cond delay="indefinite"/>
                      </p:stCondLst>
                      <p:childTnLst>
                        <p:par>
                          <p:cTn id="7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3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5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6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37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8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0" dur="5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1" dur="5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42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Rectangle 4" descr=""/>
          <p:cNvPicPr/>
          <p:nvPr/>
        </p:nvPicPr>
        <p:blipFill>
          <a:blip r:embed="rId1"/>
          <a:stretch/>
        </p:blipFill>
        <p:spPr>
          <a:xfrm>
            <a:off x="262080" y="268200"/>
            <a:ext cx="8424720" cy="1116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5" name="Group 72"/>
          <p:cNvGrpSpPr/>
          <p:nvPr/>
        </p:nvGrpSpPr>
        <p:grpSpPr>
          <a:xfrm>
            <a:off x="0" y="836640"/>
            <a:ext cx="4668840" cy="3070080"/>
            <a:chOff x="0" y="836640"/>
            <a:chExt cx="4668840" cy="3070080"/>
          </a:xfrm>
        </p:grpSpPr>
        <p:sp>
          <p:nvSpPr>
            <p:cNvPr id="626" name="Line 73"/>
            <p:cNvSpPr/>
            <p:nvPr/>
          </p:nvSpPr>
          <p:spPr>
            <a:xfrm>
              <a:off x="457200" y="3575160"/>
              <a:ext cx="344484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Line 74"/>
            <p:cNvSpPr/>
            <p:nvPr/>
          </p:nvSpPr>
          <p:spPr>
            <a:xfrm flipV="1">
              <a:off x="449280" y="941400"/>
              <a:ext cx="0" cy="26258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Text Box 75"/>
            <p:cNvSpPr/>
            <p:nvPr/>
          </p:nvSpPr>
          <p:spPr>
            <a:xfrm>
              <a:off x="514440" y="836640"/>
              <a:ext cx="603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Text Box 76"/>
            <p:cNvSpPr/>
            <p:nvPr/>
          </p:nvSpPr>
          <p:spPr>
            <a:xfrm>
              <a:off x="3468600" y="3313080"/>
              <a:ext cx="1200240" cy="59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Line 77"/>
            <p:cNvSpPr/>
            <p:nvPr/>
          </p:nvSpPr>
          <p:spPr>
            <a:xfrm>
              <a:off x="1125720" y="1347840"/>
              <a:ext cx="81252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Oval 78"/>
            <p:cNvSpPr/>
            <p:nvPr/>
          </p:nvSpPr>
          <p:spPr>
            <a:xfrm>
              <a:off x="1085760" y="130320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Oval 79"/>
            <p:cNvSpPr/>
            <p:nvPr/>
          </p:nvSpPr>
          <p:spPr>
            <a:xfrm>
              <a:off x="1930320" y="1311120"/>
              <a:ext cx="7632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Oval 80"/>
            <p:cNvSpPr/>
            <p:nvPr/>
          </p:nvSpPr>
          <p:spPr>
            <a:xfrm>
              <a:off x="2927520" y="2550960"/>
              <a:ext cx="77760" cy="71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Oval 81"/>
            <p:cNvSpPr/>
            <p:nvPr/>
          </p:nvSpPr>
          <p:spPr>
            <a:xfrm>
              <a:off x="2935440" y="3048120"/>
              <a:ext cx="77760" cy="712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Text Box 82"/>
            <p:cNvSpPr/>
            <p:nvPr/>
          </p:nvSpPr>
          <p:spPr>
            <a:xfrm>
              <a:off x="1004760" y="106992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Text Box 83"/>
            <p:cNvSpPr/>
            <p:nvPr/>
          </p:nvSpPr>
          <p:spPr>
            <a:xfrm>
              <a:off x="1825560" y="1077840"/>
              <a:ext cx="281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Line 84"/>
            <p:cNvSpPr/>
            <p:nvPr/>
          </p:nvSpPr>
          <p:spPr>
            <a:xfrm flipH="1">
              <a:off x="448920" y="1347840"/>
              <a:ext cx="7174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Line 85"/>
            <p:cNvSpPr/>
            <p:nvPr/>
          </p:nvSpPr>
          <p:spPr>
            <a:xfrm>
              <a:off x="2968560" y="2575080"/>
              <a:ext cx="0" cy="5029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Text Box 86"/>
            <p:cNvSpPr/>
            <p:nvPr/>
          </p:nvSpPr>
          <p:spPr>
            <a:xfrm>
              <a:off x="3065400" y="2432160"/>
              <a:ext cx="281160" cy="26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Text Box 87"/>
            <p:cNvSpPr/>
            <p:nvPr/>
          </p:nvSpPr>
          <p:spPr>
            <a:xfrm>
              <a:off x="3095640" y="2957400"/>
              <a:ext cx="282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Line 88"/>
            <p:cNvSpPr/>
            <p:nvPr/>
          </p:nvSpPr>
          <p:spPr>
            <a:xfrm flipH="1">
              <a:off x="449280" y="307800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Line 89"/>
            <p:cNvSpPr/>
            <p:nvPr/>
          </p:nvSpPr>
          <p:spPr>
            <a:xfrm flipH="1">
              <a:off x="449280" y="2581200"/>
              <a:ext cx="25192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Line 90"/>
            <p:cNvSpPr/>
            <p:nvPr/>
          </p:nvSpPr>
          <p:spPr>
            <a:xfrm>
              <a:off x="2968560" y="2649600"/>
              <a:ext cx="7920" cy="9255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Line 91"/>
            <p:cNvSpPr/>
            <p:nvPr/>
          </p:nvSpPr>
          <p:spPr>
            <a:xfrm>
              <a:off x="1969920" y="1347840"/>
              <a:ext cx="0" cy="22194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Line 92"/>
            <p:cNvSpPr/>
            <p:nvPr/>
          </p:nvSpPr>
          <p:spPr>
            <a:xfrm>
              <a:off x="1117440" y="1341360"/>
              <a:ext cx="0" cy="22338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Text Box 93"/>
            <p:cNvSpPr/>
            <p:nvPr/>
          </p:nvSpPr>
          <p:spPr>
            <a:xfrm>
              <a:off x="1004760" y="3605040"/>
              <a:ext cx="28260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Text Box 94"/>
            <p:cNvSpPr/>
            <p:nvPr/>
          </p:nvSpPr>
          <p:spPr>
            <a:xfrm>
              <a:off x="2808360" y="3571920"/>
              <a:ext cx="480960" cy="25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Text Box 95"/>
            <p:cNvSpPr/>
            <p:nvPr/>
          </p:nvSpPr>
          <p:spPr>
            <a:xfrm>
              <a:off x="144360" y="2951280"/>
              <a:ext cx="28116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Text Box 96"/>
            <p:cNvSpPr/>
            <p:nvPr/>
          </p:nvSpPr>
          <p:spPr>
            <a:xfrm>
              <a:off x="0" y="2421000"/>
              <a:ext cx="42552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Freeform 97"/>
            <p:cNvSpPr/>
            <p:nvPr/>
          </p:nvSpPr>
          <p:spPr>
            <a:xfrm>
              <a:off x="1969920" y="1341360"/>
              <a:ext cx="998640" cy="12398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1239840"/>
                <a:gd name="textAreaBottom" fmla="*/ 1240200 h 1239840"/>
                <a:gd name="GluePoint1X" fmla="*/ 0 w 1860"/>
                <a:gd name="GluePoint1Y" fmla="*/ 0 h 2475"/>
                <a:gd name="GluePoint2X" fmla="*/ 0 w 1860"/>
                <a:gd name="GluePoint2Y" fmla="*/ 0 h 2475"/>
                <a:gd name="GluePoint3X" fmla="*/ 0 w 1860"/>
                <a:gd name="GluePoint3Y" fmla="*/ 0 h 2475"/>
                <a:gd name="GluePoint4X" fmla="*/ 0 w 1860"/>
                <a:gd name="GluePoint4Y" fmla="*/ 0 h 2475"/>
                <a:gd name="GluePoint5X" fmla="*/ 0 w 1860"/>
                <a:gd name="GluePoint5Y" fmla="*/ 0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Freeform 98"/>
            <p:cNvSpPr/>
            <p:nvPr/>
          </p:nvSpPr>
          <p:spPr>
            <a:xfrm>
              <a:off x="1109520" y="1333440"/>
              <a:ext cx="1859040" cy="1736640"/>
            </a:xfrm>
            <a:custGeom>
              <a:avLst/>
              <a:gdLst>
                <a:gd name="textAreaLeft" fmla="*/ 0 w 1859040"/>
                <a:gd name="textAreaRight" fmla="*/ 1859400 w 1859040"/>
                <a:gd name="textAreaTop" fmla="*/ 0 h 1736640"/>
                <a:gd name="textAreaBottom" fmla="*/ 1737000 h 1736640"/>
                <a:gd name="GluePoint1X" fmla="*/ 0 w 3465"/>
                <a:gd name="GluePoint1Y" fmla="*/ 0 h 3465"/>
                <a:gd name="GluePoint2X" fmla="*/ 0 w 3465"/>
                <a:gd name="GluePoint2Y" fmla="*/ 0 h 3465"/>
                <a:gd name="GluePoint3X" fmla="*/ 0 w 3465"/>
                <a:gd name="GluePoint3Y" fmla="*/ 0 h 3465"/>
                <a:gd name="GluePoint4X" fmla="*/ 0 w 3465"/>
                <a:gd name="GluePoint4Y" fmla="*/ 0 h 3465"/>
                <a:gd name="GluePoint5X" fmla="*/ 0 w 3465"/>
                <a:gd name="GluePoint5Y" fmla="*/ 0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Line 99"/>
            <p:cNvSpPr/>
            <p:nvPr/>
          </p:nvSpPr>
          <p:spPr>
            <a:xfrm flipH="1" flipV="1">
              <a:off x="1487160" y="2325600"/>
              <a:ext cx="33480" cy="604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Line 100"/>
            <p:cNvSpPr/>
            <p:nvPr/>
          </p:nvSpPr>
          <p:spPr>
            <a:xfrm>
              <a:off x="1584360" y="1347840"/>
              <a:ext cx="11268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Line 101"/>
            <p:cNvSpPr/>
            <p:nvPr/>
          </p:nvSpPr>
          <p:spPr>
            <a:xfrm>
              <a:off x="2324160" y="2160720"/>
              <a:ext cx="23760" cy="442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5" name="Text Box 103"/>
          <p:cNvSpPr/>
          <p:nvPr/>
        </p:nvSpPr>
        <p:spPr>
          <a:xfrm>
            <a:off x="4500720" y="3500280"/>
            <a:ext cx="3958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99cc00"/>
                </a:solidFill>
                <a:effectLst/>
                <a:uFillTx/>
                <a:latin typeface="Arial"/>
                <a:ea typeface="Arial"/>
              </a:rPr>
              <a:t>La lecture du diagramme permet de remplir certaines cases 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56" name="Group 104"/>
          <p:cNvGrpSpPr/>
          <p:nvPr/>
        </p:nvGrpSpPr>
        <p:grpSpPr>
          <a:xfrm>
            <a:off x="1042920" y="4365720"/>
            <a:ext cx="5256360" cy="1296720"/>
            <a:chOff x="1042920" y="4365720"/>
            <a:chExt cx="5256360" cy="1296720"/>
          </a:xfrm>
        </p:grpSpPr>
        <p:sp>
          <p:nvSpPr>
            <p:cNvPr id="657" name="Rectangle 105"/>
            <p:cNvSpPr/>
            <p:nvPr/>
          </p:nvSpPr>
          <p:spPr>
            <a:xfrm>
              <a:off x="5248800" y="533844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6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Rectangle 106"/>
            <p:cNvSpPr/>
            <p:nvPr/>
          </p:nvSpPr>
          <p:spPr>
            <a:xfrm>
              <a:off x="4196880" y="533844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700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Rectangle 107"/>
            <p:cNvSpPr/>
            <p:nvPr/>
          </p:nvSpPr>
          <p:spPr>
            <a:xfrm>
              <a:off x="3144960" y="5338440"/>
              <a:ext cx="105300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6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Rectangle 108"/>
            <p:cNvSpPr/>
            <p:nvPr/>
          </p:nvSpPr>
          <p:spPr>
            <a:xfrm>
              <a:off x="2093040" y="5338440"/>
              <a:ext cx="105048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300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Rectangle 109"/>
            <p:cNvSpPr/>
            <p:nvPr/>
          </p:nvSpPr>
          <p:spPr>
            <a:xfrm>
              <a:off x="1042920" y="533844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T   (°K)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Rectangle 110"/>
            <p:cNvSpPr/>
            <p:nvPr/>
          </p:nvSpPr>
          <p:spPr>
            <a:xfrm>
              <a:off x="5248800" y="501516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30.10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-3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Rectangle 111"/>
            <p:cNvSpPr/>
            <p:nvPr/>
          </p:nvSpPr>
          <p:spPr>
            <a:xfrm>
              <a:off x="4196880" y="501516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6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Rectangle 112"/>
            <p:cNvSpPr/>
            <p:nvPr/>
          </p:nvSpPr>
          <p:spPr>
            <a:xfrm>
              <a:off x="3144960" y="5015160"/>
              <a:ext cx="105300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8.10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-3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Rectangle 113"/>
            <p:cNvSpPr/>
            <p:nvPr/>
          </p:nvSpPr>
          <p:spPr>
            <a:xfrm>
              <a:off x="2093040" y="5015160"/>
              <a:ext cx="105048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30.10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-3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Rectangle 114"/>
            <p:cNvSpPr/>
            <p:nvPr/>
          </p:nvSpPr>
          <p:spPr>
            <a:xfrm>
              <a:off x="1042920" y="501516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V   (m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3</a:t>
              </a: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)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Rectangle 115"/>
            <p:cNvSpPr/>
            <p:nvPr/>
          </p:nvSpPr>
          <p:spPr>
            <a:xfrm>
              <a:off x="5248800" y="4689720"/>
              <a:ext cx="1050120" cy="3250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3,1.10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+5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Rectangle 116"/>
            <p:cNvSpPr/>
            <p:nvPr/>
          </p:nvSpPr>
          <p:spPr>
            <a:xfrm>
              <a:off x="4196880" y="4689720"/>
              <a:ext cx="1050120" cy="3250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6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Rectangle 117"/>
            <p:cNvSpPr/>
            <p:nvPr/>
          </p:nvSpPr>
          <p:spPr>
            <a:xfrm>
              <a:off x="3144960" y="4689720"/>
              <a:ext cx="1053000" cy="3250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6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Rectangle 118"/>
            <p:cNvSpPr/>
            <p:nvPr/>
          </p:nvSpPr>
          <p:spPr>
            <a:xfrm>
              <a:off x="2093040" y="4689720"/>
              <a:ext cx="1050480" cy="3250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2.10</a:t>
              </a:r>
              <a:r>
                <a:rPr b="0" lang="fr-FR" sz="18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</a:rPr>
                <a:t>+5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Rectangle 119"/>
            <p:cNvSpPr/>
            <p:nvPr/>
          </p:nvSpPr>
          <p:spPr>
            <a:xfrm>
              <a:off x="1042920" y="4689720"/>
              <a:ext cx="1050120" cy="3250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P   (Pa)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Rectangle 120"/>
            <p:cNvSpPr/>
            <p:nvPr/>
          </p:nvSpPr>
          <p:spPr>
            <a:xfrm>
              <a:off x="5248800" y="436572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Etat D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Rectangle 121"/>
            <p:cNvSpPr/>
            <p:nvPr/>
          </p:nvSpPr>
          <p:spPr>
            <a:xfrm>
              <a:off x="4196880" y="436572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Etat C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Rectangle 122"/>
            <p:cNvSpPr/>
            <p:nvPr/>
          </p:nvSpPr>
          <p:spPr>
            <a:xfrm>
              <a:off x="3144960" y="4365720"/>
              <a:ext cx="105300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Etat B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Rectangle 123"/>
            <p:cNvSpPr/>
            <p:nvPr/>
          </p:nvSpPr>
          <p:spPr>
            <a:xfrm>
              <a:off x="2093040" y="4365720"/>
              <a:ext cx="105048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4e3b30"/>
                  </a:solidFill>
                  <a:effectLst/>
                  <a:uFillTx/>
                  <a:latin typeface="Arial"/>
                </a:rPr>
                <a:t>Etat A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Rectangle 124"/>
            <p:cNvSpPr/>
            <p:nvPr/>
          </p:nvSpPr>
          <p:spPr>
            <a:xfrm>
              <a:off x="1042920" y="4365720"/>
              <a:ext cx="1050120" cy="324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spcBef>
                  <a:spcPts val="7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Line 125"/>
            <p:cNvSpPr/>
            <p:nvPr/>
          </p:nvSpPr>
          <p:spPr>
            <a:xfrm>
              <a:off x="1042920" y="4365720"/>
              <a:ext cx="5256360" cy="0"/>
            </a:xfrm>
            <a:prstGeom prst="line">
              <a:avLst/>
            </a:prstGeom>
            <a:ln cap="sq"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Line 126"/>
            <p:cNvSpPr/>
            <p:nvPr/>
          </p:nvSpPr>
          <p:spPr>
            <a:xfrm>
              <a:off x="1042920" y="4689720"/>
              <a:ext cx="525636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Line 127"/>
            <p:cNvSpPr/>
            <p:nvPr/>
          </p:nvSpPr>
          <p:spPr>
            <a:xfrm>
              <a:off x="1042920" y="5014080"/>
              <a:ext cx="525636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Line 128"/>
            <p:cNvSpPr/>
            <p:nvPr/>
          </p:nvSpPr>
          <p:spPr>
            <a:xfrm>
              <a:off x="1042920" y="5338440"/>
              <a:ext cx="525636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Line 129"/>
            <p:cNvSpPr/>
            <p:nvPr/>
          </p:nvSpPr>
          <p:spPr>
            <a:xfrm>
              <a:off x="1042920" y="5662440"/>
              <a:ext cx="5256360" cy="0"/>
            </a:xfrm>
            <a:prstGeom prst="line">
              <a:avLst/>
            </a:prstGeom>
            <a:ln cap="sq"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Line 130"/>
            <p:cNvSpPr/>
            <p:nvPr/>
          </p:nvSpPr>
          <p:spPr>
            <a:xfrm>
              <a:off x="1042920" y="4365720"/>
              <a:ext cx="0" cy="1296720"/>
            </a:xfrm>
            <a:prstGeom prst="line">
              <a:avLst/>
            </a:prstGeom>
            <a:ln cap="sq"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Line 131"/>
            <p:cNvSpPr/>
            <p:nvPr/>
          </p:nvSpPr>
          <p:spPr>
            <a:xfrm>
              <a:off x="2094480" y="4365720"/>
              <a:ext cx="0" cy="129672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Line 132"/>
            <p:cNvSpPr/>
            <p:nvPr/>
          </p:nvSpPr>
          <p:spPr>
            <a:xfrm>
              <a:off x="3144960" y="4365720"/>
              <a:ext cx="0" cy="129672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Line 133"/>
            <p:cNvSpPr/>
            <p:nvPr/>
          </p:nvSpPr>
          <p:spPr>
            <a:xfrm>
              <a:off x="4196880" y="4365720"/>
              <a:ext cx="0" cy="129672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Line 134"/>
            <p:cNvSpPr/>
            <p:nvPr/>
          </p:nvSpPr>
          <p:spPr>
            <a:xfrm>
              <a:off x="5247360" y="4365720"/>
              <a:ext cx="0" cy="129672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Line 135"/>
            <p:cNvSpPr/>
            <p:nvPr/>
          </p:nvSpPr>
          <p:spPr>
            <a:xfrm>
              <a:off x="6299280" y="4365720"/>
              <a:ext cx="0" cy="1296720"/>
            </a:xfrm>
            <a:prstGeom prst="line">
              <a:avLst/>
            </a:prstGeom>
            <a:ln cap="sq"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743" dur="indefinite" restart="never" nodeType="tmRoot">
          <p:childTnLst>
            <p:seq>
              <p:cTn id="744" dur="indefinite" nodeType="mainSeq">
                <p:childTnLst>
                  <p:par>
                    <p:cTn id="745" nodeType="clickEffect" fill="hold">
                      <p:stCondLst>
                        <p:cond delay="indefinite"/>
                      </p:stCondLst>
                      <p:childTnLst>
                        <p:par>
                          <p:cTn id="7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9" dur="20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0" dur="20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51" dur="2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4" dur="20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5" dur="20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56" dur="2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6"/>
          <p:cNvSpPr/>
          <p:nvPr/>
        </p:nvSpPr>
        <p:spPr>
          <a:xfrm>
            <a:off x="4788000" y="2421000"/>
            <a:ext cx="1050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455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Rectangle 7"/>
          <p:cNvSpPr/>
          <p:nvPr/>
        </p:nvSpPr>
        <p:spPr>
          <a:xfrm>
            <a:off x="3765600" y="245736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700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8"/>
          <p:cNvSpPr/>
          <p:nvPr/>
        </p:nvSpPr>
        <p:spPr>
          <a:xfrm>
            <a:off x="2712960" y="2457360"/>
            <a:ext cx="10526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9"/>
          <p:cNvSpPr/>
          <p:nvPr/>
        </p:nvSpPr>
        <p:spPr>
          <a:xfrm>
            <a:off x="1662120" y="245736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10"/>
          <p:cNvSpPr/>
          <p:nvPr/>
        </p:nvSpPr>
        <p:spPr>
          <a:xfrm>
            <a:off x="611280" y="245736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T   (°K)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11"/>
          <p:cNvSpPr/>
          <p:nvPr/>
        </p:nvSpPr>
        <p:spPr>
          <a:xfrm>
            <a:off x="4816440" y="2133720"/>
            <a:ext cx="105084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12"/>
          <p:cNvSpPr/>
          <p:nvPr/>
        </p:nvSpPr>
        <p:spPr>
          <a:xfrm>
            <a:off x="3765600" y="2133720"/>
            <a:ext cx="105084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13"/>
          <p:cNvSpPr/>
          <p:nvPr/>
        </p:nvSpPr>
        <p:spPr>
          <a:xfrm>
            <a:off x="2712960" y="2133720"/>
            <a:ext cx="105264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8.10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14"/>
          <p:cNvSpPr/>
          <p:nvPr/>
        </p:nvSpPr>
        <p:spPr>
          <a:xfrm>
            <a:off x="1662120" y="2133720"/>
            <a:ext cx="105084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15"/>
          <p:cNvSpPr/>
          <p:nvPr/>
        </p:nvSpPr>
        <p:spPr>
          <a:xfrm>
            <a:off x="611280" y="2133720"/>
            <a:ext cx="105084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V   (m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3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16"/>
          <p:cNvSpPr/>
          <p:nvPr/>
        </p:nvSpPr>
        <p:spPr>
          <a:xfrm>
            <a:off x="4816440" y="1808280"/>
            <a:ext cx="105084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3,1.10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17"/>
          <p:cNvSpPr/>
          <p:nvPr/>
        </p:nvSpPr>
        <p:spPr>
          <a:xfrm>
            <a:off x="3765600" y="1808280"/>
            <a:ext cx="105084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18"/>
          <p:cNvSpPr/>
          <p:nvPr/>
        </p:nvSpPr>
        <p:spPr>
          <a:xfrm>
            <a:off x="2712960" y="1808280"/>
            <a:ext cx="105264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19"/>
          <p:cNvSpPr/>
          <p:nvPr/>
        </p:nvSpPr>
        <p:spPr>
          <a:xfrm>
            <a:off x="1662120" y="1808280"/>
            <a:ext cx="105084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2.10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20"/>
          <p:cNvSpPr/>
          <p:nvPr/>
        </p:nvSpPr>
        <p:spPr>
          <a:xfrm>
            <a:off x="611280" y="1808280"/>
            <a:ext cx="105084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P   (Pa)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21"/>
          <p:cNvSpPr/>
          <p:nvPr/>
        </p:nvSpPr>
        <p:spPr>
          <a:xfrm>
            <a:off x="4816440" y="148428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22"/>
          <p:cNvSpPr/>
          <p:nvPr/>
        </p:nvSpPr>
        <p:spPr>
          <a:xfrm>
            <a:off x="3765600" y="148428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C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23"/>
          <p:cNvSpPr/>
          <p:nvPr/>
        </p:nvSpPr>
        <p:spPr>
          <a:xfrm>
            <a:off x="2712960" y="1484280"/>
            <a:ext cx="10526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24"/>
          <p:cNvSpPr/>
          <p:nvPr/>
        </p:nvSpPr>
        <p:spPr>
          <a:xfrm>
            <a:off x="1662120" y="148428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Rectangle 25"/>
          <p:cNvSpPr/>
          <p:nvPr/>
        </p:nvSpPr>
        <p:spPr>
          <a:xfrm>
            <a:off x="611280" y="1484280"/>
            <a:ext cx="105084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Line 26"/>
          <p:cNvSpPr/>
          <p:nvPr/>
        </p:nvSpPr>
        <p:spPr>
          <a:xfrm>
            <a:off x="611280" y="1484280"/>
            <a:ext cx="525600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Line 27"/>
          <p:cNvSpPr/>
          <p:nvPr/>
        </p:nvSpPr>
        <p:spPr>
          <a:xfrm>
            <a:off x="611280" y="1808280"/>
            <a:ext cx="52560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Line 28"/>
          <p:cNvSpPr/>
          <p:nvPr/>
        </p:nvSpPr>
        <p:spPr>
          <a:xfrm>
            <a:off x="611280" y="2133720"/>
            <a:ext cx="52560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Line 29"/>
          <p:cNvSpPr/>
          <p:nvPr/>
        </p:nvSpPr>
        <p:spPr>
          <a:xfrm>
            <a:off x="611280" y="2457360"/>
            <a:ext cx="525600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Line 30"/>
          <p:cNvSpPr/>
          <p:nvPr/>
        </p:nvSpPr>
        <p:spPr>
          <a:xfrm>
            <a:off x="611280" y="2781360"/>
            <a:ext cx="525600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Line 31"/>
          <p:cNvSpPr/>
          <p:nvPr/>
        </p:nvSpPr>
        <p:spPr>
          <a:xfrm>
            <a:off x="611280" y="1484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Line 32"/>
          <p:cNvSpPr/>
          <p:nvPr/>
        </p:nvSpPr>
        <p:spPr>
          <a:xfrm>
            <a:off x="1662120" y="1484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Line 33"/>
          <p:cNvSpPr/>
          <p:nvPr/>
        </p:nvSpPr>
        <p:spPr>
          <a:xfrm>
            <a:off x="2712960" y="1484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Line 34"/>
          <p:cNvSpPr/>
          <p:nvPr/>
        </p:nvSpPr>
        <p:spPr>
          <a:xfrm>
            <a:off x="3765600" y="1484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Line 35"/>
          <p:cNvSpPr/>
          <p:nvPr/>
        </p:nvSpPr>
        <p:spPr>
          <a:xfrm>
            <a:off x="4816440" y="1484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Line 36"/>
          <p:cNvSpPr/>
          <p:nvPr/>
        </p:nvSpPr>
        <p:spPr>
          <a:xfrm>
            <a:off x="5867280" y="1484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Box 37"/>
          <p:cNvSpPr/>
          <p:nvPr/>
        </p:nvSpPr>
        <p:spPr>
          <a:xfrm>
            <a:off x="227160" y="3009960"/>
            <a:ext cx="583236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Pour l’état D , on a 2 variables sur 3. On calcule la 3</a:t>
            </a:r>
            <a:r>
              <a:rPr b="0" lang="fr-FR" sz="1800" strike="noStrike" u="none" baseline="30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ième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avec l’équation d’état des G.P , soit  P</a:t>
            </a:r>
            <a:r>
              <a:rPr b="0" lang="fr-FR" sz="1800" strike="noStrike" u="none" baseline="-25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fr-FR" sz="1800" strike="noStrike" u="none" baseline="-25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= nRT</a:t>
            </a:r>
            <a:r>
              <a:rPr b="0" lang="fr-FR" sz="1800" strike="noStrike" u="none" baseline="-25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Box 38"/>
          <p:cNvSpPr/>
          <p:nvPr/>
        </p:nvSpPr>
        <p:spPr>
          <a:xfrm>
            <a:off x="611280" y="3933720"/>
            <a:ext cx="77058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On a alors T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              avec n = 2,4 moles et R = 8,32 J.kg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-1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.K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-1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Rectangle 52"/>
          <p:cNvSpPr/>
          <p:nvPr/>
        </p:nvSpPr>
        <p:spPr>
          <a:xfrm>
            <a:off x="0" y="3124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22" name="Object 2"/>
              <p:cNvSpPr txBox="1"/>
              <p:nvPr/>
            </p:nvSpPr>
            <p:spPr>
              <a:xfrm>
                <a:off x="2411280" y="3789360"/>
                <a:ext cx="714600" cy="72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P</m:t>
                        </m:r>
                        <m:r>
                          <m:t xml:space="preserve">D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V</m:t>
                        </m:r>
                        <m:r>
                          <m:t xml:space="preserve">D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nR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22" name="Object 2"/>
              <p:cNvSpPr txBox="1"/>
              <p:nvPr/>
            </p:nvSpPr>
            <p:spPr>
              <a:xfrm>
                <a:off x="2411280" y="3789360"/>
                <a:ext cx="714600" cy="723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723" name="Text Box 53"/>
          <p:cNvSpPr/>
          <p:nvPr/>
        </p:nvSpPr>
        <p:spPr>
          <a:xfrm>
            <a:off x="826920" y="4508640"/>
            <a:ext cx="7848720" cy="22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Pour les états B et C, il nous faut une équation de plus que celle des GP, car on a une variable sur 3 . Ce sera la loi de Laplace, applicable aux 2 transformations adiabatiques.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pour la transformation A—B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 pour la transformation C—D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4" name="Rectangle 56" descr=""/>
          <p:cNvPicPr/>
          <p:nvPr/>
        </p:nvPicPr>
        <p:blipFill>
          <a:blip r:embed="rId2"/>
          <a:stretch/>
        </p:blipFill>
        <p:spPr>
          <a:xfrm>
            <a:off x="298440" y="317520"/>
            <a:ext cx="8388360" cy="974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5" name="Group 72"/>
          <p:cNvGrpSpPr/>
          <p:nvPr/>
        </p:nvGrpSpPr>
        <p:grpSpPr>
          <a:xfrm>
            <a:off x="5896080" y="1035000"/>
            <a:ext cx="3579480" cy="2207880"/>
            <a:chOff x="5896080" y="1035000"/>
            <a:chExt cx="3579480" cy="2207880"/>
          </a:xfrm>
        </p:grpSpPr>
        <p:sp>
          <p:nvSpPr>
            <p:cNvPr id="726" name="Line 73"/>
            <p:cNvSpPr/>
            <p:nvPr/>
          </p:nvSpPr>
          <p:spPr>
            <a:xfrm>
              <a:off x="6250320" y="3038040"/>
              <a:ext cx="26701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Line 74"/>
            <p:cNvSpPr/>
            <p:nvPr/>
          </p:nvSpPr>
          <p:spPr>
            <a:xfrm flipV="1">
              <a:off x="6244200" y="1146600"/>
              <a:ext cx="0" cy="18856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Text Box 75"/>
            <p:cNvSpPr/>
            <p:nvPr/>
          </p:nvSpPr>
          <p:spPr>
            <a:xfrm>
              <a:off x="6198840" y="1035000"/>
              <a:ext cx="102132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Text Box 76"/>
            <p:cNvSpPr/>
            <p:nvPr/>
          </p:nvSpPr>
          <p:spPr>
            <a:xfrm>
              <a:off x="8545320" y="2772360"/>
              <a:ext cx="930240" cy="47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 dm</a:t>
              </a:r>
              <a:r>
                <a:rPr b="1" lang="fr-FR" sz="1200" strike="noStrike" u="none" baseline="30000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Line 77"/>
            <p:cNvSpPr/>
            <p:nvPr/>
          </p:nvSpPr>
          <p:spPr>
            <a:xfrm>
              <a:off x="6768720" y="1438560"/>
              <a:ext cx="62964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Oval 78"/>
            <p:cNvSpPr/>
            <p:nvPr/>
          </p:nvSpPr>
          <p:spPr>
            <a:xfrm>
              <a:off x="6737400" y="1406520"/>
              <a:ext cx="59040" cy="511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080" bIns="-100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Oval 79"/>
            <p:cNvSpPr/>
            <p:nvPr/>
          </p:nvSpPr>
          <p:spPr>
            <a:xfrm>
              <a:off x="7392240" y="1411920"/>
              <a:ext cx="59040" cy="511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080" bIns="-100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Oval 80"/>
            <p:cNvSpPr/>
            <p:nvPr/>
          </p:nvSpPr>
          <p:spPr>
            <a:xfrm>
              <a:off x="8165160" y="2302560"/>
              <a:ext cx="60120" cy="511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080" bIns="-100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Oval 81"/>
            <p:cNvSpPr/>
            <p:nvPr/>
          </p:nvSpPr>
          <p:spPr>
            <a:xfrm>
              <a:off x="8171280" y="2659680"/>
              <a:ext cx="60120" cy="511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080" bIns="-100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Text Box 82"/>
            <p:cNvSpPr/>
            <p:nvPr/>
          </p:nvSpPr>
          <p:spPr>
            <a:xfrm>
              <a:off x="6687000" y="1202400"/>
              <a:ext cx="2188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Text Box 83"/>
            <p:cNvSpPr/>
            <p:nvPr/>
          </p:nvSpPr>
          <p:spPr>
            <a:xfrm>
              <a:off x="7311240" y="1244520"/>
              <a:ext cx="21780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Line 84"/>
            <p:cNvSpPr/>
            <p:nvPr/>
          </p:nvSpPr>
          <p:spPr>
            <a:xfrm flipH="1">
              <a:off x="6244200" y="1438560"/>
              <a:ext cx="5558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Line 85"/>
            <p:cNvSpPr/>
            <p:nvPr/>
          </p:nvSpPr>
          <p:spPr>
            <a:xfrm>
              <a:off x="8197200" y="2319840"/>
              <a:ext cx="0" cy="36108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Text Box 86"/>
            <p:cNvSpPr/>
            <p:nvPr/>
          </p:nvSpPr>
          <p:spPr>
            <a:xfrm>
              <a:off x="8272080" y="2217240"/>
              <a:ext cx="217800" cy="18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Text Box 87"/>
            <p:cNvSpPr/>
            <p:nvPr/>
          </p:nvSpPr>
          <p:spPr>
            <a:xfrm>
              <a:off x="8295480" y="2594520"/>
              <a:ext cx="2188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Line 88"/>
            <p:cNvSpPr/>
            <p:nvPr/>
          </p:nvSpPr>
          <p:spPr>
            <a:xfrm flipH="1">
              <a:off x="6244200" y="2680920"/>
              <a:ext cx="19526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Line 89"/>
            <p:cNvSpPr/>
            <p:nvPr/>
          </p:nvSpPr>
          <p:spPr>
            <a:xfrm flipH="1">
              <a:off x="6244200" y="2324160"/>
              <a:ext cx="19526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Line 90"/>
            <p:cNvSpPr/>
            <p:nvPr/>
          </p:nvSpPr>
          <p:spPr>
            <a:xfrm>
              <a:off x="8197200" y="2373480"/>
              <a:ext cx="6120" cy="6645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Line 91"/>
            <p:cNvSpPr/>
            <p:nvPr/>
          </p:nvSpPr>
          <p:spPr>
            <a:xfrm>
              <a:off x="7422840" y="1438560"/>
              <a:ext cx="0" cy="159372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Line 92"/>
            <p:cNvSpPr/>
            <p:nvPr/>
          </p:nvSpPr>
          <p:spPr>
            <a:xfrm>
              <a:off x="6762240" y="1433880"/>
              <a:ext cx="0" cy="16041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Text Box 93"/>
            <p:cNvSpPr/>
            <p:nvPr/>
          </p:nvSpPr>
          <p:spPr>
            <a:xfrm>
              <a:off x="6674760" y="3059640"/>
              <a:ext cx="2188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Text Box 94"/>
            <p:cNvSpPr/>
            <p:nvPr/>
          </p:nvSpPr>
          <p:spPr>
            <a:xfrm>
              <a:off x="8073000" y="3035880"/>
              <a:ext cx="372600" cy="18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Text Box 95"/>
            <p:cNvSpPr/>
            <p:nvPr/>
          </p:nvSpPr>
          <p:spPr>
            <a:xfrm>
              <a:off x="6007680" y="2590200"/>
              <a:ext cx="2178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Text Box 96"/>
            <p:cNvSpPr/>
            <p:nvPr/>
          </p:nvSpPr>
          <p:spPr>
            <a:xfrm>
              <a:off x="5896080" y="2209320"/>
              <a:ext cx="445320" cy="20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4e3b3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Freeform 97"/>
            <p:cNvSpPr/>
            <p:nvPr/>
          </p:nvSpPr>
          <p:spPr>
            <a:xfrm>
              <a:off x="7422840" y="1433880"/>
              <a:ext cx="774000" cy="890280"/>
            </a:xfrm>
            <a:custGeom>
              <a:avLst/>
              <a:gdLst>
                <a:gd name="textAreaLeft" fmla="*/ 0 w 774000"/>
                <a:gd name="textAreaRight" fmla="*/ 774360 w 774000"/>
                <a:gd name="textAreaTop" fmla="*/ 0 h 890280"/>
                <a:gd name="textAreaBottom" fmla="*/ 890640 h 890280"/>
                <a:gd name="GluePoint1X" fmla="*/ 0 w 1860"/>
                <a:gd name="GluePoint1Y" fmla="*/ 0 h 2475"/>
                <a:gd name="GluePoint2X" fmla="*/ 0 w 1860"/>
                <a:gd name="GluePoint2Y" fmla="*/ 0 h 2475"/>
                <a:gd name="GluePoint3X" fmla="*/ 0 w 1860"/>
                <a:gd name="GluePoint3Y" fmla="*/ 0 h 2475"/>
                <a:gd name="GluePoint4X" fmla="*/ 0 w 1860"/>
                <a:gd name="GluePoint4Y" fmla="*/ 0 h 2475"/>
                <a:gd name="GluePoint5X" fmla="*/ 0 w 1860"/>
                <a:gd name="GluePoint5Y" fmla="*/ 0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eform 98"/>
            <p:cNvSpPr/>
            <p:nvPr/>
          </p:nvSpPr>
          <p:spPr>
            <a:xfrm>
              <a:off x="6756120" y="1428120"/>
              <a:ext cx="1441080" cy="1247040"/>
            </a:xfrm>
            <a:custGeom>
              <a:avLst/>
              <a:gdLst>
                <a:gd name="textAreaLeft" fmla="*/ 0 w 1441080"/>
                <a:gd name="textAreaRight" fmla="*/ 1441080 w 1441080"/>
                <a:gd name="textAreaTop" fmla="*/ 0 h 1247040"/>
                <a:gd name="textAreaBottom" fmla="*/ 1247400 h 1247040"/>
                <a:gd name="GluePoint1X" fmla="*/ 0 w 3465"/>
                <a:gd name="GluePoint1Y" fmla="*/ 0 h 3465"/>
                <a:gd name="GluePoint2X" fmla="*/ 0 w 3465"/>
                <a:gd name="GluePoint2Y" fmla="*/ 0 h 3465"/>
                <a:gd name="GluePoint3X" fmla="*/ 0 w 3465"/>
                <a:gd name="GluePoint3Y" fmla="*/ 0 h 3465"/>
                <a:gd name="GluePoint4X" fmla="*/ 0 w 3465"/>
                <a:gd name="GluePoint4Y" fmla="*/ 0 h 3465"/>
                <a:gd name="GluePoint5X" fmla="*/ 0 w 3465"/>
                <a:gd name="GluePoint5Y" fmla="*/ 0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Line 99"/>
            <p:cNvSpPr/>
            <p:nvPr/>
          </p:nvSpPr>
          <p:spPr>
            <a:xfrm flipH="1" flipV="1">
              <a:off x="7049160" y="2140560"/>
              <a:ext cx="25920" cy="4320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Line 100"/>
            <p:cNvSpPr/>
            <p:nvPr/>
          </p:nvSpPr>
          <p:spPr>
            <a:xfrm>
              <a:off x="7124040" y="1438560"/>
              <a:ext cx="8712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Line 101"/>
            <p:cNvSpPr/>
            <p:nvPr/>
          </p:nvSpPr>
          <p:spPr>
            <a:xfrm>
              <a:off x="7697520" y="2022120"/>
              <a:ext cx="18360" cy="316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120" bIns="-151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757" dur="indefinite" restart="never" nodeType="tmRoot">
          <p:childTnLst>
            <p:seq>
              <p:cTn id="758" dur="indefinite" nodeType="mainSeq">
                <p:childTnLst>
                  <p:par>
                    <p:cTn id="759" nodeType="clickEffect" fill="hold">
                      <p:stCondLst>
                        <p:cond delay="indefinite"/>
                      </p:stCondLst>
                      <p:childTnLst>
                        <p:par>
                          <p:cTn id="7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763" dur="2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nodeType="clickEffect" fill="hold">
                      <p:stCondLst>
                        <p:cond delay="indefinite"/>
                      </p:stCondLst>
                      <p:childTnLst>
                        <p:par>
                          <p:cTn id="7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8" dur="2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9" dur="2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70" dur="2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1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3" dur="20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4" dur="20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75" dur="2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nodeType="clickEffect" fill="hold">
                      <p:stCondLst>
                        <p:cond delay="indefinite"/>
                      </p:stCondLst>
                      <p:childTnLst>
                        <p:par>
                          <p:cTn id="7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0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1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82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3" nodeType="clickEffect" fill="hold">
                      <p:stCondLst>
                        <p:cond delay="indefinite"/>
                      </p:stCondLst>
                      <p:childTnLst>
                        <p:par>
                          <p:cTn id="7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787" dur="2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Rectangle 6"/>
          <p:cNvSpPr/>
          <p:nvPr/>
        </p:nvSpPr>
        <p:spPr>
          <a:xfrm>
            <a:off x="5867280" y="2205000"/>
            <a:ext cx="1381320" cy="252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455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7"/>
          <p:cNvSpPr/>
          <p:nvPr/>
        </p:nvSpPr>
        <p:spPr>
          <a:xfrm>
            <a:off x="4545000" y="2241720"/>
            <a:ext cx="13809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700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8"/>
          <p:cNvSpPr/>
          <p:nvPr/>
        </p:nvSpPr>
        <p:spPr>
          <a:xfrm>
            <a:off x="3159000" y="2241720"/>
            <a:ext cx="138600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509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9"/>
          <p:cNvSpPr/>
          <p:nvPr/>
        </p:nvSpPr>
        <p:spPr>
          <a:xfrm>
            <a:off x="1778040" y="2241720"/>
            <a:ext cx="13809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10"/>
          <p:cNvSpPr/>
          <p:nvPr/>
        </p:nvSpPr>
        <p:spPr>
          <a:xfrm>
            <a:off x="395280" y="2241720"/>
            <a:ext cx="13827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T   (°K)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11"/>
          <p:cNvSpPr/>
          <p:nvPr/>
        </p:nvSpPr>
        <p:spPr>
          <a:xfrm>
            <a:off x="5940360" y="1916280"/>
            <a:ext cx="1382760" cy="32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12"/>
          <p:cNvSpPr/>
          <p:nvPr/>
        </p:nvSpPr>
        <p:spPr>
          <a:xfrm>
            <a:off x="4545000" y="191772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13"/>
          <p:cNvSpPr/>
          <p:nvPr/>
        </p:nvSpPr>
        <p:spPr>
          <a:xfrm>
            <a:off x="3159000" y="1917720"/>
            <a:ext cx="138600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8.10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Rectangle 14"/>
          <p:cNvSpPr/>
          <p:nvPr/>
        </p:nvSpPr>
        <p:spPr>
          <a:xfrm>
            <a:off x="1778040" y="191772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15"/>
          <p:cNvSpPr/>
          <p:nvPr/>
        </p:nvSpPr>
        <p:spPr>
          <a:xfrm>
            <a:off x="395280" y="191772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V   (m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3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16"/>
          <p:cNvSpPr/>
          <p:nvPr/>
        </p:nvSpPr>
        <p:spPr>
          <a:xfrm>
            <a:off x="5925960" y="1592280"/>
            <a:ext cx="13827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3,1.10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17"/>
          <p:cNvSpPr/>
          <p:nvPr/>
        </p:nvSpPr>
        <p:spPr>
          <a:xfrm>
            <a:off x="4545000" y="1592280"/>
            <a:ext cx="13809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Rectangle 18"/>
          <p:cNvSpPr/>
          <p:nvPr/>
        </p:nvSpPr>
        <p:spPr>
          <a:xfrm>
            <a:off x="3159000" y="1592280"/>
            <a:ext cx="138600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12,7.10</a:t>
            </a:r>
            <a:r>
              <a:rPr b="0" lang="fr-FR" sz="1800" strike="noStrike" u="none" baseline="30000">
                <a:solidFill>
                  <a:srgbClr val="ff000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19"/>
          <p:cNvSpPr/>
          <p:nvPr/>
        </p:nvSpPr>
        <p:spPr>
          <a:xfrm>
            <a:off x="1778040" y="1592280"/>
            <a:ext cx="13809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2.10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Rectangle 20"/>
          <p:cNvSpPr/>
          <p:nvPr/>
        </p:nvSpPr>
        <p:spPr>
          <a:xfrm>
            <a:off x="395280" y="1592280"/>
            <a:ext cx="13827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P   (Pa)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21"/>
          <p:cNvSpPr/>
          <p:nvPr/>
        </p:nvSpPr>
        <p:spPr>
          <a:xfrm>
            <a:off x="5925960" y="126828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22"/>
          <p:cNvSpPr/>
          <p:nvPr/>
        </p:nvSpPr>
        <p:spPr>
          <a:xfrm>
            <a:off x="4545000" y="126828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23"/>
          <p:cNvSpPr/>
          <p:nvPr/>
        </p:nvSpPr>
        <p:spPr>
          <a:xfrm>
            <a:off x="3159000" y="1268280"/>
            <a:ext cx="138600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24"/>
          <p:cNvSpPr/>
          <p:nvPr/>
        </p:nvSpPr>
        <p:spPr>
          <a:xfrm>
            <a:off x="1778040" y="126828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25"/>
          <p:cNvSpPr/>
          <p:nvPr/>
        </p:nvSpPr>
        <p:spPr>
          <a:xfrm>
            <a:off x="395280" y="126828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Line 26"/>
          <p:cNvSpPr/>
          <p:nvPr/>
        </p:nvSpPr>
        <p:spPr>
          <a:xfrm>
            <a:off x="395280" y="1268280"/>
            <a:ext cx="691344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Line 27"/>
          <p:cNvSpPr/>
          <p:nvPr/>
        </p:nvSpPr>
        <p:spPr>
          <a:xfrm>
            <a:off x="395280" y="159228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Line 28"/>
          <p:cNvSpPr/>
          <p:nvPr/>
        </p:nvSpPr>
        <p:spPr>
          <a:xfrm>
            <a:off x="395280" y="191772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Line 29"/>
          <p:cNvSpPr/>
          <p:nvPr/>
        </p:nvSpPr>
        <p:spPr>
          <a:xfrm>
            <a:off x="395280" y="224172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Line 30"/>
          <p:cNvSpPr/>
          <p:nvPr/>
        </p:nvSpPr>
        <p:spPr>
          <a:xfrm>
            <a:off x="395280" y="2565360"/>
            <a:ext cx="691344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Line 31"/>
          <p:cNvSpPr/>
          <p:nvPr/>
        </p:nvSpPr>
        <p:spPr>
          <a:xfrm>
            <a:off x="395280" y="1268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Line 32"/>
          <p:cNvSpPr/>
          <p:nvPr/>
        </p:nvSpPr>
        <p:spPr>
          <a:xfrm>
            <a:off x="177804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Line 33"/>
          <p:cNvSpPr/>
          <p:nvPr/>
        </p:nvSpPr>
        <p:spPr>
          <a:xfrm>
            <a:off x="315900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Line 34"/>
          <p:cNvSpPr/>
          <p:nvPr/>
        </p:nvSpPr>
        <p:spPr>
          <a:xfrm>
            <a:off x="454500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Line 35"/>
          <p:cNvSpPr/>
          <p:nvPr/>
        </p:nvSpPr>
        <p:spPr>
          <a:xfrm>
            <a:off x="592596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Line 36"/>
          <p:cNvSpPr/>
          <p:nvPr/>
        </p:nvSpPr>
        <p:spPr>
          <a:xfrm>
            <a:off x="7308720" y="1268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Box 37"/>
          <p:cNvSpPr/>
          <p:nvPr/>
        </p:nvSpPr>
        <p:spPr>
          <a:xfrm>
            <a:off x="324000" y="2852640"/>
            <a:ext cx="7343640" cy="8229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pour la transformation A—B , soit 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.(       )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3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88" name="Object 2"/>
              <p:cNvSpPr txBox="1"/>
              <p:nvPr/>
            </p:nvSpPr>
            <p:spPr>
              <a:xfrm>
                <a:off x="6372360" y="2701800"/>
                <a:ext cx="380880" cy="72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V</m:t>
                        </m:r>
                        <m:r>
                          <m:t xml:space="preserve">A</m:t>
                        </m:r>
                      </m:num>
                      <m:den>
                        <m:r>
                          <m:t xml:space="preserve">V</m:t>
                        </m:r>
                        <m:r>
                          <m:t xml:space="preserve"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88" name="Object 2"/>
              <p:cNvSpPr txBox="1"/>
              <p:nvPr/>
            </p:nvSpPr>
            <p:spPr>
              <a:xfrm>
                <a:off x="6372360" y="2701800"/>
                <a:ext cx="380880" cy="728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789" name="Rectangle 42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45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Rectangle 46"/>
          <p:cNvSpPr/>
          <p:nvPr/>
        </p:nvSpPr>
        <p:spPr>
          <a:xfrm>
            <a:off x="4500720" y="1557360"/>
            <a:ext cx="1385640" cy="3254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12,7.10</a:t>
            </a:r>
            <a:r>
              <a:rPr b="0" lang="fr-FR" sz="1800" strike="noStrike" u="none" baseline="30000">
                <a:solidFill>
                  <a:srgbClr val="ff000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Box 47"/>
          <p:cNvSpPr/>
          <p:nvPr/>
        </p:nvSpPr>
        <p:spPr>
          <a:xfrm>
            <a:off x="395280" y="3284640"/>
            <a:ext cx="75614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B — C est une isobare donc P</a:t>
            </a:r>
            <a:r>
              <a:rPr b="0" lang="fr-FR" sz="1800" strike="noStrike" u="none" baseline="-25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Rectangle 50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52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5" name="Rectangle 54" descr=""/>
          <p:cNvPicPr/>
          <p:nvPr/>
        </p:nvPicPr>
        <p:blipFill>
          <a:blip r:embed="rId2"/>
          <a:stretch/>
        </p:blipFill>
        <p:spPr>
          <a:xfrm>
            <a:off x="298440" y="317520"/>
            <a:ext cx="8388360" cy="97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 Box 55"/>
          <p:cNvSpPr/>
          <p:nvPr/>
        </p:nvSpPr>
        <p:spPr>
          <a:xfrm>
            <a:off x="179280" y="5589720"/>
            <a:ext cx="792000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Appliquer l’équation d’état des G.P. !  T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57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98" name="Object 3"/>
              <p:cNvSpPr txBox="1"/>
              <p:nvPr/>
            </p:nvSpPr>
            <p:spPr>
              <a:xfrm>
                <a:off x="5580000" y="5445000"/>
                <a:ext cx="685800" cy="71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P</m:t>
                        </m:r>
                        <m:r>
                          <m:t xml:space="preserve">B</m:t>
                        </m:r>
                        <m:r>
                          <m:rPr>
                            <m:lit/>
                            <m:nor/>
                          </m:rPr>
                          <m:t xml:space="preserve">.</m:t>
                        </m:r>
                        <m:r>
                          <m:t xml:space="preserve">V</m:t>
                        </m:r>
                        <m:r>
                          <m:t xml:space="preserve">B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nR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98" name="Object 3"/>
              <p:cNvSpPr txBox="1"/>
              <p:nvPr/>
            </p:nvSpPr>
            <p:spPr>
              <a:xfrm>
                <a:off x="5580000" y="5445000"/>
                <a:ext cx="685800" cy="714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788" dur="indefinite" restart="never" nodeType="tmRoot">
          <p:childTnLst>
            <p:seq>
              <p:cTn id="789" dur="indefinite" nodeType="mainSeq">
                <p:childTnLst>
                  <p:par>
                    <p:cTn id="790" nodeType="clickEffect" fill="hold">
                      <p:stCondLst>
                        <p:cond delay="indefinite"/>
                      </p:stCondLst>
                      <p:childTnLst>
                        <p:par>
                          <p:cTn id="7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94" dur="1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5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97"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nodeType="clickEffect" fill="hold">
                      <p:stCondLst>
                        <p:cond delay="indefinite"/>
                      </p:stCondLst>
                      <p:childTnLst>
                        <p:par>
                          <p:cTn id="7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2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3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04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nodeType="clickEffect" fill="hold">
                      <p:stCondLst>
                        <p:cond delay="indefinite"/>
                      </p:stCondLst>
                      <p:childTnLst>
                        <p:par>
                          <p:cTn id="8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9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0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11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nodeType="clickEffect" fill="hold">
                      <p:stCondLst>
                        <p:cond delay="indefinite"/>
                      </p:stCondLst>
                      <p:childTnLst>
                        <p:par>
                          <p:cTn id="8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16" dur="10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nodeType="clickEffect" fill="hold">
                      <p:stCondLst>
                        <p:cond delay="indefinite"/>
                      </p:stCondLst>
                      <p:childTnLst>
                        <p:par>
                          <p:cTn id="8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1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2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23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6" dur="5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7" dur="5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28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nodeType="clickEffect" fill="hold">
                      <p:stCondLst>
                        <p:cond delay="indefinite"/>
                      </p:stCondLst>
                      <p:childTnLst>
                        <p:par>
                          <p:cTn id="8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1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3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4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35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Rectangle 4" descr=""/>
          <p:cNvPicPr/>
          <p:nvPr/>
        </p:nvPicPr>
        <p:blipFill>
          <a:blip r:embed="rId1"/>
          <a:stretch/>
        </p:blipFill>
        <p:spPr>
          <a:xfrm>
            <a:off x="262080" y="304920"/>
            <a:ext cx="8424720" cy="111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Rectangle 5"/>
          <p:cNvSpPr/>
          <p:nvPr/>
        </p:nvSpPr>
        <p:spPr>
          <a:xfrm>
            <a:off x="5867280" y="2205000"/>
            <a:ext cx="1381320" cy="252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455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Rectangle 6"/>
          <p:cNvSpPr/>
          <p:nvPr/>
        </p:nvSpPr>
        <p:spPr>
          <a:xfrm>
            <a:off x="4545000" y="2241720"/>
            <a:ext cx="13809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700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7"/>
          <p:cNvSpPr/>
          <p:nvPr/>
        </p:nvSpPr>
        <p:spPr>
          <a:xfrm>
            <a:off x="3159000" y="2241720"/>
            <a:ext cx="138600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509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Rectangle 8"/>
          <p:cNvSpPr/>
          <p:nvPr/>
        </p:nvSpPr>
        <p:spPr>
          <a:xfrm>
            <a:off x="1778040" y="2241720"/>
            <a:ext cx="13809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9"/>
          <p:cNvSpPr/>
          <p:nvPr/>
        </p:nvSpPr>
        <p:spPr>
          <a:xfrm>
            <a:off x="395280" y="2241720"/>
            <a:ext cx="1382760" cy="3236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T   (°K)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Rectangle 10"/>
          <p:cNvSpPr/>
          <p:nvPr/>
        </p:nvSpPr>
        <p:spPr>
          <a:xfrm>
            <a:off x="5940360" y="1916280"/>
            <a:ext cx="1382760" cy="32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11"/>
          <p:cNvSpPr/>
          <p:nvPr/>
        </p:nvSpPr>
        <p:spPr>
          <a:xfrm>
            <a:off x="4545000" y="191772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11.10</a:t>
            </a:r>
            <a:r>
              <a:rPr b="0" lang="fr-FR" sz="1800" strike="noStrike" u="none" baseline="30000">
                <a:solidFill>
                  <a:srgbClr val="ff000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12"/>
          <p:cNvSpPr/>
          <p:nvPr/>
        </p:nvSpPr>
        <p:spPr>
          <a:xfrm>
            <a:off x="3132000" y="1916280"/>
            <a:ext cx="1386000" cy="32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8.10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13"/>
          <p:cNvSpPr/>
          <p:nvPr/>
        </p:nvSpPr>
        <p:spPr>
          <a:xfrm>
            <a:off x="1778040" y="191772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30.10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-3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Rectangle 14"/>
          <p:cNvSpPr/>
          <p:nvPr/>
        </p:nvSpPr>
        <p:spPr>
          <a:xfrm>
            <a:off x="395280" y="191772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V   (m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3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15"/>
          <p:cNvSpPr/>
          <p:nvPr/>
        </p:nvSpPr>
        <p:spPr>
          <a:xfrm>
            <a:off x="5925960" y="1592280"/>
            <a:ext cx="13827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3,1.10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Rectangle 16"/>
          <p:cNvSpPr/>
          <p:nvPr/>
        </p:nvSpPr>
        <p:spPr>
          <a:xfrm>
            <a:off x="4545000" y="1592280"/>
            <a:ext cx="13809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Rectangle 17"/>
          <p:cNvSpPr/>
          <p:nvPr/>
        </p:nvSpPr>
        <p:spPr>
          <a:xfrm>
            <a:off x="3159000" y="1592280"/>
            <a:ext cx="138600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12,7.10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Rectangle 18"/>
          <p:cNvSpPr/>
          <p:nvPr/>
        </p:nvSpPr>
        <p:spPr>
          <a:xfrm>
            <a:off x="1778040" y="1592280"/>
            <a:ext cx="13809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2.10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19"/>
          <p:cNvSpPr/>
          <p:nvPr/>
        </p:nvSpPr>
        <p:spPr>
          <a:xfrm>
            <a:off x="395280" y="1592280"/>
            <a:ext cx="1382760" cy="325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P   (Pa)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Rectangle 20"/>
          <p:cNvSpPr/>
          <p:nvPr/>
        </p:nvSpPr>
        <p:spPr>
          <a:xfrm>
            <a:off x="5925960" y="126828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21"/>
          <p:cNvSpPr/>
          <p:nvPr/>
        </p:nvSpPr>
        <p:spPr>
          <a:xfrm>
            <a:off x="4545000" y="126828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C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Rectangle 22"/>
          <p:cNvSpPr/>
          <p:nvPr/>
        </p:nvSpPr>
        <p:spPr>
          <a:xfrm>
            <a:off x="3159000" y="1268280"/>
            <a:ext cx="138600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23"/>
          <p:cNvSpPr/>
          <p:nvPr/>
        </p:nvSpPr>
        <p:spPr>
          <a:xfrm>
            <a:off x="1778040" y="1268280"/>
            <a:ext cx="13809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Etat 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Rectangle 24"/>
          <p:cNvSpPr/>
          <p:nvPr/>
        </p:nvSpPr>
        <p:spPr>
          <a:xfrm>
            <a:off x="395280" y="1268280"/>
            <a:ext cx="1382760" cy="324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Line 25"/>
          <p:cNvSpPr/>
          <p:nvPr/>
        </p:nvSpPr>
        <p:spPr>
          <a:xfrm>
            <a:off x="395280" y="1268280"/>
            <a:ext cx="691344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Line 26"/>
          <p:cNvSpPr/>
          <p:nvPr/>
        </p:nvSpPr>
        <p:spPr>
          <a:xfrm>
            <a:off x="395280" y="159228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Line 27"/>
          <p:cNvSpPr/>
          <p:nvPr/>
        </p:nvSpPr>
        <p:spPr>
          <a:xfrm>
            <a:off x="395280" y="191772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Line 28"/>
          <p:cNvSpPr/>
          <p:nvPr/>
        </p:nvSpPr>
        <p:spPr>
          <a:xfrm>
            <a:off x="395280" y="2241720"/>
            <a:ext cx="6913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Line 29"/>
          <p:cNvSpPr/>
          <p:nvPr/>
        </p:nvSpPr>
        <p:spPr>
          <a:xfrm>
            <a:off x="395280" y="2565360"/>
            <a:ext cx="6913440" cy="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Line 30"/>
          <p:cNvSpPr/>
          <p:nvPr/>
        </p:nvSpPr>
        <p:spPr>
          <a:xfrm>
            <a:off x="395280" y="1268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Line 31"/>
          <p:cNvSpPr/>
          <p:nvPr/>
        </p:nvSpPr>
        <p:spPr>
          <a:xfrm>
            <a:off x="177804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Line 32"/>
          <p:cNvSpPr/>
          <p:nvPr/>
        </p:nvSpPr>
        <p:spPr>
          <a:xfrm>
            <a:off x="315900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Line 33"/>
          <p:cNvSpPr/>
          <p:nvPr/>
        </p:nvSpPr>
        <p:spPr>
          <a:xfrm>
            <a:off x="454500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Line 34"/>
          <p:cNvSpPr/>
          <p:nvPr/>
        </p:nvSpPr>
        <p:spPr>
          <a:xfrm>
            <a:off x="5925960" y="1268280"/>
            <a:ext cx="0" cy="1297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Line 35"/>
          <p:cNvSpPr/>
          <p:nvPr/>
        </p:nvSpPr>
        <p:spPr>
          <a:xfrm>
            <a:off x="7308720" y="1268280"/>
            <a:ext cx="0" cy="1297080"/>
          </a:xfrm>
          <a:prstGeom prst="line">
            <a:avLst/>
          </a:prstGeom>
          <a:ln cap="sq"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Rectangle 36"/>
          <p:cNvSpPr/>
          <p:nvPr/>
        </p:nvSpPr>
        <p:spPr>
          <a:xfrm>
            <a:off x="4500720" y="1557360"/>
            <a:ext cx="1385640" cy="3254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</a:rPr>
              <a:t>12,7.10</a:t>
            </a:r>
            <a:r>
              <a:rPr b="0" lang="fr-FR" sz="1800" strike="noStrike" u="none" baseline="30000">
                <a:solidFill>
                  <a:srgbClr val="4e3b30"/>
                </a:solidFill>
                <a:effectLst/>
                <a:uFillTx/>
                <a:latin typeface="Arial"/>
              </a:rPr>
              <a:t>+5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Box 37"/>
          <p:cNvSpPr/>
          <p:nvPr/>
        </p:nvSpPr>
        <p:spPr>
          <a:xfrm>
            <a:off x="395280" y="3284640"/>
            <a:ext cx="7561440" cy="13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Pour l’ état C , on connaît 2 variables sur 3. Donc, on est ramené au cas de la diapo précédente : application de la loi des G.P.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=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33" name="Object 2"/>
              <p:cNvSpPr txBox="1"/>
              <p:nvPr/>
            </p:nvSpPr>
            <p:spPr>
              <a:xfrm>
                <a:off x="1042920" y="4076640"/>
                <a:ext cx="698400" cy="71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  <m:r>
                          <m:t xml:space="preserve">C</m:t>
                        </m:r>
                      </m:num>
                      <m:den>
                        <m:r>
                          <m:t xml:space="preserve">P</m:t>
                        </m:r>
                        <m:r>
                          <m:t xml:space="preserve">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33" name="Object 2"/>
              <p:cNvSpPr txBox="1"/>
              <p:nvPr/>
            </p:nvSpPr>
            <p:spPr>
              <a:xfrm>
                <a:off x="1042920" y="4076640"/>
                <a:ext cx="698400" cy="711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836" dur="indefinite" restart="never" nodeType="tmRoot">
          <p:childTnLst>
            <p:seq>
              <p:cTn id="837" dur="indefinite" nodeType="mainSeq">
                <p:childTnLst>
                  <p:par>
                    <p:cTn id="838" nodeType="clickEffect" fill="hold">
                      <p:stCondLst>
                        <p:cond delay="indefinite"/>
                      </p:stCondLst>
                      <p:childTnLst>
                        <p:par>
                          <p:cTn id="8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2" dur="5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3" dur="5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44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7" dur="5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8" dur="5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49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0" nodeType="clickEffect" fill="hold">
                      <p:stCondLst>
                        <p:cond delay="indefinite"/>
                      </p:stCondLst>
                      <p:childTnLst>
                        <p:par>
                          <p:cTn id="8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2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4" dur="5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5" dur="5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56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Text Box 2"/>
          <p:cNvSpPr/>
          <p:nvPr/>
        </p:nvSpPr>
        <p:spPr>
          <a:xfrm>
            <a:off x="2916360" y="1125360"/>
            <a:ext cx="504036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Maintenant, les points du cycles sont définis.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Il y a 4 transformations. On va calculer les chaleurs mises en jeu, pour chacune d’elles..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5" name="Group 3"/>
          <p:cNvGrpSpPr/>
          <p:nvPr/>
        </p:nvGrpSpPr>
        <p:grpSpPr>
          <a:xfrm>
            <a:off x="0" y="907920"/>
            <a:ext cx="4648320" cy="3095640"/>
            <a:chOff x="0" y="907920"/>
            <a:chExt cx="4648320" cy="3095640"/>
          </a:xfrm>
        </p:grpSpPr>
        <p:sp>
          <p:nvSpPr>
            <p:cNvPr id="836" name="AutoShape 4"/>
            <p:cNvSpPr/>
            <p:nvPr/>
          </p:nvSpPr>
          <p:spPr>
            <a:xfrm>
              <a:off x="0" y="907920"/>
              <a:ext cx="4393080" cy="309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Line 5"/>
            <p:cNvSpPr/>
            <p:nvPr/>
          </p:nvSpPr>
          <p:spPr>
            <a:xfrm>
              <a:off x="456840" y="3646080"/>
              <a:ext cx="34455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Line 6"/>
            <p:cNvSpPr/>
            <p:nvPr/>
          </p:nvSpPr>
          <p:spPr>
            <a:xfrm flipV="1">
              <a:off x="449640" y="1012680"/>
              <a:ext cx="0" cy="26258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Text Box 7"/>
            <p:cNvSpPr/>
            <p:nvPr/>
          </p:nvSpPr>
          <p:spPr>
            <a:xfrm>
              <a:off x="514440" y="907920"/>
              <a:ext cx="60336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Text Box 8"/>
            <p:cNvSpPr/>
            <p:nvPr/>
          </p:nvSpPr>
          <p:spPr>
            <a:xfrm>
              <a:off x="3448080" y="3409920"/>
              <a:ext cx="120024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Line 9"/>
            <p:cNvSpPr/>
            <p:nvPr/>
          </p:nvSpPr>
          <p:spPr>
            <a:xfrm>
              <a:off x="1125720" y="1418760"/>
              <a:ext cx="81288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Oval 10"/>
            <p:cNvSpPr/>
            <p:nvPr/>
          </p:nvSpPr>
          <p:spPr>
            <a:xfrm>
              <a:off x="1085760" y="1374120"/>
              <a:ext cx="75960" cy="7200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Oval 11"/>
            <p:cNvSpPr/>
            <p:nvPr/>
          </p:nvSpPr>
          <p:spPr>
            <a:xfrm>
              <a:off x="1929960" y="1383120"/>
              <a:ext cx="76680" cy="709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Oval 12"/>
            <p:cNvSpPr/>
            <p:nvPr/>
          </p:nvSpPr>
          <p:spPr>
            <a:xfrm>
              <a:off x="2927160" y="2622960"/>
              <a:ext cx="78120" cy="709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Oval 13"/>
            <p:cNvSpPr/>
            <p:nvPr/>
          </p:nvSpPr>
          <p:spPr>
            <a:xfrm>
              <a:off x="2935800" y="3118680"/>
              <a:ext cx="77400" cy="7200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Text Box 14"/>
            <p:cNvSpPr/>
            <p:nvPr/>
          </p:nvSpPr>
          <p:spPr>
            <a:xfrm>
              <a:off x="1005120" y="1141560"/>
              <a:ext cx="28224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Text Box 15"/>
            <p:cNvSpPr/>
            <p:nvPr/>
          </p:nvSpPr>
          <p:spPr>
            <a:xfrm>
              <a:off x="1825920" y="1149480"/>
              <a:ext cx="28080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Line 16"/>
            <p:cNvSpPr/>
            <p:nvPr/>
          </p:nvSpPr>
          <p:spPr>
            <a:xfrm flipH="1">
              <a:off x="449640" y="1418760"/>
              <a:ext cx="7178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Line 17"/>
            <p:cNvSpPr/>
            <p:nvPr/>
          </p:nvSpPr>
          <p:spPr>
            <a:xfrm>
              <a:off x="2968560" y="2646000"/>
              <a:ext cx="0" cy="5029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Text Box 18"/>
            <p:cNvSpPr/>
            <p:nvPr/>
          </p:nvSpPr>
          <p:spPr>
            <a:xfrm>
              <a:off x="3065400" y="2503800"/>
              <a:ext cx="28044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Text Box 19"/>
            <p:cNvSpPr/>
            <p:nvPr/>
          </p:nvSpPr>
          <p:spPr>
            <a:xfrm>
              <a:off x="3096000" y="3029400"/>
              <a:ext cx="28224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Line 20"/>
            <p:cNvSpPr/>
            <p:nvPr/>
          </p:nvSpPr>
          <p:spPr>
            <a:xfrm flipH="1">
              <a:off x="449280" y="3149280"/>
              <a:ext cx="251892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Line 21"/>
            <p:cNvSpPr/>
            <p:nvPr/>
          </p:nvSpPr>
          <p:spPr>
            <a:xfrm flipH="1">
              <a:off x="449280" y="2652480"/>
              <a:ext cx="251892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Line 22"/>
            <p:cNvSpPr/>
            <p:nvPr/>
          </p:nvSpPr>
          <p:spPr>
            <a:xfrm>
              <a:off x="2968560" y="2721240"/>
              <a:ext cx="7920" cy="92448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Line 23"/>
            <p:cNvSpPr/>
            <p:nvPr/>
          </p:nvSpPr>
          <p:spPr>
            <a:xfrm>
              <a:off x="1969920" y="1418760"/>
              <a:ext cx="0" cy="22197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Line 24"/>
            <p:cNvSpPr/>
            <p:nvPr/>
          </p:nvSpPr>
          <p:spPr>
            <a:xfrm>
              <a:off x="1117800" y="1412640"/>
              <a:ext cx="0" cy="223308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Text Box 25"/>
            <p:cNvSpPr/>
            <p:nvPr/>
          </p:nvSpPr>
          <p:spPr>
            <a:xfrm>
              <a:off x="1005120" y="3676320"/>
              <a:ext cx="282240" cy="25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Text Box 26"/>
            <p:cNvSpPr/>
            <p:nvPr/>
          </p:nvSpPr>
          <p:spPr>
            <a:xfrm>
              <a:off x="2808720" y="3642840"/>
              <a:ext cx="48060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Text Box 27"/>
            <p:cNvSpPr/>
            <p:nvPr/>
          </p:nvSpPr>
          <p:spPr>
            <a:xfrm>
              <a:off x="144720" y="3022920"/>
              <a:ext cx="280800" cy="25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0" name="Text Box 28"/>
            <p:cNvSpPr/>
            <p:nvPr/>
          </p:nvSpPr>
          <p:spPr>
            <a:xfrm>
              <a:off x="0" y="2492640"/>
              <a:ext cx="42552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Freeform 29"/>
            <p:cNvSpPr/>
            <p:nvPr/>
          </p:nvSpPr>
          <p:spPr>
            <a:xfrm>
              <a:off x="1969920" y="1412640"/>
              <a:ext cx="998280" cy="1239840"/>
            </a:xfrm>
            <a:custGeom>
              <a:avLst/>
              <a:gdLst>
                <a:gd name="textAreaLeft" fmla="*/ 0 w 998280"/>
                <a:gd name="textAreaRight" fmla="*/ 998640 w 998280"/>
                <a:gd name="textAreaTop" fmla="*/ 0 h 1239840"/>
                <a:gd name="textAreaBottom" fmla="*/ 1240200 h 1239840"/>
                <a:gd name="GluePoint1X" fmla="*/ 0 w 1860"/>
                <a:gd name="GluePoint1Y" fmla="*/ 0 h 2475"/>
                <a:gd name="GluePoint2X" fmla="*/ 1 w 1860"/>
                <a:gd name="GluePoint2Y" fmla="*/ 1 h 2475"/>
                <a:gd name="GluePoint3X" fmla="*/ 1 w 1860"/>
                <a:gd name="GluePoint3Y" fmla="*/ 2 h 2475"/>
                <a:gd name="GluePoint4X" fmla="*/ 3 w 1860"/>
                <a:gd name="GluePoint4Y" fmla="*/ 3 h 2475"/>
                <a:gd name="GluePoint5X" fmla="*/ 7 w 1860"/>
                <a:gd name="GluePoint5Y" fmla="*/ 4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Freeform 30"/>
            <p:cNvSpPr/>
            <p:nvPr/>
          </p:nvSpPr>
          <p:spPr>
            <a:xfrm>
              <a:off x="1109520" y="1404720"/>
              <a:ext cx="1858680" cy="1736280"/>
            </a:xfrm>
            <a:custGeom>
              <a:avLst/>
              <a:gdLst>
                <a:gd name="textAreaLeft" fmla="*/ 0 w 1858680"/>
                <a:gd name="textAreaRight" fmla="*/ 1859040 w 1858680"/>
                <a:gd name="textAreaTop" fmla="*/ 0 h 1736280"/>
                <a:gd name="textAreaBottom" fmla="*/ 1736640 h 1736280"/>
                <a:gd name="GluePoint1X" fmla="*/ 0 w 3465"/>
                <a:gd name="GluePoint1Y" fmla="*/ 0 h 3465"/>
                <a:gd name="GluePoint2X" fmla="*/ 1 w 3465"/>
                <a:gd name="GluePoint2Y" fmla="*/ 3 h 3465"/>
                <a:gd name="GluePoint3X" fmla="*/ 5 w 3465"/>
                <a:gd name="GluePoint3Y" fmla="*/ 4 h 3465"/>
                <a:gd name="GluePoint4X" fmla="*/ 9 w 3465"/>
                <a:gd name="GluePoint4Y" fmla="*/ 5 h 3465"/>
                <a:gd name="GluePoint5X" fmla="*/ 13 w 3465"/>
                <a:gd name="GluePoint5Y" fmla="*/ 5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Line 31"/>
            <p:cNvSpPr/>
            <p:nvPr/>
          </p:nvSpPr>
          <p:spPr>
            <a:xfrm flipH="1" flipV="1">
              <a:off x="1487160" y="2396520"/>
              <a:ext cx="33480" cy="604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Line 32"/>
            <p:cNvSpPr/>
            <p:nvPr/>
          </p:nvSpPr>
          <p:spPr>
            <a:xfrm>
              <a:off x="1584360" y="1418760"/>
              <a:ext cx="11268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Line 33"/>
            <p:cNvSpPr/>
            <p:nvPr/>
          </p:nvSpPr>
          <p:spPr>
            <a:xfrm>
              <a:off x="2324520" y="2231640"/>
              <a:ext cx="23760" cy="4356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Text Box 34"/>
            <p:cNvSpPr/>
            <p:nvPr/>
          </p:nvSpPr>
          <p:spPr>
            <a:xfrm>
              <a:off x="0" y="1280520"/>
              <a:ext cx="539280" cy="28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12,7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Text Box 35"/>
            <p:cNvSpPr/>
            <p:nvPr/>
          </p:nvSpPr>
          <p:spPr>
            <a:xfrm>
              <a:off x="1796400" y="3667680"/>
              <a:ext cx="42624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8" name="Text Box 37"/>
          <p:cNvSpPr/>
          <p:nvPr/>
        </p:nvSpPr>
        <p:spPr>
          <a:xfrm>
            <a:off x="4067280" y="2997360"/>
            <a:ext cx="460836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Les transformations A—B et C—D sont des adiabatiques, donc Q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AB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= Q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CD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= 0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Box 38"/>
          <p:cNvSpPr/>
          <p:nvPr/>
        </p:nvSpPr>
        <p:spPr>
          <a:xfrm>
            <a:off x="250920" y="4149720"/>
            <a:ext cx="60483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Transfo BC , isobare : Q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= nC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( T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– T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) =13,34 kJ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Box 39"/>
          <p:cNvSpPr/>
          <p:nvPr/>
        </p:nvSpPr>
        <p:spPr>
          <a:xfrm>
            <a:off x="4211640" y="3716280"/>
            <a:ext cx="493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Calcul de la chaleur mise en jeu pour B—C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Box 40"/>
          <p:cNvSpPr/>
          <p:nvPr/>
        </p:nvSpPr>
        <p:spPr>
          <a:xfrm>
            <a:off x="395280" y="4581360"/>
            <a:ext cx="5619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Calcul de la chaleur mise en jeu pour D—A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Box 41"/>
          <p:cNvSpPr/>
          <p:nvPr/>
        </p:nvSpPr>
        <p:spPr>
          <a:xfrm>
            <a:off x="0" y="5013360"/>
            <a:ext cx="9144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Transfo DA , </a:t>
            </a:r>
            <a:r>
              <a:rPr b="0" lang="fr-FR" sz="17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isochore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: Q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DA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= nC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( T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– T</a:t>
            </a:r>
            <a:r>
              <a:rPr b="0" lang="fr-FR" sz="18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fr-FR" sz="18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) =- 7,73 kJ , 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avec C</a:t>
            </a:r>
            <a:r>
              <a:rPr b="1" lang="fr-FR" sz="16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= C</a:t>
            </a:r>
            <a:r>
              <a:rPr b="1" lang="fr-FR" sz="1600" strike="noStrike" u="none" baseline="-25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 =20,8 j.mol</a:t>
            </a:r>
            <a:r>
              <a:rPr b="1" lang="fr-FR" sz="1600" strike="noStrike" u="none" baseline="30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-1</a:t>
            </a:r>
            <a:r>
              <a:rPr b="1" lang="fr-FR" sz="1600" strike="noStrike" u="none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.K</a:t>
            </a:r>
            <a:r>
              <a:rPr b="1" lang="fr-FR" sz="1600" strike="noStrike" u="none" baseline="30000">
                <a:solidFill>
                  <a:srgbClr val="0066ff"/>
                </a:solidFill>
                <a:effectLst/>
                <a:uFillTx/>
                <a:latin typeface="Arial"/>
                <a:ea typeface="Arial"/>
              </a:rPr>
              <a:t>-1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3" name="Rectangle 44" descr=""/>
          <p:cNvPicPr/>
          <p:nvPr/>
        </p:nvPicPr>
        <p:blipFill>
          <a:blip r:embed="rId1"/>
          <a:stretch/>
        </p:blipFill>
        <p:spPr>
          <a:xfrm>
            <a:off x="480960" y="231840"/>
            <a:ext cx="8358120" cy="85392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857" dur="indefinite" restart="never" nodeType="tmRoot">
          <p:childTnLst>
            <p:seq>
              <p:cTn id="858" dur="indefinite" nodeType="mainSeq">
                <p:childTnLst>
                  <p:par>
                    <p:cTn id="859" nodeType="clickEffect" fill="hold">
                      <p:stCondLst>
                        <p:cond delay="indefinite"/>
                      </p:stCondLst>
                      <p:childTnLst>
                        <p:par>
                          <p:cTn id="8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1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3" dur="1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4" dur="1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65" dur="1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nodeType="clickEffect" fill="hold">
                      <p:stCondLst>
                        <p:cond delay="indefinite"/>
                      </p:stCondLst>
                      <p:childTnLst>
                        <p:par>
                          <p:cTn id="8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8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870" dur="20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nodeType="clickEffect" fill="hold">
                      <p:stCondLst>
                        <p:cond delay="indefinite"/>
                      </p:stCondLst>
                      <p:childTnLst>
                        <p:par>
                          <p:cTn id="8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3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5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6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77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nodeType="clickEffect" fill="hold">
                      <p:stCondLst>
                        <p:cond delay="indefinite"/>
                      </p:stCondLst>
                      <p:childTnLst>
                        <p:par>
                          <p:cTn id="8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882" dur="20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nodeType="clickEffect" fill="hold">
                      <p:stCondLst>
                        <p:cond delay="indefinite"/>
                      </p:stCondLst>
                      <p:childTnLst>
                        <p:par>
                          <p:cTn id="8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7" dur="5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8" dur="5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89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Rectangle 4" descr=""/>
          <p:cNvPicPr/>
          <p:nvPr/>
        </p:nvPicPr>
        <p:blipFill>
          <a:blip r:embed="rId1"/>
          <a:stretch/>
        </p:blipFill>
        <p:spPr>
          <a:xfrm>
            <a:off x="328680" y="365040"/>
            <a:ext cx="8358120" cy="84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Text Box 5"/>
          <p:cNvSpPr/>
          <p:nvPr/>
        </p:nvSpPr>
        <p:spPr>
          <a:xfrm>
            <a:off x="250920" y="1052640"/>
            <a:ext cx="8064360" cy="12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Bilan chaleur pour le cycle 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      ∑Q = 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AB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+ 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+ 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CD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+ Q</a:t>
            </a:r>
            <a:r>
              <a:rPr b="0" lang="fr-FR" sz="1800" strike="noStrike" u="none" baseline="-25000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DA </a:t>
            </a: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4e3b30"/>
                </a:solidFill>
                <a:effectLst/>
                <a:uFillTx/>
                <a:latin typeface="Arial"/>
                <a:ea typeface="Arial"/>
              </a:rPr>
              <a:t>             = 0  + 13,34  + 0 -  7,73  =  5,61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Rectangle 12"/>
          <p:cNvSpPr/>
          <p:nvPr/>
        </p:nvSpPr>
        <p:spPr>
          <a:xfrm>
            <a:off x="0" y="32576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Box 14"/>
          <p:cNvSpPr/>
          <p:nvPr/>
        </p:nvSpPr>
        <p:spPr>
          <a:xfrm>
            <a:off x="250920" y="3068640"/>
            <a:ext cx="849636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La variation d’énergie interne du système (gaz +carburant ici), notée U est une fonction d’état, qui est la somme  du bilan chaleur et du bilan travail lors des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transformations faites par le système. Soit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Rectangle 18"/>
          <p:cNvSpPr/>
          <p:nvPr/>
        </p:nvSpPr>
        <p:spPr>
          <a:xfrm>
            <a:off x="0" y="32576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Box 20"/>
          <p:cNvSpPr/>
          <p:nvPr/>
        </p:nvSpPr>
        <p:spPr>
          <a:xfrm>
            <a:off x="395280" y="4292640"/>
            <a:ext cx="3166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Et lorsqu’il s’agit d’un cycle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Box 22"/>
          <p:cNvSpPr/>
          <p:nvPr/>
        </p:nvSpPr>
        <p:spPr>
          <a:xfrm>
            <a:off x="3564000" y="4149720"/>
            <a:ext cx="460836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∆U = U</a:t>
            </a:r>
            <a:r>
              <a:rPr b="0" lang="fr-FR" sz="1800" strike="noStrike" u="none" baseline="-25000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final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– U</a:t>
            </a:r>
            <a:r>
              <a:rPr b="0" lang="fr-FR" sz="1800" strike="noStrike" u="none" baseline="-25000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initial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= O car l’état final est identique à l ’état initial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32"/>
          <p:cNvSpPr/>
          <p:nvPr/>
        </p:nvSpPr>
        <p:spPr>
          <a:xfrm>
            <a:off x="4868280" y="3717000"/>
            <a:ext cx="1662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∆U = ∑Q +∑W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Box 33"/>
          <p:cNvSpPr/>
          <p:nvPr/>
        </p:nvSpPr>
        <p:spPr>
          <a:xfrm>
            <a:off x="250920" y="5300640"/>
            <a:ext cx="75610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                                   = 0 ici donc </a:t>
            </a:r>
            <a:r>
              <a:rPr b="1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∑W = -∑Q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= </a:t>
            </a:r>
            <a:r>
              <a:rPr b="1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-5,61 kJ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Le bilan travail est négatif, c’est bien un moteur 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Rectangle 34"/>
          <p:cNvSpPr/>
          <p:nvPr/>
        </p:nvSpPr>
        <p:spPr>
          <a:xfrm>
            <a:off x="1051920" y="5301360"/>
            <a:ext cx="1662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∆U = ∑Q +∑W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90" dur="indefinite" restart="never" nodeType="tmRoot">
          <p:childTnLst>
            <p:seq>
              <p:cTn id="891" dur="indefinite" nodeType="mainSeq">
                <p:childTnLst>
                  <p:par>
                    <p:cTn id="892" nodeType="clickEffect" fill="hold">
                      <p:stCondLst>
                        <p:cond delay="indefinite"/>
                      </p:stCondLst>
                      <p:childTnLst>
                        <p:par>
                          <p:cTn id="8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4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96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7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98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1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2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03"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4" nodeType="clickEffect" fill="hold">
                      <p:stCondLst>
                        <p:cond delay="indefinite"/>
                      </p:stCondLst>
                      <p:childTnLst>
                        <p:par>
                          <p:cTn id="9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08"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9" nodeType="clickEffect" fill="hold">
                      <p:stCondLst>
                        <p:cond delay="indefinite"/>
                      </p:stCondLst>
                      <p:childTnLst>
                        <p:par>
                          <p:cTn id="9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1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13" dur="50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4" dur="50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15"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6" nodeType="clickEffect" fill="hold">
                      <p:stCondLst>
                        <p:cond delay="indefinite"/>
                      </p:stCondLst>
                      <p:childTnLst>
                        <p:par>
                          <p:cTn id="9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0" dur="10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1" dur="10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22"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5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6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2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Rectangle 4" descr=""/>
          <p:cNvPicPr/>
          <p:nvPr/>
        </p:nvPicPr>
        <p:blipFill>
          <a:blip r:embed="rId1"/>
          <a:stretch/>
        </p:blipFill>
        <p:spPr>
          <a:xfrm>
            <a:off x="328680" y="365040"/>
            <a:ext cx="8358120" cy="84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7" name="Text Box 5"/>
          <p:cNvSpPr/>
          <p:nvPr/>
        </p:nvSpPr>
        <p:spPr>
          <a:xfrm>
            <a:off x="539640" y="1557360"/>
            <a:ext cx="7861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Calculez le travail mis en jeu pour les deux transformations adiabatiques 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Box 6"/>
          <p:cNvSpPr/>
          <p:nvPr/>
        </p:nvSpPr>
        <p:spPr>
          <a:xfrm>
            <a:off x="395280" y="2205000"/>
            <a:ext cx="5472000" cy="16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Pour A—B :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                       = 10,4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Pour C—D :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                        = -12,17 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Rectangle 8"/>
          <p:cNvSpPr/>
          <p:nvPr/>
        </p:nvSpPr>
        <p:spPr>
          <a:xfrm>
            <a:off x="0" y="304308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90" name="Object 2"/>
              <p:cNvSpPr txBox="1"/>
              <p:nvPr/>
            </p:nvSpPr>
            <p:spPr>
              <a:xfrm>
                <a:off x="2340000" y="2023920"/>
                <a:ext cx="1485720" cy="771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P</m:t>
                        </m:r>
                        <m:r>
                          <m:t xml:space="preserve">B</m:t>
                        </m:r>
                        <m:r>
                          <m:t xml:space="preserve">V</m:t>
                        </m:r>
                        <m:r>
                          <m:t xml:space="preserve">B</m:t>
                        </m:r>
                        <m:r>
                          <m:t xml:space="preserve">−</m:t>
                        </m:r>
                        <m:r>
                          <m:t xml:space="preserve">P</m:t>
                        </m:r>
                        <m:r>
                          <m:t xml:space="preserve">A</m:t>
                        </m:r>
                        <m:r>
                          <m:t xml:space="preserve">V</m:t>
                        </m:r>
                        <m:r>
                          <m:t xml:space="preserve">A</m:t>
                        </m:r>
                      </m:num>
                      <m:den>
                        <m:r>
                          <m:t xml:space="preserve">γ</m:t>
                        </m:r>
                        <m:r>
                          <m:t xml:space="preserve">−</m:t>
                        </m:r>
                        <m:r>
                          <m:t xml:space="preserve">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90" name="Object 2"/>
              <p:cNvSpPr txBox="1"/>
              <p:nvPr/>
            </p:nvSpPr>
            <p:spPr>
              <a:xfrm>
                <a:off x="2340000" y="2023920"/>
                <a:ext cx="1485720" cy="771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891" name="Rectangle 11"/>
          <p:cNvSpPr/>
          <p:nvPr/>
        </p:nvSpPr>
        <p:spPr>
          <a:xfrm>
            <a:off x="0" y="304308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92" name="Object 3"/>
              <p:cNvSpPr txBox="1"/>
              <p:nvPr/>
            </p:nvSpPr>
            <p:spPr>
              <a:xfrm>
                <a:off x="2411280" y="2840040"/>
                <a:ext cx="1486080" cy="77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P</m:t>
                        </m:r>
                        <m:r>
                          <m:t xml:space="preserve">D</m:t>
                        </m:r>
                        <m:r>
                          <m:t xml:space="preserve">V</m:t>
                        </m:r>
                        <m:r>
                          <m:t xml:space="preserve">D</m:t>
                        </m:r>
                        <m:r>
                          <m:t xml:space="preserve">−</m:t>
                        </m:r>
                        <m:r>
                          <m:t xml:space="preserve">P</m:t>
                        </m:r>
                        <m:r>
                          <m:t xml:space="preserve">C</m:t>
                        </m:r>
                        <m:r>
                          <m:t xml:space="preserve">V</m:t>
                        </m:r>
                        <m:r>
                          <m:t xml:space="preserve">C</m:t>
                        </m:r>
                      </m:num>
                      <m:den>
                        <m:r>
                          <m:t xml:space="preserve">γ</m:t>
                        </m:r>
                        <m:r>
                          <m:t xml:space="preserve">−</m:t>
                        </m:r>
                        <m:r>
                          <m:t xml:space="preserve">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92" name="Object 3"/>
              <p:cNvSpPr txBox="1"/>
              <p:nvPr/>
            </p:nvSpPr>
            <p:spPr>
              <a:xfrm>
                <a:off x="2411280" y="2840040"/>
                <a:ext cx="1486080" cy="771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893" name="Text Box 12"/>
          <p:cNvSpPr/>
          <p:nvPr/>
        </p:nvSpPr>
        <p:spPr>
          <a:xfrm>
            <a:off x="539640" y="3716280"/>
            <a:ext cx="763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Calculez le travail mis en jeu pour la transformation BC 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Box 13"/>
          <p:cNvSpPr/>
          <p:nvPr/>
        </p:nvSpPr>
        <p:spPr>
          <a:xfrm>
            <a:off x="611280" y="4221000"/>
            <a:ext cx="799308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connaît le travail total par application du 1ier Principe :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-5,61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, soit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3,84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Box 14"/>
          <p:cNvSpPr/>
          <p:nvPr/>
        </p:nvSpPr>
        <p:spPr>
          <a:xfrm>
            <a:off x="539640" y="5229360"/>
            <a:ext cx="81360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peut vérifier ceci en calculant directement W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P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(V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-V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= 3,81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6" name="Group 3"/>
          <p:cNvGrpSpPr/>
          <p:nvPr/>
        </p:nvGrpSpPr>
        <p:grpSpPr>
          <a:xfrm>
            <a:off x="6004080" y="1857240"/>
            <a:ext cx="3569760" cy="2086200"/>
            <a:chOff x="6004080" y="1857240"/>
            <a:chExt cx="3569760" cy="2086200"/>
          </a:xfrm>
        </p:grpSpPr>
        <p:sp>
          <p:nvSpPr>
            <p:cNvPr id="897" name="AutoShape 4"/>
            <p:cNvSpPr/>
            <p:nvPr/>
          </p:nvSpPr>
          <p:spPr>
            <a:xfrm>
              <a:off x="6184440" y="1857240"/>
              <a:ext cx="2959560" cy="208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Line 5"/>
            <p:cNvSpPr/>
            <p:nvPr/>
          </p:nvSpPr>
          <p:spPr>
            <a:xfrm>
              <a:off x="6492240" y="3702600"/>
              <a:ext cx="23212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Line 6"/>
            <p:cNvSpPr/>
            <p:nvPr/>
          </p:nvSpPr>
          <p:spPr>
            <a:xfrm flipV="1">
              <a:off x="6487560" y="1927800"/>
              <a:ext cx="0" cy="1769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Text Box 7"/>
            <p:cNvSpPr/>
            <p:nvPr/>
          </p:nvSpPr>
          <p:spPr>
            <a:xfrm>
              <a:off x="6531120" y="1857240"/>
              <a:ext cx="92880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  (Bar)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Text Box 8"/>
            <p:cNvSpPr/>
            <p:nvPr/>
          </p:nvSpPr>
          <p:spPr>
            <a:xfrm>
              <a:off x="8440560" y="3423240"/>
              <a:ext cx="113328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V  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dm</a:t>
              </a:r>
              <a:r>
                <a:rPr b="1" lang="fr-FR" sz="1200" strike="noStrike" u="none" baseline="3000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Line 9"/>
            <p:cNvSpPr/>
            <p:nvPr/>
          </p:nvSpPr>
          <p:spPr>
            <a:xfrm>
              <a:off x="6942960" y="2201760"/>
              <a:ext cx="547560" cy="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Oval 10"/>
            <p:cNvSpPr/>
            <p:nvPr/>
          </p:nvSpPr>
          <p:spPr>
            <a:xfrm>
              <a:off x="6915960" y="2171520"/>
              <a:ext cx="51120" cy="482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Oval 11"/>
            <p:cNvSpPr/>
            <p:nvPr/>
          </p:nvSpPr>
          <p:spPr>
            <a:xfrm>
              <a:off x="7484760" y="2177280"/>
              <a:ext cx="51480" cy="478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600" bIns="-12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Oval 12"/>
            <p:cNvSpPr/>
            <p:nvPr/>
          </p:nvSpPr>
          <p:spPr>
            <a:xfrm>
              <a:off x="8156520" y="3012840"/>
              <a:ext cx="52560" cy="478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600" bIns="-1260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Oval 13"/>
            <p:cNvSpPr/>
            <p:nvPr/>
          </p:nvSpPr>
          <p:spPr>
            <a:xfrm>
              <a:off x="8162280" y="3347280"/>
              <a:ext cx="52200" cy="482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Text Box 14"/>
            <p:cNvSpPr/>
            <p:nvPr/>
          </p:nvSpPr>
          <p:spPr>
            <a:xfrm>
              <a:off x="6861600" y="2014560"/>
              <a:ext cx="190080" cy="17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B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Text Box 15"/>
            <p:cNvSpPr/>
            <p:nvPr/>
          </p:nvSpPr>
          <p:spPr>
            <a:xfrm>
              <a:off x="7414560" y="2019960"/>
              <a:ext cx="189000" cy="17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Line 16"/>
            <p:cNvSpPr/>
            <p:nvPr/>
          </p:nvSpPr>
          <p:spPr>
            <a:xfrm flipH="1">
              <a:off x="6487200" y="2201760"/>
              <a:ext cx="48348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Line 17"/>
            <p:cNvSpPr/>
            <p:nvPr/>
          </p:nvSpPr>
          <p:spPr>
            <a:xfrm>
              <a:off x="8184600" y="3028680"/>
              <a:ext cx="0" cy="339120"/>
            </a:xfrm>
            <a:prstGeom prst="line">
              <a:avLst/>
            </a:prstGeom>
            <a:ln w="2844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Text Box 18"/>
            <p:cNvSpPr/>
            <p:nvPr/>
          </p:nvSpPr>
          <p:spPr>
            <a:xfrm>
              <a:off x="8249760" y="2932560"/>
              <a:ext cx="189000" cy="176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Text Box 19"/>
            <p:cNvSpPr/>
            <p:nvPr/>
          </p:nvSpPr>
          <p:spPr>
            <a:xfrm>
              <a:off x="8270280" y="3286800"/>
              <a:ext cx="190080" cy="17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Line 20"/>
            <p:cNvSpPr/>
            <p:nvPr/>
          </p:nvSpPr>
          <p:spPr>
            <a:xfrm flipH="1">
              <a:off x="6487560" y="3367800"/>
              <a:ext cx="16970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Line 21"/>
            <p:cNvSpPr/>
            <p:nvPr/>
          </p:nvSpPr>
          <p:spPr>
            <a:xfrm flipH="1">
              <a:off x="6487560" y="3033000"/>
              <a:ext cx="1697040" cy="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Line 22"/>
            <p:cNvSpPr/>
            <p:nvPr/>
          </p:nvSpPr>
          <p:spPr>
            <a:xfrm>
              <a:off x="8184600" y="3079440"/>
              <a:ext cx="5040" cy="6231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6" name="Line 23"/>
            <p:cNvSpPr/>
            <p:nvPr/>
          </p:nvSpPr>
          <p:spPr>
            <a:xfrm>
              <a:off x="7511760" y="2201760"/>
              <a:ext cx="0" cy="149580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7" name="Line 24"/>
            <p:cNvSpPr/>
            <p:nvPr/>
          </p:nvSpPr>
          <p:spPr>
            <a:xfrm>
              <a:off x="6937560" y="2197440"/>
              <a:ext cx="0" cy="1505160"/>
            </a:xfrm>
            <a:prstGeom prst="line">
              <a:avLst/>
            </a:prstGeom>
            <a:ln w="19080">
              <a:solidFill>
                <a:srgbClr val="ff00ff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Text Box 25"/>
            <p:cNvSpPr/>
            <p:nvPr/>
          </p:nvSpPr>
          <p:spPr>
            <a:xfrm>
              <a:off x="6861600" y="3723120"/>
              <a:ext cx="190080" cy="17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8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Text Box 26"/>
            <p:cNvSpPr/>
            <p:nvPr/>
          </p:nvSpPr>
          <p:spPr>
            <a:xfrm>
              <a:off x="7917120" y="3700440"/>
              <a:ext cx="483480" cy="18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30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Text Box 27"/>
            <p:cNvSpPr/>
            <p:nvPr/>
          </p:nvSpPr>
          <p:spPr>
            <a:xfrm>
              <a:off x="6282000" y="3282480"/>
              <a:ext cx="189000" cy="17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4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Text Box 28"/>
            <p:cNvSpPr/>
            <p:nvPr/>
          </p:nvSpPr>
          <p:spPr>
            <a:xfrm>
              <a:off x="6076080" y="2925000"/>
              <a:ext cx="553320" cy="20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3,1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eform 29"/>
            <p:cNvSpPr/>
            <p:nvPr/>
          </p:nvSpPr>
          <p:spPr>
            <a:xfrm>
              <a:off x="7511760" y="2197440"/>
              <a:ext cx="672480" cy="835560"/>
            </a:xfrm>
            <a:custGeom>
              <a:avLst/>
              <a:gdLst>
                <a:gd name="textAreaLeft" fmla="*/ 0 w 672480"/>
                <a:gd name="textAreaRight" fmla="*/ 672840 w 672480"/>
                <a:gd name="textAreaTop" fmla="*/ 0 h 835560"/>
                <a:gd name="textAreaBottom" fmla="*/ 835920 h 835560"/>
                <a:gd name="GluePoint1X" fmla="*/ 0 w 1860"/>
                <a:gd name="GluePoint1Y" fmla="*/ 0 h 2475"/>
                <a:gd name="GluePoint2X" fmla="*/ 1 w 1860"/>
                <a:gd name="GluePoint2Y" fmla="*/ 1 h 2475"/>
                <a:gd name="GluePoint3X" fmla="*/ 1 w 1860"/>
                <a:gd name="GluePoint3Y" fmla="*/ 2 h 2475"/>
                <a:gd name="GluePoint4X" fmla="*/ 3 w 1860"/>
                <a:gd name="GluePoint4Y" fmla="*/ 3 h 2475"/>
                <a:gd name="GluePoint5X" fmla="*/ 7 w 1860"/>
                <a:gd name="GluePoint5Y" fmla="*/ 4 h 24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60" h="2475">
                  <a:moveTo>
                    <a:pt x="0" y="0"/>
                  </a:moveTo>
                  <a:cubicBezTo>
                    <a:pt x="47" y="247"/>
                    <a:pt x="95" y="495"/>
                    <a:pt x="165" y="705"/>
                  </a:cubicBezTo>
                  <a:cubicBezTo>
                    <a:pt x="235" y="915"/>
                    <a:pt x="302" y="1065"/>
                    <a:pt x="420" y="1260"/>
                  </a:cubicBezTo>
                  <a:cubicBezTo>
                    <a:pt x="538" y="1455"/>
                    <a:pt x="630" y="1673"/>
                    <a:pt x="870" y="1875"/>
                  </a:cubicBezTo>
                  <a:cubicBezTo>
                    <a:pt x="1110" y="2077"/>
                    <a:pt x="1485" y="2276"/>
                    <a:pt x="1860" y="247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eform 30"/>
            <p:cNvSpPr/>
            <p:nvPr/>
          </p:nvSpPr>
          <p:spPr>
            <a:xfrm>
              <a:off x="6932160" y="2192040"/>
              <a:ext cx="1252080" cy="1170360"/>
            </a:xfrm>
            <a:custGeom>
              <a:avLst/>
              <a:gdLst>
                <a:gd name="textAreaLeft" fmla="*/ 0 w 1252080"/>
                <a:gd name="textAreaRight" fmla="*/ 1252440 w 1252080"/>
                <a:gd name="textAreaTop" fmla="*/ 0 h 1170360"/>
                <a:gd name="textAreaBottom" fmla="*/ 1170720 h 1170360"/>
                <a:gd name="GluePoint1X" fmla="*/ 0 w 3465"/>
                <a:gd name="GluePoint1Y" fmla="*/ 0 h 3465"/>
                <a:gd name="GluePoint2X" fmla="*/ 1 w 3465"/>
                <a:gd name="GluePoint2Y" fmla="*/ 3 h 3465"/>
                <a:gd name="GluePoint3X" fmla="*/ 5 w 3465"/>
                <a:gd name="GluePoint3Y" fmla="*/ 4 h 3465"/>
                <a:gd name="GluePoint4X" fmla="*/ 9 w 3465"/>
                <a:gd name="GluePoint4Y" fmla="*/ 5 h 3465"/>
                <a:gd name="GluePoint5X" fmla="*/ 13 w 3465"/>
                <a:gd name="GluePoint5Y" fmla="*/ 5 h 34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65" h="3465">
                  <a:moveTo>
                    <a:pt x="0" y="0"/>
                  </a:moveTo>
                  <a:cubicBezTo>
                    <a:pt x="104" y="545"/>
                    <a:pt x="208" y="1090"/>
                    <a:pt x="420" y="1530"/>
                  </a:cubicBezTo>
                  <a:cubicBezTo>
                    <a:pt x="632" y="1970"/>
                    <a:pt x="935" y="2350"/>
                    <a:pt x="1275" y="2640"/>
                  </a:cubicBezTo>
                  <a:cubicBezTo>
                    <a:pt x="1615" y="2930"/>
                    <a:pt x="2095" y="3133"/>
                    <a:pt x="2460" y="3270"/>
                  </a:cubicBezTo>
                  <a:cubicBezTo>
                    <a:pt x="2825" y="3407"/>
                    <a:pt x="3145" y="3436"/>
                    <a:pt x="3465" y="3465"/>
                  </a:cubicBezTo>
                </a:path>
              </a:pathLst>
            </a:custGeom>
            <a:noFill/>
            <a:ln w="284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Line 31"/>
            <p:cNvSpPr/>
            <p:nvPr/>
          </p:nvSpPr>
          <p:spPr>
            <a:xfrm flipH="1" flipV="1">
              <a:off x="7186680" y="2860200"/>
              <a:ext cx="22320" cy="4068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Line 32"/>
            <p:cNvSpPr/>
            <p:nvPr/>
          </p:nvSpPr>
          <p:spPr>
            <a:xfrm>
              <a:off x="7251840" y="2201760"/>
              <a:ext cx="75960" cy="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6" name="Line 33"/>
            <p:cNvSpPr/>
            <p:nvPr/>
          </p:nvSpPr>
          <p:spPr>
            <a:xfrm>
              <a:off x="7750440" y="2749320"/>
              <a:ext cx="15840" cy="29520"/>
            </a:xfrm>
            <a:prstGeom prst="line">
              <a:avLst/>
            </a:prstGeom>
            <a:ln w="38160">
              <a:solidFill>
                <a:srgbClr val="00008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280" bIns="-172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7" name="Text Box 34"/>
            <p:cNvSpPr/>
            <p:nvPr/>
          </p:nvSpPr>
          <p:spPr>
            <a:xfrm>
              <a:off x="6004080" y="2108160"/>
              <a:ext cx="54360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12,7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Text Box 35"/>
            <p:cNvSpPr/>
            <p:nvPr/>
          </p:nvSpPr>
          <p:spPr>
            <a:xfrm>
              <a:off x="7394760" y="3717000"/>
              <a:ext cx="389520" cy="20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 fontScale="5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928" dur="indefinite" restart="never" nodeType="tmRoot">
          <p:childTnLst>
            <p:seq>
              <p:cTn id="929" dur="indefinite" nodeType="mainSeq">
                <p:childTnLst>
                  <p:par>
                    <p:cTn id="930" nodeType="clickEffect" fill="hold">
                      <p:stCondLst>
                        <p:cond delay="indefinite"/>
                      </p:stCondLst>
                      <p:childTnLst>
                        <p:par>
                          <p:cTn id="9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34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5" nodeType="clickEffect" fill="hold">
                      <p:stCondLst>
                        <p:cond delay="indefinite"/>
                      </p:stCondLst>
                      <p:childTnLst>
                        <p:par>
                          <p:cTn id="9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9" dur="10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0" dur="10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1"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2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44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5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6"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49" dur="10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0" dur="10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51" dur="1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2" nodeType="clickEffect" fill="hold">
                      <p:stCondLst>
                        <p:cond delay="indefinite"/>
                      </p:stCondLst>
                      <p:childTnLst>
                        <p:par>
                          <p:cTn id="9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56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7" nodeType="clickEffect" fill="hold">
                      <p:stCondLst>
                        <p:cond delay="indefinite"/>
                      </p:stCondLst>
                      <p:childTnLst>
                        <p:par>
                          <p:cTn id="9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61" dur="10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2" dur="10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63" dur="10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4" nodeType="clickEffect" fill="hold">
                      <p:stCondLst>
                        <p:cond delay="indefinite"/>
                      </p:stCondLst>
                      <p:childTnLst>
                        <p:par>
                          <p:cTn id="9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68" dur="2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9" dur="2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70" dur="2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Rectangle 4" descr=""/>
          <p:cNvPicPr/>
          <p:nvPr/>
        </p:nvPicPr>
        <p:blipFill>
          <a:blip r:embed="rId1"/>
          <a:stretch/>
        </p:blipFill>
        <p:spPr>
          <a:xfrm>
            <a:off x="304920" y="341280"/>
            <a:ext cx="8394480" cy="97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Text Box 5"/>
          <p:cNvSpPr/>
          <p:nvPr/>
        </p:nvSpPr>
        <p:spPr>
          <a:xfrm>
            <a:off x="611280" y="1557360"/>
            <a:ext cx="7775640" cy="11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Le gaz reçoit de la chaleur ( combustion du carburant) dans la phase isobare BC : Q</a:t>
            </a:r>
            <a:r>
              <a:rPr b="0" lang="fr-FR" sz="1800" strike="noStrike" u="none" baseline="-25000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BC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= +13,34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Il fournit un travail total : W</a:t>
            </a:r>
            <a:r>
              <a:rPr b="0" lang="fr-FR" sz="1800" strike="noStrike" u="none" baseline="-25000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b="0" lang="fr-FR" sz="18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 = -5,61 kJ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Rectangle 8"/>
          <p:cNvSpPr/>
          <p:nvPr/>
        </p:nvSpPr>
        <p:spPr>
          <a:xfrm>
            <a:off x="0" y="3043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Rectangle 10"/>
          <p:cNvSpPr/>
          <p:nvPr/>
        </p:nvSpPr>
        <p:spPr>
          <a:xfrm>
            <a:off x="0" y="30481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33" name="Group 13"/>
          <p:cNvGrpSpPr/>
          <p:nvPr/>
        </p:nvGrpSpPr>
        <p:grpSpPr>
          <a:xfrm>
            <a:off x="684360" y="3357720"/>
            <a:ext cx="7416720" cy="784080"/>
            <a:chOff x="684360" y="3357720"/>
            <a:chExt cx="7416720" cy="784080"/>
          </a:xfrm>
        </p:grpSpPr>
        <p:sp>
          <p:nvSpPr>
            <p:cNvPr id="934" name="Text Box 6"/>
            <p:cNvSpPr/>
            <p:nvPr/>
          </p:nvSpPr>
          <p:spPr>
            <a:xfrm>
              <a:off x="684360" y="3506760"/>
              <a:ext cx="74167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Le rendement du cycle est </a:t>
              </a:r>
              <a:r>
                <a:rPr b="0" lang="el-G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η</a:t>
              </a: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=                           =               =  0,42  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935" name="Object 2"/>
                <p:cNvSpPr txBox="1"/>
                <p:nvPr/>
              </p:nvSpPr>
              <p:spPr>
                <a:xfrm>
                  <a:off x="3811680" y="3357720"/>
                  <a:ext cx="1660680" cy="7840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rPr>
                              <m:lit/>
                              <m:nor/>
                            </m:rPr>
                            <m:t xml:space="preserve">Travail</m:t>
                          </m:r>
                          <m:r>
                            <m:rPr>
                              <m:lit/>
                              <m:nor/>
                            </m:rPr>
                            <m:t xml:space="preserve">.</m:t>
                          </m:r>
                          <m:r>
                            <m:rPr>
                              <m:lit/>
                              <m:nor/>
                            </m:rPr>
                            <m:t xml:space="preserve">total</m:t>
                          </m:r>
                        </m:num>
                        <m:den>
                          <m:r>
                            <m:rPr>
                              <m:lit/>
                              <m:nor/>
                            </m:rPr>
                            <m:t xml:space="preserve">énergie</m:t>
                          </m:r>
                          <m:r>
                            <m:rPr>
                              <m:lit/>
                              <m:nor/>
                            </m:rPr>
                            <m:t xml:space="preserve">.</m:t>
                          </m:r>
                          <m:r>
                            <m:rPr>
                              <m:lit/>
                              <m:nor/>
                            </m:rPr>
                            <m:t xml:space="preserve">reçue</m:t>
                          </m:r>
                        </m:den>
                      </m:f>
                    </m:oMath>
                  </a14:m>
                </a:p>
              </p:txBody>
            </p:sp>
          </mc:Choice>
          <mc:Fallback>
            <p:sp>
              <p:nvSpPr>
                <p:cNvPr id="935" name="Object 2"/>
                <p:cNvSpPr txBox="1"/>
                <p:nvPr/>
              </p:nvSpPr>
              <p:spPr>
                <a:xfrm>
                  <a:off x="3811680" y="3357720"/>
                  <a:ext cx="1660680" cy="7840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936" name="Object 3"/>
                <p:cNvSpPr txBox="1"/>
                <p:nvPr/>
              </p:nvSpPr>
              <p:spPr>
                <a:xfrm>
                  <a:off x="5913720" y="3357720"/>
                  <a:ext cx="453960" cy="7743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f>
                        <m:num>
                          <m:r>
                            <m:t xml:space="preserve">W</m:t>
                          </m:r>
                          <m:r>
                            <m:t xml:space="preserve">T</m:t>
                          </m:r>
                        </m:num>
                        <m:den>
                          <m:r>
                            <m:t xml:space="preserve">Q</m:t>
                          </m:r>
                          <m:r>
                            <m:rPr>
                              <m:lit/>
                              <m:nor/>
                            </m:rPr>
                            <m:t xml:space="preserve">BC</m:t>
                          </m:r>
                        </m:den>
                      </m:f>
                    </m:oMath>
                  </a14:m>
                </a:p>
              </p:txBody>
            </p:sp>
          </mc:Choice>
          <mc:Fallback>
            <p:sp>
              <p:nvSpPr>
                <p:cNvPr id="936" name="Object 3"/>
                <p:cNvSpPr txBox="1"/>
                <p:nvPr/>
              </p:nvSpPr>
              <p:spPr>
                <a:xfrm>
                  <a:off x="5913720" y="3357720"/>
                  <a:ext cx="453960" cy="77436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937" name="Line 11"/>
            <p:cNvSpPr/>
            <p:nvPr/>
          </p:nvSpPr>
          <p:spPr>
            <a:xfrm>
              <a:off x="5796000" y="3363840"/>
              <a:ext cx="0" cy="718920"/>
            </a:xfrm>
            <a:prstGeom prst="line">
              <a:avLst/>
            </a:prstGeom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Line 12"/>
            <p:cNvSpPr/>
            <p:nvPr/>
          </p:nvSpPr>
          <p:spPr>
            <a:xfrm>
              <a:off x="6445440" y="3363840"/>
              <a:ext cx="0" cy="718920"/>
            </a:xfrm>
            <a:prstGeom prst="line">
              <a:avLst/>
            </a:prstGeom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9" name="Text Box 14"/>
          <p:cNvSpPr/>
          <p:nvPr/>
        </p:nvSpPr>
        <p:spPr>
          <a:xfrm>
            <a:off x="826920" y="1125360"/>
            <a:ext cx="763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Quel est le rendement du moteur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 12"/>
          <p:cNvSpPr/>
          <p:nvPr/>
        </p:nvSpPr>
        <p:spPr>
          <a:xfrm>
            <a:off x="5578560" y="4640400"/>
            <a:ext cx="1712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l-G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η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 42 %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971" dur="indefinite" restart="never" nodeType="tmRoot">
          <p:childTnLst>
            <p:seq>
              <p:cTn id="972" dur="indefinite" nodeType="mainSeq">
                <p:childTnLst>
                  <p:par>
                    <p:cTn id="973" nodeType="clickEffect" fill="hold">
                      <p:stCondLst>
                        <p:cond delay="indefinite"/>
                      </p:stCondLst>
                      <p:childTnLst>
                        <p:par>
                          <p:cTn id="9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77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8" nodeType="clickEffect" fill="hold">
                      <p:stCondLst>
                        <p:cond delay="indefinite"/>
                      </p:stCondLst>
                      <p:childTnLst>
                        <p:par>
                          <p:cTn id="9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2" dur="100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3" dur="100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84" dur="1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nodeType="clickEffect" fill="hold">
                      <p:stCondLst>
                        <p:cond delay="indefinite"/>
                      </p:stCondLst>
                      <p:childTnLst>
                        <p:par>
                          <p:cTn id="9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7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9" dur="100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0" dur="100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91" dur="10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2" nodeType="clickEffect" fill="hold">
                      <p:stCondLst>
                        <p:cond delay="indefinite"/>
                      </p:stCondLst>
                      <p:childTnLst>
                        <p:par>
                          <p:cTn id="9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96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1434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2003-05-09T21:59:43Z</dcterms:created>
  <dc:creator>amadecope</dc:creator>
  <dc:description/>
  <dc:language>en-US</dc:language>
  <cp:lastModifiedBy>LTE</cp:lastModifiedBy>
  <dcterms:modified xsi:type="dcterms:W3CDTF">2022-03-20T20:02:20Z</dcterms:modified>
  <cp:revision>103</cp:revision>
  <dc:subject/>
  <dc:title>Diapositive 1</dc:title>
</cp:coreProperties>
</file>