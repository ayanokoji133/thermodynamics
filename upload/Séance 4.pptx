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55.emf" ContentType="image/x-emf"/>
  <Override PartName="/ppt/media/image54.emf" ContentType="image/x-emf"/>
  <Override PartName="/ppt/media/image52.png" ContentType="image/png"/>
  <Override PartName="/ppt/media/image36.emf" ContentType="image/x-emf"/>
  <Override PartName="/ppt/media/image53.emf" ContentType="image/x-emf"/>
  <Override PartName="/ppt/media/image51.png" ContentType="image/png"/>
  <Override PartName="/ppt/media/image35.emf" ContentType="image/x-emf"/>
  <Override PartName="/ppt/media/image50.png" ContentType="image/png"/>
  <Override PartName="/ppt/media/image34.emf" ContentType="image/x-emf"/>
  <Override PartName="/ppt/media/image49.emf" ContentType="image/x-emf"/>
  <Override PartName="/ppt/media/image46.emf" ContentType="image/x-emf"/>
  <Override PartName="/ppt/media/image44.png" ContentType="image/png"/>
  <Override PartName="/ppt/media/image93.emf" ContentType="image/x-emf"/>
  <Override PartName="/ppt/media/image39.emf" ContentType="image/x-emf"/>
  <Override PartName="/ppt/media/image38.emf" ContentType="image/x-emf"/>
  <Override PartName="/ppt/media/image33.emf" ContentType="image/x-emf"/>
  <Override PartName="/ppt/media/image31.png" ContentType="image/png"/>
  <Override PartName="/ppt/media/image80.emf" ContentType="image/x-emf"/>
  <Override PartName="/ppt/media/image32.emf" ContentType="image/x-emf"/>
  <Override PartName="/ppt/media/image30.png" ContentType="image/png"/>
  <Override PartName="/ppt/media/image14.emf" ContentType="image/x-emf"/>
  <Override PartName="/ppt/media/image13.emf" ContentType="image/x-emf"/>
  <Override PartName="/ppt/media/image1.wmf" ContentType="image/x-wmf"/>
  <Override PartName="/ppt/media/image37.emf" ContentType="image/x-emf"/>
  <Override PartName="/ppt/media/image48.emf" ContentType="image/x-emf"/>
  <Override PartName="/ppt/media/image11.emf" ContentType="image/x-emf"/>
  <Override PartName="/ppt/media/image45.emf" ContentType="image/x-emf"/>
  <Override PartName="/ppt/media/image43.png" ContentType="image/png"/>
  <Override PartName="/ppt/media/image92.emf" ContentType="image/x-emf"/>
  <Override PartName="/ppt/media/image9.wmf" ContentType="image/x-wmf"/>
  <Override PartName="/ppt/media/image18.wmf" ContentType="image/x-wmf"/>
  <Override PartName="/ppt/media/image47.emf" ContentType="image/x-emf"/>
  <Override PartName="/ppt/media/image10.emf" ContentType="image/x-emf"/>
  <Override PartName="/ppt/media/image42.png" ContentType="image/png"/>
  <Override PartName="/ppt/media/image8.wmf" ContentType="image/x-wmf"/>
  <Override PartName="/ppt/media/image17.wmf" ContentType="image/x-wmf"/>
  <Override PartName="/ppt/media/image59.emf" ContentType="image/x-emf"/>
  <Override PartName="/ppt/media/image22.emf" ContentType="image/x-emf"/>
  <Override PartName="/ppt/media/image7.wmf" ContentType="image/x-wmf"/>
  <Override PartName="/ppt/media/image16.wmf" ContentType="image/x-wmf"/>
  <Override PartName="/ppt/media/image65.emf" ContentType="image/x-emf"/>
  <Override PartName="/ppt/media/image66.emf" ContentType="image/x-emf"/>
  <Override PartName="/ppt/media/image68.emf" ContentType="image/x-emf"/>
  <Override PartName="/ppt/media/image70.emf" ContentType="image/x-emf"/>
  <Override PartName="/ppt/media/image69.emf" ContentType="image/x-emf"/>
  <Override PartName="/ppt/media/image71.emf" ContentType="image/x-emf"/>
  <Override PartName="/ppt/media/image76.emf" ContentType="image/x-emf"/>
  <Override PartName="/ppt/media/image27.png" ContentType="image/png"/>
  <Override PartName="/ppt/media/image73.emf" ContentType="image/x-emf"/>
  <Override PartName="/ppt/media/image74.emf" ContentType="image/x-emf"/>
  <Override PartName="/ppt/media/image79.emf" ContentType="image/x-emf"/>
  <Override PartName="/ppt/media/image81.emf" ContentType="image/x-emf"/>
  <Override PartName="/ppt/media/image64.emf" ContentType="image/x-emf"/>
  <Override PartName="/ppt/media/image99.emf" ContentType="image/x-emf"/>
  <Override PartName="/ppt/media/image62.emf" ContentType="image/x-emf"/>
  <Override PartName="/ppt/media/image87.emf" ContentType="image/x-emf"/>
  <Override PartName="/ppt/media/image63.emf" ContentType="image/x-emf"/>
  <Override PartName="/ppt/media/image98.emf" ContentType="image/x-emf"/>
  <Override PartName="/ppt/media/image86.emf" ContentType="image/x-emf"/>
  <Override PartName="/ppt/media/image97.emf" ContentType="image/x-emf"/>
  <Override PartName="/ppt/media/image85.emf" ContentType="image/x-emf"/>
  <Override PartName="/ppt/media/image96.emf" ContentType="image/x-emf"/>
  <Override PartName="/ppt/media/image95.emf" ContentType="image/x-emf"/>
  <Override PartName="/ppt/media/image83.emf" ContentType="image/x-emf"/>
  <Override PartName="/ppt/media/image94.emf" ContentType="image/x-emf"/>
  <Override PartName="/ppt/media/image82.emf" ContentType="image/x-emf"/>
  <Override PartName="/ppt/media/image89.emf" ContentType="image/x-emf"/>
  <Override PartName="/ppt/media/image88.emf" ContentType="image/x-emf"/>
  <Override PartName="/ppt/media/image90.emf" ContentType="image/x-emf"/>
  <Override PartName="/ppt/media/image25.emf" ContentType="image/x-emf"/>
  <Override PartName="/ppt/media/image23.png" ContentType="image/png"/>
  <Override PartName="/ppt/media/image72.emf" ContentType="image/x-emf"/>
  <Override PartName="/ppt/media/image24.emf" ContentType="image/x-emf"/>
  <Override PartName="/ppt/media/image26.png" ContentType="image/png"/>
  <Override PartName="/ppt/media/image91.png" ContentType="image/png"/>
  <Override PartName="/ppt/media/image75.emf" ContentType="image/x-emf"/>
  <Override PartName="/ppt/media/image60.emf" ContentType="image/x-emf"/>
  <Override PartName="/ppt/media/image2.png" ContentType="image/png"/>
  <Override PartName="/ppt/media/image61.emf" ContentType="image/x-emf"/>
  <Override PartName="/ppt/media/image3.png" ContentType="image/png"/>
  <Override PartName="/ppt/media/image28.png" ContentType="image/png"/>
  <Override PartName="/ppt/media/image77.emf" ContentType="image/x-emf"/>
  <Override PartName="/ppt/media/image4.wmf" ContentType="image/x-wmf"/>
  <Override PartName="/ppt/media/image40.emf" ContentType="image/x-emf"/>
  <Override PartName="/ppt/media/image29.png" ContentType="image/png"/>
  <Override PartName="/ppt/media/image78.emf" ContentType="image/x-emf"/>
  <Override PartName="/ppt/media/image5.wmf" ContentType="image/x-wmf"/>
  <Override PartName="/ppt/media/image41.emf" ContentType="image/x-emf"/>
  <Override PartName="/ppt/media/image20.emf" ContentType="image/x-emf"/>
  <Override PartName="/ppt/media/image57.emf" ContentType="image/x-emf"/>
  <Override PartName="/ppt/media/image56.emf" ContentType="image/x-emf"/>
  <Override PartName="/ppt/media/image6.wmf" ContentType="image/x-wmf"/>
  <Override PartName="/ppt/media/image15.wmf" ContentType="image/x-wmf"/>
  <Override PartName="/ppt/media/image12.jpeg" ContentType="image/jpeg"/>
  <Override PartName="/ppt/media/image67.emf" ContentType="image/x-emf"/>
  <Override PartName="/ppt/media/image21.emf" ContentType="image/x-emf"/>
  <Override PartName="/ppt/media/image58.emf" ContentType="image/x-emf"/>
  <Override PartName="/ppt/media/image19.emf" ContentType="image/x-emf"/>
  <Override PartName="/ppt/media/image84.emf" ContentType="image/x-emf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_rels/notesSlide2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1.xml.rels" ContentType="application/vnd.openxmlformats-package.relationships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7A8DAF2-75EE-41D5-8574-95710AB0CEFC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6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1" name="Espace réservé du numéro de diapositive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AF1663-652F-4FD8-A4F1-294E5A3C525D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4" name="3 Marcador de número de diapositiva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6C2844-BE5D-45D0-A1CA-F39F82CD98EA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E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7" name="3 Marcador de número de diapositiva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C80E31-6100-403C-9520-F54BB497286B}" type="slidenum">
              <a:rPr b="0" lang="es-E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fr-FR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80" name="Espace réservé du numéro de diapositive 3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F875E1-CADC-4F4C-AB7E-5F6BFBE4177F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130332-289C-4D7D-BDC0-A388DE1ED9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84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22BA0E8-47E9-48CB-8276-FDD16D3FE86A}" type="slidenum">
              <a:rPr b="0" lang="fr-FR" sz="120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wmf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3" Type="http://schemas.openxmlformats.org/officeDocument/2006/relationships/image" Target="../media/image5.wmf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.wmf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8.wmf"/><Relationship Id="rId7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.wmf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image" Target="../media/image11.emf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emf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.wmf"/><Relationship Id="rId3" Type="http://schemas.openxmlformats.org/officeDocument/2006/relationships/image" Target="../media/image14.emf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5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16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17.wmf"/><Relationship Id="rId7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8.wmf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emf"/><Relationship Id="rId2" Type="http://schemas.openxmlformats.org/officeDocument/2006/relationships/image" Target="../media/image20.emf"/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5" Type="http://schemas.openxmlformats.org/officeDocument/2006/relationships/image" Target="../media/image23.png"/><Relationship Id="rId6" Type="http://schemas.openxmlformats.org/officeDocument/2006/relationships/image" Target="../media/image24.emf"/><Relationship Id="rId7" Type="http://schemas.openxmlformats.org/officeDocument/2006/relationships/image" Target="../media/image25.emf"/><Relationship Id="rId8" Type="http://schemas.openxmlformats.org/officeDocument/2006/relationships/image" Target="../media/image23.png"/><Relationship Id="rId9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2.emf"/><Relationship Id="rId2" Type="http://schemas.openxmlformats.org/officeDocument/2006/relationships/image" Target="../media/image33.emf"/><Relationship Id="rId3" Type="http://schemas.openxmlformats.org/officeDocument/2006/relationships/image" Target="../media/image34.emf"/><Relationship Id="rId4" Type="http://schemas.openxmlformats.org/officeDocument/2006/relationships/image" Target="../media/image35.emf"/><Relationship Id="rId5" Type="http://schemas.openxmlformats.org/officeDocument/2006/relationships/image" Target="../media/image36.emf"/><Relationship Id="rId6" Type="http://schemas.openxmlformats.org/officeDocument/2006/relationships/image" Target="../media/image37.emf"/><Relationship Id="rId7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8.emf"/><Relationship Id="rId2" Type="http://schemas.openxmlformats.org/officeDocument/2006/relationships/image" Target="../media/image39.emf"/><Relationship Id="rId3" Type="http://schemas.openxmlformats.org/officeDocument/2006/relationships/image" Target="../media/image40.emf"/><Relationship Id="rId4" Type="http://schemas.openxmlformats.org/officeDocument/2006/relationships/image" Target="../media/image41.emf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4.png"/><Relationship Id="rId9" Type="http://schemas.openxmlformats.org/officeDocument/2006/relationships/image" Target="../media/image45.emf"/><Relationship Id="rId10" Type="http://schemas.openxmlformats.org/officeDocument/2006/relationships/image" Target="../media/image46.emf"/><Relationship Id="rId1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7.emf"/><Relationship Id="rId2" Type="http://schemas.openxmlformats.org/officeDocument/2006/relationships/image" Target="../media/image48.emf"/><Relationship Id="rId3" Type="http://schemas.openxmlformats.org/officeDocument/2006/relationships/image" Target="../media/image49.emf"/><Relationship Id="rId4" Type="http://schemas.openxmlformats.org/officeDocument/2006/relationships/image" Target="../media/image38.emf"/><Relationship Id="rId5" Type="http://schemas.openxmlformats.org/officeDocument/2006/relationships/image" Target="../media/image50.png"/><Relationship Id="rId6" Type="http://schemas.openxmlformats.org/officeDocument/2006/relationships/image" Target="../media/image39.emf"/><Relationship Id="rId7" Type="http://schemas.openxmlformats.org/officeDocument/2006/relationships/image" Target="../media/image40.emf"/><Relationship Id="rId8" Type="http://schemas.openxmlformats.org/officeDocument/2006/relationships/image" Target="../media/image41.emf"/><Relationship Id="rId9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7.emf"/><Relationship Id="rId2" Type="http://schemas.openxmlformats.org/officeDocument/2006/relationships/image" Target="../media/image53.emf"/><Relationship Id="rId3" Type="http://schemas.openxmlformats.org/officeDocument/2006/relationships/image" Target="../media/image54.emf"/><Relationship Id="rId4" Type="http://schemas.openxmlformats.org/officeDocument/2006/relationships/image" Target="../media/image55.emf"/><Relationship Id="rId5" Type="http://schemas.openxmlformats.org/officeDocument/2006/relationships/image" Target="../media/image56.emf"/><Relationship Id="rId6" Type="http://schemas.openxmlformats.org/officeDocument/2006/relationships/image" Target="../media/image57.emf"/><Relationship Id="rId7" Type="http://schemas.openxmlformats.org/officeDocument/2006/relationships/image" Target="../media/image58.emf"/><Relationship Id="rId8" Type="http://schemas.openxmlformats.org/officeDocument/2006/relationships/image" Target="../media/image59.emf"/><Relationship Id="rId9" Type="http://schemas.openxmlformats.org/officeDocument/2006/relationships/image" Target="../media/image60.emf"/><Relationship Id="rId10" Type="http://schemas.openxmlformats.org/officeDocument/2006/relationships/image" Target="../media/image61.emf"/><Relationship Id="rId11" Type="http://schemas.openxmlformats.org/officeDocument/2006/relationships/image" Target="../media/image62.emf"/><Relationship Id="rId12" Type="http://schemas.openxmlformats.org/officeDocument/2006/relationships/image" Target="../media/image63.emf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64.emf"/><Relationship Id="rId2" Type="http://schemas.openxmlformats.org/officeDocument/2006/relationships/image" Target="../media/image65.emf"/><Relationship Id="rId3" Type="http://schemas.openxmlformats.org/officeDocument/2006/relationships/image" Target="../media/image57.emf"/><Relationship Id="rId4" Type="http://schemas.openxmlformats.org/officeDocument/2006/relationships/image" Target="../media/image66.emf"/><Relationship Id="rId5" Type="http://schemas.openxmlformats.org/officeDocument/2006/relationships/image" Target="../media/image67.emf"/><Relationship Id="rId6" Type="http://schemas.openxmlformats.org/officeDocument/2006/relationships/image" Target="../media/image68.emf"/><Relationship Id="rId7" Type="http://schemas.openxmlformats.org/officeDocument/2006/relationships/image" Target="../media/image69.emf"/><Relationship Id="rId8" Type="http://schemas.openxmlformats.org/officeDocument/2006/relationships/image" Target="../media/image70.emf"/><Relationship Id="rId9" Type="http://schemas.openxmlformats.org/officeDocument/2006/relationships/image" Target="../media/image71.emf"/><Relationship Id="rId10" Type="http://schemas.openxmlformats.org/officeDocument/2006/relationships/image" Target="../media/image72.emf"/><Relationship Id="rId11" Type="http://schemas.openxmlformats.org/officeDocument/2006/relationships/image" Target="../media/image73.emf"/><Relationship Id="rId1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64.emf"/><Relationship Id="rId2" Type="http://schemas.openxmlformats.org/officeDocument/2006/relationships/image" Target="../media/image74.emf"/><Relationship Id="rId3" Type="http://schemas.openxmlformats.org/officeDocument/2006/relationships/image" Target="../media/image66.emf"/><Relationship Id="rId4" Type="http://schemas.openxmlformats.org/officeDocument/2006/relationships/image" Target="../media/image75.emf"/><Relationship Id="rId5" Type="http://schemas.openxmlformats.org/officeDocument/2006/relationships/image" Target="../media/image76.emf"/><Relationship Id="rId6" Type="http://schemas.openxmlformats.org/officeDocument/2006/relationships/image" Target="../media/image77.emf"/><Relationship Id="rId7" Type="http://schemas.openxmlformats.org/officeDocument/2006/relationships/image" Target="../media/image73.emf"/><Relationship Id="rId8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78.emf"/><Relationship Id="rId2" Type="http://schemas.openxmlformats.org/officeDocument/2006/relationships/image" Target="../media/image79.emf"/><Relationship Id="rId3" Type="http://schemas.openxmlformats.org/officeDocument/2006/relationships/image" Target="../media/image80.emf"/><Relationship Id="rId4" Type="http://schemas.openxmlformats.org/officeDocument/2006/relationships/image" Target="../media/image81.emf"/><Relationship Id="rId5" Type="http://schemas.openxmlformats.org/officeDocument/2006/relationships/image" Target="../media/image82.emf"/><Relationship Id="rId6" Type="http://schemas.openxmlformats.org/officeDocument/2006/relationships/image" Target="../media/image83.emf"/><Relationship Id="rId7" Type="http://schemas.openxmlformats.org/officeDocument/2006/relationships/image" Target="../media/image84.emf"/><Relationship Id="rId8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85.emf"/><Relationship Id="rId2" Type="http://schemas.openxmlformats.org/officeDocument/2006/relationships/image" Target="../media/image86.emf"/><Relationship Id="rId3" Type="http://schemas.openxmlformats.org/officeDocument/2006/relationships/image" Target="../media/image83.emf"/><Relationship Id="rId4" Type="http://schemas.openxmlformats.org/officeDocument/2006/relationships/image" Target="../media/image37.emf"/><Relationship Id="rId5" Type="http://schemas.openxmlformats.org/officeDocument/2006/relationships/image" Target="../media/image87.emf"/><Relationship Id="rId6" Type="http://schemas.openxmlformats.org/officeDocument/2006/relationships/image" Target="../media/image88.emf"/><Relationship Id="rId7" Type="http://schemas.openxmlformats.org/officeDocument/2006/relationships/image" Target="../media/image89.emf"/><Relationship Id="rId8" Type="http://schemas.openxmlformats.org/officeDocument/2006/relationships/image" Target="../media/image61.emf"/><Relationship Id="rId9" Type="http://schemas.openxmlformats.org/officeDocument/2006/relationships/image" Target="../media/image90.emf"/><Relationship Id="rId10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91.png"/><Relationship Id="rId2" Type="http://schemas.openxmlformats.org/officeDocument/2006/relationships/image" Target="../media/image92.emf"/><Relationship Id="rId3" Type="http://schemas.openxmlformats.org/officeDocument/2006/relationships/image" Target="../media/image93.emf"/><Relationship Id="rId4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85.emf"/><Relationship Id="rId2" Type="http://schemas.openxmlformats.org/officeDocument/2006/relationships/image" Target="../media/image94.emf"/><Relationship Id="rId3" Type="http://schemas.openxmlformats.org/officeDocument/2006/relationships/image" Target="../media/image95.emf"/><Relationship Id="rId4" Type="http://schemas.openxmlformats.org/officeDocument/2006/relationships/image" Target="../media/image96.emf"/><Relationship Id="rId5" Type="http://schemas.openxmlformats.org/officeDocument/2006/relationships/image" Target="../media/image97.emf"/><Relationship Id="rId6" Type="http://schemas.openxmlformats.org/officeDocument/2006/relationships/image" Target="../media/image98.emf"/><Relationship Id="rId7" Type="http://schemas.openxmlformats.org/officeDocument/2006/relationships/image" Target="../media/image99.emf"/><Relationship Id="rId8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96.emf"/><Relationship Id="rId2" Type="http://schemas.openxmlformats.org/officeDocument/2006/relationships/image" Target="../media/image92.emf"/><Relationship Id="rId3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/>
          <p:cNvSpPr/>
          <p:nvPr/>
        </p:nvSpPr>
        <p:spPr>
          <a:xfrm>
            <a:off x="4572000" y="2747880"/>
            <a:ext cx="360" cy="36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75960" bIns="-75960" anchor="t">
            <a:normAutofit fontScale="25000" lnSpcReduction="1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Rectangle 11"/>
          <p:cNvSpPr/>
          <p:nvPr/>
        </p:nvSpPr>
        <p:spPr>
          <a:xfrm>
            <a:off x="0" y="-1260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Calibri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Rectangle 3"/>
          <p:cNvSpPr/>
          <p:nvPr/>
        </p:nvSpPr>
        <p:spPr>
          <a:xfrm>
            <a:off x="37440" y="2560320"/>
            <a:ext cx="8859600" cy="37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Premier principe et énergie interne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Application au gaz parfait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La fonction enthalpie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Transformations particulières réversibles 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Transformation isochore (V = cte)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Transformation isobare (p = cte)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Transformation isotherme (T = cte)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Transformation adiabatique (Q = O)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572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Transformation polytrope (avec échange de chaleur Q # 0)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  <a:ea typeface="Times New Roman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7"/>
          <p:cNvSpPr/>
          <p:nvPr/>
        </p:nvSpPr>
        <p:spPr>
          <a:xfrm>
            <a:off x="4572000" y="2747880"/>
            <a:ext cx="360" cy="360"/>
          </a:xfrm>
          <a:prstGeom prst="rect">
            <a:avLst/>
          </a:prstGeom>
          <a:solidFill>
            <a:srgbClr val="4f81bd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75960" bIns="-75960" anchor="t">
            <a:normAutofit fontScale="25000" lnSpcReduction="1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Rectangle 11"/>
          <p:cNvSpPr/>
          <p:nvPr/>
        </p:nvSpPr>
        <p:spPr>
          <a:xfrm>
            <a:off x="0" y="-1260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Calibri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Rectangle 12"/>
          <p:cNvSpPr/>
          <p:nvPr/>
        </p:nvSpPr>
        <p:spPr>
          <a:xfrm>
            <a:off x="452160" y="752400"/>
            <a:ext cx="35330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Principe d’équivalence</a:t>
            </a:r>
            <a:r>
              <a:rPr b="0" lang="fr-FR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" name="Object 2"/>
          <p:cNvGraphicFramePr/>
          <p:nvPr/>
        </p:nvGraphicFramePr>
        <p:xfrm>
          <a:off x="3984480" y="4071960"/>
          <a:ext cx="3348360" cy="10605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9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984480" y="4071960"/>
                    <a:ext cx="3348360" cy="1060560"/>
                  </a:xfrm>
                  <a:prstGeom prst="rect">
                    <a:avLst/>
                  </a:prstGeom>
                  <a:solidFill>
                    <a:srgbClr val="ffff00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0" name="Rectangle 16"/>
          <p:cNvSpPr/>
          <p:nvPr/>
        </p:nvSpPr>
        <p:spPr>
          <a:xfrm>
            <a:off x="823680" y="5357160"/>
            <a:ext cx="67946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constitue le principe d’équivalence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Box 52"/>
          <p:cNvSpPr/>
          <p:nvPr/>
        </p:nvSpPr>
        <p:spPr>
          <a:xfrm>
            <a:off x="0" y="1428840"/>
            <a:ext cx="8712360" cy="20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"Lorsqu’un système thermodynamique fermé quelconque subit un cycle de transformations, la somme algébrique des quantités d’énergie échangées par le système avec l’extérieur est nulle "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ZoneTexte 7"/>
          <p:cNvSpPr/>
          <p:nvPr/>
        </p:nvSpPr>
        <p:spPr>
          <a:xfrm>
            <a:off x="423360" y="4359240"/>
            <a:ext cx="34333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Cas : Système thermo-élastique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7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8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nodeType="clickEffect" fill="hold">
                      <p:stCondLst>
                        <p:cond delay="indefinite"/>
                      </p:stCondLst>
                      <p:childTnLst>
                        <p:par>
                          <p:cTn id="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4" dur="8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5" dur="8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nodeType="clickEffect" fill="hold">
                      <p:stCondLst>
                        <p:cond delay="indefinite"/>
                      </p:stCondLst>
                      <p:childTnLst>
                        <p:par>
                          <p:cTn id="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 txBox="1"/>
          <p:nvPr/>
        </p:nvSpPr>
        <p:spPr>
          <a:xfrm>
            <a:off x="2428920" y="1714680"/>
            <a:ext cx="4286160" cy="1000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1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cal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= 4,18 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joules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24" name="Picture 6" descr=""/>
          <p:cNvPicPr/>
          <p:nvPr/>
        </p:nvPicPr>
        <p:blipFill>
          <a:blip r:embed="rId1"/>
          <a:stretch/>
        </p:blipFill>
        <p:spPr>
          <a:xfrm>
            <a:off x="5205240" y="2543040"/>
            <a:ext cx="3938760" cy="431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Picture 4" descr=""/>
          <p:cNvPicPr/>
          <p:nvPr/>
        </p:nvPicPr>
        <p:blipFill>
          <a:blip r:embed="rId2"/>
          <a:stretch/>
        </p:blipFill>
        <p:spPr>
          <a:xfrm>
            <a:off x="0" y="2743200"/>
            <a:ext cx="2492280" cy="411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Rectangle 11"/>
          <p:cNvSpPr/>
          <p:nvPr/>
        </p:nvSpPr>
        <p:spPr>
          <a:xfrm>
            <a:off x="0" y="-1260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Calibri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" name="Object 2"/>
          <p:cNvGraphicFramePr/>
          <p:nvPr/>
        </p:nvGraphicFramePr>
        <p:xfrm>
          <a:off x="571680" y="642960"/>
          <a:ext cx="3348000" cy="106056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28" name="Object 2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571680" y="642960"/>
                    <a:ext cx="3348000" cy="1060560"/>
                  </a:xfrm>
                  <a:prstGeom prst="rect">
                    <a:avLst/>
                  </a:prstGeom>
                  <a:solidFill>
                    <a:srgbClr val="ffff00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9" name="ZoneTexte 6"/>
          <p:cNvSpPr/>
          <p:nvPr/>
        </p:nvSpPr>
        <p:spPr>
          <a:xfrm>
            <a:off x="2984400" y="3403440"/>
            <a:ext cx="24447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2.m.g.h=m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eau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.Cp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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-T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ZoneTexte 7"/>
          <p:cNvSpPr/>
          <p:nvPr/>
        </p:nvSpPr>
        <p:spPr>
          <a:xfrm>
            <a:off x="5539680" y="4673520"/>
            <a:ext cx="371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ZoneTexte 8"/>
          <p:cNvSpPr/>
          <p:nvPr/>
        </p:nvSpPr>
        <p:spPr>
          <a:xfrm>
            <a:off x="8456040" y="5851440"/>
            <a:ext cx="371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" name="Connecteur droit avec flèche 10"/>
          <p:cNvCxnSpPr/>
          <p:nvPr/>
        </p:nvCxnSpPr>
        <p:spPr>
          <a:xfrm>
            <a:off x="8970840" y="3932280"/>
            <a:ext cx="30600" cy="2580480"/>
          </a:xfrm>
          <a:prstGeom prst="straightConnector1">
            <a:avLst/>
          </a:prstGeom>
          <a:ln w="9360">
            <a:solidFill>
              <a:srgbClr val="000000"/>
            </a:solidFill>
            <a:miter/>
            <a:headEnd len="med" type="stealth" w="med"/>
            <a:tailEnd len="med" type="stealth" w="med"/>
          </a:ln>
        </p:spPr>
      </p:cxnSp>
      <p:sp>
        <p:nvSpPr>
          <p:cNvPr id="33" name="Connecteur droit 12"/>
          <p:cNvSpPr/>
          <p:nvPr/>
        </p:nvSpPr>
        <p:spPr>
          <a:xfrm>
            <a:off x="4876920" y="6532560"/>
            <a:ext cx="4267080" cy="144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ZoneTexte 15"/>
          <p:cNvSpPr/>
          <p:nvPr/>
        </p:nvSpPr>
        <p:spPr>
          <a:xfrm>
            <a:off x="6644520" y="5343480"/>
            <a:ext cx="59220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eau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nodeType="clickEffect" fill="hold">
                      <p:stCondLst>
                        <p:cond delay="0"/>
                      </p:stCondLst>
                      <p:childTnLst>
                        <p:par>
                          <p:cTn id="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3"/>
          <p:cNvSpPr/>
          <p:nvPr/>
        </p:nvSpPr>
        <p:spPr>
          <a:xfrm>
            <a:off x="101520" y="708120"/>
            <a:ext cx="5075280" cy="4079880"/>
          </a:xfrm>
          <a:prstGeom prst="rect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AutoShape 10"/>
          <p:cNvSpPr/>
          <p:nvPr/>
        </p:nvSpPr>
        <p:spPr>
          <a:xfrm>
            <a:off x="104760" y="690480"/>
            <a:ext cx="5046840" cy="39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reeform 11"/>
          <p:cNvSpPr/>
          <p:nvPr/>
        </p:nvSpPr>
        <p:spPr>
          <a:xfrm>
            <a:off x="1434960" y="2033640"/>
            <a:ext cx="2787840" cy="2003400"/>
          </a:xfrm>
          <a:custGeom>
            <a:avLst/>
            <a:gdLst>
              <a:gd name="textAreaLeft" fmla="*/ 0 w 2787840"/>
              <a:gd name="textAreaRight" fmla="*/ 2788200 w 2787840"/>
              <a:gd name="textAreaTop" fmla="*/ 0 h 2003400"/>
              <a:gd name="textAreaBottom" fmla="*/ 2003760 h 2003400"/>
              <a:gd name="GluePoint1X" fmla="*/ 0 w 2213"/>
              <a:gd name="GluePoint1Y" fmla="*/ 2147483646 h 1650"/>
              <a:gd name="GluePoint2X" fmla="*/ 2147483646 w 2213"/>
              <a:gd name="GluePoint2Y" fmla="*/ 2147483646 h 1650"/>
              <a:gd name="GluePoint3X" fmla="*/ 2147483646 w 2213"/>
              <a:gd name="GluePoint3Y" fmla="*/ 2147483646 h 1650"/>
              <a:gd name="GluePoint4X" fmla="*/ 2147483646 w 2213"/>
              <a:gd name="GluePoint4Y" fmla="*/ 2147483646 h 1650"/>
              <a:gd name="GluePoint5X" fmla="*/ 2147483646 w 2213"/>
              <a:gd name="GluePoint5Y" fmla="*/ 0 h 1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213" h="1650">
                <a:moveTo>
                  <a:pt x="0" y="1650"/>
                </a:moveTo>
                <a:cubicBezTo>
                  <a:pt x="69" y="1487"/>
                  <a:pt x="139" y="1325"/>
                  <a:pt x="280" y="1147"/>
                </a:cubicBezTo>
                <a:cubicBezTo>
                  <a:pt x="421" y="969"/>
                  <a:pt x="637" y="741"/>
                  <a:pt x="847" y="580"/>
                </a:cubicBezTo>
                <a:cubicBezTo>
                  <a:pt x="1057" y="419"/>
                  <a:pt x="1312" y="277"/>
                  <a:pt x="1540" y="180"/>
                </a:cubicBezTo>
                <a:cubicBezTo>
                  <a:pt x="1768" y="83"/>
                  <a:pt x="1990" y="41"/>
                  <a:pt x="2213" y="0"/>
                </a:cubicBezTo>
              </a:path>
            </a:pathLst>
          </a:custGeom>
          <a:noFill/>
          <a:ln w="9360">
            <a:solidFill>
              <a:srgbClr val="993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reeform 12"/>
          <p:cNvSpPr/>
          <p:nvPr/>
        </p:nvSpPr>
        <p:spPr>
          <a:xfrm>
            <a:off x="1434960" y="2044800"/>
            <a:ext cx="2783160" cy="1992240"/>
          </a:xfrm>
          <a:custGeom>
            <a:avLst/>
            <a:gdLst>
              <a:gd name="textAreaLeft" fmla="*/ 0 w 2783160"/>
              <a:gd name="textAreaRight" fmla="*/ 2783520 w 2783160"/>
              <a:gd name="textAreaTop" fmla="*/ 0 h 1992240"/>
              <a:gd name="textAreaBottom" fmla="*/ 1992600 h 1992240"/>
              <a:gd name="GluePoint1X" fmla="*/ 0 w 2210"/>
              <a:gd name="GluePoint1Y" fmla="*/ 2147483646 h 1640"/>
              <a:gd name="GluePoint2X" fmla="*/ 2147483646 w 2210"/>
              <a:gd name="GluePoint2Y" fmla="*/ 2147483646 h 1640"/>
              <a:gd name="GluePoint3X" fmla="*/ 2147483646 w 2210"/>
              <a:gd name="GluePoint3Y" fmla="*/ 2147483646 h 1640"/>
              <a:gd name="GluePoint4X" fmla="*/ 2147483646 w 2210"/>
              <a:gd name="GluePoint4Y" fmla="*/ 2147483646 h 1640"/>
              <a:gd name="GluePoint5X" fmla="*/ 2147483646 w 2210"/>
              <a:gd name="GluePoint5Y" fmla="*/ 0 h 16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210" h="1640">
                <a:moveTo>
                  <a:pt x="0" y="1640"/>
                </a:moveTo>
                <a:cubicBezTo>
                  <a:pt x="77" y="1613"/>
                  <a:pt x="286" y="1572"/>
                  <a:pt x="461" y="1480"/>
                </a:cubicBezTo>
                <a:cubicBezTo>
                  <a:pt x="636" y="1388"/>
                  <a:pt x="861" y="1230"/>
                  <a:pt x="1051" y="1090"/>
                </a:cubicBezTo>
                <a:cubicBezTo>
                  <a:pt x="1241" y="950"/>
                  <a:pt x="1408" y="822"/>
                  <a:pt x="1601" y="640"/>
                </a:cubicBezTo>
                <a:cubicBezTo>
                  <a:pt x="1794" y="458"/>
                  <a:pt x="2083" y="133"/>
                  <a:pt x="2210" y="0"/>
                </a:cubicBezTo>
              </a:path>
            </a:pathLst>
          </a:custGeom>
          <a:noFill/>
          <a:ln w="9360">
            <a:solidFill>
              <a:srgbClr val="8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reeform 13"/>
          <p:cNvSpPr/>
          <p:nvPr/>
        </p:nvSpPr>
        <p:spPr>
          <a:xfrm>
            <a:off x="1434960" y="2008080"/>
            <a:ext cx="2783160" cy="2016360"/>
          </a:xfrm>
          <a:custGeom>
            <a:avLst/>
            <a:gdLst>
              <a:gd name="textAreaLeft" fmla="*/ 0 w 2783160"/>
              <a:gd name="textAreaRight" fmla="*/ 2783520 w 2783160"/>
              <a:gd name="textAreaTop" fmla="*/ 0 h 2016360"/>
              <a:gd name="textAreaBottom" fmla="*/ 2016720 h 2016360"/>
              <a:gd name="GluePoint1X" fmla="*/ 0 w 2210"/>
              <a:gd name="GluePoint1Y" fmla="*/ 2147483646 h 1661"/>
              <a:gd name="GluePoint2X" fmla="*/ 2147483646 w 2210"/>
              <a:gd name="GluePoint2Y" fmla="*/ 2147483646 h 1661"/>
              <a:gd name="GluePoint3X" fmla="*/ 2147483646 w 2210"/>
              <a:gd name="GluePoint3Y" fmla="*/ 2147483646 h 1661"/>
              <a:gd name="GluePoint4X" fmla="*/ 2147483646 w 2210"/>
              <a:gd name="GluePoint4Y" fmla="*/ 2147483646 h 1661"/>
              <a:gd name="GluePoint5X" fmla="*/ 2147483646 w 2210"/>
              <a:gd name="GluePoint5Y" fmla="*/ 2147483646 h 1661"/>
              <a:gd name="GluePoint6X" fmla="*/ 2147483646 w 2210"/>
              <a:gd name="GluePoint6Y" fmla="*/ 2147483646 h 1661"/>
              <a:gd name="GluePoint7X" fmla="*/ 2147483646 w 2210"/>
              <a:gd name="GluePoint7Y" fmla="*/ 2147483646 h 1661"/>
              <a:gd name="GluePoint8X" fmla="*/ 2147483646 w 2210"/>
              <a:gd name="GluePoint8Y" fmla="*/ 2147483646 h 16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2210" h="1661">
                <a:moveTo>
                  <a:pt x="0" y="1661"/>
                </a:moveTo>
                <a:cubicBezTo>
                  <a:pt x="15" y="1588"/>
                  <a:pt x="58" y="1344"/>
                  <a:pt x="91" y="1221"/>
                </a:cubicBezTo>
                <a:cubicBezTo>
                  <a:pt x="124" y="1098"/>
                  <a:pt x="135" y="1039"/>
                  <a:pt x="198" y="921"/>
                </a:cubicBezTo>
                <a:cubicBezTo>
                  <a:pt x="261" y="803"/>
                  <a:pt x="377" y="624"/>
                  <a:pt x="471" y="511"/>
                </a:cubicBezTo>
                <a:cubicBezTo>
                  <a:pt x="565" y="398"/>
                  <a:pt x="666" y="311"/>
                  <a:pt x="761" y="241"/>
                </a:cubicBezTo>
                <a:cubicBezTo>
                  <a:pt x="856" y="171"/>
                  <a:pt x="934" y="129"/>
                  <a:pt x="1041" y="91"/>
                </a:cubicBezTo>
                <a:cubicBezTo>
                  <a:pt x="1148" y="53"/>
                  <a:pt x="1206" y="22"/>
                  <a:pt x="1401" y="11"/>
                </a:cubicBezTo>
                <a:cubicBezTo>
                  <a:pt x="1596" y="0"/>
                  <a:pt x="2042" y="20"/>
                  <a:pt x="2210" y="22"/>
                </a:cubicBezTo>
              </a:path>
            </a:pathLst>
          </a:custGeom>
          <a:noFill/>
          <a:ln w="9360">
            <a:solidFill>
              <a:srgbClr val="3366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reeform 14"/>
          <p:cNvSpPr/>
          <p:nvPr/>
        </p:nvSpPr>
        <p:spPr>
          <a:xfrm>
            <a:off x="1434960" y="2044800"/>
            <a:ext cx="2748240" cy="2030400"/>
          </a:xfrm>
          <a:custGeom>
            <a:avLst/>
            <a:gdLst>
              <a:gd name="textAreaLeft" fmla="*/ 0 w 2748240"/>
              <a:gd name="textAreaRight" fmla="*/ 2748600 w 2748240"/>
              <a:gd name="textAreaTop" fmla="*/ 0 h 2030400"/>
              <a:gd name="textAreaBottom" fmla="*/ 2030760 h 2030400"/>
              <a:gd name="GluePoint1X" fmla="*/ 2147483646 w 2180"/>
              <a:gd name="GluePoint1Y" fmla="*/ 0 h 1673"/>
              <a:gd name="GluePoint2X" fmla="*/ 2147483646 w 2180"/>
              <a:gd name="GluePoint2Y" fmla="*/ 2147483646 h 1673"/>
              <a:gd name="GluePoint3X" fmla="*/ 2147483646 w 2180"/>
              <a:gd name="GluePoint3Y" fmla="*/ 2147483646 h 1673"/>
              <a:gd name="GluePoint4X" fmla="*/ 2147483646 w 2180"/>
              <a:gd name="GluePoint4Y" fmla="*/ 2147483646 h 1673"/>
              <a:gd name="GluePoint5X" fmla="*/ 2147483646 w 2180"/>
              <a:gd name="GluePoint5Y" fmla="*/ 2147483646 h 1673"/>
              <a:gd name="GluePoint6X" fmla="*/ 0 w 2180"/>
              <a:gd name="GluePoint6Y" fmla="*/ 2147483646 h 167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2180" h="1673">
                <a:moveTo>
                  <a:pt x="2180" y="0"/>
                </a:moveTo>
                <a:cubicBezTo>
                  <a:pt x="2172" y="236"/>
                  <a:pt x="2165" y="473"/>
                  <a:pt x="2050" y="680"/>
                </a:cubicBezTo>
                <a:cubicBezTo>
                  <a:pt x="1935" y="887"/>
                  <a:pt x="1662" y="1095"/>
                  <a:pt x="1490" y="1240"/>
                </a:cubicBezTo>
                <a:cubicBezTo>
                  <a:pt x="1318" y="1385"/>
                  <a:pt x="1173" y="1480"/>
                  <a:pt x="1020" y="1550"/>
                </a:cubicBezTo>
                <a:cubicBezTo>
                  <a:pt x="867" y="1620"/>
                  <a:pt x="740" y="1647"/>
                  <a:pt x="570" y="1660"/>
                </a:cubicBezTo>
                <a:cubicBezTo>
                  <a:pt x="400" y="1673"/>
                  <a:pt x="119" y="1636"/>
                  <a:pt x="0" y="1630"/>
                </a:cubicBezTo>
              </a:path>
            </a:pathLst>
          </a:custGeom>
          <a:noFill/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Box 15"/>
          <p:cNvSpPr/>
          <p:nvPr/>
        </p:nvSpPr>
        <p:spPr>
          <a:xfrm>
            <a:off x="866880" y="4145040"/>
            <a:ext cx="10602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35640" bIns="3564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Etat 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Box 16"/>
          <p:cNvSpPr/>
          <p:nvPr/>
        </p:nvSpPr>
        <p:spPr>
          <a:xfrm>
            <a:off x="3840120" y="1535040"/>
            <a:ext cx="105876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35640" bIns="3564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Etat 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Box 17"/>
          <p:cNvSpPr/>
          <p:nvPr/>
        </p:nvSpPr>
        <p:spPr>
          <a:xfrm>
            <a:off x="665280" y="1839960"/>
            <a:ext cx="140976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35640" bIns="35640" anchor="t">
            <a:normAutofit fontScale="92500" lnSpcReduction="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r>
              <a:rPr b="0" lang="fr-FR" sz="24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r>
              <a:rPr b="0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b="0" i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r>
              <a:rPr b="0" lang="fr-FR" sz="24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Box 18"/>
          <p:cNvSpPr/>
          <p:nvPr/>
        </p:nvSpPr>
        <p:spPr>
          <a:xfrm>
            <a:off x="1927080" y="2446200"/>
            <a:ext cx="140652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35640" bIns="35640" anchor="t">
            <a:normAutofit fontScale="92500" lnSpcReduction="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r>
              <a:rPr b="0" lang="fr-FR" sz="24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r>
              <a:rPr b="0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b="0" i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r>
              <a:rPr b="0" lang="fr-FR" sz="24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Box 19"/>
          <p:cNvSpPr/>
          <p:nvPr/>
        </p:nvSpPr>
        <p:spPr>
          <a:xfrm>
            <a:off x="1889280" y="2008080"/>
            <a:ext cx="1407960" cy="4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35640" bIns="35640" anchor="t">
            <a:normAutofit fontScale="92500" lnSpcReduction="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r>
              <a:rPr b="0" lang="fr-FR" sz="24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r>
              <a:rPr b="0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b="0" i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r>
              <a:rPr b="0" lang="fr-FR" sz="24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3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Box 20"/>
          <p:cNvSpPr/>
          <p:nvPr/>
        </p:nvSpPr>
        <p:spPr>
          <a:xfrm>
            <a:off x="2279520" y="2990880"/>
            <a:ext cx="140832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35640" bIns="35640" anchor="t">
            <a:normAutofit fontScale="92500" lnSpcReduction="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r>
              <a:rPr b="0" lang="fr-FR" sz="24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r>
              <a:rPr b="0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b="0" i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r>
              <a:rPr b="0" lang="fr-FR" sz="24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Box 21"/>
          <p:cNvSpPr/>
          <p:nvPr/>
        </p:nvSpPr>
        <p:spPr>
          <a:xfrm>
            <a:off x="2938320" y="3560760"/>
            <a:ext cx="140652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35640" bIns="35640" anchor="t">
            <a:normAutofit fontScale="92500" lnSpcReduction="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r>
              <a:rPr b="0" lang="fr-FR" sz="24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r>
              <a:rPr b="0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, </a:t>
            </a:r>
            <a:r>
              <a:rPr b="0" i="1" lang="fr-FR" sz="24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r>
              <a:rPr b="0" lang="fr-FR" sz="2400" strike="noStrike" u="none" baseline="-25000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Line 22"/>
          <p:cNvSpPr/>
          <p:nvPr/>
        </p:nvSpPr>
        <p:spPr>
          <a:xfrm>
            <a:off x="369720" y="4648320"/>
            <a:ext cx="4772160" cy="14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9" name="Group 23"/>
          <p:cNvGrpSpPr/>
          <p:nvPr/>
        </p:nvGrpSpPr>
        <p:grpSpPr>
          <a:xfrm>
            <a:off x="369720" y="1088640"/>
            <a:ext cx="3823920" cy="3554280"/>
            <a:chOff x="369720" y="1088640"/>
            <a:chExt cx="3823920" cy="3554280"/>
          </a:xfrm>
        </p:grpSpPr>
        <p:sp>
          <p:nvSpPr>
            <p:cNvPr id="50" name="Freeform 24"/>
            <p:cNvSpPr/>
            <p:nvPr/>
          </p:nvSpPr>
          <p:spPr>
            <a:xfrm>
              <a:off x="821880" y="1597680"/>
              <a:ext cx="3371760" cy="2450520"/>
            </a:xfrm>
            <a:custGeom>
              <a:avLst/>
              <a:gdLst>
                <a:gd name="textAreaLeft" fmla="*/ 0 w 3371760"/>
                <a:gd name="textAreaRight" fmla="*/ 3372120 w 3371760"/>
                <a:gd name="textAreaTop" fmla="*/ 0 h 2450520"/>
                <a:gd name="textAreaBottom" fmla="*/ 2450880 h 2450520"/>
                <a:gd name="GluePoint1X" fmla="*/ 13 w 2678"/>
                <a:gd name="GluePoint1Y" fmla="*/ 50 h 2020"/>
                <a:gd name="GluePoint2X" fmla="*/ 2 w 2678"/>
                <a:gd name="GluePoint2Y" fmla="*/ 30 h 2020"/>
                <a:gd name="GluePoint3X" fmla="*/ 8 w 2678"/>
                <a:gd name="GluePoint3Y" fmla="*/ 28 h 2020"/>
                <a:gd name="GluePoint4X" fmla="*/ 10 w 2678"/>
                <a:gd name="GluePoint4Y" fmla="*/ 15 h 2020"/>
                <a:gd name="GluePoint5X" fmla="*/ 22 w 2678"/>
                <a:gd name="GluePoint5Y" fmla="*/ 12 h 2020"/>
                <a:gd name="GluePoint6X" fmla="*/ 34 w 2678"/>
                <a:gd name="GluePoint6Y" fmla="*/ 2 h 2020"/>
                <a:gd name="GluePoint7X" fmla="*/ 50 w 2678"/>
                <a:gd name="GluePoint7Y" fmla="*/ 3 h 2020"/>
                <a:gd name="GluePoint8X" fmla="*/ 67 w 2678"/>
                <a:gd name="GluePoint8Y" fmla="*/ 8 h 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2678" h="2020">
                  <a:moveTo>
                    <a:pt x="497" y="2020"/>
                  </a:moveTo>
                  <a:cubicBezTo>
                    <a:pt x="417" y="1890"/>
                    <a:pt x="54" y="1386"/>
                    <a:pt x="27" y="1239"/>
                  </a:cubicBezTo>
                  <a:cubicBezTo>
                    <a:pt x="0" y="1092"/>
                    <a:pt x="272" y="1244"/>
                    <a:pt x="337" y="1139"/>
                  </a:cubicBezTo>
                  <a:cubicBezTo>
                    <a:pt x="402" y="1034"/>
                    <a:pt x="322" y="718"/>
                    <a:pt x="417" y="610"/>
                  </a:cubicBezTo>
                  <a:cubicBezTo>
                    <a:pt x="512" y="502"/>
                    <a:pt x="747" y="582"/>
                    <a:pt x="907" y="490"/>
                  </a:cubicBezTo>
                  <a:cubicBezTo>
                    <a:pt x="1067" y="398"/>
                    <a:pt x="1194" y="120"/>
                    <a:pt x="1378" y="60"/>
                  </a:cubicBezTo>
                  <a:cubicBezTo>
                    <a:pt x="1561" y="0"/>
                    <a:pt x="1791" y="82"/>
                    <a:pt x="2008" y="130"/>
                  </a:cubicBezTo>
                  <a:cubicBezTo>
                    <a:pt x="2225" y="178"/>
                    <a:pt x="2451" y="264"/>
                    <a:pt x="2678" y="350"/>
                  </a:cubicBezTo>
                </a:path>
              </a:pathLst>
            </a:custGeom>
            <a:noFill/>
            <a:ln w="9360">
              <a:solidFill>
                <a:srgbClr val="ff6600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Line 25"/>
            <p:cNvSpPr/>
            <p:nvPr/>
          </p:nvSpPr>
          <p:spPr>
            <a:xfrm flipV="1">
              <a:off x="369720" y="1088640"/>
              <a:ext cx="0" cy="3554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" name="Text Box 26"/>
          <p:cNvSpPr/>
          <p:nvPr/>
        </p:nvSpPr>
        <p:spPr>
          <a:xfrm>
            <a:off x="4530600" y="4164120"/>
            <a:ext cx="62100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35640" bIns="35640" anchor="t">
            <a:normAutofit fontScale="85000" lnSpcReduction="9999"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Box 27"/>
          <p:cNvSpPr/>
          <p:nvPr/>
        </p:nvSpPr>
        <p:spPr>
          <a:xfrm>
            <a:off x="104760" y="690480"/>
            <a:ext cx="76824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1280" rIns="71280" tIns="35640" bIns="3564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3200" strike="noStrike" u="none">
                <a:solidFill>
                  <a:srgbClr val="c0504d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Line 28"/>
          <p:cNvSpPr/>
          <p:nvPr/>
        </p:nvSpPr>
        <p:spPr>
          <a:xfrm flipH="1">
            <a:off x="3263400" y="3301920"/>
            <a:ext cx="381240" cy="2793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Line 29"/>
          <p:cNvSpPr/>
          <p:nvPr/>
        </p:nvSpPr>
        <p:spPr>
          <a:xfrm flipV="1">
            <a:off x="3267000" y="2815920"/>
            <a:ext cx="225360" cy="1731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Line 30"/>
          <p:cNvSpPr/>
          <p:nvPr/>
        </p:nvSpPr>
        <p:spPr>
          <a:xfrm flipV="1">
            <a:off x="3267000" y="2206800"/>
            <a:ext cx="270000" cy="8712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0320" bIns="4032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Line 31"/>
          <p:cNvSpPr/>
          <p:nvPr/>
        </p:nvSpPr>
        <p:spPr>
          <a:xfrm flipV="1">
            <a:off x="2770200" y="2033640"/>
            <a:ext cx="316080" cy="8568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Line 32"/>
          <p:cNvSpPr/>
          <p:nvPr/>
        </p:nvSpPr>
        <p:spPr>
          <a:xfrm flipV="1">
            <a:off x="2228760" y="1684440"/>
            <a:ext cx="270000" cy="21744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Picture 34" descr=""/>
          <p:cNvPicPr/>
          <p:nvPr/>
        </p:nvPicPr>
        <p:blipFill>
          <a:blip r:embed="rId1"/>
          <a:stretch/>
        </p:blipFill>
        <p:spPr>
          <a:xfrm>
            <a:off x="5276880" y="1206360"/>
            <a:ext cx="3867120" cy="2955960"/>
          </a:xfrm>
          <a:prstGeom prst="rect">
            <a:avLst/>
          </a:prstGeom>
          <a:solidFill>
            <a:srgbClr val="66ffff"/>
          </a:solidFill>
          <a:ln w="0">
            <a:noFill/>
          </a:ln>
        </p:spPr>
      </p:pic>
      <p:sp>
        <p:nvSpPr>
          <p:cNvPr id="60" name="Rectangle 36"/>
          <p:cNvSpPr/>
          <p:nvPr/>
        </p:nvSpPr>
        <p:spPr>
          <a:xfrm>
            <a:off x="0" y="3333600"/>
            <a:ext cx="18432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1" name="Object 2"/>
          <p:cNvGraphicFramePr/>
          <p:nvPr/>
        </p:nvGraphicFramePr>
        <p:xfrm>
          <a:off x="165240" y="5189400"/>
          <a:ext cx="8813520" cy="78768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62" name="Object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65240" y="5189400"/>
                    <a:ext cx="8813520" cy="787680"/>
                  </a:xfrm>
                  <a:prstGeom prst="rect">
                    <a:avLst/>
                  </a:prstGeom>
                  <a:solidFill>
                    <a:srgbClr val="cc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3" name="Rectangle 11"/>
          <p:cNvSpPr/>
          <p:nvPr/>
        </p:nvSpPr>
        <p:spPr>
          <a:xfrm>
            <a:off x="0" y="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Times New Roman"/>
                <a:ea typeface="Times New Roman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9" dur="indefinite" restart="never" nodeType="tmRoot">
          <p:childTnLst>
            <p:seq>
              <p:cTn id="40" dur="indefinite" nodeType="mainSeq">
                <p:childTnLst>
                  <p:par>
                    <p:cTn id="41" nodeType="clickEffect" fill="hold">
                      <p:stCondLst>
                        <p:cond delay="0"/>
                      </p:stCondLst>
                      <p:childTnLst>
                        <p:par>
                          <p:cTn id="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withEffect" fill="hold" presetClass="entr" presetID="4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nodeType="clickEffect" fill="hold">
                      <p:stCondLst>
                        <p:cond delay="indefinite"/>
                      </p:stCondLst>
                      <p:childTnLst>
                        <p:par>
                          <p:cTn id="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 Box 3"/>
          <p:cNvSpPr/>
          <p:nvPr/>
        </p:nvSpPr>
        <p:spPr>
          <a:xfrm>
            <a:off x="0" y="1498680"/>
            <a:ext cx="9144000" cy="31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quantité (</a:t>
            </a:r>
            <a:r>
              <a:rPr b="1" lang="fr-FR" sz="36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W+Q</a:t>
            </a: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) est indépendante de la </a:t>
            </a:r>
            <a:r>
              <a:rPr b="0" lang="fr-FR" sz="36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nature</a:t>
            </a: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de la transformation du système de l’état 1 à l’état 2. Cette somme est par définition égale à la variation d’une </a:t>
            </a:r>
            <a:r>
              <a:rPr b="0" lang="fr-FR" sz="3600" strike="noStrike" u="sng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fonction d'état </a:t>
            </a: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appelée :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« </a:t>
            </a:r>
            <a:r>
              <a:rPr b="1" lang="fr-FR" sz="36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énergie interne</a:t>
            </a: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» du système notée </a:t>
            </a:r>
            <a:r>
              <a:rPr b="0" i="1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</a:t>
            </a: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 :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0" y="0"/>
            <a:ext cx="1843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7"/>
          <p:cNvSpPr/>
          <p:nvPr/>
        </p:nvSpPr>
        <p:spPr>
          <a:xfrm>
            <a:off x="0" y="3338640"/>
            <a:ext cx="1843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7" name="Object 3"/>
          <p:cNvGraphicFramePr/>
          <p:nvPr/>
        </p:nvGraphicFramePr>
        <p:xfrm>
          <a:off x="2451240" y="5213520"/>
          <a:ext cx="4860720" cy="12650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68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451240" y="5213520"/>
                    <a:ext cx="4860720" cy="1265040"/>
                  </a:xfrm>
                  <a:prstGeom prst="rect">
                    <a:avLst/>
                  </a:prstGeom>
                  <a:solidFill>
                    <a:srgbClr val="cc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9" name="Text Box 8"/>
          <p:cNvSpPr/>
          <p:nvPr/>
        </p:nvSpPr>
        <p:spPr>
          <a:xfrm>
            <a:off x="351720" y="692280"/>
            <a:ext cx="7142040" cy="70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0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Conséquence du premier principe</a:t>
            </a:r>
            <a:r>
              <a:rPr b="0" lang="fr-FR" sz="40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11"/>
          <p:cNvSpPr/>
          <p:nvPr/>
        </p:nvSpPr>
        <p:spPr>
          <a:xfrm>
            <a:off x="0" y="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Times New Roman"/>
                <a:ea typeface="Times New Roman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54" dur="indefinite" restart="never" nodeType="tmRoot">
          <p:childTnLst>
            <p:seq>
              <p:cTn id="55" dur="indefinite" nodeType="mainSeq">
                <p:childTnLst>
                  <p:par>
                    <p:cTn id="56" nodeType="clickEffect" fill="hold">
                      <p:stCondLst>
                        <p:cond delay="indefinite"/>
                      </p:stCondLst>
                      <p:childTnLst>
                        <p:par>
                          <p:cTn id="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60" dur="80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61" dur="80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80"/>
                                        <p:tgtEl>
                                          <p:spTgt spid="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nodeType="clickEffect" fill="hold">
                      <p:stCondLst>
                        <p:cond delay="indefinite"/>
                      </p:stCondLst>
                      <p:childTnLst>
                        <p:par>
                          <p:cTn id="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67" dur="80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68" dur="80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80"/>
                                        <p:tgtEl>
                                          <p:spTgt spid="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nodeType="clickEffect" fill="hold">
                      <p:stCondLst>
                        <p:cond delay="indefinite"/>
                      </p:stCondLst>
                      <p:childTnLst>
                        <p:par>
                          <p:cTn id="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5"/>
          <p:cNvSpPr/>
          <p:nvPr/>
        </p:nvSpPr>
        <p:spPr>
          <a:xfrm>
            <a:off x="0" y="2619360"/>
            <a:ext cx="18432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2" name="Group 3"/>
          <p:cNvGrpSpPr/>
          <p:nvPr/>
        </p:nvGrpSpPr>
        <p:grpSpPr>
          <a:xfrm>
            <a:off x="5508720" y="954000"/>
            <a:ext cx="3635280" cy="3429000"/>
            <a:chOff x="5508720" y="954000"/>
            <a:chExt cx="3635280" cy="3429000"/>
          </a:xfrm>
        </p:grpSpPr>
        <p:sp>
          <p:nvSpPr>
            <p:cNvPr id="73" name="AutoShape 14"/>
            <p:cNvSpPr/>
            <p:nvPr/>
          </p:nvSpPr>
          <p:spPr>
            <a:xfrm>
              <a:off x="5508720" y="954000"/>
              <a:ext cx="3635280" cy="3429000"/>
            </a:xfrm>
            <a:prstGeom prst="rect">
              <a:avLst/>
            </a:prstGeom>
            <a:solidFill>
              <a:srgbClr val="ccf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 Box 13"/>
            <p:cNvSpPr/>
            <p:nvPr/>
          </p:nvSpPr>
          <p:spPr>
            <a:xfrm>
              <a:off x="6132960" y="3229200"/>
              <a:ext cx="780120" cy="424800"/>
            </a:xfrm>
            <a:prstGeom prst="rect">
              <a:avLst/>
            </a:prstGeom>
            <a:solidFill>
              <a:srgbClr val="ccf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1840" rIns="51840" tIns="25920" bIns="2592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Etat 1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 Box 12"/>
            <p:cNvSpPr/>
            <p:nvPr/>
          </p:nvSpPr>
          <p:spPr>
            <a:xfrm>
              <a:off x="7203240" y="1145160"/>
              <a:ext cx="780120" cy="440640"/>
            </a:xfrm>
            <a:prstGeom prst="rect">
              <a:avLst/>
            </a:prstGeom>
            <a:solidFill>
              <a:srgbClr val="ccf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1840" rIns="51840" tIns="25920" bIns="2592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Etat 2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Oval 11"/>
            <p:cNvSpPr/>
            <p:nvPr/>
          </p:nvSpPr>
          <p:spPr>
            <a:xfrm>
              <a:off x="6665040" y="3229200"/>
              <a:ext cx="45000" cy="45000"/>
            </a:xfrm>
            <a:prstGeom prst="ellipse">
              <a:avLst/>
            </a:prstGeom>
            <a:solidFill>
              <a:srgbClr val="cc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Oval 10"/>
            <p:cNvSpPr/>
            <p:nvPr/>
          </p:nvSpPr>
          <p:spPr>
            <a:xfrm>
              <a:off x="8021520" y="1454760"/>
              <a:ext cx="45000" cy="45000"/>
            </a:xfrm>
            <a:prstGeom prst="ellipse">
              <a:avLst/>
            </a:prstGeom>
            <a:solidFill>
              <a:srgbClr val="cc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4760" bIns="-1476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Line 9"/>
            <p:cNvSpPr/>
            <p:nvPr/>
          </p:nvSpPr>
          <p:spPr>
            <a:xfrm flipV="1">
              <a:off x="6815520" y="2451240"/>
              <a:ext cx="65520" cy="233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Freeform 8"/>
            <p:cNvSpPr/>
            <p:nvPr/>
          </p:nvSpPr>
          <p:spPr>
            <a:xfrm>
              <a:off x="6669000" y="1461960"/>
              <a:ext cx="1387800" cy="1780560"/>
            </a:xfrm>
            <a:custGeom>
              <a:avLst/>
              <a:gdLst>
                <a:gd name="textAreaLeft" fmla="*/ 0 w 1387800"/>
                <a:gd name="textAreaRight" fmla="*/ 1388160 w 1387800"/>
                <a:gd name="textAreaTop" fmla="*/ 0 h 1780560"/>
                <a:gd name="textAreaBottom" fmla="*/ 1780920 h 1780560"/>
                <a:gd name="GluePoint1X" fmla="*/ 0 w 1452"/>
                <a:gd name="GluePoint1Y" fmla="*/ 520 h 1566"/>
                <a:gd name="GluePoint2X" fmla="*/ 4 w 1452"/>
                <a:gd name="GluePoint2Y" fmla="*/ 300 h 1566"/>
                <a:gd name="GluePoint3X" fmla="*/ 12 w 1452"/>
                <a:gd name="GluePoint3Y" fmla="*/ 143 h 1566"/>
                <a:gd name="GluePoint4X" fmla="*/ 21 w 1452"/>
                <a:gd name="GluePoint4Y" fmla="*/ 46 h 1566"/>
                <a:gd name="GluePoint5X" fmla="*/ 30 w 1452"/>
                <a:gd name="GluePoint5Y" fmla="*/ 0 h 156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52" h="1566">
                  <a:moveTo>
                    <a:pt x="0" y="1566"/>
                  </a:moveTo>
                  <a:cubicBezTo>
                    <a:pt x="54" y="1329"/>
                    <a:pt x="108" y="1092"/>
                    <a:pt x="200" y="902"/>
                  </a:cubicBezTo>
                  <a:cubicBezTo>
                    <a:pt x="292" y="712"/>
                    <a:pt x="418" y="553"/>
                    <a:pt x="551" y="426"/>
                  </a:cubicBezTo>
                  <a:cubicBezTo>
                    <a:pt x="684" y="299"/>
                    <a:pt x="851" y="209"/>
                    <a:pt x="1001" y="138"/>
                  </a:cubicBezTo>
                  <a:cubicBezTo>
                    <a:pt x="1151" y="67"/>
                    <a:pt x="1301" y="33"/>
                    <a:pt x="1452" y="0"/>
                  </a:cubicBezTo>
                </a:path>
              </a:pathLst>
            </a:custGeom>
            <a:solidFill>
              <a:srgbClr val="ccff99"/>
            </a:solidFill>
            <a:ln w="936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Line 7"/>
            <p:cNvSpPr/>
            <p:nvPr/>
          </p:nvSpPr>
          <p:spPr>
            <a:xfrm>
              <a:off x="5658480" y="978120"/>
              <a:ext cx="14040" cy="30499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Line 6"/>
            <p:cNvSpPr/>
            <p:nvPr/>
          </p:nvSpPr>
          <p:spPr>
            <a:xfrm flipV="1">
              <a:off x="5657040" y="4014720"/>
              <a:ext cx="3385440" cy="11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4920" bIns="-349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Text Box 5"/>
            <p:cNvSpPr/>
            <p:nvPr/>
          </p:nvSpPr>
          <p:spPr>
            <a:xfrm>
              <a:off x="5738760" y="954000"/>
              <a:ext cx="781560" cy="373680"/>
            </a:xfrm>
            <a:prstGeom prst="rect">
              <a:avLst/>
            </a:prstGeom>
            <a:solidFill>
              <a:srgbClr val="ccf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1840" rIns="51840" tIns="25920" bIns="2592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P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Text Box 4"/>
            <p:cNvSpPr/>
            <p:nvPr/>
          </p:nvSpPr>
          <p:spPr>
            <a:xfrm>
              <a:off x="8520480" y="4015080"/>
              <a:ext cx="522000" cy="367920"/>
            </a:xfrm>
            <a:prstGeom prst="rect">
              <a:avLst/>
            </a:prstGeom>
            <a:solidFill>
              <a:srgbClr val="ccf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1840" rIns="51840" tIns="25920" bIns="25920" anchor="t">
              <a:normAutofit fontScale="850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V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4" name="Rectangle 21"/>
          <p:cNvSpPr/>
          <p:nvPr/>
        </p:nvSpPr>
        <p:spPr>
          <a:xfrm>
            <a:off x="217080" y="601560"/>
            <a:ext cx="473436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Énoncé du Premier principe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5" name="Object 2"/>
          <p:cNvGraphicFramePr/>
          <p:nvPr/>
        </p:nvGraphicFramePr>
        <p:xfrm>
          <a:off x="-2347920" y="3056040"/>
          <a:ext cx="771480" cy="1904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86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-2347920" y="3056040"/>
                    <a:ext cx="771480" cy="190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87" name="Object 3"/>
          <p:cNvGraphicFramePr/>
          <p:nvPr/>
        </p:nvGraphicFramePr>
        <p:xfrm>
          <a:off x="-2347920" y="3855960"/>
          <a:ext cx="1266840" cy="19044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88" name="Object 3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-2347920" y="3855960"/>
                    <a:ext cx="1266840" cy="190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9" name="Rectangle 26"/>
          <p:cNvSpPr/>
          <p:nvPr/>
        </p:nvSpPr>
        <p:spPr>
          <a:xfrm>
            <a:off x="-2343960" y="3427920"/>
            <a:ext cx="633600" cy="3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égale à :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Box 27"/>
          <p:cNvSpPr/>
          <p:nvPr/>
        </p:nvSpPr>
        <p:spPr>
          <a:xfrm>
            <a:off x="0" y="1214280"/>
            <a:ext cx="5511960" cy="350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Si au cours d’une transformation d’un système fermé d’un état initial (1) à un état final (2), il y a échange d’une quantité de chaleur </a:t>
            </a:r>
            <a:r>
              <a:rPr b="0" i="1" lang="fr-FR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et d’un travail</a:t>
            </a:r>
            <a:r>
              <a:rPr b="0" i="1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r>
              <a:rPr b="0" i="1" lang="fr-FR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avec le milieu extérieur,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28"/>
          <p:cNvSpPr/>
          <p:nvPr/>
        </p:nvSpPr>
        <p:spPr>
          <a:xfrm>
            <a:off x="165240" y="5067360"/>
            <a:ext cx="897876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alors la somme du travail et de la chaleur échangés est égale à la variation de l’énergie interne :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30"/>
          <p:cNvSpPr/>
          <p:nvPr/>
        </p:nvSpPr>
        <p:spPr>
          <a:xfrm>
            <a:off x="0" y="3333600"/>
            <a:ext cx="18432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3" name="Object 4"/>
          <p:cNvGraphicFramePr/>
          <p:nvPr/>
        </p:nvGraphicFramePr>
        <p:xfrm>
          <a:off x="3405240" y="6095880"/>
          <a:ext cx="4813200" cy="72396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94" name="Object 4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3405240" y="6095880"/>
                    <a:ext cx="4813200" cy="723960"/>
                  </a:xfrm>
                  <a:prstGeom prst="rect">
                    <a:avLst/>
                  </a:prstGeom>
                  <a:solidFill>
                    <a:srgbClr val="cc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5" name="Rectangle 11"/>
          <p:cNvSpPr/>
          <p:nvPr/>
        </p:nvSpPr>
        <p:spPr>
          <a:xfrm>
            <a:off x="0" y="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Times New Roman"/>
                <a:ea typeface="Times New Roman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76" dur="indefinite" restart="never" nodeType="tmRoot">
          <p:childTnLst>
            <p:seq>
              <p:cTn id="77" dur="indefinite" nodeType="mainSeq">
                <p:childTnLst>
                  <p:par>
                    <p:cTn id="78" nodeType="clickEffect" fill="hold">
                      <p:stCondLst>
                        <p:cond delay="indefinite"/>
                      </p:stCondLst>
                      <p:childTnLst>
                        <p:par>
                          <p:cTn id="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82" dur="80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83" dur="80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80"/>
                                        <p:tgtEl>
                                          <p:spTgt spid="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nodeType="clickEffect" fill="hold">
                      <p:stCondLst>
                        <p:cond delay="indefinite"/>
                      </p:stCondLst>
                      <p:childTnLst>
                        <p:par>
                          <p:cTn id="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nodeType="clickEffect" fill="hold">
                      <p:stCondLst>
                        <p:cond delay="indefinite"/>
                      </p:stCondLst>
                      <p:childTnLst>
                        <p:par>
                          <p:cTn id="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95" dur="8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96" dur="8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8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nodeType="clickEffect" fill="hold">
                      <p:stCondLst>
                        <p:cond delay="indefinite"/>
                      </p:stCondLst>
                      <p:childTnLst>
                        <p:par>
                          <p:cTn id="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02" dur="80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03" dur="80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4" dur="80"/>
                                        <p:tgtEl>
                                          <p:spTgt spid="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nodeType="clickEffect" fill="hold">
                      <p:stCondLst>
                        <p:cond delay="indefinite"/>
                      </p:stCondLst>
                      <p:childTnLst>
                        <p:par>
                          <p:cTn id="1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3"/>
          <p:cNvSpPr/>
          <p:nvPr/>
        </p:nvSpPr>
        <p:spPr>
          <a:xfrm>
            <a:off x="532800" y="620640"/>
            <a:ext cx="6658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Expression différentielle du premier principe</a:t>
            </a:r>
            <a:r>
              <a:rPr b="0" lang="fr-FR" sz="2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7" name="Object 4"/>
          <p:cNvGraphicFramePr/>
          <p:nvPr/>
        </p:nvGraphicFramePr>
        <p:xfrm>
          <a:off x="2603520" y="5256360"/>
          <a:ext cx="3946680" cy="9396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98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603520" y="5256360"/>
                    <a:ext cx="3946680" cy="939600"/>
                  </a:xfrm>
                  <a:prstGeom prst="rect">
                    <a:avLst/>
                  </a:prstGeom>
                  <a:solidFill>
                    <a:srgbClr val="cc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9" name="Rectangle 7"/>
          <p:cNvSpPr/>
          <p:nvPr/>
        </p:nvSpPr>
        <p:spPr>
          <a:xfrm>
            <a:off x="0" y="1440000"/>
            <a:ext cx="8931240" cy="25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Pour une transformation, entre deux états d’équilibre infiniment proches et faisant intervenir une quantité de chaleur : </a:t>
            </a:r>
            <a:r>
              <a:rPr b="0" lang="fr-FR" sz="40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0" lang="fr-FR" sz="4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   et un travail </a:t>
            </a:r>
            <a:r>
              <a:rPr b="0" lang="fr-FR" sz="40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0" lang="fr-FR" sz="4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W. 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10"/>
          <p:cNvSpPr/>
          <p:nvPr/>
        </p:nvSpPr>
        <p:spPr>
          <a:xfrm>
            <a:off x="374760" y="4172040"/>
            <a:ext cx="74163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variation de l’énergie interne s’écrit :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11"/>
          <p:cNvSpPr/>
          <p:nvPr/>
        </p:nvSpPr>
        <p:spPr>
          <a:xfrm>
            <a:off x="0" y="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Times New Roman"/>
                <a:ea typeface="Times New Roman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11" dur="indefinite" restart="never" nodeType="tmRoot">
          <p:childTnLst>
            <p:seq>
              <p:cTn id="112" dur="indefinite" nodeType="mainSeq">
                <p:childTnLst>
                  <p:par>
                    <p:cTn id="113" nodeType="clickEffect" fill="hold">
                      <p:stCondLst>
                        <p:cond delay="indefinite"/>
                      </p:stCondLst>
                      <p:childTnLst>
                        <p:par>
                          <p:cTn id="1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17" dur="80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18" dur="80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80"/>
                                        <p:tgtEl>
                                          <p:spTgt spid="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nodeType="clickEffect" fill="hold">
                      <p:stCondLst>
                        <p:cond delay="indefinite"/>
                      </p:stCondLst>
                      <p:childTnLst>
                        <p:par>
                          <p:cTn id="1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24" dur="80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25" dur="80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80"/>
                                        <p:tgtEl>
                                          <p:spTgt spid="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nodeType="clickEffect" fill="hold">
                      <p:stCondLst>
                        <p:cond delay="indefinite"/>
                      </p:stCondLst>
                      <p:childTnLst>
                        <p:par>
                          <p:cTn id="1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31" dur="8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32" dur="8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8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nodeType="clickEffect" fill="hold">
                      <p:stCondLst>
                        <p:cond delay="indefinite"/>
                      </p:stCondLst>
                      <p:childTnLst>
                        <p:par>
                          <p:cTn id="1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6"/>
          <p:cNvSpPr/>
          <p:nvPr/>
        </p:nvSpPr>
        <p:spPr>
          <a:xfrm>
            <a:off x="483840" y="615960"/>
            <a:ext cx="25930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Remarques :</a:t>
            </a:r>
            <a:r>
              <a:rPr b="0" lang="fr-FR" sz="36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1460520"/>
            <a:ext cx="898524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4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L’énergie interne a un caractère additif, la fonction énergie interne est alors une grandeur </a:t>
            </a:r>
            <a:r>
              <a:rPr b="1" lang="fr-FR" sz="40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extensive</a:t>
            </a:r>
            <a:r>
              <a:rPr b="0" lang="fr-FR" sz="4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.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11"/>
          <p:cNvSpPr/>
          <p:nvPr/>
        </p:nvSpPr>
        <p:spPr>
          <a:xfrm>
            <a:off x="0" y="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Calibri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5" name="Groupe 18"/>
          <p:cNvGrpSpPr/>
          <p:nvPr/>
        </p:nvGrpSpPr>
        <p:grpSpPr>
          <a:xfrm>
            <a:off x="0" y="3857760"/>
            <a:ext cx="4214880" cy="2643120"/>
            <a:chOff x="0" y="3857760"/>
            <a:chExt cx="4214880" cy="2643120"/>
          </a:xfrm>
        </p:grpSpPr>
        <p:sp>
          <p:nvSpPr>
            <p:cNvPr id="106" name="ZoneTexte 11"/>
            <p:cNvSpPr/>
            <p:nvPr/>
          </p:nvSpPr>
          <p:spPr>
            <a:xfrm>
              <a:off x="0" y="4143240"/>
              <a:ext cx="12859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Système S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ZoneTexte 14"/>
            <p:cNvSpPr/>
            <p:nvPr/>
          </p:nvSpPr>
          <p:spPr>
            <a:xfrm>
              <a:off x="1364760" y="4714920"/>
              <a:ext cx="353160" cy="405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</a:t>
              </a:r>
              <a:r>
                <a:rPr b="0" lang="fr-FR" sz="1800" strike="noStrike" u="none" baseline="-25000">
                  <a:solidFill>
                    <a:srgbClr val="000000"/>
                  </a:solidFill>
                  <a:effectLst/>
                  <a:uFillTx/>
                  <a:latin typeface="Calibri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" name="Groupe 17"/>
            <p:cNvGrpSpPr/>
            <p:nvPr/>
          </p:nvGrpSpPr>
          <p:grpSpPr>
            <a:xfrm>
              <a:off x="1214280" y="3857760"/>
              <a:ext cx="3000600" cy="2643120"/>
              <a:chOff x="1214280" y="3857760"/>
              <a:chExt cx="3000600" cy="2643120"/>
            </a:xfrm>
          </p:grpSpPr>
          <p:sp>
            <p:nvSpPr>
              <p:cNvPr id="109" name="Ellipse 6"/>
              <p:cNvSpPr/>
              <p:nvPr/>
            </p:nvSpPr>
            <p:spPr>
              <a:xfrm>
                <a:off x="1214280" y="3857760"/>
                <a:ext cx="3000600" cy="264312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Ellipse 7"/>
              <p:cNvSpPr/>
              <p:nvPr/>
            </p:nvSpPr>
            <p:spPr>
              <a:xfrm>
                <a:off x="2500200" y="4071960"/>
                <a:ext cx="428400" cy="571320"/>
              </a:xfrm>
              <a:prstGeom prst="ellipse">
                <a:avLst/>
              </a:prstGeom>
              <a:solidFill>
                <a:srgbClr val="4f81bd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Rectangle à coins arrondis 8"/>
              <p:cNvSpPr/>
              <p:nvPr/>
            </p:nvSpPr>
            <p:spPr>
              <a:xfrm>
                <a:off x="1714320" y="4714920"/>
                <a:ext cx="428400" cy="357120"/>
              </a:xfrm>
              <a:prstGeom prst="roundRect">
                <a:avLst>
                  <a:gd name="adj" fmla="val 16667"/>
                </a:avLst>
              </a:prstGeom>
              <a:solidFill>
                <a:srgbClr val="4f81bd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Rectangle 9"/>
              <p:cNvSpPr/>
              <p:nvPr/>
            </p:nvSpPr>
            <p:spPr>
              <a:xfrm>
                <a:off x="3286080" y="4786200"/>
                <a:ext cx="500040" cy="357120"/>
              </a:xfrm>
              <a:prstGeom prst="rect">
                <a:avLst/>
              </a:prstGeom>
              <a:solidFill>
                <a:srgbClr val="4f81bd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Triangle isocèle 10"/>
              <p:cNvSpPr/>
              <p:nvPr/>
            </p:nvSpPr>
            <p:spPr>
              <a:xfrm>
                <a:off x="2286000" y="5286600"/>
                <a:ext cx="642960" cy="714240"/>
              </a:xfrm>
              <a:prstGeom prst="triangle">
                <a:avLst>
                  <a:gd name="adj" fmla="val 50000"/>
                </a:avLst>
              </a:prstGeom>
              <a:solidFill>
                <a:srgbClr val="4f81bd"/>
              </a:solidFill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ZoneTexte 12"/>
              <p:cNvSpPr/>
              <p:nvPr/>
            </p:nvSpPr>
            <p:spPr>
              <a:xfrm>
                <a:off x="3007800" y="4214880"/>
                <a:ext cx="353160" cy="405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18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S</a:t>
                </a:r>
                <a:r>
                  <a:rPr b="0" lang="fr-FR" sz="1800" strike="noStrike" u="none" baseline="-25000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1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ZoneTexte 13"/>
              <p:cNvSpPr/>
              <p:nvPr/>
            </p:nvSpPr>
            <p:spPr>
              <a:xfrm>
                <a:off x="3436560" y="5286600"/>
                <a:ext cx="353160" cy="405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18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S</a:t>
                </a:r>
                <a:r>
                  <a:rPr b="0" lang="fr-FR" sz="1800" strike="noStrike" u="none" baseline="-25000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3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ZoneTexte 15"/>
              <p:cNvSpPr/>
              <p:nvPr/>
            </p:nvSpPr>
            <p:spPr>
              <a:xfrm>
                <a:off x="2364840" y="6072480"/>
                <a:ext cx="353160" cy="405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18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S</a:t>
                </a:r>
                <a:r>
                  <a:rPr b="0" lang="fr-FR" sz="1800" strike="noStrike" u="none" baseline="-25000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4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mc:AlternateContent>
        <mc:Choice xmlns:a14="http://schemas.microsoft.com/office/drawing/2010/main" Requires="a14">
          <p:sp>
            <p:nvSpPr>
              <p:cNvPr id="117" name="Object 17"/>
              <p:cNvSpPr txBox="1"/>
              <p:nvPr/>
            </p:nvSpPr>
            <p:spPr>
              <a:xfrm>
                <a:off x="5075280" y="4584600"/>
                <a:ext cx="2925720" cy="4161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U</m:t>
                        </m:r>
                      </m:e>
                      <m:sub>
                        <m:r>
                          <m:t xml:space="preserve">S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U</m:t>
                        </m:r>
                      </m:e>
                      <m:sub>
                        <m:sSub>
                          <m:e>
                            <m:r>
                              <m:t xml:space="preserve">S</m:t>
                            </m:r>
                          </m:e>
                          <m:sub>
                            <m:r>
                              <m:t xml:space="preserve">1</m:t>
                            </m:r>
                          </m:sub>
                        </m:sSub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U</m:t>
                        </m:r>
                      </m:e>
                      <m:sub>
                        <m:sSub>
                          <m:e>
                            <m:r>
                              <m:t xml:space="preserve">S</m:t>
                            </m:r>
                          </m:e>
                          <m:sub>
                            <m:r>
                              <m:t xml:space="preserve">2</m:t>
                            </m:r>
                          </m:sub>
                        </m:sSub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U</m:t>
                        </m:r>
                      </m:e>
                      <m:sub>
                        <m:sSub>
                          <m:e>
                            <m:r>
                              <m:t xml:space="preserve">S</m:t>
                            </m:r>
                          </m:e>
                          <m:sub>
                            <m:r>
                              <m:t xml:space="preserve">3</m:t>
                            </m:r>
                          </m:sub>
                        </m:sSub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U</m:t>
                        </m:r>
                      </m:e>
                      <m:sub>
                        <m:sSub>
                          <m:e>
                            <m:r>
                              <m:t xml:space="preserve">S</m:t>
                            </m:r>
                          </m:e>
                          <m:sub>
                            <m:r>
                              <m:t xml:space="preserve">4</m:t>
                            </m:r>
                          </m:sub>
                        </m:sSub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17" name="Object 17"/>
              <p:cNvSpPr txBox="1"/>
              <p:nvPr/>
            </p:nvSpPr>
            <p:spPr>
              <a:xfrm>
                <a:off x="5075280" y="4584600"/>
                <a:ext cx="2925720" cy="41616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grpSp>
        <p:nvGrpSpPr>
          <p:cNvPr id="118" name="Groupe 19"/>
          <p:cNvGrpSpPr/>
          <p:nvPr/>
        </p:nvGrpSpPr>
        <p:grpSpPr>
          <a:xfrm>
            <a:off x="4000680" y="5715000"/>
            <a:ext cx="5143320" cy="785880"/>
            <a:chOff x="4000680" y="5715000"/>
            <a:chExt cx="5143320" cy="785880"/>
          </a:xfrm>
        </p:grpSpPr>
        <mc:AlternateContent>
          <mc:Choice xmlns:a14="http://schemas.microsoft.com/office/drawing/2010/main" Requires="a14">
            <p:sp>
              <p:nvSpPr>
                <p:cNvPr id="119" name="Object 4"/>
                <p:cNvSpPr txBox="1"/>
                <p:nvPr/>
              </p:nvSpPr>
              <p:spPr>
                <a:xfrm>
                  <a:off x="7500960" y="5715000"/>
                  <a:ext cx="1382760" cy="78588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sSub>
                        <m:e>
                          <m:r>
                            <m:t xml:space="preserve">U</m:t>
                          </m:r>
                        </m:e>
                        <m:sub>
                          <m:r>
                            <m:t xml:space="preserve">S</m:t>
                          </m:r>
                        </m:sub>
                      </m:sSub>
                      <m:r>
                        <m:t xml:space="preserve">=</m:t>
                      </m:r>
                      <m:nary>
                        <m:naryPr>
                          <m:chr m:val="∑"/>
                        </m:naryPr>
                        <m:sub>
                          <m:r>
                            <m:t xml:space="preserve">i</m:t>
                          </m:r>
                          <m:r>
                            <m:t xml:space="preserve">=</m:t>
                          </m:r>
                          <m:r>
                            <m:t xml:space="preserve">1</m:t>
                          </m:r>
                        </m:sub>
                        <m:sup>
                          <m:r>
                            <m:t xml:space="preserve">N</m:t>
                          </m:r>
                        </m:sup>
                        <m:e>
                          <m:sSub>
                            <m:e>
                              <m:r>
                                <m:t xml:space="preserve">U</m:t>
                              </m:r>
                            </m:e>
                            <m:sub>
                              <m:sSub>
                                <m:e>
                                  <m:r>
                                    <m:t xml:space="preserve">S</m:t>
                                  </m:r>
                                </m:e>
                                <m:sub>
                                  <m:r>
                                    <m:t xml:space="preserve">i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</m:oMath>
                  </a14:m>
                </a:p>
              </p:txBody>
            </p:sp>
          </mc:Choice>
          <mc:Fallback>
            <p:sp>
              <p:nvSpPr>
                <p:cNvPr id="119" name="Object 4"/>
                <p:cNvSpPr txBox="1"/>
                <p:nvPr/>
              </p:nvSpPr>
              <p:spPr>
                <a:xfrm>
                  <a:off x="7500960" y="5715000"/>
                  <a:ext cx="1382760" cy="78588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120" name="ZoneTexte 19"/>
            <p:cNvSpPr/>
            <p:nvPr/>
          </p:nvSpPr>
          <p:spPr>
            <a:xfrm>
              <a:off x="4000680" y="5916600"/>
              <a:ext cx="5143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S est constitué de N sous systèmes :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140" dur="indefinite" restart="never" nodeType="tmRoot">
          <p:childTnLst>
            <p:seq>
              <p:cTn id="141" dur="indefinite" nodeType="mainSeq">
                <p:childTnLst>
                  <p:par>
                    <p:cTn id="142" nodeType="clickEffect" fill="hold">
                      <p:stCondLst>
                        <p:cond delay="indefinite"/>
                      </p:stCondLst>
                      <p:childTnLst>
                        <p:par>
                          <p:cTn id="1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46" dur="8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47" dur="8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8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nodeType="clickEffect" fill="hold">
                      <p:stCondLst>
                        <p:cond delay="indefinite"/>
                      </p:stCondLst>
                      <p:childTnLst>
                        <p:par>
                          <p:cTn id="1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53" dur="8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54" dur="8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5" dur="8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nodeType="clickEffect" fill="hold">
                      <p:stCondLst>
                        <p:cond delay="indefinite"/>
                      </p:stCondLst>
                      <p:childTnLst>
                        <p:par>
                          <p:cTn id="1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6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6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6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6"/>
          <p:cNvSpPr/>
          <p:nvPr/>
        </p:nvSpPr>
        <p:spPr>
          <a:xfrm>
            <a:off x="476640" y="615960"/>
            <a:ext cx="27961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Cas  général :</a:t>
            </a:r>
            <a:r>
              <a:rPr b="0" lang="fr-FR" sz="36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11"/>
          <p:cNvSpPr/>
          <p:nvPr/>
        </p:nvSpPr>
        <p:spPr>
          <a:xfrm>
            <a:off x="0" y="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Calibri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oup 10"/>
          <p:cNvGrpSpPr/>
          <p:nvPr/>
        </p:nvGrpSpPr>
        <p:grpSpPr>
          <a:xfrm>
            <a:off x="5342040" y="887400"/>
            <a:ext cx="3644640" cy="5522760"/>
            <a:chOff x="5342040" y="887400"/>
            <a:chExt cx="3644640" cy="5522760"/>
          </a:xfrm>
        </p:grpSpPr>
        <p:pic>
          <p:nvPicPr>
            <p:cNvPr id="124" name="Picture 7" descr="E:\Untitled-1 copy.JPG"/>
            <p:cNvPicPr/>
            <p:nvPr/>
          </p:nvPicPr>
          <p:blipFill>
            <a:blip r:embed="rId1"/>
            <a:stretch/>
          </p:blipFill>
          <p:spPr>
            <a:xfrm>
              <a:off x="5342040" y="1152360"/>
              <a:ext cx="3644640" cy="52578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5" name="Text Box 9"/>
            <p:cNvSpPr/>
            <p:nvPr/>
          </p:nvSpPr>
          <p:spPr>
            <a:xfrm>
              <a:off x="7941960" y="887400"/>
              <a:ext cx="24444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.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mc:AlternateContent>
        <mc:Choice xmlns:a14="http://schemas.microsoft.com/office/drawing/2010/main" Requires="a14">
          <p:sp>
            <p:nvSpPr>
              <p:cNvPr id="126" name="Object 15"/>
              <p:cNvSpPr txBox="1"/>
              <p:nvPr/>
            </p:nvSpPr>
            <p:spPr>
              <a:xfrm>
                <a:off x="82440" y="2676600"/>
                <a:ext cx="5556240" cy="585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ΔE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tot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ΔE</m:t>
                        </m:r>
                      </m:e>
                      <m:sub>
                        <m:r>
                          <m:t xml:space="preserve">c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ΔE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ΔU</m:t>
                    </m:r>
                    <m:r>
                      <m:t xml:space="preserve">=</m:t>
                    </m:r>
                    <m:r>
                      <m:t xml:space="preserve">W</m:t>
                    </m:r>
                    <m:r>
                      <m:t xml:space="preserve">+</m:t>
                    </m:r>
                    <m:r>
                      <m:t xml:space="preserve">Q</m:t>
                    </m:r>
                  </m:oMath>
                </a14:m>
              </a:p>
            </p:txBody>
          </p:sp>
        </mc:Choice>
        <mc:Fallback>
          <p:sp>
            <p:nvSpPr>
              <p:cNvPr id="126" name="Object 15"/>
              <p:cNvSpPr txBox="1"/>
              <p:nvPr/>
            </p:nvSpPr>
            <p:spPr>
              <a:xfrm>
                <a:off x="82440" y="2676600"/>
                <a:ext cx="5556240" cy="5857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127" name="ZoneTexte 21"/>
          <p:cNvSpPr/>
          <p:nvPr/>
        </p:nvSpPr>
        <p:spPr>
          <a:xfrm>
            <a:off x="1177560" y="3921120"/>
            <a:ext cx="1794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Fonctions d’état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8" name="Connecteur droit avec flèche 23"/>
          <p:cNvCxnSpPr/>
          <p:nvPr/>
        </p:nvCxnSpPr>
        <p:spPr>
          <a:xfrm>
            <a:off x="313920" y="3301920"/>
            <a:ext cx="1220040" cy="61992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cxnSp>
        <p:nvCxnSpPr>
          <p:cNvPr id="129" name="Connecteur droit avec flèche 25"/>
          <p:cNvCxnSpPr>
            <a:endCxn id="127" idx="0"/>
          </p:cNvCxnSpPr>
          <p:nvPr/>
        </p:nvCxnSpPr>
        <p:spPr>
          <a:xfrm>
            <a:off x="1807200" y="3250800"/>
            <a:ext cx="267120" cy="67068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cxnSp>
        <p:nvCxnSpPr>
          <p:cNvPr id="130" name="Connecteur droit avec flèche 27"/>
          <p:cNvCxnSpPr/>
          <p:nvPr/>
        </p:nvCxnSpPr>
        <p:spPr>
          <a:xfrm flipH="1">
            <a:off x="2315880" y="3382560"/>
            <a:ext cx="284400" cy="49932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  <p:cxnSp>
        <p:nvCxnSpPr>
          <p:cNvPr id="131" name="Connecteur droit avec flèche 29"/>
          <p:cNvCxnSpPr/>
          <p:nvPr/>
        </p:nvCxnSpPr>
        <p:spPr>
          <a:xfrm flipH="1">
            <a:off x="2915640" y="3322800"/>
            <a:ext cx="772200" cy="59868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arrow" w="med"/>
          </a:ln>
        </p:spPr>
      </p:cxnSp>
    </p:spTree>
  </p:cSld>
  <p:timing>
    <p:tnLst>
      <p:par>
        <p:cTn id="168" dur="indefinite" restart="never" nodeType="tmRoot">
          <p:childTnLst>
            <p:seq>
              <p:cTn id="169" dur="indefinite" nodeType="mainSeq">
                <p:childTnLst>
                  <p:par>
                    <p:cTn id="170" nodeType="clickEffect" fill="hold">
                      <p:stCondLst>
                        <p:cond delay="indefinite"/>
                      </p:stCondLst>
                      <p:childTnLst>
                        <p:par>
                          <p:cTn id="17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174" dur="8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175" dur="8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6" dur="8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nodeType="clickEffect" fill="hold">
                      <p:stCondLst>
                        <p:cond delay="indefinite"/>
                      </p:stCondLst>
                      <p:childTnLst>
                        <p:par>
                          <p:cTn id="17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2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8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nodeType="clickEffect" fill="hold">
                      <p:stCondLst>
                        <p:cond delay="indefinite"/>
                      </p:stCondLst>
                      <p:childTnLst>
                        <p:par>
                          <p:cTn id="1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8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8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8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9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9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9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8"/>
          <p:cNvSpPr/>
          <p:nvPr/>
        </p:nvSpPr>
        <p:spPr>
          <a:xfrm>
            <a:off x="126360" y="642960"/>
            <a:ext cx="46252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Cas d’un système isolé :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9"/>
          <p:cNvSpPr/>
          <p:nvPr/>
        </p:nvSpPr>
        <p:spPr>
          <a:xfrm>
            <a:off x="142920" y="1143000"/>
            <a:ext cx="892800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4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 variation de l’énergie interne d’un système isolé est nulle. L’énergie interne est constante. 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11"/>
          <p:cNvSpPr/>
          <p:nvPr/>
        </p:nvSpPr>
        <p:spPr>
          <a:xfrm>
            <a:off x="0" y="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Calibri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5" name="Object 4"/>
          <p:cNvGraphicFramePr/>
          <p:nvPr/>
        </p:nvGraphicFramePr>
        <p:xfrm>
          <a:off x="2357280" y="3143160"/>
          <a:ext cx="3946680" cy="9399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36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357280" y="3143160"/>
                    <a:ext cx="3946680" cy="939960"/>
                  </a:xfrm>
                  <a:prstGeom prst="rect">
                    <a:avLst/>
                  </a:prstGeom>
                  <a:solidFill>
                    <a:srgbClr val="cc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pSp>
        <p:nvGrpSpPr>
          <p:cNvPr id="137" name="Groupe 10"/>
          <p:cNvGrpSpPr/>
          <p:nvPr/>
        </p:nvGrpSpPr>
        <p:grpSpPr>
          <a:xfrm>
            <a:off x="3853080" y="4000680"/>
            <a:ext cx="2495520" cy="797040"/>
            <a:chOff x="3853080" y="4000680"/>
            <a:chExt cx="2495520" cy="797040"/>
          </a:xfrm>
        </p:grpSpPr>
        <p:sp>
          <p:nvSpPr>
            <p:cNvPr id="138" name="ZoneTexte 7"/>
            <p:cNvSpPr/>
            <p:nvPr/>
          </p:nvSpPr>
          <p:spPr>
            <a:xfrm rot="5400000">
              <a:off x="3929760" y="4122720"/>
              <a:ext cx="64296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20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= 0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ZoneTexte 8"/>
            <p:cNvSpPr/>
            <p:nvPr/>
          </p:nvSpPr>
          <p:spPr>
            <a:xfrm rot="5400000">
              <a:off x="5316480" y="4087080"/>
              <a:ext cx="571680" cy="398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fr-FR" sz="20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= 0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ZoneTexte 9"/>
            <p:cNvSpPr/>
            <p:nvPr/>
          </p:nvSpPr>
          <p:spPr>
            <a:xfrm>
              <a:off x="3853080" y="4429440"/>
              <a:ext cx="24955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Pas d’échange d’énergie.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mc:AlternateContent>
        <mc:Choice xmlns:a14="http://schemas.microsoft.com/office/drawing/2010/main" Requires="a14">
          <p:sp>
            <p:nvSpPr>
              <p:cNvPr id="141" name="Object 17"/>
              <p:cNvSpPr txBox="1"/>
              <p:nvPr/>
            </p:nvSpPr>
            <p:spPr>
              <a:xfrm>
                <a:off x="3749760" y="4975200"/>
                <a:ext cx="1838160" cy="5968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U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Cst</m:t>
                    </m:r>
                    <m:r>
                      <m:rPr>
                        <m:lit/>
                        <m:nor/>
                      </m:rPr>
                      <m:t xml:space="preserve">.</m:t>
                    </m:r>
                  </m:oMath>
                </a14:m>
              </a:p>
            </p:txBody>
          </p:sp>
        </mc:Choice>
        <mc:Fallback>
          <p:sp>
            <p:nvSpPr>
              <p:cNvPr id="141" name="Object 17"/>
              <p:cNvSpPr txBox="1"/>
              <p:nvPr/>
            </p:nvSpPr>
            <p:spPr>
              <a:xfrm>
                <a:off x="3749760" y="4975200"/>
                <a:ext cx="1838160" cy="596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142" name="Text Box 3"/>
          <p:cNvSpPr/>
          <p:nvPr/>
        </p:nvSpPr>
        <p:spPr>
          <a:xfrm>
            <a:off x="1117440" y="5735520"/>
            <a:ext cx="61167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L’énergie interne est conservée.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nodeType="clickEffect" fill="hold">
                      <p:stCondLst>
                        <p:cond delay="indefinite"/>
                      </p:stCondLst>
                      <p:childTnLst>
                        <p:par>
                          <p:cTn id="2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05" dur="8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06" dur="8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7" dur="8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nodeType="clickEffect" fill="hold">
                      <p:stCondLst>
                        <p:cond delay="indefinite"/>
                      </p:stCondLst>
                      <p:childTnLst>
                        <p:par>
                          <p:cTn id="2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12" dur="8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13" dur="8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80"/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nodeType="clickEffect" fill="hold">
                      <p:stCondLst>
                        <p:cond delay="indefinite"/>
                      </p:stCondLst>
                      <p:childTnLst>
                        <p:par>
                          <p:cTn id="2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9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0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nodeType="clickEffect" fill="hold">
                      <p:stCondLst>
                        <p:cond delay="indefinite"/>
                      </p:stCondLst>
                      <p:childTnLst>
                        <p:par>
                          <p:cTn id="2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2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nodeType="clickEffect" fill="hold">
                      <p:stCondLst>
                        <p:cond delay="indefinite"/>
                      </p:stCondLst>
                      <p:childTnLst>
                        <p:par>
                          <p:cTn id="2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32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34" dur="8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35" dur="8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8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8"/>
          <p:cNvSpPr/>
          <p:nvPr/>
        </p:nvSpPr>
        <p:spPr>
          <a:xfrm>
            <a:off x="126360" y="642960"/>
            <a:ext cx="46252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6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Cas d’un système isolé :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11"/>
          <p:cNvSpPr/>
          <p:nvPr/>
        </p:nvSpPr>
        <p:spPr>
          <a:xfrm>
            <a:off x="0" y="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Calibri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Box 3"/>
          <p:cNvSpPr/>
          <p:nvPr/>
        </p:nvSpPr>
        <p:spPr>
          <a:xfrm>
            <a:off x="295200" y="1355760"/>
            <a:ext cx="61149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L’énergie interne est conservée.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6" name="Groupe 10"/>
          <p:cNvGrpSpPr/>
          <p:nvPr/>
        </p:nvGrpSpPr>
        <p:grpSpPr>
          <a:xfrm>
            <a:off x="2548440" y="2143080"/>
            <a:ext cx="4420800" cy="2255760"/>
            <a:chOff x="2548440" y="2143080"/>
            <a:chExt cx="4420800" cy="2255760"/>
          </a:xfrm>
        </p:grpSpPr>
        <p:sp>
          <p:nvSpPr>
            <p:cNvPr id="147" name="Ellipse 11"/>
            <p:cNvSpPr/>
            <p:nvPr/>
          </p:nvSpPr>
          <p:spPr>
            <a:xfrm>
              <a:off x="3819600" y="2143080"/>
              <a:ext cx="3149640" cy="2255760"/>
            </a:xfrm>
            <a:prstGeom prst="ellipse">
              <a:avLst/>
            </a:prstGeom>
            <a:noFill/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ZoneTexte 12"/>
            <p:cNvSpPr/>
            <p:nvPr/>
          </p:nvSpPr>
          <p:spPr>
            <a:xfrm>
              <a:off x="2548440" y="2163240"/>
              <a:ext cx="16038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Système isolé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" name="ZoneTexte 13"/>
          <p:cNvSpPr/>
          <p:nvPr/>
        </p:nvSpPr>
        <p:spPr>
          <a:xfrm>
            <a:off x="4197600" y="2316240"/>
            <a:ext cx="23410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Transformations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Conversion d’énergie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ZoneTexte 14"/>
          <p:cNvSpPr/>
          <p:nvPr/>
        </p:nvSpPr>
        <p:spPr>
          <a:xfrm>
            <a:off x="4615920" y="2946240"/>
            <a:ext cx="371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1" name="Connecteur droit avec flèche 15"/>
          <p:cNvCxnSpPr/>
          <p:nvPr/>
        </p:nvCxnSpPr>
        <p:spPr>
          <a:xfrm>
            <a:off x="5121360" y="3130560"/>
            <a:ext cx="497520" cy="10080"/>
          </a:xfrm>
          <a:prstGeom prst="straightConnector1">
            <a:avLst/>
          </a:prstGeom>
          <a:ln w="9360">
            <a:solidFill>
              <a:srgbClr val="4a7ebb"/>
            </a:solidFill>
            <a:miter/>
            <a:headEnd len="med" type="triangle" w="med"/>
            <a:tailEnd len="med" type="triangle" w="med"/>
          </a:ln>
        </p:spPr>
      </p:cxnSp>
      <p:sp>
        <p:nvSpPr>
          <p:cNvPr id="152" name="ZoneTexte 16"/>
          <p:cNvSpPr/>
          <p:nvPr/>
        </p:nvSpPr>
        <p:spPr>
          <a:xfrm>
            <a:off x="5668560" y="2936880"/>
            <a:ext cx="622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m.c</a:t>
            </a:r>
            <a:r>
              <a:rPr b="0" lang="fr-FR" sz="18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ZoneTexte 17"/>
          <p:cNvSpPr/>
          <p:nvPr/>
        </p:nvSpPr>
        <p:spPr>
          <a:xfrm>
            <a:off x="3809880" y="3220920"/>
            <a:ext cx="1330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mécanique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" name="Connecteur droit avec flèche 18"/>
          <p:cNvCxnSpPr>
            <a:stCxn id="153" idx="3"/>
          </p:cNvCxnSpPr>
          <p:nvPr/>
        </p:nvCxnSpPr>
        <p:spPr>
          <a:xfrm>
            <a:off x="5140080" y="3405240"/>
            <a:ext cx="549720" cy="8640"/>
          </a:xfrm>
          <a:prstGeom prst="straightConnector1">
            <a:avLst/>
          </a:prstGeom>
          <a:ln w="9360">
            <a:solidFill>
              <a:srgbClr val="4a7ebb"/>
            </a:solidFill>
            <a:miter/>
            <a:headEnd len="med" type="triangle" w="med"/>
            <a:tailEnd len="med" type="triangle" w="med"/>
          </a:ln>
        </p:spPr>
      </p:cxnSp>
      <p:sp>
        <p:nvSpPr>
          <p:cNvPr id="155" name="ZoneTexte 19"/>
          <p:cNvSpPr/>
          <p:nvPr/>
        </p:nvSpPr>
        <p:spPr>
          <a:xfrm>
            <a:off x="5793480" y="3251160"/>
            <a:ext cx="3585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ZoneTexte 20"/>
          <p:cNvSpPr/>
          <p:nvPr/>
        </p:nvSpPr>
        <p:spPr>
          <a:xfrm>
            <a:off x="4655520" y="3565440"/>
            <a:ext cx="3078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ZoneTexte 21"/>
          <p:cNvSpPr/>
          <p:nvPr/>
        </p:nvSpPr>
        <p:spPr>
          <a:xfrm>
            <a:off x="5814360" y="3576600"/>
            <a:ext cx="3078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ZoneTexte 22"/>
          <p:cNvSpPr/>
          <p:nvPr/>
        </p:nvSpPr>
        <p:spPr>
          <a:xfrm>
            <a:off x="284040" y="4902120"/>
            <a:ext cx="8483760" cy="1191240"/>
          </a:xfrm>
          <a:prstGeom prst="rect">
            <a:avLst/>
          </a:prstGeom>
          <a:noFill/>
          <a:ln w="936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Le premier principe est  un principe de conservation d’énergie 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 pas de création ni de destruction d’énergie uniquement de la conversion d’une forme  en une autre.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37" dur="indefinite" restart="never" nodeType="tmRoot">
          <p:childTnLst>
            <p:seq>
              <p:cTn id="238" dur="indefinite" nodeType="mainSeq">
                <p:childTnLst>
                  <p:par>
                    <p:cTn id="239" nodeType="clickEffect" fill="hold">
                      <p:stCondLst>
                        <p:cond delay="indefinite"/>
                      </p:stCondLst>
                      <p:childTnLst>
                        <p:par>
                          <p:cTn id="2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2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3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44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wipe(right)" transition="in">
                                      <p:cBhvr additive="repl">
                                        <p:cTn id="245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nodeType="clickEffect" fill="hold">
                      <p:stCondLst>
                        <p:cond delay="indefinite"/>
                      </p:stCondLst>
                      <p:childTnLst>
                        <p:par>
                          <p:cTn id="2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4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nodeType="clickEffect" fill="hold">
                      <p:stCondLst>
                        <p:cond delay="indefinite"/>
                      </p:stCondLst>
                      <p:childTnLst>
                        <p:par>
                          <p:cTn id="2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nodeType="clickEffect" fill="hold">
                      <p:stCondLst>
                        <p:cond delay="indefinite"/>
                      </p:stCondLst>
                      <p:childTnLst>
                        <p:par>
                          <p:cTn id="2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nodeType="clickEffect" fill="hold">
                      <p:stCondLst>
                        <p:cond delay="indefinite"/>
                      </p:stCondLst>
                      <p:childTnLst>
                        <p:par>
                          <p:cTn id="2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6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nodeType="clickEffect" fill="hold">
                      <p:stCondLst>
                        <p:cond delay="indefinite"/>
                      </p:stCondLst>
                      <p:childTnLst>
                        <p:par>
                          <p:cTn id="2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4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76" dur="8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77" dur="8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8" dur="8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3"/>
          <p:cNvSpPr/>
          <p:nvPr/>
        </p:nvSpPr>
        <p:spPr>
          <a:xfrm>
            <a:off x="749160" y="539280"/>
            <a:ext cx="6305400" cy="58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Cas des transformations particulières</a:t>
            </a: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 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0" name="Group 4"/>
          <p:cNvGrpSpPr/>
          <p:nvPr/>
        </p:nvGrpSpPr>
        <p:grpSpPr>
          <a:xfrm>
            <a:off x="209520" y="1592280"/>
            <a:ext cx="2706840" cy="2646360"/>
            <a:chOff x="209520" y="1592280"/>
            <a:chExt cx="2706840" cy="2646360"/>
          </a:xfrm>
        </p:grpSpPr>
        <p:sp>
          <p:nvSpPr>
            <p:cNvPr id="161" name="AutoShape 5"/>
            <p:cNvSpPr/>
            <p:nvPr/>
          </p:nvSpPr>
          <p:spPr>
            <a:xfrm>
              <a:off x="209520" y="1592280"/>
              <a:ext cx="2706840" cy="264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Line 6"/>
            <p:cNvSpPr/>
            <p:nvPr/>
          </p:nvSpPr>
          <p:spPr>
            <a:xfrm flipV="1">
              <a:off x="209520" y="1639080"/>
              <a:ext cx="0" cy="22600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Line 7"/>
            <p:cNvSpPr/>
            <p:nvPr/>
          </p:nvSpPr>
          <p:spPr>
            <a:xfrm>
              <a:off x="209520" y="3899520"/>
              <a:ext cx="270684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4" name="Group 8"/>
            <p:cNvGrpSpPr/>
            <p:nvPr/>
          </p:nvGrpSpPr>
          <p:grpSpPr>
            <a:xfrm>
              <a:off x="281160" y="1592280"/>
              <a:ext cx="2508480" cy="2646000"/>
              <a:chOff x="281160" y="1592280"/>
              <a:chExt cx="2508480" cy="2646000"/>
            </a:xfrm>
          </p:grpSpPr>
          <p:sp>
            <p:nvSpPr>
              <p:cNvPr id="165" name="Text Box 9"/>
              <p:cNvSpPr/>
              <p:nvPr/>
            </p:nvSpPr>
            <p:spPr>
              <a:xfrm>
                <a:off x="576720" y="3221640"/>
                <a:ext cx="844560" cy="282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rIns="56520" tIns="28440" bIns="28440" anchor="t">
                <a:normAutofit fontScale="5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000" strike="noStrike" u="none">
                    <a:solidFill>
                      <a:srgbClr val="c0504d"/>
                    </a:solidFill>
                    <a:effectLst/>
                    <a:uFillTx/>
                    <a:latin typeface="Times New Roman"/>
                    <a:ea typeface="Times New Roman"/>
                  </a:rPr>
                  <a:t>Etat </a:t>
                </a:r>
                <a:r>
                  <a:rPr b="0" lang="fr-FR" sz="2400" strike="noStrike" u="none">
                    <a:solidFill>
                      <a:srgbClr val="c0504d"/>
                    </a:solidFill>
                    <a:effectLst/>
                    <a:uFillTx/>
                    <a:latin typeface="Times New Roman"/>
                    <a:ea typeface="Times New Roman"/>
                  </a:rPr>
                  <a:t>A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Oval 10"/>
              <p:cNvSpPr/>
              <p:nvPr/>
            </p:nvSpPr>
            <p:spPr>
              <a:xfrm rot="19599600">
                <a:off x="816120" y="2035080"/>
                <a:ext cx="1803960" cy="1056600"/>
              </a:xfrm>
              <a:prstGeom prst="ellipse">
                <a:avLst/>
              </a:prstGeom>
              <a:solidFill>
                <a:srgbClr val="ffffff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Oval 11"/>
              <p:cNvSpPr/>
              <p:nvPr/>
            </p:nvSpPr>
            <p:spPr>
              <a:xfrm>
                <a:off x="997920" y="3077280"/>
                <a:ext cx="88200" cy="83880"/>
              </a:xfrm>
              <a:prstGeom prst="ellipse">
                <a:avLst/>
              </a:prstGeom>
              <a:solidFill>
                <a:srgbClr val="000000"/>
              </a:solidFill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2600" bIns="12600" anchor="t">
                <a:normAutofit fontScale="250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Text Box 12"/>
              <p:cNvSpPr/>
              <p:nvPr/>
            </p:nvSpPr>
            <p:spPr>
              <a:xfrm>
                <a:off x="2287440" y="3925800"/>
                <a:ext cx="502200" cy="312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rIns="56520" tIns="28440" bIns="28440" anchor="t">
                <a:normAutofit fontScale="625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400" strike="noStrike" u="none">
                    <a:solidFill>
                      <a:srgbClr val="c0504d"/>
                    </a:solidFill>
                    <a:effectLst/>
                    <a:uFillTx/>
                    <a:latin typeface="Times New Roman"/>
                    <a:ea typeface="Times New Roman"/>
                  </a:rPr>
                  <a:t>V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Text Box 13"/>
              <p:cNvSpPr/>
              <p:nvPr/>
            </p:nvSpPr>
            <p:spPr>
              <a:xfrm>
                <a:off x="281160" y="1592280"/>
                <a:ext cx="455400" cy="312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6520" rIns="56520" tIns="28440" bIns="28440" anchor="t">
                <a:normAutofit fontScale="62500" lnSpcReduction="19999"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2400" strike="noStrike" u="none">
                    <a:solidFill>
                      <a:srgbClr val="c0504d"/>
                    </a:solidFill>
                    <a:effectLst/>
                    <a:uFillTx/>
                    <a:latin typeface="Times New Roman"/>
                    <a:ea typeface="Times New Roman"/>
                  </a:rPr>
                  <a:t>P</a:t>
                </a:r>
                <a:endParaRPr b="0" lang="en-US" sz="2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0" name="Line 14"/>
            <p:cNvSpPr/>
            <p:nvPr/>
          </p:nvSpPr>
          <p:spPr>
            <a:xfrm flipH="1">
              <a:off x="1933920" y="2835720"/>
              <a:ext cx="309240" cy="2188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1" name="Rectangle 16"/>
          <p:cNvSpPr/>
          <p:nvPr/>
        </p:nvSpPr>
        <p:spPr>
          <a:xfrm>
            <a:off x="0" y="3333600"/>
            <a:ext cx="18432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2" name="Object 2"/>
          <p:cNvGraphicFramePr/>
          <p:nvPr/>
        </p:nvGraphicFramePr>
        <p:xfrm>
          <a:off x="3143160" y="1751040"/>
          <a:ext cx="4195800" cy="7491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73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143160" y="1751040"/>
                    <a:ext cx="4195800" cy="749160"/>
                  </a:xfrm>
                  <a:prstGeom prst="rect">
                    <a:avLst/>
                  </a:prstGeom>
                  <a:solidFill>
                    <a:srgbClr val="cc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174" name="Object 3"/>
          <p:cNvGraphicFramePr/>
          <p:nvPr/>
        </p:nvGraphicFramePr>
        <p:xfrm>
          <a:off x="264960" y="4741920"/>
          <a:ext cx="5538960" cy="101916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75" name="Object 3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264960" y="4741920"/>
                    <a:ext cx="5538960" cy="1019160"/>
                  </a:xfrm>
                  <a:prstGeom prst="rect">
                    <a:avLst/>
                  </a:prstGeom>
                  <a:solidFill>
                    <a:srgbClr val="cc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pSp>
        <p:nvGrpSpPr>
          <p:cNvPr id="176" name="Group 19"/>
          <p:cNvGrpSpPr/>
          <p:nvPr/>
        </p:nvGrpSpPr>
        <p:grpSpPr>
          <a:xfrm>
            <a:off x="5865840" y="2577960"/>
            <a:ext cx="3278160" cy="3397320"/>
            <a:chOff x="5865840" y="2577960"/>
            <a:chExt cx="3278160" cy="3397320"/>
          </a:xfrm>
        </p:grpSpPr>
        <p:sp>
          <p:nvSpPr>
            <p:cNvPr id="177" name="AutoShape 30"/>
            <p:cNvSpPr/>
            <p:nvPr/>
          </p:nvSpPr>
          <p:spPr>
            <a:xfrm>
              <a:off x="5865840" y="2577960"/>
              <a:ext cx="3278160" cy="3397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Line 29"/>
            <p:cNvSpPr/>
            <p:nvPr/>
          </p:nvSpPr>
          <p:spPr>
            <a:xfrm flipV="1">
              <a:off x="5865840" y="2637720"/>
              <a:ext cx="0" cy="29016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Line 28"/>
            <p:cNvSpPr/>
            <p:nvPr/>
          </p:nvSpPr>
          <p:spPr>
            <a:xfrm>
              <a:off x="5865840" y="5539680"/>
              <a:ext cx="32781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Text Box 27"/>
            <p:cNvSpPr/>
            <p:nvPr/>
          </p:nvSpPr>
          <p:spPr>
            <a:xfrm>
              <a:off x="6517800" y="5142600"/>
              <a:ext cx="1022760" cy="364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560" rIns="61560" tIns="30960" bIns="3096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Etat 1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Oval 26"/>
            <p:cNvSpPr/>
            <p:nvPr/>
          </p:nvSpPr>
          <p:spPr>
            <a:xfrm>
              <a:off x="6953400" y="5011920"/>
              <a:ext cx="105840" cy="10764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880" bIns="2988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Text Box 25"/>
            <p:cNvSpPr/>
            <p:nvPr/>
          </p:nvSpPr>
          <p:spPr>
            <a:xfrm>
              <a:off x="8382240" y="5573520"/>
              <a:ext cx="60876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560" rIns="61560" tIns="30960" bIns="3096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V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Text Box 24"/>
            <p:cNvSpPr/>
            <p:nvPr/>
          </p:nvSpPr>
          <p:spPr>
            <a:xfrm>
              <a:off x="5951880" y="2577960"/>
              <a:ext cx="551880" cy="401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560" rIns="61560" tIns="30960" bIns="30960" anchor="t">
              <a:norm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P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Line 23"/>
            <p:cNvSpPr/>
            <p:nvPr/>
          </p:nvSpPr>
          <p:spPr>
            <a:xfrm flipV="1">
              <a:off x="6996600" y="3229920"/>
              <a:ext cx="0" cy="18075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Oval 22"/>
            <p:cNvSpPr/>
            <p:nvPr/>
          </p:nvSpPr>
          <p:spPr>
            <a:xfrm>
              <a:off x="6953400" y="3165840"/>
              <a:ext cx="105840" cy="10728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9520" bIns="2952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Text Box 21"/>
            <p:cNvSpPr/>
            <p:nvPr/>
          </p:nvSpPr>
          <p:spPr>
            <a:xfrm>
              <a:off x="6536520" y="2804040"/>
              <a:ext cx="1022760" cy="36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1560" rIns="61560" tIns="30960" bIns="30960" anchor="t">
              <a:normAutofit fontScale="92500" lnSpcReduction="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0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Etat 2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Line 20"/>
            <p:cNvSpPr/>
            <p:nvPr/>
          </p:nvSpPr>
          <p:spPr>
            <a:xfrm flipV="1">
              <a:off x="6996600" y="4085640"/>
              <a:ext cx="1080" cy="3873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8" name="Rectangle 37"/>
          <p:cNvSpPr/>
          <p:nvPr/>
        </p:nvSpPr>
        <p:spPr>
          <a:xfrm>
            <a:off x="214200" y="4160880"/>
            <a:ext cx="55720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c000"/>
                </a:solidFill>
                <a:effectLst/>
                <a:uFillTx/>
                <a:latin typeface="Times New Roman"/>
                <a:ea typeface="Times New Roman"/>
              </a:rPr>
              <a:t>Transformation isochore (V = Cte)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9" name="Object 4"/>
          <p:cNvGraphicFramePr/>
          <p:nvPr/>
        </p:nvGraphicFramePr>
        <p:xfrm>
          <a:off x="7072200" y="3500280"/>
          <a:ext cx="1417680" cy="51300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190" name="Object 4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7072200" y="3500280"/>
                    <a:ext cx="1417680" cy="5130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91" name="Rectangle 11"/>
          <p:cNvSpPr/>
          <p:nvPr/>
        </p:nvSpPr>
        <p:spPr>
          <a:xfrm>
            <a:off x="0" y="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Times New Roman"/>
                <a:ea typeface="Times New Roman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ZoneTexte 39"/>
          <p:cNvSpPr/>
          <p:nvPr/>
        </p:nvSpPr>
        <p:spPr>
          <a:xfrm>
            <a:off x="0" y="5873760"/>
            <a:ext cx="91440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Dans ce cas </a:t>
            </a:r>
            <a:r>
              <a:rPr b="1" lang="fr-FR" sz="2000" strike="noStrike" u="none">
                <a:solidFill>
                  <a:srgbClr val="ff3300"/>
                </a:solidFill>
                <a:effectLst/>
                <a:uFillTx/>
                <a:latin typeface="Symbol"/>
                <a:ea typeface="Symbol"/>
              </a:rPr>
              <a:t></a:t>
            </a:r>
            <a:r>
              <a:rPr b="1" lang="fr-FR" sz="20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Q s’identifie à dQ. La chaleur est une fonction d’état et une différentielle totale exacte.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34"/>
          <p:cNvSpPr/>
          <p:nvPr/>
        </p:nvSpPr>
        <p:spPr>
          <a:xfrm>
            <a:off x="352440" y="1000080"/>
            <a:ext cx="3681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c000"/>
                </a:solidFill>
                <a:effectLst/>
                <a:uFillTx/>
                <a:latin typeface="Times New Roman"/>
                <a:ea typeface="Times New Roman"/>
              </a:rPr>
              <a:t>Transformation cyclique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79" dur="indefinite" restart="never" nodeType="tmRoot">
          <p:childTnLst>
            <p:seq>
              <p:cTn id="280" dur="indefinite" nodeType="mainSeq">
                <p:childTnLst>
                  <p:par>
                    <p:cTn id="281" nodeType="clickEffect" fill="hold">
                      <p:stCondLst>
                        <p:cond delay="indefinite"/>
                      </p:stCondLst>
                      <p:childTnLst>
                        <p:par>
                          <p:cTn id="28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285" dur="8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286" dur="8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7" dur="8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nodeType="withEffect" fill="hold" presetClass="entr" presetID="4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1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2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93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4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6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7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8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99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nodeType="clickEffect" fill="hold">
                      <p:stCondLst>
                        <p:cond delay="indefinite"/>
                      </p:stCondLst>
                      <p:childTnLst>
                        <p:par>
                          <p:cTn id="3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2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04" dur="8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05" dur="8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6" dur="8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nodeType="clickEffect" fill="hold">
                      <p:stCondLst>
                        <p:cond delay="indefinite"/>
                      </p:stCondLst>
                      <p:childTnLst>
                        <p:par>
                          <p:cTn id="3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4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1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2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3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4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nodeType="withEffect" fill="hold" presetClass="entr" presetID="4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7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8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9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0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nodeType="clickEffect" fill="hold">
                      <p:stCondLst>
                        <p:cond delay="indefinite"/>
                      </p:stCondLst>
                      <p:childTnLst>
                        <p:par>
                          <p:cTn id="32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5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 E">
                                      <p:cBhvr>
                                        <p:cTn id="3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</p:cBhvr>
                                    </p:animMotion>
                                    <p:animEffect filter="fade" transition="in">
                                      <p:cBhvr additive="repl">
                                        <p:cTn id="327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nodeType="clickEffect" fill="hold">
                      <p:stCondLst>
                        <p:cond delay="indefinite"/>
                      </p:stCondLst>
                      <p:childTnLst>
                        <p:par>
                          <p:cTn id="32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0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32" dur="8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33" dur="8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4" dur="8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29"/>
          <p:cNvSpPr/>
          <p:nvPr/>
        </p:nvSpPr>
        <p:spPr>
          <a:xfrm>
            <a:off x="139680" y="1320840"/>
            <a:ext cx="3657600" cy="3619440"/>
          </a:xfrm>
          <a:prstGeom prst="rect">
            <a:avLst/>
          </a:prstGeom>
          <a:solidFill>
            <a:srgbClr val="cc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5" name="Object 2"/>
          <p:cNvGraphicFramePr/>
          <p:nvPr/>
        </p:nvGraphicFramePr>
        <p:xfrm>
          <a:off x="3983040" y="2225520"/>
          <a:ext cx="5160960" cy="11592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96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983040" y="2225520"/>
                    <a:ext cx="5160960" cy="1159200"/>
                  </a:xfrm>
                  <a:prstGeom prst="rect">
                    <a:avLst/>
                  </a:prstGeom>
                  <a:solidFill>
                    <a:srgbClr val="ccff99"/>
                  </a:solidFill>
                  <a:ln w="0">
                    <a:noFill/>
                  </a:ln>
                </p:spPr>
              </p:pic>
            </p:oleObj>
          </a:graphicData>
        </a:graphic>
      </p:graphicFrame>
      <p:grpSp>
        <p:nvGrpSpPr>
          <p:cNvPr id="197" name="Group 5"/>
          <p:cNvGrpSpPr/>
          <p:nvPr/>
        </p:nvGrpSpPr>
        <p:grpSpPr>
          <a:xfrm>
            <a:off x="441360" y="1409760"/>
            <a:ext cx="3524040" cy="3301920"/>
            <a:chOff x="441360" y="1409760"/>
            <a:chExt cx="3524040" cy="3301920"/>
          </a:xfrm>
        </p:grpSpPr>
        <p:sp>
          <p:nvSpPr>
            <p:cNvPr id="198" name="AutoShape 17"/>
            <p:cNvSpPr/>
            <p:nvPr/>
          </p:nvSpPr>
          <p:spPr>
            <a:xfrm>
              <a:off x="441360" y="1409760"/>
              <a:ext cx="3524040" cy="3301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Line 16"/>
            <p:cNvSpPr/>
            <p:nvPr/>
          </p:nvSpPr>
          <p:spPr>
            <a:xfrm flipV="1">
              <a:off x="441360" y="1464840"/>
              <a:ext cx="0" cy="271584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Line 15"/>
            <p:cNvSpPr/>
            <p:nvPr/>
          </p:nvSpPr>
          <p:spPr>
            <a:xfrm>
              <a:off x="441360" y="4181040"/>
              <a:ext cx="3066840" cy="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Text Box 14"/>
            <p:cNvSpPr/>
            <p:nvPr/>
          </p:nvSpPr>
          <p:spPr>
            <a:xfrm>
              <a:off x="1104120" y="1956600"/>
              <a:ext cx="956880" cy="33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36000" bIns="36000" anchor="t">
              <a:normAutofit fontScale="70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Etat 1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Text Box 13"/>
            <p:cNvSpPr/>
            <p:nvPr/>
          </p:nvSpPr>
          <p:spPr>
            <a:xfrm>
              <a:off x="3395880" y="4036680"/>
              <a:ext cx="569160" cy="37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36000" bIns="36000" anchor="t">
              <a:normAutofit fontScale="7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V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Text Box 12"/>
            <p:cNvSpPr/>
            <p:nvPr/>
          </p:nvSpPr>
          <p:spPr>
            <a:xfrm>
              <a:off x="522360" y="1409760"/>
              <a:ext cx="515880" cy="37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36000" bIns="36000" anchor="t">
              <a:normAutofit fontScale="7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P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Oval 11"/>
            <p:cNvSpPr/>
            <p:nvPr/>
          </p:nvSpPr>
          <p:spPr>
            <a:xfrm rot="5400000">
              <a:off x="1026360" y="2065320"/>
              <a:ext cx="100800" cy="9972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120" bIns="2412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Oval 10"/>
            <p:cNvSpPr/>
            <p:nvPr/>
          </p:nvSpPr>
          <p:spPr>
            <a:xfrm rot="5400000">
              <a:off x="2136600" y="3618000"/>
              <a:ext cx="101880" cy="100800"/>
            </a:xfrm>
            <a:prstGeom prst="ellipse">
              <a:avLst/>
            </a:prstGeom>
            <a:solidFill>
              <a:srgbClr val="00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24480" bIns="24480" anchor="t">
              <a:normAutofit fontScale="25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Text Box 9"/>
            <p:cNvSpPr/>
            <p:nvPr/>
          </p:nvSpPr>
          <p:spPr>
            <a:xfrm>
              <a:off x="2090520" y="3366720"/>
              <a:ext cx="956880" cy="33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36000" bIns="36000" anchor="t">
              <a:normAutofit fontScale="700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Etat 2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 Box 8"/>
            <p:cNvSpPr/>
            <p:nvPr/>
          </p:nvSpPr>
          <p:spPr>
            <a:xfrm>
              <a:off x="947520" y="4212720"/>
              <a:ext cx="709200" cy="48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36000" bIns="36000" anchor="t">
              <a:normAutofit fontScale="7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V</a:t>
              </a:r>
              <a:r>
                <a:rPr b="0" lang="fr-FR" sz="3700" strike="noStrike" u="none" baseline="-30000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1</a:t>
              </a:r>
              <a:endParaRPr b="0" lang="en-US" sz="3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Text Box 7"/>
            <p:cNvSpPr/>
            <p:nvPr/>
          </p:nvSpPr>
          <p:spPr>
            <a:xfrm>
              <a:off x="1864080" y="4231440"/>
              <a:ext cx="797760" cy="47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2000" rIns="72000" tIns="36000" bIns="36000" anchor="t">
              <a:normAutofit fontScale="77500" lnSpcReduction="19999"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2400" strike="noStrike" u="none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V</a:t>
              </a:r>
              <a:r>
                <a:rPr b="0" lang="fr-FR" sz="3700" strike="noStrike" u="none" baseline="-30000">
                  <a:solidFill>
                    <a:srgbClr val="c0504d"/>
                  </a:solidFill>
                  <a:effectLst/>
                  <a:uFillTx/>
                  <a:latin typeface="Times New Roman"/>
                  <a:ea typeface="Times New Roman"/>
                </a:rPr>
                <a:t>2</a:t>
              </a:r>
              <a:endParaRPr b="0" lang="en-US" sz="37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Freeform 6"/>
            <p:cNvSpPr/>
            <p:nvPr/>
          </p:nvSpPr>
          <p:spPr>
            <a:xfrm>
              <a:off x="1053360" y="1647360"/>
              <a:ext cx="1810440" cy="2130840"/>
            </a:xfrm>
            <a:custGeom>
              <a:avLst/>
              <a:gdLst>
                <a:gd name="textAreaLeft" fmla="*/ 0 w 1810440"/>
                <a:gd name="textAreaRight" fmla="*/ 1810800 w 1810440"/>
                <a:gd name="textAreaTop" fmla="*/ 0 h 2130840"/>
                <a:gd name="textAreaBottom" fmla="*/ 2131200 h 2130840"/>
                <a:gd name="GluePoint1X" fmla="*/ 0 w 1470"/>
                <a:gd name="GluePoint1Y" fmla="*/ 0 h 1730"/>
                <a:gd name="GluePoint2X" fmla="*/ 20 w 1470"/>
                <a:gd name="GluePoint2Y" fmla="*/ 360 h 1730"/>
                <a:gd name="GluePoint3X" fmla="*/ 70 w 1470"/>
                <a:gd name="GluePoint3Y" fmla="*/ 790 h 1730"/>
                <a:gd name="GluePoint4X" fmla="*/ 180 w 1470"/>
                <a:gd name="GluePoint4Y" fmla="*/ 1079 h 1730"/>
                <a:gd name="GluePoint5X" fmla="*/ 400 w 1470"/>
                <a:gd name="GluePoint5Y" fmla="*/ 1380 h 1730"/>
                <a:gd name="GluePoint6X" fmla="*/ 680 w 1470"/>
                <a:gd name="GluePoint6Y" fmla="*/ 1560 h 1730"/>
                <a:gd name="GluePoint7X" fmla="*/ 1060 w 1470"/>
                <a:gd name="GluePoint7Y" fmla="*/ 1679 h 1730"/>
                <a:gd name="GluePoint8X" fmla="*/ 1240 w 1470"/>
                <a:gd name="GluePoint8Y" fmla="*/ 1710 h 1730"/>
                <a:gd name="GluePoint9X" fmla="*/ 1470 w 1470"/>
                <a:gd name="GluePoint9Y" fmla="*/ 1730 h 17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470" h="1730">
                  <a:moveTo>
                    <a:pt x="0" y="0"/>
                  </a:moveTo>
                  <a:cubicBezTo>
                    <a:pt x="3" y="60"/>
                    <a:pt x="8" y="228"/>
                    <a:pt x="20" y="360"/>
                  </a:cubicBezTo>
                  <a:cubicBezTo>
                    <a:pt x="32" y="492"/>
                    <a:pt x="43" y="670"/>
                    <a:pt x="70" y="790"/>
                  </a:cubicBezTo>
                  <a:cubicBezTo>
                    <a:pt x="97" y="910"/>
                    <a:pt x="125" y="981"/>
                    <a:pt x="180" y="1079"/>
                  </a:cubicBezTo>
                  <a:cubicBezTo>
                    <a:pt x="235" y="1177"/>
                    <a:pt x="317" y="1300"/>
                    <a:pt x="400" y="1380"/>
                  </a:cubicBezTo>
                  <a:cubicBezTo>
                    <a:pt x="483" y="1460"/>
                    <a:pt x="570" y="1510"/>
                    <a:pt x="680" y="1560"/>
                  </a:cubicBezTo>
                  <a:cubicBezTo>
                    <a:pt x="790" y="1610"/>
                    <a:pt x="967" y="1654"/>
                    <a:pt x="1060" y="1679"/>
                  </a:cubicBezTo>
                  <a:cubicBezTo>
                    <a:pt x="1153" y="1704"/>
                    <a:pt x="1172" y="1702"/>
                    <a:pt x="1240" y="1710"/>
                  </a:cubicBezTo>
                  <a:cubicBezTo>
                    <a:pt x="1308" y="1718"/>
                    <a:pt x="1422" y="1726"/>
                    <a:pt x="1470" y="1730"/>
                  </a:cubicBezTo>
                </a:path>
              </a:pathLst>
            </a:custGeom>
            <a:noFill/>
            <a:ln w="9360">
              <a:solidFill>
                <a:srgbClr val="0000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0" name="Rectangle 27"/>
          <p:cNvSpPr/>
          <p:nvPr/>
        </p:nvSpPr>
        <p:spPr>
          <a:xfrm>
            <a:off x="380880" y="5035320"/>
            <a:ext cx="8112240" cy="15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3200" strike="noStrike" u="none">
                <a:solidFill>
                  <a:srgbClr val="00b050"/>
                </a:solidFill>
                <a:effectLst/>
                <a:uFillTx/>
                <a:latin typeface="Times New Roman"/>
                <a:ea typeface="Times New Roman"/>
              </a:rPr>
              <a:t>W est une différentielle totale exacte, dans ce cas le travail est une fonction d’état. Il ne dépend que de l’état initial et de l’état final.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28"/>
          <p:cNvSpPr/>
          <p:nvPr/>
        </p:nvSpPr>
        <p:spPr>
          <a:xfrm>
            <a:off x="204120" y="752400"/>
            <a:ext cx="67402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c000"/>
                </a:solidFill>
                <a:effectLst/>
                <a:uFillTx/>
                <a:latin typeface="Times New Roman"/>
                <a:ea typeface="Times New Roman"/>
              </a:rPr>
              <a:t>Transformation adiabatique réversible (</a:t>
            </a:r>
            <a:r>
              <a:rPr b="1" i="1" lang="fr-FR" sz="2800" strike="noStrike" u="none">
                <a:solidFill>
                  <a:srgbClr val="ffc000"/>
                </a:solidFill>
                <a:effectLst/>
                <a:uFillTx/>
                <a:latin typeface="Times New Roman"/>
                <a:ea typeface="Times New Roman"/>
              </a:rPr>
              <a:t>Q = 0</a:t>
            </a:r>
            <a:r>
              <a:rPr b="1" lang="fr-FR" sz="2800" strike="noStrike" u="none">
                <a:solidFill>
                  <a:srgbClr val="ffc000"/>
                </a:solidFill>
                <a:effectLst/>
                <a:uFillTx/>
                <a:latin typeface="Times New Roman"/>
                <a:ea typeface="Times New Roman"/>
              </a:rPr>
              <a:t>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11"/>
          <p:cNvSpPr/>
          <p:nvPr/>
        </p:nvSpPr>
        <p:spPr>
          <a:xfrm>
            <a:off x="0" y="0"/>
            <a:ext cx="9144000" cy="55872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Times New Roman"/>
                <a:ea typeface="Times New Roman"/>
              </a:rPr>
              <a:t>Séance 4 : Premier principe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335" dur="indefinite" restart="never" nodeType="tmRoot">
          <p:childTnLst>
            <p:seq>
              <p:cTn id="336" dur="indefinite" nodeType="mainSeq">
                <p:childTnLst>
                  <p:par>
                    <p:cTn id="337" nodeType="clickEffect" fill="hold">
                      <p:stCondLst>
                        <p:cond delay="indefinite"/>
                      </p:stCondLst>
                      <p:childTnLst>
                        <p:par>
                          <p:cTn id="3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41" dur="8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42" dur="8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3" dur="8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nodeType="clickEffect" fill="hold">
                      <p:stCondLst>
                        <p:cond delay="indefinite"/>
                      </p:stCondLst>
                      <p:childTnLst>
                        <p:par>
                          <p:cTn id="3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6" nodeType="clickEffect" fill="hold" presetClass="entr" presetID="4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4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0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51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nodeType="withEffect" fill="hold" presetClass="entr" presetID="4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4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5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6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57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nodeType="withEffect" fill="hold" presetClass="entr" presetID="4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60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80000">
                                          <p:val>
                                            <p:strVal val="9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1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4999998807907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62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63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nodeType="clickEffect" fill="hold">
                      <p:stCondLst>
                        <p:cond delay="indefinite"/>
                      </p:stCondLst>
                      <p:childTnLst>
                        <p:par>
                          <p:cTn id="3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66" nodeType="click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368" dur="8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369" dur="8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122,0,0)"/>
                                          </p:val>
                                        </p:tav>
                                        <p:tav tm="50000">
                                          <p:val>
                                            <p:strVal val="rgb(-22,-22,-22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0" dur="8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angle 1"/>
          <p:cNvSpPr/>
          <p:nvPr/>
        </p:nvSpPr>
        <p:spPr>
          <a:xfrm>
            <a:off x="0" y="1892160"/>
            <a:ext cx="9144000" cy="192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 une enceinte adiabatique remplie de gaz on prélève de façon réversible un travail de 1,5 MJ.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Times New Roman"/>
              <a:buAutoNum type="alphaL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De quelle valeur diminue l'énergie interne du système.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1</a:t>
            </a:r>
            <a:r>
              <a:rPr b="1" lang="fr-FR" sz="3200" strike="noStrike" u="none" baseline="30000">
                <a:solidFill>
                  <a:srgbClr val="cc3300"/>
                </a:solidFill>
                <a:effectLst/>
                <a:uFillTx/>
                <a:latin typeface="Arial"/>
              </a:rPr>
              <a:t>ier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Principe : Exercice d’application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Times New Roman"/>
                <a:ea typeface="Times New Roman"/>
              </a:rPr>
              <a:t>Séance 4 : </a:t>
            </a: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1</a:t>
            </a:r>
            <a:r>
              <a:rPr b="1" lang="fr-FR" sz="2800" strike="noStrike" u="none" baseline="30000">
                <a:solidFill>
                  <a:srgbClr val="cc3300"/>
                </a:solidFill>
                <a:effectLst/>
                <a:uFillTx/>
                <a:latin typeface="Arial"/>
              </a:rPr>
              <a:t>ier</a:t>
            </a: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Principe : Application au Gaz parfait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5"/>
          <p:cNvSpPr/>
          <p:nvPr/>
        </p:nvSpPr>
        <p:spPr>
          <a:xfrm>
            <a:off x="0" y="3092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7"/>
          <p:cNvSpPr/>
          <p:nvPr/>
        </p:nvSpPr>
        <p:spPr>
          <a:xfrm>
            <a:off x="0" y="31212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8"/>
          <p:cNvSpPr/>
          <p:nvPr/>
        </p:nvSpPr>
        <p:spPr>
          <a:xfrm>
            <a:off x="0" y="3092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9"/>
          <p:cNvSpPr/>
          <p:nvPr/>
        </p:nvSpPr>
        <p:spPr>
          <a:xfrm>
            <a:off x="0" y="3097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10"/>
          <p:cNvSpPr/>
          <p:nvPr/>
        </p:nvSpPr>
        <p:spPr>
          <a:xfrm>
            <a:off x="0" y="3130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11"/>
          <p:cNvSpPr/>
          <p:nvPr/>
        </p:nvSpPr>
        <p:spPr>
          <a:xfrm>
            <a:off x="0" y="31212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13"/>
          <p:cNvSpPr/>
          <p:nvPr/>
        </p:nvSpPr>
        <p:spPr>
          <a:xfrm>
            <a:off x="0" y="31021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15"/>
          <p:cNvSpPr/>
          <p:nvPr/>
        </p:nvSpPr>
        <p:spPr>
          <a:xfrm>
            <a:off x="0" y="31212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17"/>
          <p:cNvSpPr/>
          <p:nvPr/>
        </p:nvSpPr>
        <p:spPr>
          <a:xfrm>
            <a:off x="0" y="31212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19"/>
          <p:cNvSpPr/>
          <p:nvPr/>
        </p:nvSpPr>
        <p:spPr>
          <a:xfrm>
            <a:off x="0" y="313524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25"/>
          <p:cNvSpPr/>
          <p:nvPr/>
        </p:nvSpPr>
        <p:spPr>
          <a:xfrm>
            <a:off x="0" y="3130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25"/>
          <p:cNvSpPr/>
          <p:nvPr/>
        </p:nvSpPr>
        <p:spPr>
          <a:xfrm>
            <a:off x="0" y="103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26"/>
          <p:cNvSpPr/>
          <p:nvPr/>
        </p:nvSpPr>
        <p:spPr>
          <a:xfrm>
            <a:off x="3110040" y="153576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27"/>
          <p:cNvSpPr/>
          <p:nvPr/>
        </p:nvSpPr>
        <p:spPr>
          <a:xfrm>
            <a:off x="0" y="210672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28"/>
          <p:cNvSpPr/>
          <p:nvPr/>
        </p:nvSpPr>
        <p:spPr>
          <a:xfrm>
            <a:off x="3110040" y="264060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29"/>
          <p:cNvSpPr/>
          <p:nvPr/>
        </p:nvSpPr>
        <p:spPr>
          <a:xfrm>
            <a:off x="0" y="3211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ZoneTexte 35"/>
          <p:cNvSpPr/>
          <p:nvPr/>
        </p:nvSpPr>
        <p:spPr>
          <a:xfrm>
            <a:off x="255960" y="428760"/>
            <a:ext cx="3896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Détente de Joule (loi de Joule)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3" name="Groupe 92"/>
          <p:cNvGrpSpPr/>
          <p:nvPr/>
        </p:nvGrpSpPr>
        <p:grpSpPr>
          <a:xfrm>
            <a:off x="52560" y="2397240"/>
            <a:ext cx="6200640" cy="928440"/>
            <a:chOff x="52560" y="2397240"/>
            <a:chExt cx="6200640" cy="928440"/>
          </a:xfrm>
        </p:grpSpPr>
        <p:sp>
          <p:nvSpPr>
            <p:cNvPr id="244" name="Flèche droite 81"/>
            <p:cNvSpPr/>
            <p:nvPr/>
          </p:nvSpPr>
          <p:spPr>
            <a:xfrm>
              <a:off x="52560" y="2397240"/>
              <a:ext cx="6200640" cy="928440"/>
            </a:xfrm>
            <a:prstGeom prst="rightArrow">
              <a:avLst>
                <a:gd name="adj1" fmla="val 50000"/>
                <a:gd name="adj2" fmla="val 49996"/>
              </a:avLst>
            </a:prstGeom>
            <a:solidFill>
              <a:srgbClr val="ffffff"/>
            </a:solidFill>
            <a:ln w="25560">
              <a:solidFill>
                <a:srgbClr val="4f81b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Rectangle 80"/>
            <p:cNvSpPr/>
            <p:nvPr/>
          </p:nvSpPr>
          <p:spPr>
            <a:xfrm>
              <a:off x="83880" y="2670840"/>
              <a:ext cx="5927400" cy="368280"/>
            </a:xfrm>
            <a:prstGeom prst="rect">
              <a:avLst/>
            </a:prstGeom>
            <a:solidFill>
              <a:srgbClr val="ffffff"/>
            </a:solidFill>
            <a:ln w="936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On ouvre le robinet le gaz occupe les deux compartiments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6" name="Groupe 88"/>
          <p:cNvGrpSpPr/>
          <p:nvPr/>
        </p:nvGrpSpPr>
        <p:grpSpPr>
          <a:xfrm>
            <a:off x="-71280" y="3254400"/>
            <a:ext cx="7715160" cy="484200"/>
            <a:chOff x="-71280" y="3254400"/>
            <a:chExt cx="7715160" cy="484200"/>
          </a:xfrm>
        </p:grpSpPr>
        <p:sp>
          <p:nvSpPr>
            <p:cNvPr id="247" name="Rectangle 85"/>
            <p:cNvSpPr/>
            <p:nvPr/>
          </p:nvSpPr>
          <p:spPr>
            <a:xfrm>
              <a:off x="-71280" y="3313440"/>
              <a:ext cx="77151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Transformation spontanée                          transformation irréversible.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Flèche droite 87"/>
            <p:cNvSpPr/>
            <p:nvPr/>
          </p:nvSpPr>
          <p:spPr>
            <a:xfrm>
              <a:off x="2522520" y="3254400"/>
              <a:ext cx="977760" cy="484200"/>
            </a:xfrm>
            <a:prstGeom prst="rightArrow">
              <a:avLst>
                <a:gd name="adj1" fmla="val 50000"/>
                <a:gd name="adj2" fmla="val 50035"/>
              </a:avLst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9" name="Rectangle 6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0" name="Groupe 108"/>
          <p:cNvGrpSpPr/>
          <p:nvPr/>
        </p:nvGrpSpPr>
        <p:grpSpPr>
          <a:xfrm>
            <a:off x="0" y="3670200"/>
            <a:ext cx="7432560" cy="428760"/>
            <a:chOff x="0" y="3670200"/>
            <a:chExt cx="7432560" cy="428760"/>
          </a:xfrm>
        </p:grpSpPr>
        <mc:AlternateContent>
          <mc:Choice xmlns:a14="http://schemas.microsoft.com/office/drawing/2010/main" Requires="a14">
            <p:sp>
              <p:nvSpPr>
                <p:cNvPr id="251" name="Object 66"/>
                <p:cNvSpPr txBox="1"/>
                <p:nvPr/>
              </p:nvSpPr>
              <p:spPr>
                <a:xfrm>
                  <a:off x="5785920" y="3670200"/>
                  <a:ext cx="1646640" cy="4287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ΔU</m:t>
                      </m:r>
                      <m:r>
                        <m:t xml:space="preserve">=</m:t>
                      </m:r>
                      <m:r>
                        <m:t xml:space="preserve">W</m:t>
                      </m:r>
                      <m:r>
                        <m:t xml:space="preserve">+</m:t>
                      </m:r>
                      <m:r>
                        <m:t xml:space="preserve">Q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51" name="Object 66"/>
                <p:cNvSpPr txBox="1"/>
                <p:nvPr/>
              </p:nvSpPr>
              <p:spPr>
                <a:xfrm>
                  <a:off x="5785920" y="3670200"/>
                  <a:ext cx="1646640" cy="428760"/>
                </a:xfrm>
                <a:prstGeom prst="rect">
                  <a:avLst/>
                </a:prstGeom>
                <a:blipFill>
                  <a:blip r:embed="rId1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52" name="Rectangle 91"/>
            <p:cNvSpPr/>
            <p:nvPr/>
          </p:nvSpPr>
          <p:spPr>
            <a:xfrm>
              <a:off x="0" y="3670200"/>
              <a:ext cx="65718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La variation de l’énergie interne du système (Gaz) est : 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3" name="Rectangle 6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71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73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6" name="Groupe 109"/>
          <p:cNvGrpSpPr/>
          <p:nvPr/>
        </p:nvGrpSpPr>
        <p:grpSpPr>
          <a:xfrm>
            <a:off x="0" y="3944880"/>
            <a:ext cx="9082080" cy="2000160"/>
            <a:chOff x="0" y="3944880"/>
            <a:chExt cx="9082080" cy="2000160"/>
          </a:xfrm>
        </p:grpSpPr>
        <mc:AlternateContent>
          <mc:Choice xmlns:a14="http://schemas.microsoft.com/office/drawing/2010/main" Requires="a14">
            <p:sp>
              <p:nvSpPr>
                <p:cNvPr id="257" name="Object 68"/>
                <p:cNvSpPr txBox="1"/>
                <p:nvPr/>
              </p:nvSpPr>
              <p:spPr>
                <a:xfrm>
                  <a:off x="5071680" y="4373280"/>
                  <a:ext cx="3071520" cy="36540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sSub>
                        <m:e>
                          <m:r>
                            <m:t xml:space="preserve">P</m:t>
                          </m:r>
                        </m:e>
                        <m:sub>
                          <m:r>
                            <m:rPr>
                              <m:lit/>
                              <m:nor/>
                            </m:rPr>
                            <m:t xml:space="preserve">ext</m:t>
                          </m:r>
                        </m:sub>
                      </m:sSub>
                      <m:r>
                        <m:t xml:space="preserve">=</m:t>
                      </m:r>
                      <m:r>
                        <m:t xml:space="preserve">0</m:t>
                      </m:r>
                      <m:r>
                        <m:t xml:space="preserve"> </m:t>
                      </m:r>
                      <m:r>
                        <m:t xml:space="preserve">⇒</m:t>
                      </m:r>
                      <m:r>
                        <m:t xml:space="preserve"> </m:t>
                      </m:r>
                      <m:r>
                        <m:t xml:space="preserve">δW</m:t>
                      </m:r>
                      <m:r>
                        <m:t xml:space="preserve">=</m:t>
                      </m:r>
                      <m:r>
                        <m:t xml:space="preserve">−</m:t>
                      </m:r>
                      <m:sSub>
                        <m:e>
                          <m:r>
                            <m:t xml:space="preserve">P</m:t>
                          </m:r>
                        </m:e>
                        <m:sub>
                          <m:r>
                            <m:rPr>
                              <m:lit/>
                              <m:nor/>
                            </m:rPr>
                            <m:t xml:space="preserve">ext</m:t>
                          </m:r>
                        </m:sub>
                      </m:sSub>
                      <m:r>
                        <m:rPr>
                          <m:lit/>
                          <m:nor/>
                        </m:rPr>
                        <m:t xml:space="preserve">dV</m:t>
                      </m:r>
                      <m:r>
                        <m:t xml:space="preserve">=</m:t>
                      </m:r>
                      <m:r>
                        <m:t xml:space="preserve">0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57" name="Object 68"/>
                <p:cNvSpPr txBox="1"/>
                <p:nvPr/>
              </p:nvSpPr>
              <p:spPr>
                <a:xfrm>
                  <a:off x="5071680" y="4373280"/>
                  <a:ext cx="3071520" cy="3654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</p:sp>
          </mc:Fallback>
        </mc:AlternateContent>
        <p:grpSp>
          <p:nvGrpSpPr>
            <p:cNvPr id="258" name="Groupe 96"/>
            <p:cNvGrpSpPr/>
            <p:nvPr/>
          </p:nvGrpSpPr>
          <p:grpSpPr>
            <a:xfrm>
              <a:off x="71280" y="3944880"/>
              <a:ext cx="4857480" cy="1285920"/>
              <a:chOff x="71280" y="3944880"/>
              <a:chExt cx="4857480" cy="1285920"/>
            </a:xfrm>
          </p:grpSpPr>
          <p:sp>
            <p:nvSpPr>
              <p:cNvPr id="259" name="Flèche droite 95"/>
              <p:cNvSpPr/>
              <p:nvPr/>
            </p:nvSpPr>
            <p:spPr>
              <a:xfrm>
                <a:off x="71280" y="3944880"/>
                <a:ext cx="4857480" cy="1285920"/>
              </a:xfrm>
              <a:prstGeom prst="rightArrow">
                <a:avLst>
                  <a:gd name="adj1" fmla="val 50000"/>
                  <a:gd name="adj2" fmla="val 49998"/>
                </a:avLst>
              </a:prstGeom>
              <a:gradFill rotWithShape="0">
                <a:gsLst>
                  <a:gs pos="0">
                    <a:srgbClr val="a3c4ff"/>
                  </a:gs>
                  <a:gs pos="100000">
                    <a:srgbClr val="e5eeff"/>
                  </a:gs>
                </a:gsLst>
                <a:lin ang="16200000"/>
              </a:gradFill>
              <a:ln w="9360">
                <a:solidFill>
                  <a:srgbClr val="4a7ebb"/>
                </a:solidFill>
                <a:miter/>
              </a:ln>
              <a:effectLst>
                <a:outerShdw dist="20160" dir="5400000" blurRad="0" rotWithShape="0">
                  <a:srgbClr val="000000">
                    <a:alpha val="38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0" name="Rectangle 94"/>
              <p:cNvSpPr/>
              <p:nvPr/>
            </p:nvSpPr>
            <p:spPr>
              <a:xfrm>
                <a:off x="71280" y="4230360"/>
                <a:ext cx="4571640" cy="642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sp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18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Quand on ouvre le robinet la pression extérieure appliquée au gaz est nulle (vide)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61" name="Groupe 102"/>
            <p:cNvGrpSpPr/>
            <p:nvPr/>
          </p:nvGrpSpPr>
          <p:grpSpPr>
            <a:xfrm>
              <a:off x="0" y="5159160"/>
              <a:ext cx="5428800" cy="785880"/>
              <a:chOff x="0" y="5159160"/>
              <a:chExt cx="5428800" cy="785880"/>
            </a:xfrm>
          </p:grpSpPr>
          <p:sp>
            <p:nvSpPr>
              <p:cNvPr id="262" name="Flèche droite 101"/>
              <p:cNvSpPr/>
              <p:nvPr/>
            </p:nvSpPr>
            <p:spPr>
              <a:xfrm>
                <a:off x="0" y="5159160"/>
                <a:ext cx="4929120" cy="785880"/>
              </a:xfrm>
              <a:prstGeom prst="rightArrow">
                <a:avLst>
                  <a:gd name="adj1" fmla="val 50000"/>
                  <a:gd name="adj2" fmla="val 50003"/>
                </a:avLst>
              </a:prstGeom>
              <a:gradFill rotWithShape="0">
                <a:gsLst>
                  <a:gs pos="0">
                    <a:srgbClr val="a3c4ff"/>
                  </a:gs>
                  <a:gs pos="100000">
                    <a:srgbClr val="e5eeff"/>
                  </a:gs>
                </a:gsLst>
                <a:lin ang="16200000"/>
              </a:gradFill>
              <a:ln w="9360">
                <a:solidFill>
                  <a:srgbClr val="4a7ebb"/>
                </a:solidFill>
                <a:miter/>
              </a:ln>
              <a:effectLst>
                <a:outerShdw dist="20160" dir="5400000" blurRad="0" rotWithShape="0">
                  <a:srgbClr val="000000">
                    <a:alpha val="38000"/>
                  </a:srgbClr>
                </a:outerShdw>
              </a:effectLst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Rectangle 100"/>
              <p:cNvSpPr/>
              <p:nvPr/>
            </p:nvSpPr>
            <p:spPr>
              <a:xfrm>
                <a:off x="857160" y="5373360"/>
                <a:ext cx="4571640" cy="368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sp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r>
                  <a:rPr b="0" lang="fr-FR" sz="1800" strike="noStrike" u="none">
                    <a:solidFill>
                      <a:srgbClr val="000000"/>
                    </a:solidFill>
                    <a:effectLst/>
                    <a:uFillTx/>
                    <a:latin typeface="Calibri"/>
                  </a:rPr>
                  <a:t>les parois sont adiabatiques </a:t>
                </a: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mc:AlternateContent>
          <mc:Choice xmlns:a14="http://schemas.microsoft.com/office/drawing/2010/main" Requires="a14">
            <p:sp>
              <p:nvSpPr>
                <p:cNvPr id="264" name="Object 70"/>
                <p:cNvSpPr txBox="1"/>
                <p:nvPr/>
              </p:nvSpPr>
              <p:spPr>
                <a:xfrm>
                  <a:off x="5143320" y="5394240"/>
                  <a:ext cx="662400" cy="33624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 </m:t>
                      </m:r>
                      <m:r>
                        <m:t xml:space="preserve">Q</m:t>
                      </m:r>
                      <m:r>
                        <m:t xml:space="preserve">=</m:t>
                      </m:r>
                      <m:r>
                        <m:t xml:space="preserve">0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264" name="Object 70"/>
                <p:cNvSpPr txBox="1"/>
                <p:nvPr/>
              </p:nvSpPr>
              <p:spPr>
                <a:xfrm>
                  <a:off x="5143320" y="5394240"/>
                  <a:ext cx="662400" cy="33624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65" name="Accolade fermante 105"/>
            <p:cNvSpPr/>
            <p:nvPr/>
          </p:nvSpPr>
          <p:spPr>
            <a:xfrm>
              <a:off x="7929720" y="4373280"/>
              <a:ext cx="357120" cy="1500120"/>
            </a:xfrm>
            <a:custGeom>
              <a:avLst/>
              <a:gdLst>
                <a:gd name="textAreaLeft" fmla="*/ 0 w 357120"/>
                <a:gd name="textAreaRight" fmla="*/ 128880 w 357120"/>
                <a:gd name="textAreaTop" fmla="*/ 9000 h 1500120"/>
                <a:gd name="textAreaBottom" fmla="*/ 1491120 h 150012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215"/>
                    <a:pt x="10800" y="429"/>
                  </a:cubicBezTo>
                  <a:lnTo>
                    <a:pt x="10800" y="10371"/>
                  </a:lnTo>
                  <a:cubicBezTo>
                    <a:pt x="10800" y="10586"/>
                    <a:pt x="16200" y="10800"/>
                    <a:pt x="21600" y="10800"/>
                  </a:cubicBezTo>
                  <a:cubicBezTo>
                    <a:pt x="16200" y="10800"/>
                    <a:pt x="10800" y="11015"/>
                    <a:pt x="10800" y="11229"/>
                  </a:cubicBezTo>
                  <a:lnTo>
                    <a:pt x="10800" y="21171"/>
                  </a:lnTo>
                  <a:cubicBezTo>
                    <a:pt x="10800" y="21386"/>
                    <a:pt x="54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mc:AlternateContent>
          <mc:Choice xmlns:a14="http://schemas.microsoft.com/office/drawing/2010/main" Requires="a14">
            <p:sp>
              <p:nvSpPr>
                <p:cNvPr id="266" name="Object 72"/>
                <p:cNvSpPr txBox="1"/>
                <p:nvPr/>
              </p:nvSpPr>
              <p:spPr>
                <a:xfrm>
                  <a:off x="8286480" y="4849560"/>
                  <a:ext cx="795600" cy="59508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eqArr>
                        <m:e>
                          <m:r>
                            <m:t xml:space="preserve">ΔU</m:t>
                          </m:r>
                          <m:r>
                            <m:t xml:space="preserve">=</m:t>
                          </m:r>
                          <m:r>
                            <m:t xml:space="preserve">0</m:t>
                          </m:r>
                          <m:r>
                            <m:t xml:space="preserve"> </m:t>
                          </m:r>
                        </m:e>
                        <m:e>
                          <m:r>
                            <m:t xml:space="preserve"> </m:t>
                          </m:r>
                          <m:r>
                            <m:t xml:space="preserve">U</m:t>
                          </m:r>
                          <m:r>
                            <m:t xml:space="preserve">=</m:t>
                          </m:r>
                          <m:r>
                            <m:rPr>
                              <m:lit/>
                              <m:nor/>
                            </m:rPr>
                            <m:t xml:space="preserve">Cte</m:t>
                          </m:r>
                        </m:e>
                      </m:eqArr>
                    </m:oMath>
                  </a14:m>
                </a:p>
              </p:txBody>
            </p:sp>
          </mc:Choice>
          <mc:Fallback>
            <p:sp>
              <p:nvSpPr>
                <p:cNvPr id="266" name="Object 72"/>
                <p:cNvSpPr txBox="1"/>
                <p:nvPr/>
              </p:nvSpPr>
              <p:spPr>
                <a:xfrm>
                  <a:off x="8286480" y="4849560"/>
                  <a:ext cx="795600" cy="59508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</p:sp>
          </mc:Fallback>
        </mc:AlternateContent>
      </p:grpSp>
      <p:sp>
        <p:nvSpPr>
          <p:cNvPr id="267" name="Rectangle 110"/>
          <p:cNvSpPr/>
          <p:nvPr/>
        </p:nvSpPr>
        <p:spPr>
          <a:xfrm>
            <a:off x="0" y="5840280"/>
            <a:ext cx="9144000" cy="82548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On conclue alors que l’énergie interne du système au cours de cette transformation reste constante, la transformation est iso énergétique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75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9" name="Groupe 91"/>
          <p:cNvGrpSpPr/>
          <p:nvPr/>
        </p:nvGrpSpPr>
        <p:grpSpPr>
          <a:xfrm>
            <a:off x="209520" y="682560"/>
            <a:ext cx="4826160" cy="1922400"/>
            <a:chOff x="209520" y="682560"/>
            <a:chExt cx="4826160" cy="1922400"/>
          </a:xfrm>
        </p:grpSpPr>
        <p:grpSp>
          <p:nvGrpSpPr>
            <p:cNvPr id="270" name="Groupe 89"/>
            <p:cNvGrpSpPr/>
            <p:nvPr/>
          </p:nvGrpSpPr>
          <p:grpSpPr>
            <a:xfrm>
              <a:off x="209520" y="682560"/>
              <a:ext cx="4826160" cy="1922400"/>
              <a:chOff x="209520" y="682560"/>
              <a:chExt cx="4826160" cy="1922400"/>
            </a:xfrm>
          </p:grpSpPr>
          <p:grpSp>
            <p:nvGrpSpPr>
              <p:cNvPr id="271" name="Groupe 98"/>
              <p:cNvGrpSpPr/>
              <p:nvPr/>
            </p:nvGrpSpPr>
            <p:grpSpPr>
              <a:xfrm>
                <a:off x="209520" y="682560"/>
                <a:ext cx="4826160" cy="1922400"/>
                <a:chOff x="209520" y="682560"/>
                <a:chExt cx="4826160" cy="1922400"/>
              </a:xfrm>
            </p:grpSpPr>
            <p:sp>
              <p:nvSpPr>
                <p:cNvPr id="272" name="Rectangle 75"/>
                <p:cNvSpPr/>
                <p:nvPr/>
              </p:nvSpPr>
              <p:spPr>
                <a:xfrm>
                  <a:off x="2889360" y="682560"/>
                  <a:ext cx="2146320" cy="368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rIns="90000" tIns="46800" bIns="4680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fr-FR" sz="1800" strike="noStrike" u="none">
                      <a:solidFill>
                        <a:srgbClr val="000000"/>
                      </a:solidFill>
                      <a:effectLst/>
                      <a:uFillTx/>
                      <a:latin typeface="Calibri"/>
                    </a:rPr>
                    <a:t>Parois indéformables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273" name="Groupe 97"/>
                <p:cNvGrpSpPr/>
                <p:nvPr/>
              </p:nvGrpSpPr>
              <p:grpSpPr>
                <a:xfrm>
                  <a:off x="209520" y="813240"/>
                  <a:ext cx="4191840" cy="1791720"/>
                  <a:chOff x="209520" y="813240"/>
                  <a:chExt cx="4191840" cy="1791720"/>
                </a:xfrm>
              </p:grpSpPr>
              <p:grpSp>
                <p:nvGrpSpPr>
                  <p:cNvPr id="274" name="Groupe 68"/>
                  <p:cNvGrpSpPr/>
                  <p:nvPr/>
                </p:nvGrpSpPr>
                <p:grpSpPr>
                  <a:xfrm>
                    <a:off x="1929240" y="1182600"/>
                    <a:ext cx="2472120" cy="1422360"/>
                    <a:chOff x="1929240" y="1182600"/>
                    <a:chExt cx="2472120" cy="1422360"/>
                  </a:xfrm>
                </p:grpSpPr>
                <p:sp>
                  <p:nvSpPr>
                    <p:cNvPr id="275" name="AutoShape 42"/>
                    <p:cNvSpPr/>
                    <p:nvPr/>
                  </p:nvSpPr>
                  <p:spPr>
                    <a:xfrm>
                      <a:off x="1929240" y="1182600"/>
                      <a:ext cx="2472120" cy="142236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/>
                    <a:fillRef idx="0"/>
                    <a:effectRef idx="0"/>
                    <a:fontRef idx="minor"/>
                  </p:style>
                  <p:txBody>
                    <a:bodyPr lIns="90000" rIns="90000" tIns="46800" bIns="46800" anchor="t">
                      <a:norm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p:txBody>
                </p:sp>
                <p:grpSp>
                  <p:nvGrpSpPr>
                    <p:cNvPr id="276" name="Group 43"/>
                    <p:cNvGrpSpPr/>
                    <p:nvPr/>
                  </p:nvGrpSpPr>
                  <p:grpSpPr>
                    <a:xfrm>
                      <a:off x="2000160" y="1235880"/>
                      <a:ext cx="2241000" cy="1280160"/>
                      <a:chOff x="2000160" y="1235880"/>
                      <a:chExt cx="2241000" cy="1280160"/>
                    </a:xfrm>
                  </p:grpSpPr>
                  <p:sp>
                    <p:nvSpPr>
                      <p:cNvPr id="277" name="Freeform 44" descr="5 %"/>
                      <p:cNvSpPr/>
                      <p:nvPr/>
                    </p:nvSpPr>
                    <p:spPr>
                      <a:xfrm>
                        <a:off x="2179080" y="1397160"/>
                        <a:ext cx="936360" cy="1026720"/>
                      </a:xfrm>
                      <a:custGeom>
                        <a:avLst/>
                        <a:gdLst>
                          <a:gd name="textAreaLeft" fmla="*/ 0 w 936360"/>
                          <a:gd name="textAreaRight" fmla="*/ 936720 w 936360"/>
                          <a:gd name="textAreaTop" fmla="*/ 0 h 1026720"/>
                          <a:gd name="textAreaBottom" fmla="*/ 1027080 h 1026720"/>
                          <a:gd name="GluePoint1X" fmla="*/ 60 w 1850"/>
                          <a:gd name="GluePoint1Y" fmla="*/ 66 h 2030"/>
                          <a:gd name="GluePoint2X" fmla="*/ 60 w 1850"/>
                          <a:gd name="GluePoint2Y" fmla="*/ 16 h 2030"/>
                          <a:gd name="GluePoint3X" fmla="*/ 29 w 1850"/>
                          <a:gd name="GluePoint3Y" fmla="*/ 17 h 2030"/>
                          <a:gd name="GluePoint4X" fmla="*/ 29 w 1850"/>
                          <a:gd name="GluePoint4Y" fmla="*/ 4 h 2030"/>
                          <a:gd name="GluePoint5X" fmla="*/ 61 w 1850"/>
                          <a:gd name="GluePoint5Y" fmla="*/ 4 h 2030"/>
                          <a:gd name="GluePoint6X" fmla="*/ 61 w 1850"/>
                          <a:gd name="GluePoint6Y" fmla="*/ 0 h 2030"/>
                          <a:gd name="GluePoint7X" fmla="*/ 25 w 1850"/>
                          <a:gd name="GluePoint7Y" fmla="*/ 2 h 2030"/>
                          <a:gd name="GluePoint8X" fmla="*/ 25 w 1850"/>
                          <a:gd name="GluePoint8Y" fmla="*/ 16 h 2030"/>
                          <a:gd name="GluePoint9X" fmla="*/ 0 w 1850"/>
                          <a:gd name="GluePoint9Y" fmla="*/ 16 h 2030"/>
                          <a:gd name="GluePoint10X" fmla="*/ 2 w 1850"/>
                          <a:gd name="GluePoint10Y" fmla="*/ 67 h 2030"/>
                          <a:gd name="GluePoint11X" fmla="*/ 60 w 1850"/>
                          <a:gd name="GluePoint11Y" fmla="*/ 66 h 2030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  <a:cxn ang="0">
                            <a:pos x="GluePoint3X" y="GluePoint3Y"/>
                          </a:cxn>
                          <a:cxn ang="0">
                            <a:pos x="GluePoint4X" y="GluePoint4Y"/>
                          </a:cxn>
                          <a:cxn ang="0">
                            <a:pos x="GluePoint5X" y="GluePoint5Y"/>
                          </a:cxn>
                          <a:cxn ang="0">
                            <a:pos x="GluePoint6X" y="GluePoint6Y"/>
                          </a:cxn>
                          <a:cxn ang="0">
                            <a:pos x="GluePoint7X" y="GluePoint7Y"/>
                          </a:cxn>
                          <a:cxn ang="0">
                            <a:pos x="GluePoint8X" y="GluePoint8Y"/>
                          </a:cxn>
                          <a:cxn ang="0">
                            <a:pos x="GluePoint9X" y="GluePoint9Y"/>
                          </a:cxn>
                          <a:cxn ang="0">
                            <a:pos x="GluePoint10X" y="GluePoint10Y"/>
                          </a:cxn>
                          <a:cxn ang="0">
                            <a:pos x="GluePoint11X" y="GluePoint11Y"/>
                          </a:cxn>
                        </a:cxnLst>
                        <a:rect l="textAreaLeft" t="textAreaTop" r="textAreaRight" b="textAreaBottom"/>
                        <a:pathLst>
                          <a:path w="1850" h="2030">
                            <a:moveTo>
                              <a:pt x="1800" y="2020"/>
                            </a:moveTo>
                            <a:lnTo>
                              <a:pt x="1800" y="480"/>
                            </a:lnTo>
                            <a:lnTo>
                              <a:pt x="880" y="490"/>
                            </a:lnTo>
                            <a:lnTo>
                              <a:pt x="890" y="100"/>
                            </a:lnTo>
                            <a:lnTo>
                              <a:pt x="1850" y="100"/>
                            </a:lnTo>
                            <a:lnTo>
                              <a:pt x="1850" y="0"/>
                            </a:lnTo>
                            <a:lnTo>
                              <a:pt x="760" y="10"/>
                            </a:lnTo>
                            <a:lnTo>
                              <a:pt x="760" y="480"/>
                            </a:lnTo>
                            <a:lnTo>
                              <a:pt x="0" y="480"/>
                            </a:lnTo>
                            <a:lnTo>
                              <a:pt x="10" y="2030"/>
                            </a:lnTo>
                            <a:lnTo>
                              <a:pt x="1800" y="2020"/>
                            </a:lnTo>
                            <a:close/>
                          </a:path>
                        </a:pathLst>
                      </a:custGeom>
                      <a:blipFill rotWithShape="0">
                        <a:blip r:embed="rId5"/>
                        <a:srcRect/>
                        <a:tile tx="0" ty="0" sx="100000" sy="100000" algn="ctr"/>
                      </a:blipFill>
                      <a:ln w="936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46800" bIns="46800" anchor="t">
                        <a:noAutofit/>
                      </a:bodyPr>
                      <a:p>
                        <a:endPara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278" name="Freeform 45"/>
                      <p:cNvSpPr/>
                      <p:nvPr/>
                    </p:nvSpPr>
                    <p:spPr>
                      <a:xfrm>
                        <a:off x="2177640" y="1404720"/>
                        <a:ext cx="1892520" cy="1021680"/>
                      </a:xfrm>
                      <a:custGeom>
                        <a:avLst/>
                        <a:gdLst>
                          <a:gd name="textAreaLeft" fmla="*/ 0 w 1892520"/>
                          <a:gd name="textAreaRight" fmla="*/ 1892880 w 1892520"/>
                          <a:gd name="textAreaTop" fmla="*/ 0 h 1021680"/>
                          <a:gd name="textAreaBottom" fmla="*/ 1022040 h 1021680"/>
                          <a:gd name="GluePoint1X" fmla="*/ 60 w 3740"/>
                          <a:gd name="GluePoint1Y" fmla="*/ 66 h 2020"/>
                          <a:gd name="GluePoint2X" fmla="*/ 0 w 3740"/>
                          <a:gd name="GluePoint2Y" fmla="*/ 66 h 2020"/>
                          <a:gd name="GluePoint3X" fmla="*/ 0 w 3740"/>
                          <a:gd name="GluePoint3Y" fmla="*/ 14 h 2020"/>
                          <a:gd name="GluePoint4X" fmla="*/ 25 w 3740"/>
                          <a:gd name="GluePoint4Y" fmla="*/ 15 h 2020"/>
                          <a:gd name="GluePoint5X" fmla="*/ 25 w 3740"/>
                          <a:gd name="GluePoint5Y" fmla="*/ 0 h 2020"/>
                          <a:gd name="GluePoint6X" fmla="*/ 96 w 3740"/>
                          <a:gd name="GluePoint6Y" fmla="*/ 0 h 2020"/>
                          <a:gd name="GluePoint7X" fmla="*/ 96 w 3740"/>
                          <a:gd name="GluePoint7Y" fmla="*/ 16 h 2020"/>
                          <a:gd name="GluePoint8X" fmla="*/ 123 w 3740"/>
                          <a:gd name="GluePoint8Y" fmla="*/ 16 h 2020"/>
                          <a:gd name="GluePoint9X" fmla="*/ 123 w 3740"/>
                          <a:gd name="GluePoint9Y" fmla="*/ 66 h 2020"/>
                          <a:gd name="GluePoint10X" fmla="*/ 65 w 3740"/>
                          <a:gd name="GluePoint10Y" fmla="*/ 66 h 2020"/>
                          <a:gd name="GluePoint11X" fmla="*/ 65 w 3740"/>
                          <a:gd name="GluePoint11Y" fmla="*/ 16 h 2020"/>
                          <a:gd name="GluePoint12X" fmla="*/ 92 w 3740"/>
                          <a:gd name="GluePoint12Y" fmla="*/ 16 h 2020"/>
                          <a:gd name="GluePoint13X" fmla="*/ 92 w 3740"/>
                          <a:gd name="GluePoint13Y" fmla="*/ 3 h 2020"/>
                          <a:gd name="GluePoint14X" fmla="*/ 29 w 3740"/>
                          <a:gd name="GluePoint14Y" fmla="*/ 3 h 2020"/>
                          <a:gd name="GluePoint15X" fmla="*/ 29 w 3740"/>
                          <a:gd name="GluePoint15Y" fmla="*/ 16 h 2020"/>
                          <a:gd name="GluePoint16X" fmla="*/ 60 w 3740"/>
                          <a:gd name="GluePoint16Y" fmla="*/ 16 h 2020"/>
                          <a:gd name="GluePoint17X" fmla="*/ 60 w 3740"/>
                          <a:gd name="GluePoint17Y" fmla="*/ 66 h 2020"/>
                        </a:gdLst>
                        <a:ahLst/>
                        <a:cxnLst>
                          <a:cxn ang="0">
                            <a:pos x="GluePoint1X" y="GluePoint1Y"/>
                          </a:cxn>
                          <a:cxn ang="0">
                            <a:pos x="GluePoint2X" y="GluePoint2Y"/>
                          </a:cxn>
                          <a:cxn ang="0">
                            <a:pos x="GluePoint3X" y="GluePoint3Y"/>
                          </a:cxn>
                          <a:cxn ang="0">
                            <a:pos x="GluePoint4X" y="GluePoint4Y"/>
                          </a:cxn>
                          <a:cxn ang="0">
                            <a:pos x="GluePoint5X" y="GluePoint5Y"/>
                          </a:cxn>
                          <a:cxn ang="0">
                            <a:pos x="GluePoint6X" y="GluePoint6Y"/>
                          </a:cxn>
                          <a:cxn ang="0">
                            <a:pos x="GluePoint7X" y="GluePoint7Y"/>
                          </a:cxn>
                          <a:cxn ang="0">
                            <a:pos x="GluePoint8X" y="GluePoint8Y"/>
                          </a:cxn>
                          <a:cxn ang="0">
                            <a:pos x="GluePoint9X" y="GluePoint9Y"/>
                          </a:cxn>
                          <a:cxn ang="0">
                            <a:pos x="GluePoint10X" y="GluePoint10Y"/>
                          </a:cxn>
                          <a:cxn ang="0">
                            <a:pos x="GluePoint11X" y="GluePoint11Y"/>
                          </a:cxn>
                          <a:cxn ang="0">
                            <a:pos x="GluePoint12X" y="GluePoint12Y"/>
                          </a:cxn>
                          <a:cxn ang="0">
                            <a:pos x="GluePoint13X" y="GluePoint13Y"/>
                          </a:cxn>
                          <a:cxn ang="0">
                            <a:pos x="GluePoint14X" y="GluePoint14Y"/>
                          </a:cxn>
                          <a:cxn ang="0">
                            <a:pos x="GluePoint15X" y="GluePoint15Y"/>
                          </a:cxn>
                          <a:cxn ang="0">
                            <a:pos x="GluePoint16X" y="GluePoint16Y"/>
                          </a:cxn>
                          <a:cxn ang="0">
                            <a:pos x="GluePoint17X" y="GluePoint17Y"/>
                          </a:cxn>
                        </a:cxnLst>
                        <a:rect l="textAreaLeft" t="textAreaTop" r="textAreaRight" b="textAreaBottom"/>
                        <a:pathLst>
                          <a:path w="3740" h="2020">
                            <a:moveTo>
                              <a:pt x="1805" y="2015"/>
                            </a:moveTo>
                            <a:lnTo>
                              <a:pt x="0" y="2020"/>
                            </a:lnTo>
                            <a:lnTo>
                              <a:pt x="0" y="450"/>
                            </a:lnTo>
                            <a:lnTo>
                              <a:pt x="759" y="460"/>
                            </a:lnTo>
                            <a:lnTo>
                              <a:pt x="759" y="0"/>
                            </a:lnTo>
                            <a:lnTo>
                              <a:pt x="2890" y="0"/>
                            </a:lnTo>
                            <a:lnTo>
                              <a:pt x="2890" y="470"/>
                            </a:lnTo>
                            <a:lnTo>
                              <a:pt x="3740" y="470"/>
                            </a:lnTo>
                            <a:lnTo>
                              <a:pt x="3730" y="2020"/>
                            </a:lnTo>
                            <a:lnTo>
                              <a:pt x="1970" y="2020"/>
                            </a:lnTo>
                            <a:lnTo>
                              <a:pt x="1970" y="470"/>
                            </a:lnTo>
                            <a:lnTo>
                              <a:pt x="2780" y="470"/>
                            </a:lnTo>
                            <a:lnTo>
                              <a:pt x="2780" y="80"/>
                            </a:lnTo>
                            <a:lnTo>
                              <a:pt x="879" y="90"/>
                            </a:lnTo>
                            <a:lnTo>
                              <a:pt x="879" y="470"/>
                            </a:lnTo>
                            <a:lnTo>
                              <a:pt x="1800" y="470"/>
                            </a:lnTo>
                            <a:lnTo>
                              <a:pt x="1805" y="2015"/>
                            </a:lnTo>
                            <a:close/>
                          </a:path>
                        </a:pathLst>
                      </a:custGeom>
                      <a:noFill/>
                      <a:ln w="12600">
                        <a:solidFill>
                          <a:srgbClr val="000000"/>
                        </a:solidFill>
                        <a:round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46800" bIns="46800" anchor="t">
                        <a:noAutofit/>
                      </a:bodyPr>
                      <a:p>
                        <a:endPara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279" name="Line 46"/>
                      <p:cNvSpPr/>
                      <p:nvPr/>
                    </p:nvSpPr>
                    <p:spPr>
                      <a:xfrm>
                        <a:off x="3113640" y="1285200"/>
                        <a:ext cx="0" cy="226800"/>
                      </a:xfrm>
                      <a:prstGeom prst="line">
                        <a:avLst/>
                      </a:prstGeom>
                      <a:ln w="1260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46800" bIns="46800" anchor="t">
                        <a:noAutofit/>
                      </a:bodyPr>
                      <a:p>
                        <a:endPara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280" name="Line 47"/>
                      <p:cNvSpPr/>
                      <p:nvPr/>
                    </p:nvSpPr>
                    <p:spPr>
                      <a:xfrm>
                        <a:off x="2993040" y="1287720"/>
                        <a:ext cx="244440" cy="0"/>
                      </a:xfrm>
                      <a:prstGeom prst="line">
                        <a:avLst/>
                      </a:prstGeom>
                      <a:ln w="1260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-46800" bIns="-46800" anchor="t">
                        <a:noAutofit/>
                      </a:bodyPr>
                      <a:p>
                        <a:endPara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281" name="Text Box 48"/>
                      <p:cNvSpPr/>
                      <p:nvPr/>
                    </p:nvSpPr>
                    <p:spPr>
                      <a:xfrm>
                        <a:off x="2283840" y="1720800"/>
                        <a:ext cx="285480" cy="46476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73080" rIns="73080" tIns="36720" bIns="36720" anchor="t">
                        <a:normAutofit fontScale="47500" lnSpcReduction="19999"/>
                      </a:bodyPr>
                      <a:p>
                        <a:pPr>
                          <a:lnSpc>
                            <a:spcPct val="100000"/>
                          </a:lnSpc>
                          <a:spcAft>
                            <a:spcPts val="1001"/>
                          </a:spcAft>
                          <a:tabLst>
                            <a:tab algn="l" pos="0"/>
                            <a:tab algn="l" pos="914400"/>
                            <a:tab algn="l" pos="1828800"/>
                            <a:tab algn="l" pos="2743200"/>
                            <a:tab algn="l" pos="3657600"/>
                            <a:tab algn="l" pos="4572000"/>
                            <a:tab algn="l" pos="5486400"/>
                            <a:tab algn="l" pos="6400800"/>
                            <a:tab algn="l" pos="7315200"/>
                            <a:tab algn="l" pos="8229600"/>
                            <a:tab algn="l" pos="9144000"/>
                            <a:tab algn="l" pos="10058400"/>
                          </a:tabLst>
                        </a:pPr>
                        <a:r>
                          <a:rPr b="0" i="1" lang="fr-FR" sz="900" strike="noStrike" u="none">
                            <a:solidFill>
                              <a:srgbClr val="000000"/>
                            </a:solidFill>
                            <a:effectLst/>
                            <a:uFillTx/>
                            <a:latin typeface="Calibri"/>
                          </a:rPr>
                          <a:t>P</a:t>
                        </a:r>
                        <a:endPara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  <a:p>
                        <a:pPr>
                          <a:lnSpc>
                            <a:spcPct val="100000"/>
                          </a:lnSpc>
                          <a:spcAft>
                            <a:spcPts val="1001"/>
                          </a:spcAft>
                          <a:tabLst>
                            <a:tab algn="l" pos="0"/>
                            <a:tab algn="l" pos="914400"/>
                            <a:tab algn="l" pos="1828800"/>
                            <a:tab algn="l" pos="2743200"/>
                            <a:tab algn="l" pos="3657600"/>
                            <a:tab algn="l" pos="4572000"/>
                            <a:tab algn="l" pos="5486400"/>
                            <a:tab algn="l" pos="6400800"/>
                            <a:tab algn="l" pos="7315200"/>
                            <a:tab algn="l" pos="8229600"/>
                            <a:tab algn="l" pos="9144000"/>
                            <a:tab algn="l" pos="10058400"/>
                          </a:tabLst>
                        </a:pPr>
                        <a:r>
                          <a:rPr b="0" i="1" lang="fr-FR" sz="900" strike="noStrike" u="none">
                            <a:solidFill>
                              <a:srgbClr val="000000"/>
                            </a:solidFill>
                            <a:effectLst/>
                            <a:uFillTx/>
                            <a:latin typeface="Calibri"/>
                          </a:rPr>
                          <a:t>V</a:t>
                        </a:r>
                        <a:endPara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  <a:p>
                        <a:pPr>
                          <a:lnSpc>
                            <a:spcPct val="100000"/>
                          </a:lnSpc>
                          <a:spcAft>
                            <a:spcPts val="1001"/>
                          </a:spcAft>
                          <a:tabLst>
                            <a:tab algn="l" pos="0"/>
                            <a:tab algn="l" pos="914400"/>
                            <a:tab algn="l" pos="1828800"/>
                            <a:tab algn="l" pos="2743200"/>
                            <a:tab algn="l" pos="3657600"/>
                            <a:tab algn="l" pos="4572000"/>
                            <a:tab algn="l" pos="5486400"/>
                            <a:tab algn="l" pos="6400800"/>
                            <a:tab algn="l" pos="7315200"/>
                            <a:tab algn="l" pos="8229600"/>
                            <a:tab algn="l" pos="9144000"/>
                            <a:tab algn="l" pos="10058400"/>
                          </a:tabLst>
                        </a:pPr>
                        <a:r>
                          <a:rPr b="0" i="1" lang="fr-FR" sz="900" strike="noStrike" u="none">
                            <a:solidFill>
                              <a:srgbClr val="000000"/>
                            </a:solidFill>
                            <a:effectLst/>
                            <a:uFillTx/>
                            <a:latin typeface="Calibri"/>
                          </a:rPr>
                          <a:t>T</a:t>
                        </a:r>
                        <a:endPara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282" name="Text Box 49"/>
                      <p:cNvSpPr/>
                      <p:nvPr/>
                    </p:nvSpPr>
                    <p:spPr>
                      <a:xfrm>
                        <a:off x="3422160" y="1839600"/>
                        <a:ext cx="432360" cy="194040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73080" rIns="73080" tIns="36720" bIns="36720" anchor="t">
                        <a:normAutofit fontScale="77500" lnSpcReduction="19999"/>
                      </a:bodyPr>
                      <a:p>
                        <a:pPr>
                          <a:lnSpc>
                            <a:spcPct val="100000"/>
                          </a:lnSpc>
                          <a:spcAft>
                            <a:spcPts val="1001"/>
                          </a:spcAft>
                          <a:tabLst>
                            <a:tab algn="l" pos="0"/>
                            <a:tab algn="l" pos="914400"/>
                            <a:tab algn="l" pos="1828800"/>
                            <a:tab algn="l" pos="2743200"/>
                            <a:tab algn="l" pos="3657600"/>
                            <a:tab algn="l" pos="4572000"/>
                            <a:tab algn="l" pos="5486400"/>
                            <a:tab algn="l" pos="6400800"/>
                            <a:tab algn="l" pos="7315200"/>
                            <a:tab algn="l" pos="8229600"/>
                            <a:tab algn="l" pos="9144000"/>
                            <a:tab algn="l" pos="10058400"/>
                          </a:tabLst>
                        </a:pPr>
                        <a:r>
                          <a:rPr b="0" lang="fr-FR" sz="900" strike="noStrike" u="none">
                            <a:solidFill>
                              <a:srgbClr val="000000"/>
                            </a:solidFill>
                            <a:effectLst/>
                            <a:uFillTx/>
                            <a:latin typeface="Calibri"/>
                          </a:rPr>
                          <a:t>Vide</a:t>
                        </a:r>
                        <a:endParaRPr b="0" lang="en-US" sz="9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sp>
                    <p:nvSpPr>
                      <p:cNvPr id="283" name="Rectangle 50"/>
                      <p:cNvSpPr/>
                      <p:nvPr/>
                    </p:nvSpPr>
                    <p:spPr>
                      <a:xfrm>
                        <a:off x="2000160" y="1235880"/>
                        <a:ext cx="2241000" cy="1280160"/>
                      </a:xfrm>
                      <a:prstGeom prst="rect">
                        <a:avLst/>
                      </a:prstGeom>
                      <a:noFill/>
                      <a:ln w="9360">
                        <a:solidFill>
                          <a:srgbClr val="000000"/>
                        </a:solidFill>
                        <a:miter/>
                      </a:ln>
                    </p:spPr>
                    <p:style>
                      <a:lnRef idx="0"/>
                      <a:fillRef idx="0"/>
                      <a:effectRef idx="0"/>
                      <a:fontRef idx="minor"/>
                    </p:style>
                    <p:txBody>
                      <a:bodyPr lIns="90000" rIns="90000" tIns="46800" bIns="46800" anchor="t">
                        <a:normAutofit/>
                      </a:bodyPr>
                      <a:p>
                        <a:pPr>
                          <a:lnSpc>
                            <a:spcPct val="100000"/>
                          </a:lnSpc>
                          <a:tabLst>
                            <a:tab algn="l" pos="0"/>
                            <a:tab algn="l" pos="914400"/>
                            <a:tab algn="l" pos="1828800"/>
                            <a:tab algn="l" pos="2743200"/>
                            <a:tab algn="l" pos="3657600"/>
                            <a:tab algn="l" pos="4572000"/>
                            <a:tab algn="l" pos="5486400"/>
                            <a:tab algn="l" pos="6400800"/>
                            <a:tab algn="l" pos="7315200"/>
                            <a:tab algn="l" pos="8229600"/>
                            <a:tab algn="l" pos="9144000"/>
                            <a:tab algn="l" pos="10058400"/>
                          </a:tabLst>
                        </a:pPr>
                        <a:endPara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endParaRPr>
                      </a:p>
                    </p:txBody>
                  </p:sp>
                  <p:grpSp>
                    <p:nvGrpSpPr>
                      <p:cNvPr id="284" name="Group 51"/>
                      <p:cNvGrpSpPr/>
                      <p:nvPr/>
                    </p:nvGrpSpPr>
                    <p:grpSpPr>
                      <a:xfrm>
                        <a:off x="2247480" y="1281960"/>
                        <a:ext cx="54000" cy="879480"/>
                        <a:chOff x="2247480" y="1281960"/>
                        <a:chExt cx="54000" cy="879480"/>
                      </a:xfrm>
                    </p:grpSpPr>
                    <p:sp>
                      <p:nvSpPr>
                        <p:cNvPr id="285" name="Line 52"/>
                        <p:cNvSpPr/>
                        <p:nvPr/>
                      </p:nvSpPr>
                      <p:spPr>
                        <a:xfrm flipV="1">
                          <a:off x="2277360" y="1281960"/>
                          <a:ext cx="360" cy="838080"/>
                        </a:xfrm>
                        <a:prstGeom prst="line">
                          <a:avLst/>
                        </a:prstGeom>
                        <a:ln w="2844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rIns="90000" tIns="46800" bIns="46800" anchor="t">
                          <a:noAutofit/>
                        </a:bodyPr>
                        <a:p>
                          <a:endParaRPr b="0" lang="en-US" sz="1800" strike="noStrike" u="non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  <p:sp>
                      <p:nvSpPr>
                        <p:cNvPr id="286" name="Oval 53"/>
                        <p:cNvSpPr/>
                        <p:nvPr/>
                      </p:nvSpPr>
                      <p:spPr>
                        <a:xfrm>
                          <a:off x="2247480" y="2107440"/>
                          <a:ext cx="54000" cy="54000"/>
                        </a:xfrm>
                        <a:prstGeom prst="ellipse">
                          <a:avLst/>
                        </a:prstGeom>
                        <a:solidFill>
                          <a:srgbClr val="666699"/>
                        </a:solidFill>
                        <a:ln w="9360">
                          <a:solidFill>
                            <a:srgbClr val="000000"/>
                          </a:solidFill>
                          <a:miter/>
                        </a:ln>
                      </p:spPr>
                      <p:style>
                        <a:lnRef idx="0"/>
                        <a:fillRef idx="0"/>
                        <a:effectRef idx="0"/>
                        <a:fontRef idx="minor"/>
                      </p:style>
                      <p:txBody>
                        <a:bodyPr lIns="90000" rIns="90000" tIns="-8640" bIns="-8640" anchor="t">
                          <a:normAutofit fontScale="25000" lnSpcReduction="19999"/>
                        </a:bodyPr>
                        <a:p>
                          <a:pPr>
                            <a:lnSpc>
                              <a:spcPct val="100000"/>
                            </a:lnSpc>
                            <a:tabLst>
                              <a:tab algn="l" pos="0"/>
                              <a:tab algn="l" pos="914400"/>
                              <a:tab algn="l" pos="1828800"/>
                              <a:tab algn="l" pos="2743200"/>
                              <a:tab algn="l" pos="3657600"/>
                              <a:tab algn="l" pos="4572000"/>
                              <a:tab algn="l" pos="5486400"/>
                              <a:tab algn="l" pos="6400800"/>
                              <a:tab algn="l" pos="7315200"/>
                              <a:tab algn="l" pos="8229600"/>
                              <a:tab algn="l" pos="9144000"/>
                              <a:tab algn="l" pos="10058400"/>
                            </a:tabLst>
                          </a:pPr>
                          <a:endParaRPr b="0" lang="en-US" sz="1800" strike="noStrike" u="none">
                            <a:solidFill>
                              <a:srgbClr val="000000"/>
                            </a:solidFill>
                            <a:effectLst/>
                            <a:uFillTx/>
                            <a:latin typeface="Arial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287" name="Rectangle 69"/>
                  <p:cNvSpPr/>
                  <p:nvPr/>
                </p:nvSpPr>
                <p:spPr>
                  <a:xfrm>
                    <a:off x="209520" y="1896840"/>
                    <a:ext cx="1449360" cy="368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6800" bIns="46800" anchor="t">
                    <a:sp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r>
                      <a: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rPr>
                      <a:t>un gaz parfait</a:t>
                    </a: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cxnSp>
                <p:nvCxnSpPr>
                  <p:cNvPr id="288" name="Connecteur droit avec flèche 71"/>
                  <p:cNvCxnSpPr/>
                  <p:nvPr/>
                </p:nvCxnSpPr>
                <p:spPr>
                  <a:xfrm flipV="1">
                    <a:off x="1285920" y="2185200"/>
                    <a:ext cx="1141920" cy="68760"/>
                  </a:xfrm>
                  <a:prstGeom prst="straightConnector1">
                    <a:avLst/>
                  </a:prstGeom>
                  <a:ln w="9360">
                    <a:solidFill>
                      <a:srgbClr val="4a7ebb"/>
                    </a:solidFill>
                    <a:miter/>
                    <a:tailEnd len="med" type="arrow" w="med"/>
                  </a:ln>
                </p:spPr>
              </p:cxnSp>
              <p:sp>
                <p:nvSpPr>
                  <p:cNvPr id="289" name="Rectangle 72"/>
                  <p:cNvSpPr/>
                  <p:nvPr/>
                </p:nvSpPr>
                <p:spPr>
                  <a:xfrm>
                    <a:off x="502920" y="813240"/>
                    <a:ext cx="2256480" cy="3682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wrap="none" lIns="90000" rIns="90000" tIns="46800" bIns="46800" anchor="t">
                    <a:spAutoFit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r>
                      <a:rPr b="0" lang="fr-FR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Calibri"/>
                      </a:rPr>
                      <a:t>Récipient adiabatique </a:t>
                    </a: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cxnSp>
                <p:nvCxnSpPr>
                  <p:cNvPr id="290" name="Connecteur droit avec flèche 74"/>
                  <p:cNvCxnSpPr/>
                  <p:nvPr/>
                </p:nvCxnSpPr>
                <p:spPr>
                  <a:xfrm>
                    <a:off x="2071800" y="1110600"/>
                    <a:ext cx="357840" cy="214920"/>
                  </a:xfrm>
                  <a:prstGeom prst="straightConnector1">
                    <a:avLst/>
                  </a:prstGeom>
                  <a:ln w="9360">
                    <a:solidFill>
                      <a:srgbClr val="4a7ebb"/>
                    </a:solidFill>
                    <a:miter/>
                    <a:tailEnd len="med" type="arrow" w="med"/>
                  </a:ln>
                </p:spPr>
              </p:cxnSp>
              <p:cxnSp>
                <p:nvCxnSpPr>
                  <p:cNvPr id="291" name="Connecteur droit avec flèche 77"/>
                  <p:cNvCxnSpPr/>
                  <p:nvPr/>
                </p:nvCxnSpPr>
                <p:spPr>
                  <a:xfrm flipH="1">
                    <a:off x="3754440" y="967680"/>
                    <a:ext cx="429120" cy="631080"/>
                  </a:xfrm>
                  <a:prstGeom prst="straightConnector1">
                    <a:avLst/>
                  </a:prstGeom>
                  <a:ln w="9360">
                    <a:solidFill>
                      <a:srgbClr val="4a7ebb"/>
                    </a:solidFill>
                    <a:miter/>
                    <a:tailEnd len="med" type="arrow" w="med"/>
                  </a:ln>
                </p:spPr>
              </p:cxnSp>
              <p:cxnSp>
                <p:nvCxnSpPr>
                  <p:cNvPr id="292" name="Connecteur droit avec flèche 79"/>
                  <p:cNvCxnSpPr/>
                  <p:nvPr/>
                </p:nvCxnSpPr>
                <p:spPr>
                  <a:xfrm flipH="1">
                    <a:off x="2682360" y="968040"/>
                    <a:ext cx="1500840" cy="643320"/>
                  </a:xfrm>
                  <a:prstGeom prst="straightConnector1">
                    <a:avLst/>
                  </a:prstGeom>
                  <a:ln w="9360">
                    <a:solidFill>
                      <a:srgbClr val="4a7ebb"/>
                    </a:solidFill>
                    <a:miter/>
                    <a:tailEnd len="med" type="arrow" w="med"/>
                  </a:ln>
                </p:spPr>
              </p:cxnSp>
            </p:grpSp>
          </p:grpSp>
          <mc:AlternateContent>
            <mc:Choice xmlns:a14="http://schemas.microsoft.com/office/drawing/2010/main" Requires="a14">
              <p:sp>
                <p:nvSpPr>
                  <p:cNvPr id="293" name="Object 74"/>
                  <p:cNvSpPr txBox="1"/>
                  <p:nvPr/>
                </p:nvSpPr>
                <p:spPr>
                  <a:xfrm>
                    <a:off x="1220760" y="1098360"/>
                    <a:ext cx="520560" cy="207720"/>
                  </a:xfrm>
                  <a:prstGeom prst="rect">
                    <a:avLst/>
                  </a:prstGeom>
                </p:spPr>
                <p:txBody>
                  <a:bodyPr/>
                  <a:p>
                    <a14:m>
                      <m:oMath xmlns:m="http://schemas.openxmlformats.org/officeDocument/2006/math">
                        <m:r>
                          <m:t xml:space="preserve"> </m:t>
                        </m:r>
                        <m:r>
                          <m:t xml:space="preserve">δQ</m:t>
                        </m:r>
                        <m:r>
                          <m:t xml:space="preserve">=</m:t>
                        </m:r>
                        <m:r>
                          <m:t xml:space="preserve">0</m:t>
                        </m:r>
                      </m:oMath>
                    </a14:m>
                  </a:p>
                </p:txBody>
              </p:sp>
            </mc:Choice>
            <mc:Fallback>
              <p:sp>
                <p:nvSpPr>
                  <p:cNvPr id="293" name="Object 74"/>
                  <p:cNvSpPr txBox="1"/>
                  <p:nvPr/>
                </p:nvSpPr>
                <p:spPr>
                  <a:xfrm>
                    <a:off x="1220760" y="1098360"/>
                    <a:ext cx="520560" cy="2077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</p:sp>
            </mc:Fallback>
          </mc:AlternateContent>
          <mc:AlternateContent>
            <mc:Choice xmlns:a14="http://schemas.microsoft.com/office/drawing/2010/main" Requires="a14">
              <p:sp>
                <p:nvSpPr>
                  <p:cNvPr id="294" name="Object 76"/>
                  <p:cNvSpPr txBox="1"/>
                  <p:nvPr/>
                </p:nvSpPr>
                <p:spPr>
                  <a:xfrm>
                    <a:off x="4235400" y="968040"/>
                    <a:ext cx="546120" cy="207720"/>
                  </a:xfrm>
                  <a:prstGeom prst="rect">
                    <a:avLst/>
                  </a:prstGeom>
                </p:spPr>
                <p:txBody>
                  <a:bodyPr/>
                  <a:p>
                    <a14:m>
                      <m:oMath xmlns:m="http://schemas.openxmlformats.org/officeDocument/2006/math">
                        <m:r>
                          <m:t xml:space="preserve"> </m:t>
                        </m:r>
                        <m:r>
                          <m:t xml:space="preserve">δ</m:t>
                        </m:r>
                        <m:r>
                          <m:t xml:space="preserve"> </m:t>
                        </m:r>
                        <m:r>
                          <m:t xml:space="preserve">W</m:t>
                        </m:r>
                        <m:r>
                          <m:t xml:space="preserve">=</m:t>
                        </m:r>
                        <m:r>
                          <m:t xml:space="preserve">0</m:t>
                        </m:r>
                      </m:oMath>
                    </a14:m>
                  </a:p>
                </p:txBody>
              </p:sp>
            </mc:Choice>
            <mc:Fallback>
              <p:sp>
                <p:nvSpPr>
                  <p:cNvPr id="294" name="Object 76"/>
                  <p:cNvSpPr txBox="1"/>
                  <p:nvPr/>
                </p:nvSpPr>
                <p:spPr>
                  <a:xfrm>
                    <a:off x="4235400" y="968040"/>
                    <a:ext cx="546120" cy="2077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</p:sp>
            </mc:Fallback>
          </mc:AlternateContent>
        </p:grpSp>
        <p:sp>
          <p:nvSpPr>
            <p:cNvPr id="295" name="ZoneTexte 114"/>
            <p:cNvSpPr/>
            <p:nvPr/>
          </p:nvSpPr>
          <p:spPr>
            <a:xfrm>
              <a:off x="3289680" y="1968480"/>
              <a:ext cx="5511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P=0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6" name="Groupe 90"/>
          <p:cNvGrpSpPr/>
          <p:nvPr/>
        </p:nvGrpSpPr>
        <p:grpSpPr>
          <a:xfrm>
            <a:off x="6332400" y="1968480"/>
            <a:ext cx="2240280" cy="1279440"/>
            <a:chOff x="6332400" y="1968480"/>
            <a:chExt cx="2240280" cy="1279440"/>
          </a:xfrm>
        </p:grpSpPr>
        <p:grpSp>
          <p:nvGrpSpPr>
            <p:cNvPr id="297" name="Groupe 67"/>
            <p:cNvGrpSpPr/>
            <p:nvPr/>
          </p:nvGrpSpPr>
          <p:grpSpPr>
            <a:xfrm>
              <a:off x="6332400" y="1968480"/>
              <a:ext cx="2240280" cy="1279440"/>
              <a:chOff x="6332400" y="1968480"/>
              <a:chExt cx="2240280" cy="1279440"/>
            </a:xfrm>
          </p:grpSpPr>
          <p:grpSp>
            <p:nvGrpSpPr>
              <p:cNvPr id="298" name="Group 61"/>
              <p:cNvGrpSpPr/>
              <p:nvPr/>
            </p:nvGrpSpPr>
            <p:grpSpPr>
              <a:xfrm>
                <a:off x="6511680" y="2034000"/>
                <a:ext cx="1892160" cy="1099440"/>
                <a:chOff x="6511680" y="2034000"/>
                <a:chExt cx="1892160" cy="1099440"/>
              </a:xfrm>
            </p:grpSpPr>
            <p:sp>
              <p:nvSpPr>
                <p:cNvPr id="299" name="Freeform 62" descr="5 %"/>
                <p:cNvSpPr/>
                <p:nvPr/>
              </p:nvSpPr>
              <p:spPr>
                <a:xfrm>
                  <a:off x="6511680" y="2111760"/>
                  <a:ext cx="1892160" cy="1021680"/>
                </a:xfrm>
                <a:custGeom>
                  <a:avLst/>
                  <a:gdLst>
                    <a:gd name="textAreaLeft" fmla="*/ 0 w 1892160"/>
                    <a:gd name="textAreaRight" fmla="*/ 1892520 w 1892160"/>
                    <a:gd name="textAreaTop" fmla="*/ 0 h 1021680"/>
                    <a:gd name="textAreaBottom" fmla="*/ 1022040 h 1021680"/>
                    <a:gd name="GluePoint1X" fmla="*/ 60 w 3740"/>
                    <a:gd name="GluePoint1Y" fmla="*/ 66 h 2020"/>
                    <a:gd name="GluePoint2X" fmla="*/ 0 w 3740"/>
                    <a:gd name="GluePoint2Y" fmla="*/ 66 h 2020"/>
                    <a:gd name="GluePoint3X" fmla="*/ 0 w 3740"/>
                    <a:gd name="GluePoint3Y" fmla="*/ 14 h 2020"/>
                    <a:gd name="GluePoint4X" fmla="*/ 25 w 3740"/>
                    <a:gd name="GluePoint4Y" fmla="*/ 15 h 2020"/>
                    <a:gd name="GluePoint5X" fmla="*/ 25 w 3740"/>
                    <a:gd name="GluePoint5Y" fmla="*/ 0 h 2020"/>
                    <a:gd name="GluePoint6X" fmla="*/ 96 w 3740"/>
                    <a:gd name="GluePoint6Y" fmla="*/ 0 h 2020"/>
                    <a:gd name="GluePoint7X" fmla="*/ 96 w 3740"/>
                    <a:gd name="GluePoint7Y" fmla="*/ 16 h 2020"/>
                    <a:gd name="GluePoint8X" fmla="*/ 123 w 3740"/>
                    <a:gd name="GluePoint8Y" fmla="*/ 16 h 2020"/>
                    <a:gd name="GluePoint9X" fmla="*/ 123 w 3740"/>
                    <a:gd name="GluePoint9Y" fmla="*/ 66 h 2020"/>
                    <a:gd name="GluePoint10X" fmla="*/ 65 w 3740"/>
                    <a:gd name="GluePoint10Y" fmla="*/ 66 h 2020"/>
                    <a:gd name="GluePoint11X" fmla="*/ 65 w 3740"/>
                    <a:gd name="GluePoint11Y" fmla="*/ 16 h 2020"/>
                    <a:gd name="GluePoint12X" fmla="*/ 92 w 3740"/>
                    <a:gd name="GluePoint12Y" fmla="*/ 16 h 2020"/>
                    <a:gd name="GluePoint13X" fmla="*/ 92 w 3740"/>
                    <a:gd name="GluePoint13Y" fmla="*/ 3 h 2020"/>
                    <a:gd name="GluePoint14X" fmla="*/ 29 w 3740"/>
                    <a:gd name="GluePoint14Y" fmla="*/ 3 h 2020"/>
                    <a:gd name="GluePoint15X" fmla="*/ 29 w 3740"/>
                    <a:gd name="GluePoint15Y" fmla="*/ 16 h 2020"/>
                    <a:gd name="GluePoint16X" fmla="*/ 60 w 3740"/>
                    <a:gd name="GluePoint16Y" fmla="*/ 16 h 2020"/>
                    <a:gd name="GluePoint17X" fmla="*/ 60 w 3740"/>
                    <a:gd name="GluePoint17Y" fmla="*/ 66 h 20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</a:cxnLst>
                  <a:rect l="textAreaLeft" t="textAreaTop" r="textAreaRight" b="textAreaBottom"/>
                  <a:pathLst>
                    <a:path w="3740" h="2020">
                      <a:moveTo>
                        <a:pt x="1805" y="2015"/>
                      </a:moveTo>
                      <a:lnTo>
                        <a:pt x="0" y="2020"/>
                      </a:lnTo>
                      <a:lnTo>
                        <a:pt x="0" y="450"/>
                      </a:lnTo>
                      <a:lnTo>
                        <a:pt x="759" y="460"/>
                      </a:lnTo>
                      <a:lnTo>
                        <a:pt x="759" y="0"/>
                      </a:lnTo>
                      <a:lnTo>
                        <a:pt x="2890" y="0"/>
                      </a:lnTo>
                      <a:lnTo>
                        <a:pt x="2890" y="470"/>
                      </a:lnTo>
                      <a:lnTo>
                        <a:pt x="3740" y="470"/>
                      </a:lnTo>
                      <a:lnTo>
                        <a:pt x="3730" y="2020"/>
                      </a:lnTo>
                      <a:lnTo>
                        <a:pt x="1970" y="2020"/>
                      </a:lnTo>
                      <a:lnTo>
                        <a:pt x="1970" y="470"/>
                      </a:lnTo>
                      <a:lnTo>
                        <a:pt x="2780" y="470"/>
                      </a:lnTo>
                      <a:lnTo>
                        <a:pt x="2780" y="80"/>
                      </a:lnTo>
                      <a:lnTo>
                        <a:pt x="879" y="90"/>
                      </a:lnTo>
                      <a:lnTo>
                        <a:pt x="879" y="470"/>
                      </a:lnTo>
                      <a:lnTo>
                        <a:pt x="1800" y="470"/>
                      </a:lnTo>
                      <a:lnTo>
                        <a:pt x="1805" y="2015"/>
                      </a:lnTo>
                      <a:close/>
                    </a:path>
                  </a:pathLst>
                </a:custGeom>
                <a:blipFill rotWithShape="0">
                  <a:blip r:embed="rId8"/>
                  <a:srcRect/>
                  <a:tile tx="0" ty="0" sx="100000" sy="100000" algn="ctr"/>
                </a:blipFill>
                <a:ln w="12600">
                  <a:solidFill>
                    <a:srgbClr val="000000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noAutofit/>
                </a:bodyPr>
                <a:p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300" name="Group 63"/>
                <p:cNvGrpSpPr/>
                <p:nvPr/>
              </p:nvGrpSpPr>
              <p:grpSpPr>
                <a:xfrm>
                  <a:off x="6635520" y="2034000"/>
                  <a:ext cx="54000" cy="879480"/>
                  <a:chOff x="6635520" y="2034000"/>
                  <a:chExt cx="54000" cy="879480"/>
                </a:xfrm>
              </p:grpSpPr>
              <p:sp>
                <p:nvSpPr>
                  <p:cNvPr id="301" name="Line 64"/>
                  <p:cNvSpPr/>
                  <p:nvPr/>
                </p:nvSpPr>
                <p:spPr>
                  <a:xfrm flipV="1">
                    <a:off x="6665400" y="2034000"/>
                    <a:ext cx="360" cy="838080"/>
                  </a:xfrm>
                  <a:prstGeom prst="line">
                    <a:avLst/>
                  </a:prstGeom>
                  <a:ln w="2844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46800" bIns="46800" anchor="t">
                    <a:noAutofit/>
                  </a:bodyPr>
                  <a:p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302" name="Oval 65"/>
                  <p:cNvSpPr/>
                  <p:nvPr/>
                </p:nvSpPr>
                <p:spPr>
                  <a:xfrm>
                    <a:off x="6635520" y="2859480"/>
                    <a:ext cx="54000" cy="54000"/>
                  </a:xfrm>
                  <a:prstGeom prst="ellipse">
                    <a:avLst/>
                  </a:prstGeom>
                  <a:solidFill>
                    <a:srgbClr val="666699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  <p:style>
                  <a:lnRef idx="0"/>
                  <a:fillRef idx="0"/>
                  <a:effectRef idx="0"/>
                  <a:fontRef idx="minor"/>
                </p:style>
                <p:txBody>
                  <a:bodyPr lIns="90000" rIns="90000" tIns="-8640" bIns="-8640" anchor="t">
                    <a:normAutofit fontScale="25000" lnSpcReduction="19999"/>
                  </a:bodyPr>
                  <a:p>
                    <a:pPr>
                      <a:lnSpc>
                        <a:spcPct val="100000"/>
                      </a:lnSpc>
                      <a:tabLst>
                        <a:tab algn="l" pos="0"/>
                        <a:tab algn="l" pos="914400"/>
                        <a:tab algn="l" pos="1828800"/>
                        <a:tab algn="l" pos="2743200"/>
                        <a:tab algn="l" pos="3657600"/>
                        <a:tab algn="l" pos="4572000"/>
                        <a:tab algn="l" pos="5486400"/>
                        <a:tab algn="l" pos="6400800"/>
                        <a:tab algn="l" pos="7315200"/>
                        <a:tab algn="l" pos="8229600"/>
                        <a:tab algn="l" pos="9144000"/>
                        <a:tab algn="l" pos="10058400"/>
                      </a:tabLst>
                    </a:pPr>
                    <a:endParaRPr b="0" lang="en-US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sp>
            <p:nvSpPr>
              <p:cNvPr id="303" name="Rectangle 50"/>
              <p:cNvSpPr/>
              <p:nvPr/>
            </p:nvSpPr>
            <p:spPr>
              <a:xfrm>
                <a:off x="6332400" y="1968480"/>
                <a:ext cx="2240280" cy="1279440"/>
              </a:xfrm>
              <a:prstGeom prst="rect">
                <a:avLst/>
              </a:prstGeom>
              <a:noFill/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rmAutofit/>
              </a:bodyPr>
              <a:p>
                <a:pPr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04" name="ZoneTexte 115"/>
            <p:cNvSpPr/>
            <p:nvPr/>
          </p:nvSpPr>
          <p:spPr>
            <a:xfrm>
              <a:off x="6861240" y="2465280"/>
              <a:ext cx="48564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P/2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ZoneTexte 116"/>
            <p:cNvSpPr/>
            <p:nvPr/>
          </p:nvSpPr>
          <p:spPr>
            <a:xfrm>
              <a:off x="7575840" y="2468520"/>
              <a:ext cx="48564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P/2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T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>
    <p:dissolve/>
  </p:transition>
  <p:timing>
    <p:tnLst>
      <p:par>
        <p:cTn id="371" dur="indefinite" restart="never" nodeType="tmRoot">
          <p:childTnLst>
            <p:seq>
              <p:cTn id="372" dur="indefinite" nodeType="mainSeq">
                <p:childTnLst>
                  <p:par>
                    <p:cTn id="373" nodeType="clickEffect" fill="hold">
                      <p:stCondLst>
                        <p:cond delay="indefinite"/>
                      </p:stCondLst>
                      <p:childTnLst>
                        <p:par>
                          <p:cTn id="3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nodeType="clickEffect" fill="hold">
                      <p:stCondLst>
                        <p:cond delay="indefinite"/>
                      </p:stCondLst>
                      <p:childTnLst>
                        <p:par>
                          <p:cTn id="3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8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83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85" nodeType="after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7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8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nodeType="clickEffect" fill="hold">
                      <p:stCondLst>
                        <p:cond delay="indefinite"/>
                      </p:stCondLst>
                      <p:childTnLst>
                        <p:par>
                          <p:cTn id="3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3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39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nodeType="clickEffect" fill="hold">
                      <p:stCondLst>
                        <p:cond delay="indefinite"/>
                      </p:stCondLst>
                      <p:childTnLst>
                        <p:par>
                          <p:cTn id="3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8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9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nodeType="clickEffect" fill="hold">
                      <p:stCondLst>
                        <p:cond delay="indefinite"/>
                      </p:stCondLst>
                      <p:childTnLst>
                        <p:par>
                          <p:cTn id="4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2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4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5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nodeType="clickEffect" fill="hold">
                      <p:stCondLst>
                        <p:cond delay="indefinite"/>
                      </p:stCondLst>
                      <p:childTnLst>
                        <p:par>
                          <p:cTn id="4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8" nodeType="clickEffect" fill="hold" presetClass="entr" presetID="1">
                                  <p:stCondLst>
                                    <p:cond delay="3000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57200" y="320400"/>
            <a:ext cx="723888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O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2.6.1 le bilan d’énergie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307" name="Picture 2" descr=""/>
          <p:cNvPicPr/>
          <p:nvPr/>
        </p:nvPicPr>
        <p:blipFill>
          <a:blip r:embed="rId1"/>
          <a:stretch/>
        </p:blipFill>
        <p:spPr>
          <a:xfrm>
            <a:off x="285840" y="1857240"/>
            <a:ext cx="2514600" cy="20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4 Rectángulo"/>
          <p:cNvSpPr/>
          <p:nvPr/>
        </p:nvSpPr>
        <p:spPr>
          <a:xfrm>
            <a:off x="1357200" y="3000240"/>
            <a:ext cx="357480" cy="214560"/>
          </a:xfrm>
          <a:prstGeom prst="rect">
            <a:avLst/>
          </a:prstGeom>
          <a:solidFill>
            <a:srgbClr val="d7e4bd"/>
          </a:solidFill>
          <a:ln w="25560">
            <a:solidFill>
              <a:srgbClr val="d7e4b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9" name="Picture 3" descr=""/>
          <p:cNvPicPr/>
          <p:nvPr/>
        </p:nvPicPr>
        <p:blipFill>
          <a:blip r:embed="rId2"/>
          <a:stretch/>
        </p:blipFill>
        <p:spPr>
          <a:xfrm>
            <a:off x="3143160" y="1714680"/>
            <a:ext cx="2009880" cy="226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6 Rectángulo"/>
          <p:cNvSpPr/>
          <p:nvPr/>
        </p:nvSpPr>
        <p:spPr>
          <a:xfrm>
            <a:off x="3857760" y="2714760"/>
            <a:ext cx="857160" cy="35712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Picture 4" descr=""/>
          <p:cNvPicPr/>
          <p:nvPr/>
        </p:nvPicPr>
        <p:blipFill>
          <a:blip r:embed="rId3"/>
          <a:stretch/>
        </p:blipFill>
        <p:spPr>
          <a:xfrm>
            <a:off x="5214960" y="1714680"/>
            <a:ext cx="2552760" cy="19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8 Rectángulo"/>
          <p:cNvSpPr/>
          <p:nvPr/>
        </p:nvSpPr>
        <p:spPr>
          <a:xfrm>
            <a:off x="5572080" y="2928960"/>
            <a:ext cx="857160" cy="35712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Picture 5" descr=""/>
          <p:cNvPicPr/>
          <p:nvPr/>
        </p:nvPicPr>
        <p:blipFill>
          <a:blip r:embed="rId4"/>
          <a:stretch/>
        </p:blipFill>
        <p:spPr>
          <a:xfrm>
            <a:off x="357120" y="4143240"/>
            <a:ext cx="2581200" cy="1933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10 Rectángulo"/>
          <p:cNvSpPr/>
          <p:nvPr/>
        </p:nvSpPr>
        <p:spPr>
          <a:xfrm>
            <a:off x="1214280" y="4857840"/>
            <a:ext cx="500400" cy="35712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6" descr=""/>
          <p:cNvPicPr/>
          <p:nvPr/>
        </p:nvPicPr>
        <p:blipFill>
          <a:blip r:embed="rId5"/>
          <a:stretch/>
        </p:blipFill>
        <p:spPr>
          <a:xfrm>
            <a:off x="2928960" y="4286160"/>
            <a:ext cx="1743120" cy="22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12 Rectángulo"/>
          <p:cNvSpPr/>
          <p:nvPr/>
        </p:nvSpPr>
        <p:spPr>
          <a:xfrm>
            <a:off x="3714840" y="5643720"/>
            <a:ext cx="500040" cy="35712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7" name="Picture 7" descr=""/>
          <p:cNvPicPr/>
          <p:nvPr/>
        </p:nvPicPr>
        <p:blipFill>
          <a:blip r:embed="rId6"/>
          <a:stretch/>
        </p:blipFill>
        <p:spPr>
          <a:xfrm>
            <a:off x="4786200" y="4214880"/>
            <a:ext cx="2343240" cy="228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14 Rectángulo"/>
          <p:cNvSpPr/>
          <p:nvPr/>
        </p:nvSpPr>
        <p:spPr>
          <a:xfrm>
            <a:off x="5500800" y="5000760"/>
            <a:ext cx="642960" cy="35712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410" dur="indefinite" restart="never" nodeType="tmRoot">
          <p:childTnLst>
            <p:seq>
              <p:cTn id="411" dur="indefinite" nodeType="mainSeq">
                <p:childTnLst>
                  <p:par>
                    <p:cTn id="412" nodeType="clickEffect" fill="hold">
                      <p:stCondLst>
                        <p:cond delay="indefinite"/>
                      </p:stCondLst>
                      <p:childTnLst>
                        <p:par>
                          <p:cTn id="4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4" nodeType="clickEffect" fill="hold" presetClass="exit" presetID="4" presetSubtype="16">
                                  <p:stCondLst>
                                    <p:cond delay="0"/>
                                  </p:stCondLst>
                                  <p:childTnLst>
                                    <p:animEffect filter="box(in)" transition="out">
                                      <p:cBhvr additive="repl">
                                        <p:cTn id="415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nodeType="clickEffect" fill="hold">
                      <p:stCondLst>
                        <p:cond delay="indefinite"/>
                      </p:stCondLst>
                      <p:childTnLst>
                        <p:par>
                          <p:cTn id="4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clickEffect" fill="hold" presetClass="exit" presetID="4" presetSubtype="16">
                                  <p:stCondLst>
                                    <p:cond delay="0"/>
                                  </p:stCondLst>
                                  <p:childTnLst>
                                    <p:animEffect filter="box(in)" transition="out">
                                      <p:cBhvr additive="repl">
                                        <p:cTn id="420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2" nodeType="clickEffect" fill="hold">
                      <p:stCondLst>
                        <p:cond delay="indefinite"/>
                      </p:stCondLst>
                      <p:childTnLst>
                        <p:par>
                          <p:cTn id="4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4" nodeType="clickEffect" fill="hold" presetClass="exit" presetID="4" presetSubtype="16">
                                  <p:stCondLst>
                                    <p:cond delay="0"/>
                                  </p:stCondLst>
                                  <p:childTnLst>
                                    <p:animEffect filter="box(in)" transition="out">
                                      <p:cBhvr additive="repl">
                                        <p:cTn id="425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nodeType="clickEffect" fill="hold">
                      <p:stCondLst>
                        <p:cond delay="indefinite"/>
                      </p:stCondLst>
                      <p:childTnLst>
                        <p:par>
                          <p:cTn id="4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xit" presetID="4" presetSubtype="16">
                                  <p:stCondLst>
                                    <p:cond delay="0"/>
                                  </p:stCondLst>
                                  <p:childTnLst>
                                    <p:animEffect filter="box(in)" transition="out">
                                      <p:cBhvr additive="repl">
                                        <p:cTn id="430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2" nodeType="clickEffect" fill="hold">
                      <p:stCondLst>
                        <p:cond delay="indefinite"/>
                      </p:stCondLst>
                      <p:childTnLst>
                        <p:par>
                          <p:cTn id="4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4" nodeType="clickEffect" fill="hold" presetClass="exit" presetID="4" presetSubtype="16">
                                  <p:stCondLst>
                                    <p:cond delay="0"/>
                                  </p:stCondLst>
                                  <p:childTnLst>
                                    <p:animEffect filter="box(in)" transition="out">
                                      <p:cBhvr additive="repl">
                                        <p:cTn id="435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nodeType="clickEffect" fill="hold">
                      <p:stCondLst>
                        <p:cond delay="indefinite"/>
                      </p:stCondLst>
                      <p:childTnLst>
                        <p:par>
                          <p:cTn id="4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9" nodeType="clickEffect" fill="hold" presetClass="exit" presetID="4" presetSubtype="16">
                                  <p:stCondLst>
                                    <p:cond delay="0"/>
                                  </p:stCondLst>
                                  <p:childTnLst>
                                    <p:animEffect filter="box(in)" transition="out">
                                      <p:cBhvr additive="repl">
                                        <p:cTn id="440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Times New Roman"/>
                <a:ea typeface="Times New Roman"/>
              </a:rPr>
              <a:t>Séance 4 : </a:t>
            </a: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1</a:t>
            </a:r>
            <a:r>
              <a:rPr b="1" lang="fr-FR" sz="2800" strike="noStrike" u="none" baseline="30000">
                <a:solidFill>
                  <a:srgbClr val="cc3300"/>
                </a:solidFill>
                <a:effectLst/>
                <a:uFillTx/>
                <a:latin typeface="Arial"/>
              </a:rPr>
              <a:t>ier</a:t>
            </a: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Principe : Application au Gaz parfait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ZoneTexte 35"/>
          <p:cNvSpPr/>
          <p:nvPr/>
        </p:nvSpPr>
        <p:spPr>
          <a:xfrm>
            <a:off x="585000" y="571680"/>
            <a:ext cx="42260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Conséquences pour le gaz parfait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ectangle 1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4" name="Groupe 65"/>
          <p:cNvGrpSpPr/>
          <p:nvPr/>
        </p:nvGrpSpPr>
        <p:grpSpPr>
          <a:xfrm>
            <a:off x="428760" y="1214280"/>
            <a:ext cx="8715240" cy="1341720"/>
            <a:chOff x="428760" y="1214280"/>
            <a:chExt cx="8715240" cy="1341720"/>
          </a:xfrm>
        </p:grpSpPr>
        <mc:AlternateContent>
          <mc:Choice xmlns:a14="http://schemas.microsoft.com/office/drawing/2010/main" Requires="a14">
            <p:sp>
              <p:nvSpPr>
                <p:cNvPr id="335" name="Object 7"/>
                <p:cNvSpPr txBox="1"/>
                <p:nvPr/>
              </p:nvSpPr>
              <p:spPr>
                <a:xfrm>
                  <a:off x="5211360" y="1571400"/>
                  <a:ext cx="3932640" cy="5907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rPr>
                          <m:lit/>
                          <m:nor/>
                        </m:rPr>
                        <m:t xml:space="preserve">dU</m:t>
                      </m:r>
                      <m:r>
                        <m:t xml:space="preserve">=</m:t>
                      </m:r>
                      <m:r>
                        <m:t xml:space="preserve">δQ</m:t>
                      </m:r>
                      <m:r>
                        <m:t xml:space="preserve">−</m:t>
                      </m:r>
                      <m:r>
                        <m:rPr>
                          <m:lit/>
                          <m:nor/>
                        </m:rPr>
                        <m:t xml:space="preserve">PdV</m:t>
                      </m:r>
                      <m:r>
                        <m:t xml:space="preserve">=</m:t>
                      </m:r>
                      <m:sSub>
                        <m:e>
                          <m:d>
                            <m:dPr>
                              <m:begChr m:val="("/>
                              <m:endChr m:val=")"/>
                            </m:dPr>
                            <m:e>
                              <m:f>
                                <m:num>
                                  <m:r>
                                    <m:t xml:space="preserve">∂</m:t>
                                  </m:r>
                                  <m:r>
                                    <m:t xml:space="preserve">Q</m:t>
                                  </m:r>
                                </m:num>
                                <m:den>
                                  <m:r>
                                    <m:t xml:space="preserve">∂</m:t>
                                  </m:r>
                                  <m:r>
                                    <m:t xml:space="preserve">T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 xml:space="preserve">V</m:t>
                          </m:r>
                        </m:sub>
                      </m:sSub>
                      <m:r>
                        <m:rPr>
                          <m:lit/>
                          <m:nor/>
                        </m:rPr>
                        <m:t xml:space="preserve">dT</m:t>
                      </m:r>
                      <m:r>
                        <m:t xml:space="preserve">+</m:t>
                      </m:r>
                      <m:sSub>
                        <m:e>
                          <m:d>
                            <m:dPr>
                              <m:begChr m:val="("/>
                              <m:endChr m:val=")"/>
                            </m:dPr>
                            <m:e>
                              <m:f>
                                <m:num>
                                  <m:r>
                                    <m:t xml:space="preserve">∂</m:t>
                                  </m:r>
                                  <m:r>
                                    <m:t xml:space="preserve">Q</m:t>
                                  </m:r>
                                </m:num>
                                <m:den>
                                  <m:r>
                                    <m:t xml:space="preserve">∂</m:t>
                                  </m:r>
                                  <m:r>
                                    <m:t xml:space="preserve">V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 xml:space="preserve">T</m:t>
                          </m:r>
                        </m:sub>
                      </m:sSub>
                      <m:r>
                        <m:rPr>
                          <m:lit/>
                          <m:nor/>
                        </m:rPr>
                        <m:t xml:space="preserve">dV</m:t>
                      </m:r>
                      <m:r>
                        <m:t xml:space="preserve">−</m:t>
                      </m:r>
                      <m:r>
                        <m:rPr>
                          <m:lit/>
                          <m:nor/>
                        </m:rPr>
                        <m:t xml:space="preserve">PdV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335" name="Object 7"/>
                <p:cNvSpPr txBox="1"/>
                <p:nvPr/>
              </p:nvSpPr>
              <p:spPr>
                <a:xfrm>
                  <a:off x="5211360" y="1571400"/>
                  <a:ext cx="3932640" cy="590760"/>
                </a:xfrm>
                <a:prstGeom prst="rect">
                  <a:avLst/>
                </a:prstGeom>
                <a:blipFill>
                  <a:blip r:embed="rId1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336" name="Object 9"/>
                <p:cNvSpPr txBox="1"/>
                <p:nvPr/>
              </p:nvSpPr>
              <p:spPr>
                <a:xfrm>
                  <a:off x="2428920" y="1285560"/>
                  <a:ext cx="2374560" cy="59076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δQ</m:t>
                      </m:r>
                      <m:r>
                        <m:t xml:space="preserve">=</m:t>
                      </m:r>
                      <m:sSub>
                        <m:e>
                          <m:d>
                            <m:dPr>
                              <m:begChr m:val="("/>
                              <m:endChr m:val=")"/>
                            </m:dPr>
                            <m:e>
                              <m:f>
                                <m:num>
                                  <m:r>
                                    <m:t xml:space="preserve">∂</m:t>
                                  </m:r>
                                  <m:r>
                                    <m:t xml:space="preserve">Q</m:t>
                                  </m:r>
                                </m:num>
                                <m:den>
                                  <m:r>
                                    <m:t xml:space="preserve">∂</m:t>
                                  </m:r>
                                  <m:r>
                                    <m:t xml:space="preserve">T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 xml:space="preserve">V</m:t>
                          </m:r>
                        </m:sub>
                      </m:sSub>
                      <m:r>
                        <m:rPr>
                          <m:lit/>
                          <m:nor/>
                        </m:rPr>
                        <m:t xml:space="preserve">dT</m:t>
                      </m:r>
                      <m:r>
                        <m:t xml:space="preserve">+</m:t>
                      </m:r>
                      <m:sSub>
                        <m:e>
                          <m:d>
                            <m:dPr>
                              <m:begChr m:val="("/>
                              <m:endChr m:val=")"/>
                            </m:dPr>
                            <m:e>
                              <m:f>
                                <m:num>
                                  <m:r>
                                    <m:t xml:space="preserve">∂</m:t>
                                  </m:r>
                                  <m:r>
                                    <m:t xml:space="preserve">Q</m:t>
                                  </m:r>
                                </m:num>
                                <m:den>
                                  <m:r>
                                    <m:t xml:space="preserve">∂</m:t>
                                  </m:r>
                                  <m:r>
                                    <m:t xml:space="preserve">V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m:t xml:space="preserve">T</m:t>
                          </m:r>
                        </m:sub>
                      </m:sSub>
                      <m:r>
                        <m:rPr>
                          <m:lit/>
                          <m:nor/>
                        </m:rPr>
                        <m:t xml:space="preserve">dV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336" name="Object 9"/>
                <p:cNvSpPr txBox="1"/>
                <p:nvPr/>
              </p:nvSpPr>
              <p:spPr>
                <a:xfrm>
                  <a:off x="2428920" y="1285560"/>
                  <a:ext cx="2374560" cy="59076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337" name="Object 11"/>
                <p:cNvSpPr txBox="1"/>
                <p:nvPr/>
              </p:nvSpPr>
              <p:spPr>
                <a:xfrm>
                  <a:off x="428760" y="1714320"/>
                  <a:ext cx="1672920" cy="34200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rPr>
                          <m:lit/>
                          <m:nor/>
                        </m:rPr>
                        <m:t xml:space="preserve">dU</m:t>
                      </m:r>
                      <m:r>
                        <m:t xml:space="preserve">=</m:t>
                      </m:r>
                      <m:r>
                        <m:t xml:space="preserve">δQ</m:t>
                      </m:r>
                      <m:r>
                        <m:t xml:space="preserve">+</m:t>
                      </m:r>
                      <m:r>
                        <m:t xml:space="preserve">δ</m:t>
                      </m:r>
                      <m:r>
                        <m:t xml:space="preserve"> </m:t>
                      </m:r>
                      <m:r>
                        <m:t xml:space="preserve">W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337" name="Object 11"/>
                <p:cNvSpPr txBox="1"/>
                <p:nvPr/>
              </p:nvSpPr>
              <p:spPr>
                <a:xfrm>
                  <a:off x="428760" y="1714320"/>
                  <a:ext cx="1672920" cy="342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</p:sp>
          </mc:Fallback>
        </mc:AlternateContent>
        <mc:AlternateContent>
          <mc:Choice xmlns:a14="http://schemas.microsoft.com/office/drawing/2010/main" Requires="a14">
            <p:sp>
              <p:nvSpPr>
                <p:cNvPr id="338" name="Object 12"/>
                <p:cNvSpPr txBox="1"/>
                <p:nvPr/>
              </p:nvSpPr>
              <p:spPr>
                <a:xfrm>
                  <a:off x="2857680" y="2214720"/>
                  <a:ext cx="1398600" cy="341280"/>
                </a:xfrm>
                <a:prstGeom prst="rect">
                  <a:avLst/>
                </a:prstGeom>
              </p:spPr>
              <p:txBody>
                <a:bodyPr/>
                <a:p>
                  <a14:m>
                    <m:oMath xmlns:m="http://schemas.openxmlformats.org/officeDocument/2006/math">
                      <m:r>
                        <m:t xml:space="preserve">δ</m:t>
                      </m:r>
                      <m:r>
                        <m:t xml:space="preserve"> </m:t>
                      </m:r>
                      <m:r>
                        <m:t xml:space="preserve">W</m:t>
                      </m:r>
                      <m:r>
                        <m:t xml:space="preserve">=</m:t>
                      </m:r>
                      <m:r>
                        <m:t xml:space="preserve">−</m:t>
                      </m:r>
                      <m:r>
                        <m:rPr>
                          <m:lit/>
                          <m:nor/>
                        </m:rPr>
                        <m:t xml:space="preserve">PdV</m:t>
                      </m:r>
                    </m:oMath>
                  </a14:m>
                </a:p>
              </p:txBody>
            </p:sp>
          </mc:Choice>
          <mc:Fallback>
            <p:sp>
              <p:nvSpPr>
                <p:cNvPr id="338" name="Object 12"/>
                <p:cNvSpPr txBox="1"/>
                <p:nvPr/>
              </p:nvSpPr>
              <p:spPr>
                <a:xfrm>
                  <a:off x="2857680" y="2214720"/>
                  <a:ext cx="1398600" cy="34128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339" name="Accolade fermante 57"/>
            <p:cNvSpPr/>
            <p:nvPr/>
          </p:nvSpPr>
          <p:spPr>
            <a:xfrm>
              <a:off x="4714920" y="1214280"/>
              <a:ext cx="428400" cy="1286280"/>
            </a:xfrm>
            <a:custGeom>
              <a:avLst/>
              <a:gdLst>
                <a:gd name="textAreaLeft" fmla="*/ 0 w 428400"/>
                <a:gd name="textAreaRight" fmla="*/ 154800 w 428400"/>
                <a:gd name="textAreaTop" fmla="*/ 11160 h 1286280"/>
                <a:gd name="textAreaBottom" fmla="*/ 1275120 h 128628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300"/>
                    <a:pt x="10800" y="600"/>
                  </a:cubicBezTo>
                  <a:lnTo>
                    <a:pt x="10800" y="10200"/>
                  </a:lnTo>
                  <a:cubicBezTo>
                    <a:pt x="10800" y="10500"/>
                    <a:pt x="16200" y="10800"/>
                    <a:pt x="21600" y="10800"/>
                  </a:cubicBezTo>
                  <a:cubicBezTo>
                    <a:pt x="16200" y="10800"/>
                    <a:pt x="10800" y="11100"/>
                    <a:pt x="10800" y="11400"/>
                  </a:cubicBezTo>
                  <a:lnTo>
                    <a:pt x="10800" y="21000"/>
                  </a:lnTo>
                  <a:cubicBezTo>
                    <a:pt x="10800" y="21300"/>
                    <a:pt x="54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Connecteur droit 63"/>
            <p:cNvSpPr/>
            <p:nvPr/>
          </p:nvSpPr>
          <p:spPr>
            <a:xfrm flipH="1">
              <a:off x="2286000" y="1214280"/>
              <a:ext cx="1440" cy="128628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1" name="Rectangle 1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42" name="Object 13"/>
              <p:cNvSpPr txBox="1"/>
              <p:nvPr/>
            </p:nvSpPr>
            <p:spPr>
              <a:xfrm>
                <a:off x="71280" y="2643120"/>
                <a:ext cx="3872160" cy="860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sSub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r>
                                  <m:t xml:space="preserve">∂</m:t>
                                </m:r>
                                <m:r>
                                  <m:t xml:space="preserve">Q</m:t>
                                </m:r>
                              </m:num>
                              <m:den>
                                <m:r>
                                  <m:t xml:space="preserve">∂</m:t>
                                </m:r>
                                <m:r>
                                  <m:t xml:space="preserve">T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  <m:r>
                      <m:t xml:space="preserve">+</m:t>
                    </m:r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f>
                                  <m:num>
                                    <m:r>
                                      <m:t xml:space="preserve">∂</m:t>
                                    </m:r>
                                    <m:r>
                                      <m:t xml:space="preserve">Q</m:t>
                                    </m:r>
                                  </m:num>
                                  <m:den>
                                    <m:r>
                                      <m:t xml:space="preserve">∂</m:t>
                                    </m:r>
                                    <m:r>
                                      <m:t xml:space="preserve">V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m:t xml:space="preserve">T</m:t>
                            </m:r>
                          </m:sub>
                        </m:sSub>
                        <m:r>
                          <m:t xml:space="preserve">−</m:t>
                        </m:r>
                        <m:r>
                          <m:t xml:space="preserve">P</m:t>
                        </m:r>
                      </m:e>
                    </m:d>
                    <m:r>
                      <m:rPr>
                        <m:lit/>
                        <m:nor/>
                      </m:rPr>
                      <m:t xml:space="preserve">dV</m:t>
                    </m:r>
                  </m:oMath>
                </a14:m>
              </a:p>
            </p:txBody>
          </p:sp>
        </mc:Choice>
        <mc:Fallback>
          <p:sp>
            <p:nvSpPr>
              <p:cNvPr id="342" name="Object 13"/>
              <p:cNvSpPr txBox="1"/>
              <p:nvPr/>
            </p:nvSpPr>
            <p:spPr>
              <a:xfrm>
                <a:off x="71280" y="2643120"/>
                <a:ext cx="3872160" cy="860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43" name="Object 15"/>
              <p:cNvSpPr txBox="1"/>
              <p:nvPr/>
            </p:nvSpPr>
            <p:spPr>
              <a:xfrm>
                <a:off x="5467320" y="2857680"/>
                <a:ext cx="1495440" cy="384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343" name="Object 15"/>
              <p:cNvSpPr txBox="1"/>
              <p:nvPr/>
            </p:nvSpPr>
            <p:spPr>
              <a:xfrm>
                <a:off x="5467320" y="2857680"/>
                <a:ext cx="1495440" cy="3841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344" name="ZoneTexte 64"/>
          <p:cNvSpPr/>
          <p:nvPr/>
        </p:nvSpPr>
        <p:spPr>
          <a:xfrm>
            <a:off x="0" y="928800"/>
            <a:ext cx="90727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La</a:t>
            </a:r>
            <a:r>
              <a:rPr b="0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 T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du gaz parfait (système) n’a pas varié. Raisonnablement, on peut émettre l’hypothèse que </a:t>
            </a:r>
            <a:r>
              <a:rPr b="1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U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est fonction de 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ectangle 1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Étoile à 5 branches 67"/>
          <p:cNvSpPr/>
          <p:nvPr/>
        </p:nvSpPr>
        <p:spPr>
          <a:xfrm>
            <a:off x="71280" y="178596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Flèche droite 71"/>
          <p:cNvSpPr/>
          <p:nvPr/>
        </p:nvSpPr>
        <p:spPr>
          <a:xfrm>
            <a:off x="4071960" y="2857680"/>
            <a:ext cx="1285920" cy="357120"/>
          </a:xfrm>
          <a:prstGeom prst="rightArrow">
            <a:avLst>
              <a:gd name="adj1" fmla="val 50000"/>
              <a:gd name="adj2" fmla="val 50011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8" name="Groupe 102"/>
          <p:cNvGrpSpPr/>
          <p:nvPr/>
        </p:nvGrpSpPr>
        <p:grpSpPr>
          <a:xfrm>
            <a:off x="8072280" y="3357720"/>
            <a:ext cx="428760" cy="368280"/>
            <a:chOff x="8072280" y="3357720"/>
            <a:chExt cx="428760" cy="368280"/>
          </a:xfrm>
        </p:grpSpPr>
        <p:sp>
          <p:nvSpPr>
            <p:cNvPr id="349" name="ZoneTexte 100"/>
            <p:cNvSpPr/>
            <p:nvPr/>
          </p:nvSpPr>
          <p:spPr>
            <a:xfrm>
              <a:off x="8072280" y="3357720"/>
              <a:ext cx="4287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Calibri"/>
                </a:rPr>
                <a:t>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Ellipse 101"/>
            <p:cNvSpPr/>
            <p:nvPr/>
          </p:nvSpPr>
          <p:spPr>
            <a:xfrm>
              <a:off x="8072280" y="3357720"/>
              <a:ext cx="357480" cy="357120"/>
            </a:xfrm>
            <a:prstGeom prst="ellipse">
              <a:avLst/>
            </a:prstGeom>
            <a:noFill/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51" name="Rectangle 3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121"/>
          <p:cNvSpPr/>
          <p:nvPr/>
        </p:nvSpPr>
        <p:spPr>
          <a:xfrm>
            <a:off x="5316840" y="2286000"/>
            <a:ext cx="3900960" cy="33768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Chaleur spécifique molaire à volume constant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3" name="Connecteur droit avec flèche 123"/>
          <p:cNvCxnSpPr/>
          <p:nvPr/>
        </p:nvCxnSpPr>
        <p:spPr>
          <a:xfrm flipH="1">
            <a:off x="6357600" y="2570760"/>
            <a:ext cx="504000" cy="361080"/>
          </a:xfrm>
          <a:prstGeom prst="straightConnector1">
            <a:avLst/>
          </a:prstGeom>
          <a:ln w="38160">
            <a:solidFill>
              <a:srgbClr val="f79646"/>
            </a:solidFill>
            <a:miter/>
            <a:tailEnd len="med" type="arrow" w="med"/>
          </a:ln>
        </p:spPr>
      </p:cxnSp>
      <p:grpSp>
        <p:nvGrpSpPr>
          <p:cNvPr id="354" name="Groupe 39"/>
          <p:cNvGrpSpPr/>
          <p:nvPr/>
        </p:nvGrpSpPr>
        <p:grpSpPr>
          <a:xfrm>
            <a:off x="2304720" y="3552840"/>
            <a:ext cx="1082520" cy="646920"/>
            <a:chOff x="2304720" y="3552840"/>
            <a:chExt cx="1082520" cy="646920"/>
          </a:xfrm>
        </p:grpSpPr>
        <p:sp>
          <p:nvSpPr>
            <p:cNvPr id="355" name="Accolade fermante 37"/>
            <p:cNvSpPr/>
            <p:nvPr/>
          </p:nvSpPr>
          <p:spPr>
            <a:xfrm rot="5400000">
              <a:off x="2731680" y="3125880"/>
              <a:ext cx="228600" cy="1082520"/>
            </a:xfrm>
            <a:custGeom>
              <a:avLst/>
              <a:gdLst>
                <a:gd name="textAreaLeft" fmla="*/ 0 w 228600"/>
                <a:gd name="textAreaRight" fmla="*/ 82440 w 228600"/>
                <a:gd name="textAreaTop" fmla="*/ 5760 h 1082520"/>
                <a:gd name="textAreaBottom" fmla="*/ 1076760 h 108252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190"/>
                    <a:pt x="10800" y="380"/>
                  </a:cubicBezTo>
                  <a:lnTo>
                    <a:pt x="10800" y="10420"/>
                  </a:lnTo>
                  <a:cubicBezTo>
                    <a:pt x="10800" y="10610"/>
                    <a:pt x="16200" y="10800"/>
                    <a:pt x="21600" y="10800"/>
                  </a:cubicBezTo>
                  <a:cubicBezTo>
                    <a:pt x="16200" y="10800"/>
                    <a:pt x="10800" y="10990"/>
                    <a:pt x="10800" y="11180"/>
                  </a:cubicBezTo>
                  <a:lnTo>
                    <a:pt x="10800" y="21220"/>
                  </a:lnTo>
                  <a:cubicBezTo>
                    <a:pt x="10800" y="21410"/>
                    <a:pt x="54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ZoneTexte 38"/>
            <p:cNvSpPr/>
            <p:nvPr/>
          </p:nvSpPr>
          <p:spPr>
            <a:xfrm>
              <a:off x="2691000" y="3831480"/>
              <a:ext cx="3078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0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442" dur="indefinite" restart="never" nodeType="tmRoot">
          <p:childTnLst>
            <p:seq>
              <p:cTn id="443" dur="indefinite" nodeType="mainSeq">
                <p:childTnLst>
                  <p:par>
                    <p:cTn id="444" nodeType="clickEffect" fill="hold">
                      <p:stCondLst>
                        <p:cond delay="indefinite"/>
                      </p:stCondLst>
                      <p:childTnLst>
                        <p:par>
                          <p:cTn id="44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nodeType="clickEffect" fill="hold">
                      <p:stCondLst>
                        <p:cond delay="indefinite"/>
                      </p:stCondLst>
                      <p:childTnLst>
                        <p:par>
                          <p:cTn id="4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2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3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4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6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nodeType="clickEffect" fill="hold">
                      <p:stCondLst>
                        <p:cond delay="indefinite"/>
                      </p:stCondLst>
                      <p:childTnLst>
                        <p:par>
                          <p:cTn id="4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2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4" nodeType="clickEffect" fill="hold">
                      <p:stCondLst>
                        <p:cond delay="indefinite"/>
                      </p:stCondLst>
                      <p:childTnLst>
                        <p:par>
                          <p:cTn id="4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68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nodeType="clickEffect" fill="hold">
                      <p:stCondLst>
                        <p:cond delay="indefinite"/>
                      </p:stCondLst>
                      <p:childTnLst>
                        <p:par>
                          <p:cTn id="4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3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4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nodeType="clickEffect" fill="hold">
                      <p:stCondLst>
                        <p:cond delay="indefinite"/>
                      </p:stCondLst>
                      <p:childTnLst>
                        <p:par>
                          <p:cTn id="4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2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79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nodeType="clickEffect" fill="hold">
                      <p:stCondLst>
                        <p:cond delay="indefinite"/>
                      </p:stCondLst>
                      <p:childTnLst>
                        <p:par>
                          <p:cTn id="4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2" nodeType="clickEffect" fill="hold" presetClass="entr" presetID="2" presetSubtype="3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4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5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8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9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491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7" name="Connecteur droit avec flèche 86"/>
          <p:cNvCxnSpPr/>
          <p:nvPr/>
        </p:nvCxnSpPr>
        <p:spPr>
          <a:xfrm flipH="1">
            <a:off x="5000040" y="3286080"/>
            <a:ext cx="1143720" cy="1000800"/>
          </a:xfrm>
          <a:prstGeom prst="straightConnector1">
            <a:avLst/>
          </a:prstGeom>
          <a:ln w="38160">
            <a:solidFill>
              <a:srgbClr val="ffff00"/>
            </a:solidFill>
            <a:miter/>
            <a:tailEnd len="med" type="arrow" w="med"/>
          </a:ln>
        </p:spPr>
      </p:cxnSp>
      <p:cxnSp>
        <p:nvCxnSpPr>
          <p:cNvPr id="358" name="Connecteur droit avec flèche 82"/>
          <p:cNvCxnSpPr/>
          <p:nvPr/>
        </p:nvCxnSpPr>
        <p:spPr>
          <a:xfrm flipV="1">
            <a:off x="5571000" y="3142800"/>
            <a:ext cx="2520" cy="1216800"/>
          </a:xfrm>
          <a:prstGeom prst="straightConnector1">
            <a:avLst/>
          </a:prstGeom>
          <a:ln w="38160">
            <a:solidFill>
              <a:srgbClr val="ffc000"/>
            </a:solidFill>
            <a:miter/>
            <a:tailEnd len="med" type="arrow" w="med"/>
          </a:ln>
        </p:spPr>
      </p:cxnSp>
      <p:cxnSp>
        <p:nvCxnSpPr>
          <p:cNvPr id="359" name="Connecteur droit avec flèche 84"/>
          <p:cNvCxnSpPr/>
          <p:nvPr/>
        </p:nvCxnSpPr>
        <p:spPr>
          <a:xfrm>
            <a:off x="4571640" y="3785760"/>
            <a:ext cx="2715480" cy="2520"/>
          </a:xfrm>
          <a:prstGeom prst="straightConnector1">
            <a:avLst/>
          </a:prstGeom>
          <a:ln w="38160">
            <a:solidFill>
              <a:srgbClr val="c00000"/>
            </a:solidFill>
            <a:miter/>
            <a:tailEnd len="med" type="arrow" w="med"/>
          </a:ln>
        </p:spPr>
      </p:cxnSp>
      <p:sp>
        <p:nvSpPr>
          <p:cNvPr id="360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Times New Roman"/>
                <a:ea typeface="Times New Roman"/>
              </a:rPr>
              <a:t>Séance 4 : </a:t>
            </a: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1</a:t>
            </a:r>
            <a:r>
              <a:rPr b="1" lang="fr-FR" sz="2800" strike="noStrike" u="none" baseline="30000">
                <a:solidFill>
                  <a:srgbClr val="cc3300"/>
                </a:solidFill>
                <a:effectLst/>
                <a:uFillTx/>
                <a:latin typeface="Arial"/>
              </a:rPr>
              <a:t>ier</a:t>
            </a:r>
            <a:r>
              <a:rPr b="1" lang="fr-FR" sz="28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Principe : Application au Gaz parfait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ZoneTexte 35"/>
          <p:cNvSpPr/>
          <p:nvPr/>
        </p:nvSpPr>
        <p:spPr>
          <a:xfrm>
            <a:off x="585000" y="571680"/>
            <a:ext cx="42260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Conséquences pour le gaz parfait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Rectangle 48"/>
          <p:cNvSpPr/>
          <p:nvPr/>
        </p:nvSpPr>
        <p:spPr>
          <a:xfrm>
            <a:off x="989640" y="3357720"/>
            <a:ext cx="37101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Cas d’un gaz diatomique (N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 O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, H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…)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76" name="Object 13"/>
              <p:cNvSpPr txBox="1"/>
              <p:nvPr/>
            </p:nvSpPr>
            <p:spPr>
              <a:xfrm>
                <a:off x="7537320" y="5000760"/>
                <a:ext cx="1177920" cy="663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U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5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nRT</m:t>
                    </m:r>
                  </m:oMath>
                </a14:m>
              </a:p>
            </p:txBody>
          </p:sp>
        </mc:Choice>
        <mc:Fallback>
          <p:sp>
            <p:nvSpPr>
              <p:cNvPr id="376" name="Object 13"/>
              <p:cNvSpPr txBox="1"/>
              <p:nvPr/>
            </p:nvSpPr>
            <p:spPr>
              <a:xfrm>
                <a:off x="7537320" y="5000760"/>
                <a:ext cx="1177920" cy="6634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377" name="Rectangle 50"/>
          <p:cNvSpPr/>
          <p:nvPr/>
        </p:nvSpPr>
        <p:spPr>
          <a:xfrm>
            <a:off x="571680" y="1071720"/>
            <a:ext cx="4857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cas de gaz monoatomique : (Ar, Ne,…)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78" name="Object 14"/>
              <p:cNvSpPr txBox="1"/>
              <p:nvPr/>
            </p:nvSpPr>
            <p:spPr>
              <a:xfrm>
                <a:off x="7500960" y="2357280"/>
                <a:ext cx="1177920" cy="663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U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nRT</m:t>
                    </m:r>
                  </m:oMath>
                </a14:m>
              </a:p>
            </p:txBody>
          </p:sp>
        </mc:Choice>
        <mc:Fallback>
          <p:sp>
            <p:nvSpPr>
              <p:cNvPr id="378" name="Object 14"/>
              <p:cNvSpPr txBox="1"/>
              <p:nvPr/>
            </p:nvSpPr>
            <p:spPr>
              <a:xfrm>
                <a:off x="7500960" y="2357280"/>
                <a:ext cx="1177920" cy="6638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379" name="ZoneTexte 59"/>
          <p:cNvSpPr/>
          <p:nvPr/>
        </p:nvSpPr>
        <p:spPr>
          <a:xfrm flipH="1">
            <a:off x="5502240" y="1474920"/>
            <a:ext cx="38829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Nombre de degré de liberté = 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0 Rotations +3 Translations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80" name="Object 27"/>
              <p:cNvSpPr txBox="1"/>
              <p:nvPr/>
            </p:nvSpPr>
            <p:spPr>
              <a:xfrm>
                <a:off x="5214960" y="4929120"/>
                <a:ext cx="1065240" cy="71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5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R</m:t>
                    </m:r>
                  </m:oMath>
                </a14:m>
              </a:p>
            </p:txBody>
          </p:sp>
        </mc:Choice>
        <mc:Fallback>
          <p:sp>
            <p:nvSpPr>
              <p:cNvPr id="380" name="Object 27"/>
              <p:cNvSpPr txBox="1"/>
              <p:nvPr/>
            </p:nvSpPr>
            <p:spPr>
              <a:xfrm>
                <a:off x="5214960" y="4929120"/>
                <a:ext cx="1065240" cy="716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381" name="Object 51"/>
              <p:cNvSpPr txBox="1"/>
              <p:nvPr/>
            </p:nvSpPr>
            <p:spPr>
              <a:xfrm>
                <a:off x="5214960" y="2355840"/>
                <a:ext cx="1065240" cy="71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R</m:t>
                    </m:r>
                  </m:oMath>
                </a14:m>
              </a:p>
            </p:txBody>
          </p:sp>
        </mc:Choice>
        <mc:Fallback>
          <p:sp>
            <p:nvSpPr>
              <p:cNvPr id="381" name="Object 51"/>
              <p:cNvSpPr txBox="1"/>
              <p:nvPr/>
            </p:nvSpPr>
            <p:spPr>
              <a:xfrm>
                <a:off x="5214960" y="2355840"/>
                <a:ext cx="1065240" cy="7160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pic>
        <p:nvPicPr>
          <p:cNvPr id="382" name="Ellipse 53" descr=""/>
          <p:cNvPicPr/>
          <p:nvPr/>
        </p:nvPicPr>
        <p:blipFill>
          <a:blip r:embed="rId5"/>
          <a:stretch/>
        </p:blipFill>
        <p:spPr>
          <a:xfrm>
            <a:off x="3541680" y="1670040"/>
            <a:ext cx="487440" cy="5493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83" name="Connecteur droit avec flèche 55"/>
          <p:cNvCxnSpPr/>
          <p:nvPr/>
        </p:nvCxnSpPr>
        <p:spPr>
          <a:xfrm>
            <a:off x="3214800" y="1928880"/>
            <a:ext cx="1929600" cy="216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pic>
        <p:nvPicPr>
          <p:cNvPr id="384" name="Connecteur droit avec flèche 59" descr=""/>
          <p:cNvPicPr/>
          <p:nvPr/>
        </p:nvPicPr>
        <p:blipFill>
          <a:blip r:embed="rId6"/>
          <a:stretch/>
        </p:blipFill>
        <p:spPr>
          <a:xfrm>
            <a:off x="2992320" y="1494000"/>
            <a:ext cx="1586160" cy="8712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85" name="Connecteur droit avec flèche 63"/>
          <p:cNvCxnSpPr/>
          <p:nvPr/>
        </p:nvCxnSpPr>
        <p:spPr>
          <a:xfrm flipV="1">
            <a:off x="3785040" y="1285560"/>
            <a:ext cx="2520" cy="1286640"/>
          </a:xfrm>
          <a:prstGeom prst="straightConnector1">
            <a:avLst/>
          </a:prstGeom>
          <a:ln w="9360">
            <a:solidFill>
              <a:srgbClr val="4a7ebb"/>
            </a:solidFill>
            <a:miter/>
            <a:tailEnd len="med" type="triangle" w="med"/>
          </a:ln>
        </p:spPr>
      </p:cxnSp>
      <p:grpSp>
        <p:nvGrpSpPr>
          <p:cNvPr id="386" name="Groupe 71"/>
          <p:cNvGrpSpPr/>
          <p:nvPr/>
        </p:nvGrpSpPr>
        <p:grpSpPr>
          <a:xfrm>
            <a:off x="4857840" y="3500280"/>
            <a:ext cx="1428840" cy="500400"/>
            <a:chOff x="4857840" y="3500280"/>
            <a:chExt cx="1428840" cy="500400"/>
          </a:xfrm>
        </p:grpSpPr>
        <p:sp>
          <p:nvSpPr>
            <p:cNvPr id="387" name="Connecteur droit 66"/>
            <p:cNvSpPr/>
            <p:nvPr/>
          </p:nvSpPr>
          <p:spPr>
            <a:xfrm>
              <a:off x="5160600" y="3765600"/>
              <a:ext cx="823680" cy="15480"/>
            </a:xfrm>
            <a:prstGeom prst="line">
              <a:avLst/>
            </a:prstGeom>
            <a:ln w="7632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31320" bIns="-3132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88" name="Ellipse 64"/>
            <p:cNvGrpSpPr/>
            <p:nvPr/>
          </p:nvGrpSpPr>
          <p:grpSpPr>
            <a:xfrm>
              <a:off x="4857840" y="3500280"/>
              <a:ext cx="532800" cy="500400"/>
              <a:chOff x="4857840" y="3500280"/>
              <a:chExt cx="532800" cy="500400"/>
            </a:xfrm>
          </p:grpSpPr>
          <p:pic>
            <p:nvPicPr>
              <p:cNvPr id="389" name="Ellipse 64" descr=""/>
              <p:cNvPicPr/>
              <p:nvPr/>
            </p:nvPicPr>
            <p:blipFill>
              <a:blip r:embed="rId7"/>
              <a:stretch/>
            </p:blipFill>
            <p:spPr>
              <a:xfrm>
                <a:off x="4857840" y="3500280"/>
                <a:ext cx="532800" cy="5004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390" name=""/>
              <p:cNvSpPr/>
              <p:nvPr/>
            </p:nvSpPr>
            <p:spPr>
              <a:xfrm>
                <a:off x="4956480" y="3589560"/>
                <a:ext cx="339840" cy="31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91" name="Ellipse 70"/>
            <p:cNvGrpSpPr/>
            <p:nvPr/>
          </p:nvGrpSpPr>
          <p:grpSpPr>
            <a:xfrm>
              <a:off x="5753880" y="3500280"/>
              <a:ext cx="532800" cy="500400"/>
              <a:chOff x="5753880" y="3500280"/>
              <a:chExt cx="532800" cy="500400"/>
            </a:xfrm>
          </p:grpSpPr>
          <p:pic>
            <p:nvPicPr>
              <p:cNvPr id="392" name="Ellipse 70" descr=""/>
              <p:cNvPicPr/>
              <p:nvPr/>
            </p:nvPicPr>
            <p:blipFill>
              <a:blip r:embed="rId8"/>
              <a:stretch/>
            </p:blipFill>
            <p:spPr>
              <a:xfrm>
                <a:off x="5753880" y="3500280"/>
                <a:ext cx="532800" cy="5004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393" name=""/>
              <p:cNvSpPr/>
              <p:nvPr/>
            </p:nvSpPr>
            <p:spPr>
              <a:xfrm>
                <a:off x="5848920" y="3589560"/>
                <a:ext cx="339840" cy="31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94" name="ZoneTexte 59"/>
          <p:cNvSpPr/>
          <p:nvPr/>
        </p:nvSpPr>
        <p:spPr>
          <a:xfrm flipH="1">
            <a:off x="5284800" y="4255920"/>
            <a:ext cx="388296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Nombre de degré de liberté = 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 2 Rotations +3 Translations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Flèche courbée vers la droite 106"/>
          <p:cNvSpPr/>
          <p:nvPr/>
        </p:nvSpPr>
        <p:spPr>
          <a:xfrm>
            <a:off x="5286240" y="3071880"/>
            <a:ext cx="428760" cy="285840"/>
          </a:xfrm>
          <a:custGeom>
            <a:avLst/>
            <a:gdLst>
              <a:gd name="textAreaLeft" fmla="*/ 57240 w 428760"/>
              <a:gd name="textAreaRight" fmla="*/ 371520 w 428760"/>
              <a:gd name="textAreaTop" fmla="*/ 44640 h 285840"/>
              <a:gd name="textAreaBottom" fmla="*/ 205560 h 285840"/>
              <a:gd name="GluePoint1X" fmla="*/ 0 w 21600"/>
              <a:gd name="GluePoint1Y" fmla="*/ 17 h 21600"/>
              <a:gd name="GluePoint2X" fmla="*/ 2 w 21600"/>
              <a:gd name="GluePoint2Y" fmla="*/ 14 h 21600"/>
              <a:gd name="GluePoint3X" fmla="*/ 22 w 21600"/>
              <a:gd name="GluePoint3Y" fmla="*/ 8 h 21600"/>
              <a:gd name="GluePoint4X" fmla="*/ 2 w 21600"/>
              <a:gd name="GluePoint4Y" fmla="*/ 12 h 21600"/>
              <a:gd name="GluePoint5X" fmla="*/ 22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21600" y="0"/>
                </a:moveTo>
                <a:arcTo wR="21600" hR="6750" stAng="-5400000" swAng="-5400000"/>
                <a:lnTo>
                  <a:pt x="0" y="12150"/>
                </a:lnTo>
                <a:arcTo wR="21600" hR="6750" stAng="10800000" swAng="-3695466"/>
                <a:lnTo>
                  <a:pt x="18000" y="21506"/>
                </a:lnTo>
                <a:lnTo>
                  <a:pt x="21600" y="16200"/>
                </a:lnTo>
                <a:lnTo>
                  <a:pt x="18000" y="10706"/>
                </a:lnTo>
                <a:lnTo>
                  <a:pt x="18000" y="13406"/>
                </a:lnTo>
                <a:arcTo wR="21600" hR="6750" stAng="7104534" swAng="3229480"/>
                <a:lnTo>
                  <a:pt x="1803" y="9450"/>
                </a:lnTo>
                <a:arcTo wR="21600" hR="6750" stAng="-10334014" swAng="4934014"/>
                <a:close/>
              </a:path>
              <a:path fill="darkenLess" w="21600" h="21600">
                <a:moveTo>
                  <a:pt x="21600" y="0"/>
                </a:moveTo>
                <a:arcTo wR="21600" hR="6750" stAng="-5400000" swAng="-5400000"/>
                <a:lnTo>
                  <a:pt x="0" y="6750"/>
                </a:lnTo>
                <a:arcTo wR="21600" hR="6750" stAng="10800000" swAng="-465986"/>
                <a:lnTo>
                  <a:pt x="1803" y="9450"/>
                </a:lnTo>
                <a:arcTo wR="21600" hR="6750" stAng="-10334014" swAng="4934014"/>
                <a:close/>
              </a:path>
            </a:pathLst>
          </a:custGeom>
          <a:solidFill>
            <a:srgbClr val="ffc000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Flèche courbée vers le haut 107"/>
          <p:cNvSpPr/>
          <p:nvPr/>
        </p:nvSpPr>
        <p:spPr>
          <a:xfrm>
            <a:off x="7072200" y="3714840"/>
            <a:ext cx="285840" cy="285840"/>
          </a:xfrm>
          <a:custGeom>
            <a:avLst/>
            <a:gdLst>
              <a:gd name="textAreaLeft" fmla="*/ 44640 w 285840"/>
              <a:gd name="textAreaRight" fmla="*/ 205560 w 285840"/>
              <a:gd name="textAreaTop" fmla="*/ 38160 h 285840"/>
              <a:gd name="textAreaBottom" fmla="*/ 247680 h 285840"/>
              <a:gd name="GluePoint1X" fmla="*/ 8 w 21600"/>
              <a:gd name="GluePoint1Y" fmla="*/ 0 h 21600"/>
              <a:gd name="GluePoint2X" fmla="*/ 11 w 21600"/>
              <a:gd name="GluePoint2Y" fmla="*/ 2 h 21600"/>
              <a:gd name="GluePoint3X" fmla="*/ 15 w 21600"/>
              <a:gd name="GluePoint3Y" fmla="*/ 0 h 21600"/>
              <a:gd name="GluePoint4X" fmla="*/ 16 w 21600"/>
              <a:gd name="GluePoint4Y" fmla="*/ 21 h 21600"/>
              <a:gd name="GluePoint5X" fmla="*/ 13 w 21600"/>
              <a:gd name="GluePoint5Y" fmla="*/ 2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6750" hR="21600" stAng="10800000" swAng="-5400000"/>
                <a:lnTo>
                  <a:pt x="12150" y="21600"/>
                </a:lnTo>
                <a:arcTo wR="6750" hR="21600" stAng="5400000" swAng="-3026114"/>
                <a:lnTo>
                  <a:pt x="21386" y="5400"/>
                </a:lnTo>
                <a:lnTo>
                  <a:pt x="16200" y="0"/>
                </a:lnTo>
                <a:lnTo>
                  <a:pt x="10586" y="5400"/>
                </a:lnTo>
                <a:lnTo>
                  <a:pt x="13286" y="5400"/>
                </a:lnTo>
                <a:arcTo wR="6750" hR="21600" stAng="2373886" swAng="2560128"/>
                <a:lnTo>
                  <a:pt x="9450" y="19797"/>
                </a:lnTo>
                <a:arcTo wR="6750" hR="21600" stAng="5865986" swAng="4934014"/>
                <a:close/>
              </a:path>
              <a:path fill="darkenLess" w="21600" h="21600">
                <a:moveTo>
                  <a:pt x="0" y="0"/>
                </a:moveTo>
                <a:arcTo wR="6750" hR="21600" stAng="10800000" swAng="-5400000"/>
                <a:lnTo>
                  <a:pt x="12150" y="21600"/>
                </a:lnTo>
                <a:arcTo wR="6750" hR="21600" stAng="5400000" swAng="465986"/>
                <a:lnTo>
                  <a:pt x="9450" y="19797"/>
                </a:lnTo>
                <a:arcTo wR="6750" hR="21600" stAng="5865986" swAng="4934014"/>
                <a:close/>
              </a:path>
            </a:pathLst>
          </a:custGeom>
          <a:solidFill>
            <a:srgbClr val="1f497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Double flèche horizontale 108"/>
          <p:cNvSpPr/>
          <p:nvPr/>
        </p:nvSpPr>
        <p:spPr>
          <a:xfrm rot="19899600">
            <a:off x="4150800" y="1453680"/>
            <a:ext cx="428760" cy="71640"/>
          </a:xfrm>
          <a:prstGeom prst="leftRightArrow">
            <a:avLst>
              <a:gd name="adj1" fmla="val 50000"/>
              <a:gd name="adj2" fmla="val 49874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0800" bIns="-10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Double flèche verticale 109"/>
          <p:cNvSpPr/>
          <p:nvPr/>
        </p:nvSpPr>
        <p:spPr>
          <a:xfrm>
            <a:off x="3668760" y="2428920"/>
            <a:ext cx="46080" cy="357120"/>
          </a:xfrm>
          <a:prstGeom prst="upDownArrow">
            <a:avLst>
              <a:gd name="adj1" fmla="val 50000"/>
              <a:gd name="adj2" fmla="val 49944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Double flèche horizontale 113"/>
          <p:cNvSpPr/>
          <p:nvPr/>
        </p:nvSpPr>
        <p:spPr>
          <a:xfrm>
            <a:off x="2928960" y="1857240"/>
            <a:ext cx="357120" cy="46080"/>
          </a:xfrm>
          <a:prstGeom prst="leftRightArrow">
            <a:avLst>
              <a:gd name="adj1" fmla="val 50000"/>
              <a:gd name="adj2" fmla="val 49944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23760" bIns="-23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Flèche courbée vers le haut 41"/>
          <p:cNvSpPr/>
          <p:nvPr/>
        </p:nvSpPr>
        <p:spPr>
          <a:xfrm>
            <a:off x="4786200" y="4143240"/>
            <a:ext cx="500040" cy="285840"/>
          </a:xfrm>
          <a:custGeom>
            <a:avLst/>
            <a:gdLst>
              <a:gd name="textAreaLeft" fmla="*/ 98280 w 500040"/>
              <a:gd name="textAreaRight" fmla="*/ 366120 w 500040"/>
              <a:gd name="textAreaTop" fmla="*/ 38160 h 285840"/>
              <a:gd name="textAreaBottom" fmla="*/ 247680 h 285840"/>
              <a:gd name="GluePoint1X" fmla="*/ 8 w 21600"/>
              <a:gd name="GluePoint1Y" fmla="*/ 0 h 21600"/>
              <a:gd name="GluePoint2X" fmla="*/ 11 w 21600"/>
              <a:gd name="GluePoint2Y" fmla="*/ 2 h 21600"/>
              <a:gd name="GluePoint3X" fmla="*/ 15 w 21600"/>
              <a:gd name="GluePoint3Y" fmla="*/ 0 h 21600"/>
              <a:gd name="GluePoint4X" fmla="*/ 16 w 21600"/>
              <a:gd name="GluePoint4Y" fmla="*/ 21 h 21600"/>
              <a:gd name="GluePoint5X" fmla="*/ 13 w 21600"/>
              <a:gd name="GluePoint5Y" fmla="*/ 2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8486" hR="21600" stAng="10800000" swAng="-5400000"/>
                <a:lnTo>
                  <a:pt x="11571" y="21600"/>
                </a:lnTo>
                <a:arcTo wR="8486" hR="21600" stAng="5400000" swAng="-3401198"/>
                <a:lnTo>
                  <a:pt x="21331" y="5400"/>
                </a:lnTo>
                <a:lnTo>
                  <a:pt x="18515" y="0"/>
                </a:lnTo>
                <a:lnTo>
                  <a:pt x="15160" y="5400"/>
                </a:lnTo>
                <a:lnTo>
                  <a:pt x="16703" y="5400"/>
                </a:lnTo>
                <a:arcTo wR="8486" hR="21600" stAng="1998802" swAng="3151980"/>
                <a:lnTo>
                  <a:pt x="10029" y="21240"/>
                </a:lnTo>
                <a:arcTo wR="8486" hR="21600" stAng="5649218" swAng="5150782"/>
                <a:close/>
              </a:path>
              <a:path fill="darkenLess" w="21600" h="21600">
                <a:moveTo>
                  <a:pt x="0" y="0"/>
                </a:moveTo>
                <a:arcTo wR="8486" hR="21600" stAng="10800000" swAng="-5400000"/>
                <a:lnTo>
                  <a:pt x="11571" y="21600"/>
                </a:lnTo>
                <a:arcTo wR="8486" hR="21600" stAng="5400000" swAng="249218"/>
                <a:lnTo>
                  <a:pt x="10029" y="21240"/>
                </a:lnTo>
                <a:arcTo wR="8486" hR="21600" stAng="5649218" swAng="5150782"/>
                <a:close/>
              </a:path>
            </a:pathLst>
          </a:custGeom>
          <a:solidFill>
            <a:srgbClr val="ffff00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ZoneTexte 43"/>
          <p:cNvSpPr/>
          <p:nvPr/>
        </p:nvSpPr>
        <p:spPr>
          <a:xfrm>
            <a:off x="7362720" y="3643200"/>
            <a:ext cx="1260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Pas d’effet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02" name="Object 48"/>
              <p:cNvSpPr txBox="1"/>
              <p:nvPr/>
            </p:nvSpPr>
            <p:spPr>
              <a:xfrm>
                <a:off x="6357960" y="2357280"/>
                <a:ext cx="1065240" cy="71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5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R</m:t>
                    </m:r>
                  </m:oMath>
                </a14:m>
              </a:p>
            </p:txBody>
          </p:sp>
        </mc:Choice>
        <mc:Fallback>
          <p:sp>
            <p:nvSpPr>
              <p:cNvPr id="402" name="Object 48"/>
              <p:cNvSpPr txBox="1"/>
              <p:nvPr/>
            </p:nvSpPr>
            <p:spPr>
              <a:xfrm>
                <a:off x="6357960" y="2357280"/>
                <a:ext cx="1065240" cy="71604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03" name="Object 49"/>
              <p:cNvSpPr txBox="1"/>
              <p:nvPr/>
            </p:nvSpPr>
            <p:spPr>
              <a:xfrm>
                <a:off x="6357960" y="4927680"/>
                <a:ext cx="1065240" cy="71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7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R</m:t>
                    </m:r>
                  </m:oMath>
                </a14:m>
              </a:p>
            </p:txBody>
          </p:sp>
        </mc:Choice>
        <mc:Fallback>
          <p:sp>
            <p:nvSpPr>
              <p:cNvPr id="403" name="Object 49"/>
              <p:cNvSpPr txBox="1"/>
              <p:nvPr/>
            </p:nvSpPr>
            <p:spPr>
              <a:xfrm>
                <a:off x="6357960" y="4927680"/>
                <a:ext cx="1065240" cy="7160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grpSp>
        <p:nvGrpSpPr>
          <p:cNvPr id="404" name="Groupe 52"/>
          <p:cNvGrpSpPr/>
          <p:nvPr/>
        </p:nvGrpSpPr>
        <p:grpSpPr>
          <a:xfrm>
            <a:off x="5738760" y="1366920"/>
            <a:ext cx="2868840" cy="1733400"/>
            <a:chOff x="5738760" y="1366920"/>
            <a:chExt cx="2868840" cy="1733400"/>
          </a:xfrm>
        </p:grpSpPr>
        <p:sp>
          <p:nvSpPr>
            <p:cNvPr id="405" name="Ellipse 48"/>
            <p:cNvSpPr/>
            <p:nvPr/>
          </p:nvSpPr>
          <p:spPr>
            <a:xfrm>
              <a:off x="8366400" y="1366920"/>
              <a:ext cx="241200" cy="655560"/>
            </a:xfrm>
            <a:prstGeom prst="ellipse">
              <a:avLst/>
            </a:prstGeom>
            <a:noFill/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Ellipse 49"/>
            <p:cNvSpPr/>
            <p:nvPr/>
          </p:nvSpPr>
          <p:spPr>
            <a:xfrm>
              <a:off x="5738760" y="2279520"/>
              <a:ext cx="320400" cy="820800"/>
            </a:xfrm>
            <a:prstGeom prst="ellipse">
              <a:avLst/>
            </a:prstGeom>
            <a:noFill/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Connecteur droit 51"/>
            <p:cNvSpPr/>
            <p:nvPr/>
          </p:nvSpPr>
          <p:spPr>
            <a:xfrm flipV="1">
              <a:off x="5898240" y="2022480"/>
              <a:ext cx="2589480" cy="257040"/>
            </a:xfrm>
            <a:prstGeom prst="line">
              <a:avLst/>
            </a:prstGeom>
            <a:ln w="9360">
              <a:solidFill>
                <a:srgbClr val="4a7ebb"/>
              </a:solidFill>
              <a:miter/>
              <a:headEnd len="med" type="stealth" w="med"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08" name="Groupe 54"/>
          <p:cNvGrpSpPr/>
          <p:nvPr/>
        </p:nvGrpSpPr>
        <p:grpSpPr>
          <a:xfrm>
            <a:off x="5786280" y="4132440"/>
            <a:ext cx="2551320" cy="1509480"/>
            <a:chOff x="5786280" y="4132440"/>
            <a:chExt cx="2551320" cy="1509480"/>
          </a:xfrm>
        </p:grpSpPr>
        <p:sp>
          <p:nvSpPr>
            <p:cNvPr id="409" name="Ellipse 56"/>
            <p:cNvSpPr/>
            <p:nvPr/>
          </p:nvSpPr>
          <p:spPr>
            <a:xfrm>
              <a:off x="8123400" y="4132440"/>
              <a:ext cx="214200" cy="571320"/>
            </a:xfrm>
            <a:prstGeom prst="ellipse">
              <a:avLst/>
            </a:prstGeom>
            <a:noFill/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Ellipse 57"/>
            <p:cNvSpPr/>
            <p:nvPr/>
          </p:nvSpPr>
          <p:spPr>
            <a:xfrm>
              <a:off x="5786280" y="4927680"/>
              <a:ext cx="285480" cy="714240"/>
            </a:xfrm>
            <a:prstGeom prst="ellipse">
              <a:avLst/>
            </a:prstGeom>
            <a:noFill/>
            <a:ln w="255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Connecteur droit 58"/>
            <p:cNvSpPr/>
            <p:nvPr/>
          </p:nvSpPr>
          <p:spPr>
            <a:xfrm flipV="1">
              <a:off x="5928120" y="4703400"/>
              <a:ext cx="2302200" cy="223560"/>
            </a:xfrm>
            <a:prstGeom prst="line">
              <a:avLst/>
            </a:prstGeom>
            <a:ln w="9360">
              <a:solidFill>
                <a:srgbClr val="4a7ebb"/>
              </a:solidFill>
              <a:miter/>
              <a:headEnd len="med" type="stealth" w="med"/>
              <a:tailEnd len="med" type="stealth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timing>
    <p:tnLst>
      <p:par>
        <p:cTn id="495" dur="indefinite" restart="never" nodeType="tmRoot">
          <p:childTnLst>
            <p:seq>
              <p:cTn id="496" dur="indefinite" nodeType="mainSeq">
                <p:childTnLst>
                  <p:par>
                    <p:cTn id="497" nodeType="clickEffect" fill="hold">
                      <p:stCondLst>
                        <p:cond delay="indefinite"/>
                      </p:stCondLst>
                      <p:childTnLst>
                        <p:par>
                          <p:cTn id="4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9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1" dur="5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2" dur="5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nodeType="clickEffect" fill="hold">
                      <p:stCondLst>
                        <p:cond delay="indefinite"/>
                      </p:stCondLst>
                      <p:childTnLst>
                        <p:par>
                          <p:cTn id="5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07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nodeType="clickEffect" fill="hold">
                      <p:stCondLst>
                        <p:cond delay="indefinite"/>
                      </p:stCondLst>
                      <p:childTnLst>
                        <p:par>
                          <p:cTn id="5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12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nodeType="clickEffect" fill="hold">
                      <p:stCondLst>
                        <p:cond delay="indefinite"/>
                      </p:stCondLst>
                      <p:childTnLst>
                        <p:par>
                          <p:cTn id="5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path" presetID="63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>
                                      <p:cBhvr>
                                        <p:cTn id="516" dur="2000" fill="hold"/>
                                        <p:tgtEl>
                                          <p:spTgt spid="399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nodeType="clickEffect" fill="hold">
                      <p:stCondLst>
                        <p:cond delay="indefinite"/>
                      </p:stCondLst>
                      <p:childTnLst>
                        <p:par>
                          <p:cTn id="51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1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21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2" nodeType="clickEffect" fill="hold">
                      <p:stCondLst>
                        <p:cond delay="indefinite"/>
                      </p:stCondLst>
                      <p:childTnLst>
                        <p:par>
                          <p:cTn id="52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4" nodeType="clickEffect" fill="hold" presetClass="path" presetID="56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069 0.1044 L -5.55556E-007 3.7037E-007 E">
                                      <p:cBhvr>
                                        <p:cTn id="525" dur="2000" fill="hold"/>
                                        <p:tgtEl>
                                          <p:spTgt spid="397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nodeType="clickEffect" fill="hold">
                      <p:stCondLst>
                        <p:cond delay="indefinite"/>
                      </p:stCondLst>
                      <p:childTnLst>
                        <p:par>
                          <p:cTn id="52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28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30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nodeType="clickEffect" fill="hold">
                      <p:stCondLst>
                        <p:cond delay="indefinite"/>
                      </p:stCondLst>
                      <p:childTnLst>
                        <p:par>
                          <p:cTn id="5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3" nodeType="clickEffect" fill="hold" presetClass="path" presetID="64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06 0.0463 L 4.16667E-006 -0.2162 E">
                                      <p:cBhvr>
                                        <p:cTn id="534" dur="2000" fill="hold"/>
                                        <p:tgtEl>
                                          <p:spTgt spid="398"/>
                                        </p:tgtEl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nodeType="clickEffect" fill="hold">
                      <p:stCondLst>
                        <p:cond delay="indefinite"/>
                      </p:stCondLst>
                      <p:childTnLst>
                        <p:par>
                          <p:cTn id="5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7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39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nodeType="clickEffect" fill="hold">
                      <p:stCondLst>
                        <p:cond delay="indefinite"/>
                      </p:stCondLst>
                      <p:childTnLst>
                        <p:par>
                          <p:cTn id="54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4"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5" dur="500" fill="hold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nodeType="clickEffect" fill="hold">
                      <p:stCondLst>
                        <p:cond delay="indefinite"/>
                      </p:stCondLst>
                      <p:childTnLst>
                        <p:par>
                          <p:cTn id="5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0" dur="5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1" dur="50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2" nodeType="clickEffect" fill="hold">
                      <p:stCondLst>
                        <p:cond delay="indefinite"/>
                      </p:stCondLst>
                      <p:childTnLst>
                        <p:par>
                          <p:cTn id="5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56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7" nodeType="clickEffect" fill="hold">
                      <p:stCondLst>
                        <p:cond delay="indefinite"/>
                      </p:stCondLst>
                      <p:childTnLst>
                        <p:par>
                          <p:cTn id="5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1" dur="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2" dur="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nodeType="clickEffect" fill="hold">
                      <p:stCondLst>
                        <p:cond delay="indefinite"/>
                      </p:stCondLst>
                      <p:childTnLst>
                        <p:par>
                          <p:cTn id="5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6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7" dur="5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8" dur="5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nodeType="clickEffect" fill="hold">
                      <p:stCondLst>
                        <p:cond delay="indefinite"/>
                      </p:stCondLst>
                      <p:childTnLst>
                        <p:par>
                          <p:cTn id="5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3" dur="500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4" dur="500" fill="hold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nodeType="clickEffect" fill="hold">
                      <p:stCondLst>
                        <p:cond delay="indefinite"/>
                      </p:stCondLst>
                      <p:childTnLst>
                        <p:par>
                          <p:cTn id="57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77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79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nodeType="clickEffect" fill="hold">
                      <p:stCondLst>
                        <p:cond delay="indefinite"/>
                      </p:stCondLst>
                      <p:childTnLst>
                        <p:par>
                          <p:cTn id="5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2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84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nodeType="clickEffect" fill="hold">
                      <p:stCondLst>
                        <p:cond delay="indefinite"/>
                      </p:stCondLst>
                      <p:childTnLst>
                        <p:par>
                          <p:cTn id="5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7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89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92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nodeType="clickEffect" fill="hold">
                      <p:stCondLst>
                        <p:cond delay="indefinite"/>
                      </p:stCondLst>
                      <p:childTnLst>
                        <p:par>
                          <p:cTn id="5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5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59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nodeType="clickEffect" fill="hold">
                      <p:stCondLst>
                        <p:cond delay="indefinite"/>
                      </p:stCondLst>
                      <p:childTnLst>
                        <p:par>
                          <p:cTn id="59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02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nodeType="clickEffect" fill="hold">
                      <p:stCondLst>
                        <p:cond delay="indefinite"/>
                      </p:stCondLst>
                      <p:childTnLst>
                        <p:par>
                          <p:cTn id="6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5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0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nodeType="clickEffect" fill="hold">
                      <p:stCondLst>
                        <p:cond delay="indefinite"/>
                      </p:stCondLst>
                      <p:childTnLst>
                        <p:par>
                          <p:cTn id="60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12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nodeType="clickEffect" fill="hold">
                      <p:stCondLst>
                        <p:cond delay="indefinite"/>
                      </p:stCondLst>
                      <p:childTnLst>
                        <p:par>
                          <p:cTn id="6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1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7" dur="500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8" dur="500" fill="hold"/>
                                        <p:tgtEl>
                                          <p:spTgt spid="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nodeType="clickEffect" fill="hold">
                      <p:stCondLst>
                        <p:cond delay="indefinite"/>
                      </p:stCondLst>
                      <p:childTnLst>
                        <p:par>
                          <p:cTn id="6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3" dur="50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4" dur="500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5" nodeType="clickEffect" fill="hold">
                      <p:stCondLst>
                        <p:cond delay="indefinite"/>
                      </p:stCondLst>
                      <p:childTnLst>
                        <p:par>
                          <p:cTn id="6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2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29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0" nodeType="clickEffect" fill="hold">
                      <p:stCondLst>
                        <p:cond delay="indefinite"/>
                      </p:stCondLst>
                      <p:childTnLst>
                        <p:par>
                          <p:cTn id="6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4" dur="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5" dur="5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6" nodeType="clickEffect" fill="hold">
                      <p:stCondLst>
                        <p:cond delay="indefinite"/>
                      </p:stCondLst>
                      <p:childTnLst>
                        <p:par>
                          <p:cTn id="6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0" dur="5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1" dur="5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2" nodeType="clickEffect" fill="hold">
                      <p:stCondLst>
                        <p:cond delay="indefinite"/>
                      </p:stCondLst>
                      <p:childTnLst>
                        <p:par>
                          <p:cTn id="6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46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1</a:t>
            </a:r>
            <a:r>
              <a:rPr b="1" lang="fr-FR" sz="3200" strike="noStrike" u="none" baseline="30000">
                <a:solidFill>
                  <a:srgbClr val="cc3300"/>
                </a:solidFill>
                <a:effectLst/>
                <a:uFillTx/>
                <a:latin typeface="Arial"/>
              </a:rPr>
              <a:t>ier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Principe : Application au Gaz parfait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5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Rectangle 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8"/>
          <p:cNvSpPr/>
          <p:nvPr/>
        </p:nvSpPr>
        <p:spPr>
          <a:xfrm>
            <a:off x="0" y="31957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9"/>
          <p:cNvSpPr/>
          <p:nvPr/>
        </p:nvSpPr>
        <p:spPr>
          <a:xfrm>
            <a:off x="0" y="320040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10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11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13"/>
          <p:cNvSpPr/>
          <p:nvPr/>
        </p:nvSpPr>
        <p:spPr>
          <a:xfrm>
            <a:off x="0" y="3205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Rectangle 15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17"/>
          <p:cNvSpPr/>
          <p:nvPr/>
        </p:nvSpPr>
        <p:spPr>
          <a:xfrm>
            <a:off x="0" y="32241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ectangle 19"/>
          <p:cNvSpPr/>
          <p:nvPr/>
        </p:nvSpPr>
        <p:spPr>
          <a:xfrm>
            <a:off x="0" y="323856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Rectangle 25"/>
          <p:cNvSpPr/>
          <p:nvPr/>
        </p:nvSpPr>
        <p:spPr>
          <a:xfrm>
            <a:off x="0" y="3233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Rectangle 25"/>
          <p:cNvSpPr/>
          <p:nvPr/>
        </p:nvSpPr>
        <p:spPr>
          <a:xfrm>
            <a:off x="0" y="110484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26"/>
          <p:cNvSpPr/>
          <p:nvPr/>
        </p:nvSpPr>
        <p:spPr>
          <a:xfrm>
            <a:off x="3110040" y="163908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Rectangle 27"/>
          <p:cNvSpPr/>
          <p:nvPr/>
        </p:nvSpPr>
        <p:spPr>
          <a:xfrm>
            <a:off x="0" y="220968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Rectangle 28"/>
          <p:cNvSpPr/>
          <p:nvPr/>
        </p:nvSpPr>
        <p:spPr>
          <a:xfrm>
            <a:off x="3110040" y="274392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ectangle 29"/>
          <p:cNvSpPr/>
          <p:nvPr/>
        </p:nvSpPr>
        <p:spPr>
          <a:xfrm>
            <a:off x="0" y="3314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ZoneTexte 35"/>
          <p:cNvSpPr/>
          <p:nvPr/>
        </p:nvSpPr>
        <p:spPr>
          <a:xfrm>
            <a:off x="585000" y="571680"/>
            <a:ext cx="42260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Conséquences pour le gaz parfait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Rectangle 42"/>
          <p:cNvSpPr/>
          <p:nvPr/>
        </p:nvSpPr>
        <p:spPr>
          <a:xfrm>
            <a:off x="0" y="1143000"/>
            <a:ext cx="5143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En thermodynamique statistique, on montre que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44"/>
          <p:cNvSpPr/>
          <p:nvPr/>
        </p:nvSpPr>
        <p:spPr>
          <a:xfrm>
            <a:off x="0" y="2714760"/>
            <a:ext cx="90010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Webdings"/>
                <a:ea typeface="Webdings"/>
              </a:rPr>
              <a:t>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l’énergie Interne d’un gaz parfait monoatomique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(3 degrés de liberté de translation)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   de N</a:t>
            </a:r>
            <a:r>
              <a:rPr b="0" lang="fr-FR" sz="1800" strike="noStrike" u="none">
                <a:solidFill>
                  <a:srgbClr val="c00000"/>
                </a:solidFill>
                <a:effectLst/>
                <a:uFillTx/>
                <a:latin typeface="Times New Roman"/>
                <a:ea typeface="Times New Roman"/>
              </a:rPr>
              <a:t> particule 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est égale à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Rectangle 45"/>
          <p:cNvSpPr/>
          <p:nvPr/>
        </p:nvSpPr>
        <p:spPr>
          <a:xfrm>
            <a:off x="108720" y="1857240"/>
            <a:ext cx="84456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Webdings"/>
                <a:ea typeface="Webdings"/>
              </a:rPr>
              <a:t>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dans un gaz parfait à la température absolue </a:t>
            </a: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, toute molécule a une énergie cinétique de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translation  moyenne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44" name="Object 6"/>
              <p:cNvSpPr txBox="1"/>
              <p:nvPr/>
            </p:nvSpPr>
            <p:spPr>
              <a:xfrm>
                <a:off x="2786040" y="3151080"/>
                <a:ext cx="2030400" cy="571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U</m:t>
                    </m:r>
                    <m:r>
                      <m:t xml:space="preserve">=</m:t>
                    </m:r>
                    <m:nary>
                      <m:naryPr>
                        <m:chr m:val="∑"/>
                      </m:naryPr>
                      <m:sub>
                        <m:r>
                          <m:t xml:space="preserve">i</m:t>
                        </m:r>
                        <m:r>
                          <m:t xml:space="preserve">=</m:t>
                        </m:r>
                        <m:r>
                          <m:t xml:space="preserve">1</m:t>
                        </m:r>
                      </m:sub>
                      <m:sup>
                        <m:r>
                          <m:t xml:space="preserve">N</m:t>
                        </m:r>
                      </m:sup>
                      <m:e>
                        <m:d>
                          <m:dPr>
                            <m:begChr m:val="⟨"/>
                            <m:endChr m:val="⟩"/>
                          </m:dPr>
                          <m:e>
                            <m:f>
                              <m:num>
                                <m:r>
                                  <m:t xml:space="preserve">1</m:t>
                                </m:r>
                              </m:num>
                              <m:den>
                                <m:r>
                                  <m:t xml:space="preserve">2</m:t>
                                </m:r>
                              </m:den>
                            </m:f>
                            <m:sSubSup>
                              <m:e>
                                <m:r>
                                  <m:rPr>
                                    <m:lit/>
                                    <m:nor/>
                                  </m:rPr>
                                  <m:t xml:space="preserve">mv</m:t>
                                </m:r>
                              </m:e>
                              <m:sub>
                                <m:r>
                                  <m:t xml:space="preserve">i</m:t>
                                </m:r>
                              </m:sub>
                              <m:sup>
                                <m:r>
                                  <m:t xml:space="preserve">2</m:t>
                                </m:r>
                              </m:sup>
                            </m:sSubSup>
                          </m:e>
                        </m:d>
                      </m:e>
                    </m:nary>
                    <m:r>
                      <m:t xml:space="preserve">=</m:t>
                    </m:r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NkT</m:t>
                    </m:r>
                  </m:oMath>
                </a14:m>
              </a:p>
            </p:txBody>
          </p:sp>
        </mc:Choice>
        <mc:Fallback>
          <p:sp>
            <p:nvSpPr>
              <p:cNvPr id="444" name="Object 6"/>
              <p:cNvSpPr txBox="1"/>
              <p:nvPr/>
            </p:nvSpPr>
            <p:spPr>
              <a:xfrm>
                <a:off x="2786040" y="3151080"/>
                <a:ext cx="2030400" cy="5716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45" name="Object 7"/>
              <p:cNvSpPr txBox="1"/>
              <p:nvPr/>
            </p:nvSpPr>
            <p:spPr>
              <a:xfrm>
                <a:off x="3476520" y="2203560"/>
                <a:ext cx="1330560" cy="582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</m:dPr>
                      <m:e>
                        <m:f>
                          <m:num>
                            <m:r>
                              <m:t xml:space="preserve">1</m:t>
                            </m:r>
                          </m:num>
                          <m:den>
                            <m:r>
                              <m:t xml:space="preserve">2</m:t>
                            </m:r>
                          </m:den>
                        </m:f>
                        <m:sSubSup>
                          <m:e>
                            <m:r>
                              <m:rPr>
                                <m:lit/>
                                <m:nor/>
                              </m:rPr>
                              <m:t xml:space="preserve">mv</m:t>
                            </m:r>
                          </m:e>
                          <m:sub>
                            <m:r>
                              <m:t xml:space="preserve">i</m:t>
                            </m:r>
                          </m:sub>
                          <m:sup>
                            <m:r>
                              <m:t xml:space="preserve">2</m:t>
                            </m:r>
                          </m:sup>
                        </m:sSubSup>
                      </m:e>
                    </m:d>
                    <m:r>
                      <m:t xml:space="preserve">=</m:t>
                    </m:r>
                    <m:f>
                      <m:num>
                        <m:r>
                          <m:t xml:space="preserve">1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kT</m:t>
                    </m:r>
                  </m:oMath>
                </a14:m>
              </a:p>
            </p:txBody>
          </p:sp>
        </mc:Choice>
        <mc:Fallback>
          <p:sp>
            <p:nvSpPr>
              <p:cNvPr id="445" name="Object 7"/>
              <p:cNvSpPr txBox="1"/>
              <p:nvPr/>
            </p:nvSpPr>
            <p:spPr>
              <a:xfrm>
                <a:off x="3476520" y="2203560"/>
                <a:ext cx="1330560" cy="582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446" name="Rectangle 41"/>
          <p:cNvSpPr/>
          <p:nvPr/>
        </p:nvSpPr>
        <p:spPr>
          <a:xfrm>
            <a:off x="5803200" y="2286000"/>
            <a:ext cx="1947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= 1,38 . 10</a:t>
            </a:r>
            <a:r>
              <a:rPr b="0" lang="fr-FR" sz="18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-23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J /K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47" name="Object 8"/>
              <p:cNvSpPr txBox="1"/>
              <p:nvPr/>
            </p:nvSpPr>
            <p:spPr>
              <a:xfrm>
                <a:off x="2714760" y="3836880"/>
                <a:ext cx="3429000" cy="663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U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f>
                      <m:num>
                        <m:r>
                          <m:t xml:space="preserve">N</m:t>
                        </m:r>
                      </m:num>
                      <m:den>
                        <m:r>
                          <m:t xml:space="preserve">N</m:t>
                        </m:r>
                      </m:den>
                    </m:f>
                    <m:r>
                      <m:t xml:space="preserve">N</m:t>
                    </m:r>
                    <m:r>
                      <m:rPr>
                        <m:lit/>
                        <m:nor/>
                      </m:rPr>
                      <m:t xml:space="preserve">kT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nN</m:t>
                    </m:r>
                    <m:r>
                      <m:rPr>
                        <m:lit/>
                        <m:nor/>
                      </m:rPr>
                      <m:t xml:space="preserve">kT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nRT</m:t>
                    </m:r>
                  </m:oMath>
                </a14:m>
              </a:p>
            </p:txBody>
          </p:sp>
        </mc:Choice>
        <mc:Fallback>
          <p:sp>
            <p:nvSpPr>
              <p:cNvPr id="447" name="Object 8"/>
              <p:cNvSpPr txBox="1"/>
              <p:nvPr/>
            </p:nvSpPr>
            <p:spPr>
              <a:xfrm>
                <a:off x="2714760" y="3836880"/>
                <a:ext cx="3429000" cy="6638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448" name="Rectangle 47"/>
          <p:cNvSpPr/>
          <p:nvPr/>
        </p:nvSpPr>
        <p:spPr>
          <a:xfrm>
            <a:off x="6630840" y="4000680"/>
            <a:ext cx="190872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 =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8.31 JK</a:t>
            </a:r>
            <a:r>
              <a:rPr b="0" lang="fr-FR" sz="18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-1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mole</a:t>
            </a:r>
            <a:r>
              <a:rPr b="0" lang="fr-FR" sz="18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-1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Rectangle 48"/>
          <p:cNvSpPr/>
          <p:nvPr/>
        </p:nvSpPr>
        <p:spPr>
          <a:xfrm>
            <a:off x="36360" y="4714920"/>
            <a:ext cx="418824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Cas d’un gaz diatomique (N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O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H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…)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50" name="Object 13"/>
              <p:cNvSpPr txBox="1"/>
              <p:nvPr/>
            </p:nvSpPr>
            <p:spPr>
              <a:xfrm>
                <a:off x="1268280" y="5286240"/>
                <a:ext cx="1177920" cy="663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U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5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nRT</m:t>
                    </m:r>
                  </m:oMath>
                </a14:m>
              </a:p>
            </p:txBody>
          </p:sp>
        </mc:Choice>
        <mc:Fallback>
          <p:sp>
            <p:nvSpPr>
              <p:cNvPr id="450" name="Object 13"/>
              <p:cNvSpPr txBox="1"/>
              <p:nvPr/>
            </p:nvSpPr>
            <p:spPr>
              <a:xfrm>
                <a:off x="1268280" y="5286240"/>
                <a:ext cx="1177920" cy="6638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451" name="Rectangle 50"/>
          <p:cNvSpPr/>
          <p:nvPr/>
        </p:nvSpPr>
        <p:spPr>
          <a:xfrm>
            <a:off x="4286160" y="4714920"/>
            <a:ext cx="4857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cas de gaz monoatomique : (Ar, Ne,…)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2" name="Connecteur droit 52" descr=""/>
          <p:cNvPicPr/>
          <p:nvPr/>
        </p:nvPicPr>
        <p:blipFill>
          <a:blip r:embed="rId5"/>
          <a:stretch/>
        </p:blipFill>
        <p:spPr>
          <a:xfrm>
            <a:off x="4194000" y="5078520"/>
            <a:ext cx="43200" cy="1523880"/>
          </a:xfrm>
          <a:prstGeom prst="rect">
            <a:avLst/>
          </a:prstGeom>
          <a:noFill/>
          <a:ln w="0">
            <a:noFill/>
          </a:ln>
        </p:spPr>
      </p:pic>
      <mc:AlternateContent>
        <mc:Choice xmlns:a14="http://schemas.microsoft.com/office/drawing/2010/main" Requires="a14">
          <p:sp>
            <p:nvSpPr>
              <p:cNvPr id="453" name="Object 14"/>
              <p:cNvSpPr txBox="1"/>
              <p:nvPr/>
            </p:nvSpPr>
            <p:spPr>
              <a:xfrm>
                <a:off x="5357880" y="5286240"/>
                <a:ext cx="1177920" cy="663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U</m:t>
                    </m:r>
                    <m:r>
                      <m:t xml:space="preserve">=</m:t>
                    </m:r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nRT</m:t>
                    </m:r>
                  </m:oMath>
                </a14:m>
              </a:p>
            </p:txBody>
          </p:sp>
        </mc:Choice>
        <mc:Fallback>
          <p:sp>
            <p:nvSpPr>
              <p:cNvPr id="453" name="Object 14"/>
              <p:cNvSpPr txBox="1"/>
              <p:nvPr/>
            </p:nvSpPr>
            <p:spPr>
              <a:xfrm>
                <a:off x="5357880" y="5286240"/>
                <a:ext cx="1177920" cy="6638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454" name="ZoneTexte 55"/>
          <p:cNvSpPr/>
          <p:nvPr/>
        </p:nvSpPr>
        <p:spPr>
          <a:xfrm flipH="1">
            <a:off x="285840" y="6211800"/>
            <a:ext cx="3882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 = 2 Rotations +3 Translations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5" name="Groupe 51"/>
          <p:cNvGrpSpPr/>
          <p:nvPr/>
        </p:nvGrpSpPr>
        <p:grpSpPr>
          <a:xfrm>
            <a:off x="928080" y="5214960"/>
            <a:ext cx="1072080" cy="928800"/>
            <a:chOff x="928080" y="5214960"/>
            <a:chExt cx="1072080" cy="928800"/>
          </a:xfrm>
        </p:grpSpPr>
        <p:sp>
          <p:nvSpPr>
            <p:cNvPr id="456" name="Ellipse 56"/>
            <p:cNvSpPr/>
            <p:nvPr/>
          </p:nvSpPr>
          <p:spPr>
            <a:xfrm>
              <a:off x="1714680" y="5214960"/>
              <a:ext cx="285480" cy="357120"/>
            </a:xfrm>
            <a:prstGeom prst="ellipse">
              <a:avLst/>
            </a:prstGeom>
            <a:noFill/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57" name="Connecteur droit avec flèche 58"/>
            <p:cNvCxnSpPr/>
            <p:nvPr/>
          </p:nvCxnSpPr>
          <p:spPr>
            <a:xfrm flipH="1">
              <a:off x="928080" y="5500800"/>
              <a:ext cx="786600" cy="643320"/>
            </a:xfrm>
            <a:prstGeom prst="straightConnector1">
              <a:avLst/>
            </a:prstGeom>
            <a:ln w="9360">
              <a:solidFill>
                <a:srgbClr val="4a7ebb"/>
              </a:solidFill>
              <a:miter/>
              <a:tailEnd len="med" type="arrow" w="med"/>
            </a:ln>
          </p:spPr>
        </p:cxnSp>
      </p:grpSp>
      <p:sp>
        <p:nvSpPr>
          <p:cNvPr id="458" name="ZoneTexte 59"/>
          <p:cNvSpPr/>
          <p:nvPr/>
        </p:nvSpPr>
        <p:spPr>
          <a:xfrm flipH="1">
            <a:off x="4357800" y="6357960"/>
            <a:ext cx="3882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= 0 Rotations +3 Translations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59" name="Groupe 53"/>
          <p:cNvGrpSpPr/>
          <p:nvPr/>
        </p:nvGrpSpPr>
        <p:grpSpPr>
          <a:xfrm>
            <a:off x="4571640" y="5214960"/>
            <a:ext cx="1500480" cy="1214280"/>
            <a:chOff x="4571640" y="5214960"/>
            <a:chExt cx="1500480" cy="1214280"/>
          </a:xfrm>
        </p:grpSpPr>
        <p:sp>
          <p:nvSpPr>
            <p:cNvPr id="460" name="Ellipse 60"/>
            <p:cNvSpPr/>
            <p:nvPr/>
          </p:nvSpPr>
          <p:spPr>
            <a:xfrm>
              <a:off x="5786640" y="5214960"/>
              <a:ext cx="285480" cy="428400"/>
            </a:xfrm>
            <a:prstGeom prst="ellipse">
              <a:avLst/>
            </a:prstGeom>
            <a:noFill/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461" name="Connecteur droit avec flèche 62"/>
            <p:cNvCxnSpPr>
              <a:stCxn id="460" idx="3"/>
            </p:cNvCxnSpPr>
            <p:nvPr/>
          </p:nvCxnSpPr>
          <p:spPr>
            <a:xfrm flipH="1">
              <a:off x="4571640" y="5579640"/>
              <a:ext cx="1256400" cy="849960"/>
            </a:xfrm>
            <a:prstGeom prst="straightConnector1">
              <a:avLst/>
            </a:prstGeom>
            <a:ln w="9360">
              <a:solidFill>
                <a:srgbClr val="4a7ebb"/>
              </a:solidFill>
              <a:miter/>
              <a:tailEnd len="med" type="arrow" w="med"/>
            </a:ln>
          </p:spPr>
        </p:cxnSp>
      </p:grpSp>
      <mc:AlternateContent>
        <mc:Choice xmlns:a14="http://schemas.microsoft.com/office/drawing/2010/main" Requires="a14">
          <p:sp>
            <p:nvSpPr>
              <p:cNvPr id="462" name="Object 27"/>
              <p:cNvSpPr txBox="1"/>
              <p:nvPr/>
            </p:nvSpPr>
            <p:spPr>
              <a:xfrm>
                <a:off x="2813040" y="5267160"/>
                <a:ext cx="1065240" cy="71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5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R</m:t>
                    </m:r>
                  </m:oMath>
                </a14:m>
              </a:p>
            </p:txBody>
          </p:sp>
        </mc:Choice>
        <mc:Fallback>
          <p:sp>
            <p:nvSpPr>
              <p:cNvPr id="462" name="Object 27"/>
              <p:cNvSpPr txBox="1"/>
              <p:nvPr/>
            </p:nvSpPr>
            <p:spPr>
              <a:xfrm>
                <a:off x="2813040" y="5267160"/>
                <a:ext cx="1065240" cy="7160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63" name="Object 51"/>
              <p:cNvSpPr txBox="1"/>
              <p:nvPr/>
            </p:nvSpPr>
            <p:spPr>
              <a:xfrm>
                <a:off x="6858000" y="5286240"/>
                <a:ext cx="1065240" cy="71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t xml:space="preserve">=</m:t>
                    </m:r>
                    <m:f>
                      <m:num>
                        <m:r>
                          <m:t xml:space="preserve">3</m:t>
                        </m:r>
                      </m:num>
                      <m:den>
                        <m:r>
                          <m:t xml:space="preserve">2</m:t>
                        </m:r>
                      </m:den>
                    </m:f>
                    <m:r>
                      <m:t xml:space="preserve">R</m:t>
                    </m:r>
                  </m:oMath>
                </a14:m>
              </a:p>
            </p:txBody>
          </p:sp>
        </mc:Choice>
        <mc:Fallback>
          <p:sp>
            <p:nvSpPr>
              <p:cNvPr id="463" name="Object 51"/>
              <p:cNvSpPr txBox="1"/>
              <p:nvPr/>
            </p:nvSpPr>
            <p:spPr>
              <a:xfrm>
                <a:off x="6858000" y="5286240"/>
                <a:ext cx="1065240" cy="7160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</p:spTree>
  </p:cSld>
  <p:timing>
    <p:tnLst>
      <p:par>
        <p:cTn id="647" dur="indefinite" restart="never" nodeType="tmRoot">
          <p:childTnLst>
            <p:seq>
              <p:cTn id="648" dur="indefinite" nodeType="mainSeq">
                <p:childTnLst>
                  <p:par>
                    <p:cTn id="649" nodeType="clickEffect" fill="hold">
                      <p:stCondLst>
                        <p:cond delay="indefinite"/>
                      </p:stCondLst>
                      <p:childTnLst>
                        <p:par>
                          <p:cTn id="6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3" dur="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4" dur="500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nodeType="clickEffect" fill="hold">
                      <p:stCondLst>
                        <p:cond delay="indefinite"/>
                      </p:stCondLst>
                      <p:childTnLst>
                        <p:par>
                          <p:cTn id="65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9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0" dur="50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62" nodeType="afterEffect" fill="hold" presetClass="entr" presetID="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4" dur="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5" dur="500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6" nodeType="clickEffect" fill="hold">
                      <p:stCondLst>
                        <p:cond delay="indefinite"/>
                      </p:stCondLst>
                      <p:childTnLst>
                        <p:par>
                          <p:cTn id="6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0" dur="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1" dur="5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2" nodeType="clickEffect" fill="hold">
                      <p:stCondLst>
                        <p:cond delay="indefinite"/>
                      </p:stCondLst>
                      <p:childTnLst>
                        <p:par>
                          <p:cTn id="67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7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6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7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8" nodeType="clickEffect" fill="hold">
                      <p:stCondLst>
                        <p:cond delay="indefinite"/>
                      </p:stCondLst>
                      <p:childTnLst>
                        <p:par>
                          <p:cTn id="67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8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2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3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85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7" dur="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8" dur="500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9" nodeType="clickEffect" fill="hold">
                      <p:stCondLst>
                        <p:cond delay="indefinite"/>
                      </p:stCondLst>
                      <p:childTnLst>
                        <p:par>
                          <p:cTn id="6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3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4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5" nodeType="clickEffect" fill="hold">
                      <p:stCondLst>
                        <p:cond delay="indefinite"/>
                      </p:stCondLst>
                      <p:childTnLst>
                        <p:par>
                          <p:cTn id="6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9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9" dur="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0" dur="500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nodeType="clickEffect" fill="hold">
                      <p:stCondLst>
                        <p:cond delay="indefinite"/>
                      </p:stCondLst>
                      <p:childTnLst>
                        <p:par>
                          <p:cTn id="70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5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6" dur="500" fill="hold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08" nodeType="afterEffect" fill="hold" presetClass="entr" presetID="2" presetSubtype="3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0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1" dur="500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2" nodeType="clickEffect" fill="hold">
                      <p:stCondLst>
                        <p:cond delay="indefinite"/>
                      </p:stCondLst>
                      <p:childTnLst>
                        <p:par>
                          <p:cTn id="7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1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6" dur="5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7" dur="500" fill="hold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8" nodeType="clickEffect" fill="hold">
                      <p:stCondLst>
                        <p:cond delay="indefinite"/>
                      </p:stCondLst>
                      <p:childTnLst>
                        <p:par>
                          <p:cTn id="7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2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3" dur="5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4" nodeType="clickEffect" fill="hold">
                      <p:stCondLst>
                        <p:cond delay="indefinite"/>
                      </p:stCondLst>
                      <p:childTnLst>
                        <p:par>
                          <p:cTn id="7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8" dur="5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9" dur="500" fill="hold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0" nodeType="clickEffect" fill="hold">
                      <p:stCondLst>
                        <p:cond delay="indefinite"/>
                      </p:stCondLst>
                      <p:childTnLst>
                        <p:par>
                          <p:cTn id="7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4" dur="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5" dur="50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37" nodeType="afterEffect" fill="hold" presetClass="entr" presetID="2" presetSubtype="3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9" dur="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0" dur="5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nodeType="clickEffect" fill="hold">
                      <p:stCondLst>
                        <p:cond delay="indefinite"/>
                      </p:stCondLst>
                      <p:childTnLst>
                        <p:par>
                          <p:cTn id="7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4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5" dur="5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6" dur="5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Picture 1" descr=""/>
          <p:cNvPicPr/>
          <p:nvPr/>
        </p:nvPicPr>
        <p:blipFill>
          <a:blip r:embed="rId1"/>
          <a:stretch/>
        </p:blipFill>
        <p:spPr>
          <a:xfrm>
            <a:off x="1231920" y="2658960"/>
            <a:ext cx="4213080" cy="405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5" name="Picture 2" descr=""/>
          <p:cNvPicPr/>
          <p:nvPr/>
        </p:nvPicPr>
        <p:blipFill>
          <a:blip r:embed="rId2"/>
          <a:stretch/>
        </p:blipFill>
        <p:spPr>
          <a:xfrm>
            <a:off x="5780160" y="2155680"/>
            <a:ext cx="3363840" cy="418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457200" y="320400"/>
            <a:ext cx="72388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s-CO" sz="2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7" name="ZoneTexte 3"/>
          <p:cNvSpPr/>
          <p:nvPr/>
        </p:nvSpPr>
        <p:spPr>
          <a:xfrm>
            <a:off x="9360" y="4871880"/>
            <a:ext cx="17816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Pièce isolée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Thermiquement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ZoneTexte 4"/>
          <p:cNvSpPr/>
          <p:nvPr/>
        </p:nvSpPr>
        <p:spPr>
          <a:xfrm>
            <a:off x="38160" y="1643040"/>
            <a:ext cx="80337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première loi de la thermodynamique est la loi de conservation de l’énergie.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Elle stipule que l’énergie n’est ni produite ni détruite.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L’énergie ne peut être convertie que d’une forme à une autre.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ZoneTexte 5"/>
          <p:cNvSpPr/>
          <p:nvPr/>
        </p:nvSpPr>
        <p:spPr>
          <a:xfrm>
            <a:off x="84960" y="6488280"/>
            <a:ext cx="7016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 de la pièce va-t-elle augmenter, diminuer ou demeurer la même 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47" dur="indefinite" restart="never" nodeType="tmRoot">
          <p:childTnLst>
            <p:seq>
              <p:cTn id="748" dur="indefinite" nodeType="mainSeq">
                <p:childTnLst>
                  <p:par>
                    <p:cTn id="749" nodeType="clickEffect" fill="hold">
                      <p:stCondLst>
                        <p:cond delay="indefinite"/>
                      </p:stCondLst>
                      <p:childTnLst>
                        <p:par>
                          <p:cTn id="75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53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4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56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7" nodeType="clickEffect" fill="hold">
                      <p:stCondLst>
                        <p:cond delay="indefinite"/>
                      </p:stCondLst>
                      <p:childTnLst>
                        <p:par>
                          <p:cTn id="7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61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roupe 90"/>
          <p:cNvGrpSpPr/>
          <p:nvPr/>
        </p:nvGrpSpPr>
        <p:grpSpPr>
          <a:xfrm>
            <a:off x="6215040" y="3214800"/>
            <a:ext cx="857160" cy="785880"/>
            <a:chOff x="6215040" y="3214800"/>
            <a:chExt cx="857160" cy="785880"/>
          </a:xfrm>
        </p:grpSpPr>
        <p:sp>
          <p:nvSpPr>
            <p:cNvPr id="471" name="Ellipse 89"/>
            <p:cNvSpPr/>
            <p:nvPr/>
          </p:nvSpPr>
          <p:spPr>
            <a:xfrm>
              <a:off x="6215040" y="3500640"/>
              <a:ext cx="857160" cy="500040"/>
            </a:xfrm>
            <a:prstGeom prst="ellipse">
              <a:avLst/>
            </a:prstGeom>
            <a:solidFill>
              <a:srgbClr val="ffffff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Accolade fermante 88"/>
            <p:cNvSpPr/>
            <p:nvPr/>
          </p:nvSpPr>
          <p:spPr>
            <a:xfrm rot="5400000">
              <a:off x="6500520" y="3000600"/>
              <a:ext cx="285840" cy="714240"/>
            </a:xfrm>
            <a:custGeom>
              <a:avLst/>
              <a:gdLst>
                <a:gd name="textAreaLeft" fmla="*/ 0 w 285840"/>
                <a:gd name="textAreaRight" fmla="*/ 103320 w 285840"/>
                <a:gd name="textAreaTop" fmla="*/ 7200 h 714240"/>
                <a:gd name="textAreaBottom" fmla="*/ 707040 h 71424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360"/>
                    <a:pt x="10800" y="720"/>
                  </a:cubicBezTo>
                  <a:lnTo>
                    <a:pt x="10800" y="10080"/>
                  </a:lnTo>
                  <a:cubicBezTo>
                    <a:pt x="10800" y="10440"/>
                    <a:pt x="16200" y="10800"/>
                    <a:pt x="21600" y="10800"/>
                  </a:cubicBezTo>
                  <a:cubicBezTo>
                    <a:pt x="16200" y="10800"/>
                    <a:pt x="10800" y="11160"/>
                    <a:pt x="10800" y="11520"/>
                  </a:cubicBezTo>
                  <a:lnTo>
                    <a:pt x="10800" y="20880"/>
                  </a:lnTo>
                  <a:cubicBezTo>
                    <a:pt x="10800" y="21240"/>
                    <a:pt x="54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3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Fonction enthalpie, les transformations réversibles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Rectangle 7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1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24"/>
          <p:cNvSpPr/>
          <p:nvPr/>
        </p:nvSpPr>
        <p:spPr>
          <a:xfrm>
            <a:off x="3110040" y="534240"/>
            <a:ext cx="292392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b="0" lang="fr-FR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Times New Roman"/>
              </a:rPr>
              <a:t>	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Rectangle 14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Rectangle 19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2"/>
          <p:cNvSpPr/>
          <p:nvPr/>
        </p:nvSpPr>
        <p:spPr>
          <a:xfrm>
            <a:off x="571680" y="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ZoneTexte 35"/>
          <p:cNvSpPr/>
          <p:nvPr/>
        </p:nvSpPr>
        <p:spPr>
          <a:xfrm>
            <a:off x="518040" y="571680"/>
            <a:ext cx="24577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Fonction enthalpie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ectangle 2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Rectangle 8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Rectangle 1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Rectangle 14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89" name="Object 15"/>
              <p:cNvSpPr txBox="1"/>
              <p:nvPr/>
            </p:nvSpPr>
            <p:spPr>
              <a:xfrm>
                <a:off x="1000080" y="1357200"/>
                <a:ext cx="1495440" cy="384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489" name="Object 15"/>
              <p:cNvSpPr txBox="1"/>
              <p:nvPr/>
            </p:nvSpPr>
            <p:spPr>
              <a:xfrm>
                <a:off x="1000080" y="1357200"/>
                <a:ext cx="1495440" cy="3841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490" name="Rectangle 18"/>
          <p:cNvSpPr/>
          <p:nvPr/>
        </p:nvSpPr>
        <p:spPr>
          <a:xfrm>
            <a:off x="0" y="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91" name="Object 17"/>
              <p:cNvSpPr txBox="1"/>
              <p:nvPr/>
            </p:nvSpPr>
            <p:spPr>
              <a:xfrm>
                <a:off x="500040" y="2071800"/>
                <a:ext cx="2676600" cy="323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H</m:t>
                    </m:r>
                    <m:r>
                      <m:t xml:space="preserve">=</m:t>
                    </m:r>
                    <m:r>
                      <m:t xml:space="preserve">U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PV</m:t>
                    </m:r>
                    <m:r>
                      <m:t xml:space="preserve">=</m:t>
                    </m:r>
                    <m:r>
                      <m:t xml:space="preserve">U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nRT</m:t>
                    </m:r>
                  </m:oMath>
                </a14:m>
              </a:p>
            </p:txBody>
          </p:sp>
        </mc:Choice>
        <mc:Fallback>
          <p:sp>
            <p:nvSpPr>
              <p:cNvPr id="491" name="Object 17"/>
              <p:cNvSpPr txBox="1"/>
              <p:nvPr/>
            </p:nvSpPr>
            <p:spPr>
              <a:xfrm>
                <a:off x="500040" y="2071800"/>
                <a:ext cx="2676600" cy="3236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492" name="Étoile à 5 branches 68"/>
          <p:cNvSpPr/>
          <p:nvPr/>
        </p:nvSpPr>
        <p:spPr>
          <a:xfrm>
            <a:off x="0" y="2071800"/>
            <a:ext cx="285840" cy="28548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93" name="Object 19"/>
              <p:cNvSpPr txBox="1"/>
              <p:nvPr/>
            </p:nvSpPr>
            <p:spPr>
              <a:xfrm>
                <a:off x="3529080" y="2071800"/>
                <a:ext cx="1542960" cy="3236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H</m:t>
                    </m:r>
                    <m:r>
                      <m:t xml:space="preserve">=</m:t>
                    </m:r>
                    <m:r>
                      <m:t xml:space="preserve">U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nRT</m:t>
                    </m:r>
                  </m:oMath>
                </a14:m>
              </a:p>
            </p:txBody>
          </p:sp>
        </mc:Choice>
        <mc:Fallback>
          <p:sp>
            <p:nvSpPr>
              <p:cNvPr id="493" name="Object 19"/>
              <p:cNvSpPr txBox="1"/>
              <p:nvPr/>
            </p:nvSpPr>
            <p:spPr>
              <a:xfrm>
                <a:off x="3529080" y="2071800"/>
                <a:ext cx="1542960" cy="3236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494" name="Object 20"/>
              <p:cNvSpPr txBox="1"/>
              <p:nvPr/>
            </p:nvSpPr>
            <p:spPr>
              <a:xfrm>
                <a:off x="5423040" y="2071800"/>
                <a:ext cx="3720960" cy="393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dH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nRdT</m:t>
                    </m:r>
                    <m:r>
                      <m:t xml:space="preserve">=</m:t>
                    </m:r>
                    <m:r>
                      <m:t xml:space="preserve">n</m:t>
                    </m:r>
                    <m:r>
                      <m:t xml:space="preserve">(</m:t>
                    </m:r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t xml:space="preserve">+</m:t>
                    </m:r>
                    <m:r>
                      <m:t xml:space="preserve">R</m:t>
                    </m:r>
                    <m:r>
                      <m:t xml:space="preserve">)</m:t>
                    </m:r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494" name="Object 20"/>
              <p:cNvSpPr txBox="1"/>
              <p:nvPr/>
            </p:nvSpPr>
            <p:spPr>
              <a:xfrm>
                <a:off x="5423040" y="2071800"/>
                <a:ext cx="3720960" cy="393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495" name="Flèche droite 72"/>
          <p:cNvSpPr/>
          <p:nvPr/>
        </p:nvSpPr>
        <p:spPr>
          <a:xfrm>
            <a:off x="3214800" y="2071800"/>
            <a:ext cx="285480" cy="285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Flèche droite 73"/>
          <p:cNvSpPr/>
          <p:nvPr/>
        </p:nvSpPr>
        <p:spPr>
          <a:xfrm>
            <a:off x="5072040" y="2071800"/>
            <a:ext cx="285840" cy="285480"/>
          </a:xfrm>
          <a:prstGeom prst="rightArrow">
            <a:avLst>
              <a:gd name="adj1" fmla="val 50000"/>
              <a:gd name="adj2" fmla="val 50063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97" name="Object 21"/>
              <p:cNvSpPr txBox="1"/>
              <p:nvPr/>
            </p:nvSpPr>
            <p:spPr>
              <a:xfrm>
                <a:off x="-58680" y="2987640"/>
                <a:ext cx="3357360" cy="370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dH</m:t>
                    </m:r>
                    <m:r>
                      <m:t xml:space="preserve">=</m:t>
                    </m:r>
                    <m:r>
                      <m:t xml:space="preserve">δ</m:t>
                    </m:r>
                    <m:r>
                      <m:t xml:space="preserve"> </m:t>
                    </m:r>
                    <m:r>
                      <m:t xml:space="preserve">Q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PdV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PdV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VdP</m:t>
                    </m:r>
                  </m:oMath>
                </a14:m>
              </a:p>
            </p:txBody>
          </p:sp>
        </mc:Choice>
        <mc:Fallback>
          <p:sp>
            <p:nvSpPr>
              <p:cNvPr id="497" name="Object 21"/>
              <p:cNvSpPr txBox="1"/>
              <p:nvPr/>
            </p:nvSpPr>
            <p:spPr>
              <a:xfrm>
                <a:off x="-58680" y="2987640"/>
                <a:ext cx="3357360" cy="3700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498" name="Connecteur droit 76"/>
          <p:cNvSpPr/>
          <p:nvPr/>
        </p:nvSpPr>
        <p:spPr>
          <a:xfrm flipH="1">
            <a:off x="3355560" y="2500200"/>
            <a:ext cx="1800" cy="1500480"/>
          </a:xfrm>
          <a:prstGeom prst="line">
            <a:avLst/>
          </a:prstGeom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499" name="Object 22"/>
              <p:cNvSpPr txBox="1"/>
              <p:nvPr/>
            </p:nvSpPr>
            <p:spPr>
              <a:xfrm>
                <a:off x="3359160" y="2522520"/>
                <a:ext cx="2208240" cy="5684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δQ</m:t>
                    </m:r>
                    <m:r>
                      <m:t xml:space="preserve">=</m:t>
                    </m:r>
                    <m:sSub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r>
                                  <m:t xml:space="preserve">∂</m:t>
                                </m:r>
                                <m:r>
                                  <m:t xml:space="preserve">Q</m:t>
                                </m:r>
                              </m:num>
                              <m:den>
                                <m:r>
                                  <m:t xml:space="preserve">∂</m:t>
                                </m:r>
                                <m:r>
                                  <m:t xml:space="preserve">T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  <m:r>
                      <m:t xml:space="preserve">+</m:t>
                    </m:r>
                    <m:sSub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r>
                                  <m:t xml:space="preserve">∂</m:t>
                                </m:r>
                                <m:r>
                                  <m:t xml:space="preserve">Q</m:t>
                                </m:r>
                              </m:num>
                              <m:den>
                                <m:r>
                                  <m:t xml:space="preserve">∂</m:t>
                                </m:r>
                                <m:r>
                                  <m:t xml:space="preserve">P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t xml:space="preserve">T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dP</m:t>
                    </m:r>
                  </m:oMath>
                </a14:m>
              </a:p>
            </p:txBody>
          </p:sp>
        </mc:Choice>
        <mc:Fallback>
          <p:sp>
            <p:nvSpPr>
              <p:cNvPr id="499" name="Object 22"/>
              <p:cNvSpPr txBox="1"/>
              <p:nvPr/>
            </p:nvSpPr>
            <p:spPr>
              <a:xfrm>
                <a:off x="3359160" y="2522520"/>
                <a:ext cx="2208240" cy="568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500" name="Accolade fermante 79"/>
          <p:cNvSpPr/>
          <p:nvPr/>
        </p:nvSpPr>
        <p:spPr>
          <a:xfrm>
            <a:off x="5388120" y="2382840"/>
            <a:ext cx="428400" cy="1285920"/>
          </a:xfrm>
          <a:custGeom>
            <a:avLst/>
            <a:gdLst>
              <a:gd name="textAreaLeft" fmla="*/ 0 w 428400"/>
              <a:gd name="textAreaRight" fmla="*/ 154800 w 428400"/>
              <a:gd name="textAreaTop" fmla="*/ 11160 h 1285920"/>
              <a:gd name="textAreaBottom" fmla="*/ 1274760 h 128592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300"/>
                  <a:pt x="10800" y="600"/>
                </a:cubicBezTo>
                <a:lnTo>
                  <a:pt x="10800" y="10200"/>
                </a:lnTo>
                <a:cubicBezTo>
                  <a:pt x="10800" y="10500"/>
                  <a:pt x="16200" y="10800"/>
                  <a:pt x="21600" y="10800"/>
                </a:cubicBezTo>
                <a:cubicBezTo>
                  <a:pt x="16200" y="10800"/>
                  <a:pt x="10800" y="11100"/>
                  <a:pt x="10800" y="11400"/>
                </a:cubicBezTo>
                <a:lnTo>
                  <a:pt x="10800" y="21000"/>
                </a:lnTo>
                <a:cubicBezTo>
                  <a:pt x="10800" y="21300"/>
                  <a:pt x="5400" y="21600"/>
                  <a:pt x="0" y="21600"/>
                </a:cubicBezTo>
              </a:path>
            </a:pathLst>
          </a:custGeom>
          <a:noFill/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01" name="Object 24"/>
              <p:cNvSpPr txBox="1"/>
              <p:nvPr/>
            </p:nvSpPr>
            <p:spPr>
              <a:xfrm>
                <a:off x="5715000" y="2643120"/>
                <a:ext cx="3500280" cy="735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dH</m:t>
                    </m:r>
                    <m:r>
                      <m:t xml:space="preserve">=</m:t>
                    </m:r>
                    <m:sSub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r>
                                  <m:t xml:space="preserve">∂</m:t>
                                </m:r>
                                <m:r>
                                  <m:t xml:space="preserve">Q</m:t>
                                </m:r>
                              </m:num>
                              <m:den>
                                <m:r>
                                  <m:t xml:space="preserve">∂</m:t>
                                </m:r>
                                <m:r>
                                  <m:t xml:space="preserve">T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  <m:r>
                      <m:t xml:space="preserve">+</m:t>
                    </m:r>
                    <m:sSub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r>
                                  <m:t xml:space="preserve">∂</m:t>
                                </m:r>
                                <m:r>
                                  <m:t xml:space="preserve">Q</m:t>
                                </m:r>
                              </m:num>
                              <m:den>
                                <m:r>
                                  <m:t xml:space="preserve">∂</m:t>
                                </m:r>
                                <m:r>
                                  <m:t xml:space="preserve">P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t xml:space="preserve">T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dP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VdP</m:t>
                    </m:r>
                  </m:oMath>
                </a14:m>
              </a:p>
            </p:txBody>
          </p:sp>
        </mc:Choice>
        <mc:Fallback>
          <p:sp>
            <p:nvSpPr>
              <p:cNvPr id="501" name="Object 24"/>
              <p:cNvSpPr txBox="1"/>
              <p:nvPr/>
            </p:nvSpPr>
            <p:spPr>
              <a:xfrm>
                <a:off x="5715000" y="2643120"/>
                <a:ext cx="3500280" cy="7351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02" name="Object 25"/>
              <p:cNvSpPr txBox="1"/>
              <p:nvPr/>
            </p:nvSpPr>
            <p:spPr>
              <a:xfrm>
                <a:off x="3357720" y="3500280"/>
                <a:ext cx="1836720" cy="370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dH</m:t>
                    </m:r>
                    <m:r>
                      <m:t xml:space="preserve">=</m:t>
                    </m:r>
                    <m:r>
                      <m:t xml:space="preserve">δ</m:t>
                    </m:r>
                    <m:r>
                      <m:t xml:space="preserve"> </m:t>
                    </m:r>
                    <m:r>
                      <m:t xml:space="preserve">Q</m:t>
                    </m:r>
                    <m:r>
                      <m:t xml:space="preserve">+</m:t>
                    </m:r>
                    <m:r>
                      <m:rPr>
                        <m:lit/>
                        <m:nor/>
                      </m:rPr>
                      <m:t xml:space="preserve">VdP</m:t>
                    </m:r>
                  </m:oMath>
                </a14:m>
              </a:p>
            </p:txBody>
          </p:sp>
        </mc:Choice>
        <mc:Fallback>
          <p:sp>
            <p:nvSpPr>
              <p:cNvPr id="502" name="Object 25"/>
              <p:cNvSpPr txBox="1"/>
              <p:nvPr/>
            </p:nvSpPr>
            <p:spPr>
              <a:xfrm>
                <a:off x="3357720" y="3500280"/>
                <a:ext cx="1836720" cy="3700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03" name="Object 26"/>
              <p:cNvSpPr txBox="1"/>
              <p:nvPr/>
            </p:nvSpPr>
            <p:spPr>
              <a:xfrm>
                <a:off x="-54000" y="3857760"/>
                <a:ext cx="3494160" cy="879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dH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  <m:r>
                      <m:t xml:space="preserve">+</m:t>
                    </m:r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d>
                              <m:dPr>
                                <m:begChr m:val="("/>
                                <m:endChr m:val=")"/>
                              </m:dPr>
                              <m:e>
                                <m:f>
                                  <m:num>
                                    <m:r>
                                      <m:t xml:space="preserve">∂</m:t>
                                    </m:r>
                                    <m:r>
                                      <m:t xml:space="preserve">Q</m:t>
                                    </m:r>
                                  </m:num>
                                  <m:den>
                                    <m:r>
                                      <m:t xml:space="preserve">∂</m:t>
                                    </m:r>
                                    <m:r>
                                      <m:t xml:space="preserve">P</m:t>
                                    </m:r>
                                  </m:den>
                                </m:f>
                              </m:e>
                            </m:d>
                          </m:e>
                          <m:sub>
                            <m:r>
                              <m:t xml:space="preserve">T</m:t>
                            </m:r>
                          </m:sub>
                        </m:sSub>
                        <m:r>
                          <m:t xml:space="preserve">+</m:t>
                        </m:r>
                        <m:r>
                          <m:t xml:space="preserve">V</m:t>
                        </m:r>
                      </m:e>
                    </m:d>
                    <m:r>
                      <m:rPr>
                        <m:lit/>
                        <m:nor/>
                      </m:rPr>
                      <m:t xml:space="preserve">dP</m:t>
                    </m:r>
                  </m:oMath>
                </a14:m>
              </a:p>
            </p:txBody>
          </p:sp>
        </mc:Choice>
        <mc:Fallback>
          <p:sp>
            <p:nvSpPr>
              <p:cNvPr id="503" name="Object 26"/>
              <p:cNvSpPr txBox="1"/>
              <p:nvPr/>
            </p:nvSpPr>
            <p:spPr>
              <a:xfrm>
                <a:off x="-54000" y="3857760"/>
                <a:ext cx="3494160" cy="8794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04" name="Object 27"/>
              <p:cNvSpPr txBox="1"/>
              <p:nvPr/>
            </p:nvSpPr>
            <p:spPr>
              <a:xfrm>
                <a:off x="6786720" y="4179960"/>
                <a:ext cx="1404720" cy="392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R</m:t>
                    </m:r>
                  </m:oMath>
                </a14:m>
              </a:p>
            </p:txBody>
          </p:sp>
        </mc:Choice>
        <mc:Fallback>
          <p:sp>
            <p:nvSpPr>
              <p:cNvPr id="504" name="Object 27"/>
              <p:cNvSpPr txBox="1"/>
              <p:nvPr/>
            </p:nvSpPr>
            <p:spPr>
              <a:xfrm>
                <a:off x="6786720" y="4179960"/>
                <a:ext cx="1404720" cy="3920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p:grpSp>
        <p:nvGrpSpPr>
          <p:cNvPr id="505" name="Groupe 102"/>
          <p:cNvGrpSpPr/>
          <p:nvPr/>
        </p:nvGrpSpPr>
        <p:grpSpPr>
          <a:xfrm>
            <a:off x="8072280" y="1643040"/>
            <a:ext cx="428760" cy="368280"/>
            <a:chOff x="8072280" y="1643040"/>
            <a:chExt cx="428760" cy="368280"/>
          </a:xfrm>
        </p:grpSpPr>
        <p:sp>
          <p:nvSpPr>
            <p:cNvPr id="506" name="ZoneTexte 100"/>
            <p:cNvSpPr/>
            <p:nvPr/>
          </p:nvSpPr>
          <p:spPr>
            <a:xfrm>
              <a:off x="8072280" y="1643040"/>
              <a:ext cx="4287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1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Ellipse 101"/>
            <p:cNvSpPr/>
            <p:nvPr/>
          </p:nvSpPr>
          <p:spPr>
            <a:xfrm>
              <a:off x="8072280" y="1643040"/>
              <a:ext cx="357480" cy="357480"/>
            </a:xfrm>
            <a:prstGeom prst="ellipse">
              <a:avLst/>
            </a:prstGeom>
            <a:noFill/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8" name="Groupe 103"/>
          <p:cNvGrpSpPr/>
          <p:nvPr/>
        </p:nvGrpSpPr>
        <p:grpSpPr>
          <a:xfrm>
            <a:off x="4143240" y="4500720"/>
            <a:ext cx="428760" cy="368280"/>
            <a:chOff x="4143240" y="4500720"/>
            <a:chExt cx="428760" cy="368280"/>
          </a:xfrm>
        </p:grpSpPr>
        <p:sp>
          <p:nvSpPr>
            <p:cNvPr id="509" name="ZoneTexte 104"/>
            <p:cNvSpPr/>
            <p:nvPr/>
          </p:nvSpPr>
          <p:spPr>
            <a:xfrm>
              <a:off x="4143240" y="4500720"/>
              <a:ext cx="4287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2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Ellipse 105"/>
            <p:cNvSpPr/>
            <p:nvPr/>
          </p:nvSpPr>
          <p:spPr>
            <a:xfrm>
              <a:off x="4143240" y="4500720"/>
              <a:ext cx="357480" cy="357120"/>
            </a:xfrm>
            <a:prstGeom prst="ellipse">
              <a:avLst/>
            </a:prstGeom>
            <a:noFill/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1" name="Groupe 115"/>
          <p:cNvGrpSpPr/>
          <p:nvPr/>
        </p:nvGrpSpPr>
        <p:grpSpPr>
          <a:xfrm>
            <a:off x="5500800" y="3857760"/>
            <a:ext cx="1214280" cy="1000080"/>
            <a:chOff x="5500800" y="3857760"/>
            <a:chExt cx="1214280" cy="1000080"/>
          </a:xfrm>
        </p:grpSpPr>
        <p:grpSp>
          <p:nvGrpSpPr>
            <p:cNvPr id="512" name="Groupe 113"/>
            <p:cNvGrpSpPr/>
            <p:nvPr/>
          </p:nvGrpSpPr>
          <p:grpSpPr>
            <a:xfrm>
              <a:off x="5500800" y="3857760"/>
              <a:ext cx="785880" cy="1000080"/>
              <a:chOff x="5500800" y="3857760"/>
              <a:chExt cx="785880" cy="1000080"/>
            </a:xfrm>
          </p:grpSpPr>
          <p:grpSp>
            <p:nvGrpSpPr>
              <p:cNvPr id="513" name="Groupe 106"/>
              <p:cNvGrpSpPr/>
              <p:nvPr/>
            </p:nvGrpSpPr>
            <p:grpSpPr>
              <a:xfrm>
                <a:off x="5715000" y="3929040"/>
                <a:ext cx="428760" cy="368280"/>
                <a:chOff x="5715000" y="3929040"/>
                <a:chExt cx="428760" cy="368280"/>
              </a:xfrm>
            </p:grpSpPr>
            <p:sp>
              <p:nvSpPr>
                <p:cNvPr id="514" name="ZoneTexte 107"/>
                <p:cNvSpPr/>
                <p:nvPr/>
              </p:nvSpPr>
              <p:spPr>
                <a:xfrm>
                  <a:off x="5715000" y="3929040"/>
                  <a:ext cx="428760" cy="368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fr-FR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1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5" name="Ellipse 108"/>
                <p:cNvSpPr/>
                <p:nvPr/>
              </p:nvSpPr>
              <p:spPr>
                <a:xfrm>
                  <a:off x="5715000" y="3929040"/>
                  <a:ext cx="357480" cy="357480"/>
                </a:xfrm>
                <a:prstGeom prst="ellipse">
                  <a:avLst/>
                </a:prstGeom>
                <a:noFill/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16" name="Groupe 109"/>
              <p:cNvGrpSpPr/>
              <p:nvPr/>
            </p:nvGrpSpPr>
            <p:grpSpPr>
              <a:xfrm>
                <a:off x="5715000" y="4357800"/>
                <a:ext cx="428760" cy="368280"/>
                <a:chOff x="5715000" y="4357800"/>
                <a:chExt cx="428760" cy="368280"/>
              </a:xfrm>
            </p:grpSpPr>
            <p:sp>
              <p:nvSpPr>
                <p:cNvPr id="517" name="ZoneTexte 110"/>
                <p:cNvSpPr/>
                <p:nvPr/>
              </p:nvSpPr>
              <p:spPr>
                <a:xfrm>
                  <a:off x="5715000" y="4357800"/>
                  <a:ext cx="428760" cy="368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t">
                  <a:sp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r>
                    <a:rPr b="0" lang="fr-FR" sz="1800" strike="noStrike" u="none">
                      <a:solidFill>
                        <a:srgbClr val="000000"/>
                      </a:solidFill>
                      <a:effectLst/>
                      <a:uFillTx/>
                      <a:latin typeface="Arial"/>
                    </a:rPr>
                    <a:t>2</a:t>
                  </a: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18" name="Ellipse 111"/>
                <p:cNvSpPr/>
                <p:nvPr/>
              </p:nvSpPr>
              <p:spPr>
                <a:xfrm>
                  <a:off x="5715000" y="4357800"/>
                  <a:ext cx="357480" cy="357480"/>
                </a:xfrm>
                <a:prstGeom prst="ellipse">
                  <a:avLst/>
                </a:prstGeom>
                <a:noFill/>
                <a:ln w="25560">
                  <a:solidFill>
                    <a:srgbClr val="385d8a"/>
                  </a:solidFill>
                  <a:miter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6800" bIns="46800" anchor="ctr">
                  <a:noAutofit/>
                </a:bodyPr>
                <a:p>
                  <a:pPr algn="ctr">
                    <a:lnSpc>
                      <a:spcPct val="100000"/>
                    </a:lnSpc>
                    <a:tabLst>
                      <a:tab algn="l" pos="0"/>
                      <a:tab algn="l" pos="914400"/>
                      <a:tab algn="l" pos="1828800"/>
                      <a:tab algn="l" pos="2743200"/>
                      <a:tab algn="l" pos="3657600"/>
                      <a:tab algn="l" pos="4572000"/>
                      <a:tab algn="l" pos="5486400"/>
                      <a:tab algn="l" pos="6400800"/>
                      <a:tab algn="l" pos="7315200"/>
                      <a:tab algn="l" pos="8229600"/>
                      <a:tab algn="l" pos="9144000"/>
                      <a:tab algn="l" pos="10058400"/>
                    </a:tabLst>
                  </a:pPr>
                  <a:endParaRPr b="0" lang="en-US" sz="18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sp>
            <p:nvSpPr>
              <p:cNvPr id="519" name="Ellipse 112"/>
              <p:cNvSpPr/>
              <p:nvPr/>
            </p:nvSpPr>
            <p:spPr>
              <a:xfrm>
                <a:off x="5500800" y="3857760"/>
                <a:ext cx="785880" cy="1000080"/>
              </a:xfrm>
              <a:prstGeom prst="ellipse">
                <a:avLst/>
              </a:prstGeom>
              <a:noFill/>
              <a:ln w="25560">
                <a:solidFill>
                  <a:srgbClr val="385d8a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0" name="Flèche droite 114"/>
            <p:cNvSpPr/>
            <p:nvPr/>
          </p:nvSpPr>
          <p:spPr>
            <a:xfrm>
              <a:off x="6286680" y="4214880"/>
              <a:ext cx="428400" cy="285480"/>
            </a:xfrm>
            <a:prstGeom prst="rightArrow">
              <a:avLst>
                <a:gd name="adj1" fmla="val 50000"/>
                <a:gd name="adj2" fmla="val 50021"/>
              </a:avLst>
            </a:prstGeom>
            <a:solidFill>
              <a:srgbClr val="4f81bd"/>
            </a:solidFill>
            <a:ln w="25560">
              <a:solidFill>
                <a:srgbClr val="385d8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1" name="Rectangle 3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Rectangle 124"/>
          <p:cNvSpPr/>
          <p:nvPr/>
        </p:nvSpPr>
        <p:spPr>
          <a:xfrm>
            <a:off x="32040" y="5214960"/>
            <a:ext cx="4058640" cy="337680"/>
          </a:xfrm>
          <a:prstGeom prst="rect">
            <a:avLst/>
          </a:prstGeom>
          <a:solidFill>
            <a:srgbClr val="92d0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Chaleur spécifique molaire à pression constante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3" name="Connecteur droit avec flèche 125"/>
          <p:cNvCxnSpPr/>
          <p:nvPr/>
        </p:nvCxnSpPr>
        <p:spPr>
          <a:xfrm flipV="1">
            <a:off x="3643200" y="4428360"/>
            <a:ext cx="286560" cy="715320"/>
          </a:xfrm>
          <a:prstGeom prst="straightConnector1">
            <a:avLst/>
          </a:prstGeom>
          <a:ln w="38160">
            <a:solidFill>
              <a:srgbClr val="f79646"/>
            </a:solidFill>
            <a:miter/>
            <a:tailEnd len="med" type="triangle" w="med"/>
          </a:ln>
        </p:spPr>
      </p:cxnSp>
      <p:grpSp>
        <p:nvGrpSpPr>
          <p:cNvPr id="524" name="Groupe 74"/>
          <p:cNvGrpSpPr/>
          <p:nvPr/>
        </p:nvGrpSpPr>
        <p:grpSpPr>
          <a:xfrm>
            <a:off x="1785960" y="2357280"/>
            <a:ext cx="1428840" cy="714240"/>
            <a:chOff x="1785960" y="2357280"/>
            <a:chExt cx="1428840" cy="714240"/>
          </a:xfrm>
        </p:grpSpPr>
        <p:sp>
          <p:nvSpPr>
            <p:cNvPr id="525" name="Accolade fermante 66"/>
            <p:cNvSpPr/>
            <p:nvPr/>
          </p:nvSpPr>
          <p:spPr>
            <a:xfrm rot="16200000">
              <a:off x="2428560" y="2285280"/>
              <a:ext cx="357480" cy="1214640"/>
            </a:xfrm>
            <a:custGeom>
              <a:avLst/>
              <a:gdLst>
                <a:gd name="textAreaLeft" fmla="*/ 0 w 357480"/>
                <a:gd name="textAreaRight" fmla="*/ 128880 w 357480"/>
                <a:gd name="textAreaTop" fmla="*/ 9000 h 1214640"/>
                <a:gd name="textAreaBottom" fmla="*/ 1205640 h 121464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265"/>
                    <a:pt x="10800" y="529"/>
                  </a:cubicBezTo>
                  <a:lnTo>
                    <a:pt x="10800" y="10271"/>
                  </a:lnTo>
                  <a:cubicBezTo>
                    <a:pt x="10800" y="10536"/>
                    <a:pt x="16200" y="10800"/>
                    <a:pt x="21600" y="10800"/>
                  </a:cubicBezTo>
                  <a:cubicBezTo>
                    <a:pt x="16200" y="10800"/>
                    <a:pt x="10800" y="11065"/>
                    <a:pt x="10800" y="11329"/>
                  </a:cubicBezTo>
                  <a:lnTo>
                    <a:pt x="10800" y="21071"/>
                  </a:lnTo>
                  <a:cubicBezTo>
                    <a:pt x="10800" y="21336"/>
                    <a:pt x="54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Connecteur droit 70"/>
            <p:cNvSpPr/>
            <p:nvPr/>
          </p:nvSpPr>
          <p:spPr>
            <a:xfrm flipH="1" flipV="1">
              <a:off x="1785960" y="2357280"/>
              <a:ext cx="820800" cy="3571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7" name="Groupe 78"/>
          <p:cNvGrpSpPr/>
          <p:nvPr/>
        </p:nvGrpSpPr>
        <p:grpSpPr>
          <a:xfrm>
            <a:off x="571680" y="2357280"/>
            <a:ext cx="1285560" cy="714240"/>
            <a:chOff x="571680" y="2357280"/>
            <a:chExt cx="1285560" cy="714240"/>
          </a:xfrm>
        </p:grpSpPr>
        <p:sp>
          <p:nvSpPr>
            <p:cNvPr id="528" name="Accolade fermante 65"/>
            <p:cNvSpPr/>
            <p:nvPr/>
          </p:nvSpPr>
          <p:spPr>
            <a:xfrm rot="16200000">
              <a:off x="1035720" y="2250000"/>
              <a:ext cx="357480" cy="1285560"/>
            </a:xfrm>
            <a:custGeom>
              <a:avLst/>
              <a:gdLst>
                <a:gd name="textAreaLeft" fmla="*/ 0 w 357480"/>
                <a:gd name="textAreaRight" fmla="*/ 128880 w 357480"/>
                <a:gd name="textAreaTop" fmla="*/ 9000 h 1285560"/>
                <a:gd name="textAreaBottom" fmla="*/ 1276560 h 1285560"/>
                <a:gd name="GluePoint1X" fmla="*/ 0 w 21600"/>
                <a:gd name="GluePoint1Y" fmla="*/ 0 h 21600"/>
                <a:gd name="GluePoint2X" fmla="*/ 0 w 21600"/>
                <a:gd name="GluePoint2Y" fmla="*/ 21600 h 21600"/>
                <a:gd name="GluePoint3X" fmla="*/ 21600 w 21600"/>
                <a:gd name="GluePoint3Y" fmla="*/ 108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5400" y="0"/>
                    <a:pt x="10800" y="250"/>
                    <a:pt x="10800" y="500"/>
                  </a:cubicBezTo>
                  <a:lnTo>
                    <a:pt x="10800" y="10300"/>
                  </a:lnTo>
                  <a:cubicBezTo>
                    <a:pt x="10800" y="10550"/>
                    <a:pt x="16200" y="10800"/>
                    <a:pt x="21600" y="10800"/>
                  </a:cubicBezTo>
                  <a:cubicBezTo>
                    <a:pt x="16200" y="10800"/>
                    <a:pt x="10800" y="11050"/>
                    <a:pt x="10800" y="11300"/>
                  </a:cubicBezTo>
                  <a:lnTo>
                    <a:pt x="10800" y="21100"/>
                  </a:lnTo>
                  <a:cubicBezTo>
                    <a:pt x="10800" y="21350"/>
                    <a:pt x="5400" y="21600"/>
                    <a:pt x="0" y="21600"/>
                  </a:cubicBezTo>
                </a:path>
              </a:pathLst>
            </a:custGeom>
            <a:noFill/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Connecteur droit 77"/>
            <p:cNvSpPr/>
            <p:nvPr/>
          </p:nvSpPr>
          <p:spPr>
            <a:xfrm flipH="1" flipV="1">
              <a:off x="1143000" y="2357280"/>
              <a:ext cx="71280" cy="357120"/>
            </a:xfrm>
            <a:prstGeom prst="line">
              <a:avLst/>
            </a:prstGeom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30" name="Groupe 83"/>
          <p:cNvGrpSpPr/>
          <p:nvPr/>
        </p:nvGrpSpPr>
        <p:grpSpPr>
          <a:xfrm>
            <a:off x="1356480" y="2857320"/>
            <a:ext cx="1214640" cy="500040"/>
            <a:chOff x="1356480" y="2857320"/>
            <a:chExt cx="1214640" cy="500040"/>
          </a:xfrm>
        </p:grpSpPr>
        <p:sp>
          <p:nvSpPr>
            <p:cNvPr id="531" name="Connecteur droit 81"/>
            <p:cNvSpPr/>
            <p:nvPr/>
          </p:nvSpPr>
          <p:spPr>
            <a:xfrm flipV="1">
              <a:off x="1356480" y="2857320"/>
              <a:ext cx="428760" cy="500040"/>
            </a:xfrm>
            <a:prstGeom prst="line">
              <a:avLst/>
            </a:prstGeom>
            <a:ln w="28440">
              <a:solidFill>
                <a:srgbClr val="c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Connecteur droit 82"/>
            <p:cNvSpPr/>
            <p:nvPr/>
          </p:nvSpPr>
          <p:spPr>
            <a:xfrm flipV="1">
              <a:off x="2142360" y="2857320"/>
              <a:ext cx="428760" cy="500040"/>
            </a:xfrm>
            <a:prstGeom prst="line">
              <a:avLst/>
            </a:prstGeom>
            <a:ln w="28440">
              <a:solidFill>
                <a:srgbClr val="c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3" name="ZoneTexte 91"/>
          <p:cNvSpPr/>
          <p:nvPr/>
        </p:nvSpPr>
        <p:spPr>
          <a:xfrm>
            <a:off x="6511680" y="4786200"/>
            <a:ext cx="2035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Relation de Mayer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34" name="Object 12"/>
              <p:cNvSpPr txBox="1"/>
              <p:nvPr/>
            </p:nvSpPr>
            <p:spPr>
              <a:xfrm>
                <a:off x="6407280" y="3571920"/>
                <a:ext cx="522000" cy="4096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534" name="Object 12"/>
              <p:cNvSpPr txBox="1"/>
              <p:nvPr/>
            </p:nvSpPr>
            <p:spPr>
              <a:xfrm>
                <a:off x="6407280" y="3571920"/>
                <a:ext cx="522000" cy="40968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  <p:grpSp>
        <p:nvGrpSpPr>
          <p:cNvPr id="535" name="Groupe 87"/>
          <p:cNvGrpSpPr/>
          <p:nvPr/>
        </p:nvGrpSpPr>
        <p:grpSpPr>
          <a:xfrm>
            <a:off x="3867120" y="3080880"/>
            <a:ext cx="1785960" cy="572040"/>
            <a:chOff x="3867120" y="3080880"/>
            <a:chExt cx="1785960" cy="572040"/>
          </a:xfrm>
        </p:grpSpPr>
        <p:sp>
          <p:nvSpPr>
            <p:cNvPr id="536" name="Accolade ouvrante 71"/>
            <p:cNvSpPr/>
            <p:nvPr/>
          </p:nvSpPr>
          <p:spPr>
            <a:xfrm rot="16200000">
              <a:off x="4581360" y="2366640"/>
              <a:ext cx="357480" cy="1785960"/>
            </a:xfrm>
            <a:custGeom>
              <a:avLst/>
              <a:gdLst>
                <a:gd name="textAreaLeft" fmla="*/ 228600 w 357480"/>
                <a:gd name="textAreaRight" fmla="*/ 357840 w 357480"/>
                <a:gd name="textAreaTop" fmla="*/ 10080 h 1785960"/>
                <a:gd name="textAreaBottom" fmla="*/ 1775880 h 1785960"/>
                <a:gd name="GluePoint1X" fmla="*/ 21600 w 21600"/>
                <a:gd name="GluePoint1Y" fmla="*/ 0 h 21600"/>
                <a:gd name="GluePoint2X" fmla="*/ 0 w 21600"/>
                <a:gd name="GluePoint2Y" fmla="*/ 10800 h 21600"/>
                <a:gd name="GluePoint3X" fmla="*/ 21600 w 21600"/>
                <a:gd name="GluePoint3Y" fmla="*/ 216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cubicBezTo>
                    <a:pt x="16200" y="0"/>
                    <a:pt x="10800" y="196"/>
                    <a:pt x="10800" y="391"/>
                  </a:cubicBezTo>
                  <a:lnTo>
                    <a:pt x="10800" y="10409"/>
                  </a:lnTo>
                  <a:cubicBezTo>
                    <a:pt x="10800" y="10605"/>
                    <a:pt x="5400" y="10800"/>
                    <a:pt x="0" y="10800"/>
                  </a:cubicBezTo>
                  <a:cubicBezTo>
                    <a:pt x="5400" y="10800"/>
                    <a:pt x="10800" y="10996"/>
                    <a:pt x="10800" y="11191"/>
                  </a:cubicBezTo>
                  <a:lnTo>
                    <a:pt x="10800" y="21209"/>
                  </a:lnTo>
                  <a:cubicBezTo>
                    <a:pt x="10800" y="21405"/>
                    <a:pt x="16200" y="21600"/>
                    <a:pt x="21600" y="21600"/>
                  </a:cubicBezTo>
                </a:path>
              </a:pathLst>
            </a:custGeom>
            <a:noFill/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537" name="Connecteur droit avec flèche 74"/>
            <p:cNvCxnSpPr>
              <a:stCxn id="536" idx="1"/>
            </p:cNvCxnSpPr>
            <p:nvPr/>
          </p:nvCxnSpPr>
          <p:spPr>
            <a:xfrm flipH="1">
              <a:off x="4409640" y="3438360"/>
              <a:ext cx="351360" cy="214920"/>
            </a:xfrm>
            <a:prstGeom prst="straightConnector1">
              <a:avLst/>
            </a:prstGeom>
            <a:ln w="9360">
              <a:solidFill>
                <a:srgbClr val="4a7ebb"/>
              </a:solidFill>
              <a:miter/>
              <a:tailEnd len="med" type="arrow" w="med"/>
            </a:ln>
          </p:spPr>
        </p:cxnSp>
      </p:grpSp>
      <p:grpSp>
        <p:nvGrpSpPr>
          <p:cNvPr id="538" name="Groupe 80"/>
          <p:cNvGrpSpPr/>
          <p:nvPr/>
        </p:nvGrpSpPr>
        <p:grpSpPr>
          <a:xfrm>
            <a:off x="1571760" y="4642920"/>
            <a:ext cx="1571400" cy="730800"/>
            <a:chOff x="1571760" y="4642920"/>
            <a:chExt cx="1571400" cy="730800"/>
          </a:xfrm>
        </p:grpSpPr>
        <p:sp>
          <p:nvSpPr>
            <p:cNvPr id="539" name="Accolade ouvrante 84"/>
            <p:cNvSpPr/>
            <p:nvPr/>
          </p:nvSpPr>
          <p:spPr>
            <a:xfrm rot="16200000">
              <a:off x="2178720" y="4035960"/>
              <a:ext cx="357480" cy="1571400"/>
            </a:xfrm>
            <a:custGeom>
              <a:avLst/>
              <a:gdLst>
                <a:gd name="textAreaLeft" fmla="*/ 228600 w 357480"/>
                <a:gd name="textAreaRight" fmla="*/ 357840 w 357480"/>
                <a:gd name="textAreaTop" fmla="*/ 7920 h 1571400"/>
                <a:gd name="textAreaBottom" fmla="*/ 1563480 h 1571400"/>
                <a:gd name="GluePoint1X" fmla="*/ 21600 w 21600"/>
                <a:gd name="GluePoint1Y" fmla="*/ 0 h 21600"/>
                <a:gd name="GluePoint2X" fmla="*/ 0 w 21600"/>
                <a:gd name="GluePoint2Y" fmla="*/ 10800 h 21600"/>
                <a:gd name="GluePoint3X" fmla="*/ 21600 w 21600"/>
                <a:gd name="GluePoint3Y" fmla="*/ 2160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0"/>
                  </a:moveTo>
                  <a:cubicBezTo>
                    <a:pt x="16200" y="0"/>
                    <a:pt x="10800" y="180"/>
                    <a:pt x="10800" y="360"/>
                  </a:cubicBezTo>
                  <a:lnTo>
                    <a:pt x="10800" y="10440"/>
                  </a:lnTo>
                  <a:cubicBezTo>
                    <a:pt x="10800" y="10620"/>
                    <a:pt x="5400" y="10800"/>
                    <a:pt x="0" y="10800"/>
                  </a:cubicBezTo>
                  <a:cubicBezTo>
                    <a:pt x="5400" y="10800"/>
                    <a:pt x="10800" y="10980"/>
                    <a:pt x="10800" y="11160"/>
                  </a:cubicBezTo>
                  <a:lnTo>
                    <a:pt x="10800" y="21240"/>
                  </a:lnTo>
                  <a:cubicBezTo>
                    <a:pt x="10800" y="21420"/>
                    <a:pt x="16200" y="21600"/>
                    <a:pt x="21600" y="21600"/>
                  </a:cubicBezTo>
                </a:path>
              </a:pathLst>
            </a:custGeom>
            <a:noFill/>
            <a:ln w="9360">
              <a:solidFill>
                <a:srgbClr val="4a7ebb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ZoneTexte 78"/>
            <p:cNvSpPr/>
            <p:nvPr/>
          </p:nvSpPr>
          <p:spPr>
            <a:xfrm rot="5400000">
              <a:off x="2120040" y="4968720"/>
              <a:ext cx="44136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fr-FR" sz="18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=0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mc:AlternateContent>
        <mc:Choice xmlns:a14="http://schemas.microsoft.com/office/drawing/2010/main" Requires="a14">
          <p:sp>
            <p:nvSpPr>
              <p:cNvPr id="541" name="Object 13"/>
              <p:cNvSpPr txBox="1"/>
              <p:nvPr/>
            </p:nvSpPr>
            <p:spPr>
              <a:xfrm>
                <a:off x="3492360" y="4068720"/>
                <a:ext cx="1067040" cy="393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541" name="Object 13"/>
              <p:cNvSpPr txBox="1"/>
              <p:nvPr/>
            </p:nvSpPr>
            <p:spPr>
              <a:xfrm>
                <a:off x="3492360" y="4068720"/>
                <a:ext cx="1067040" cy="3938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</p:sp>
        </mc:Fallback>
      </mc:AlternateContent>
    </p:spTree>
  </p:cSld>
  <p:timing>
    <p:tnLst>
      <p:par>
        <p:cTn id="762" dur="indefinite" restart="never" nodeType="tmRoot">
          <p:childTnLst>
            <p:seq>
              <p:cTn id="763" dur="indefinite" nodeType="mainSeq">
                <p:childTnLst>
                  <p:par>
                    <p:cTn id="764" nodeType="clickEffect" fill="hold">
                      <p:stCondLst>
                        <p:cond delay="indefinite"/>
                      </p:stCondLst>
                      <p:childTnLst>
                        <p:par>
                          <p:cTn id="76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6" nodeType="clickEffect" fill="hold" presetClass="entr" presetID="2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68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9" nodeType="clickEffect" fill="hold">
                      <p:stCondLst>
                        <p:cond delay="indefinite"/>
                      </p:stCondLst>
                      <p:childTnLst>
                        <p:par>
                          <p:cTn id="7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7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3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4" dur="500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7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8" dur="5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9" nodeType="clickEffect" fill="hold">
                      <p:stCondLst>
                        <p:cond delay="indefinite"/>
                      </p:stCondLst>
                      <p:childTnLst>
                        <p:par>
                          <p:cTn id="78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8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3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4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7" dur="5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8" dur="500" fill="hold"/>
                                        <p:tgtEl>
                                          <p:spTgt spid="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9" nodeType="clickEffect" fill="hold">
                      <p:stCondLst>
                        <p:cond delay="indefinite"/>
                      </p:stCondLst>
                      <p:childTnLst>
                        <p:par>
                          <p:cTn id="79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9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3" dur="5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4" dur="500" fill="hold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7" dur="5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8" dur="5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9" nodeType="clickEffect" fill="hold">
                      <p:stCondLst>
                        <p:cond delay="indefinite"/>
                      </p:stCondLst>
                      <p:childTnLst>
                        <p:par>
                          <p:cTn id="8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0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3" dur="5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4" dur="500" fill="hold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06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08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810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12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3" nodeType="clickEffect" fill="hold">
                      <p:stCondLst>
                        <p:cond delay="indefinite"/>
                      </p:stCondLst>
                      <p:childTnLst>
                        <p:par>
                          <p:cTn id="8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1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817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8" nodeType="clickEffect" fill="hold">
                      <p:stCondLst>
                        <p:cond delay="indefinite"/>
                      </p:stCondLst>
                      <p:childTnLst>
                        <p:par>
                          <p:cTn id="8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2" dur="5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3" dur="500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4" nodeType="clickEffect" fill="hold">
                      <p:stCondLst>
                        <p:cond delay="indefinite"/>
                      </p:stCondLst>
                      <p:childTnLst>
                        <p:par>
                          <p:cTn id="8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26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828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9" nodeType="clickEffect" fill="hold">
                      <p:stCondLst>
                        <p:cond delay="indefinite"/>
                      </p:stCondLst>
                      <p:childTnLst>
                        <p:par>
                          <p:cTn id="8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31" nodeType="clickEffect" fill="hold" presetClass="entr" presetID="2" presetSubtype="4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3" dur="500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4" dur="500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5" nodeType="clickEffect" fill="hold">
                      <p:stCondLst>
                        <p:cond delay="indefinite"/>
                      </p:stCondLst>
                      <p:childTnLst>
                        <p:par>
                          <p:cTn id="8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3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9" dur="500" fill="hold"/>
                                        <p:tgtEl>
                                          <p:spTgt spid="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0" dur="500" fill="hold"/>
                                        <p:tgtEl>
                                          <p:spTgt spid="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3" dur="50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4" dur="50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5" nodeType="clickEffect" fill="hold">
                      <p:stCondLst>
                        <p:cond delay="indefinite"/>
                      </p:stCondLst>
                      <p:childTnLst>
                        <p:par>
                          <p:cTn id="8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47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9" dur="5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0" dur="500" fill="hold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52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854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7" dur="500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8" dur="500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9" nodeType="clickEffect" fill="hold">
                      <p:stCondLst>
                        <p:cond delay="indefinite"/>
                      </p:stCondLst>
                      <p:childTnLst>
                        <p:par>
                          <p:cTn id="86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6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3" dur="5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4" dur="5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5" nodeType="clickEffect" fill="hold">
                      <p:stCondLst>
                        <p:cond delay="indefinite"/>
                      </p:stCondLst>
                      <p:childTnLst>
                        <p:par>
                          <p:cTn id="86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6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869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0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2" dur="500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3" dur="500" fill="hold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4" nodeType="clickEffect" fill="hold">
                      <p:stCondLst>
                        <p:cond delay="indefinite"/>
                      </p:stCondLst>
                      <p:childTnLst>
                        <p:par>
                          <p:cTn id="8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7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8" dur="5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9" dur="5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0" nodeType="clickEffect" fill="hold">
                      <p:stCondLst>
                        <p:cond delay="indefinite"/>
                      </p:stCondLst>
                      <p:childTnLst>
                        <p:par>
                          <p:cTn id="8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4" dur="50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5" dur="500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6" nodeType="clickEffect" fill="hold">
                      <p:stCondLst>
                        <p:cond delay="indefinite"/>
                      </p:stCondLst>
                      <p:childTnLst>
                        <p:par>
                          <p:cTn id="88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8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0" dur="500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1" dur="500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2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893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5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6" dur="500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7" nodeType="clickEffect" fill="hold">
                      <p:stCondLst>
                        <p:cond delay="indefinite"/>
                      </p:stCondLst>
                      <p:childTnLst>
                        <p:par>
                          <p:cTn id="8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89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1" dur="5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2" dur="500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3" nodeType="clickEffect" fill="hold">
                      <p:stCondLst>
                        <p:cond delay="indefinite"/>
                      </p:stCondLst>
                      <p:childTnLst>
                        <p:par>
                          <p:cTn id="9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0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7" dur="5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8" dur="500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9" nodeType="withEffect" fill="hold" presetClass="entr" presetID="27">
                                  <p:stCondLst>
                                    <p:cond delay="0"/>
                                  </p:stCondLst>
                                  <p:iterate type="lt">
                                    <p:tmAbs val="40"/>
                                  </p:iterate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additive="repl">
                                        <p:cTn id="911" dur="80"/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 additive="repl">
                                        <p:cTn id="912" dur="80"/>
                                        <p:tgtEl>
                                          <p:spTgt spid="5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rgb(77,80,-64)"/>
                                          </p:val>
                                        </p:tav>
                                        <p:tav tm="50000">
                                          <p:val>
                                            <p:strVal val="rgb(-1,0,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3" dur="80"/>
                                        <p:tgtEl>
                                          <p:spTgt spid="5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Rectangle avec flèche vers le bas 38"/>
          <p:cNvSpPr/>
          <p:nvPr/>
        </p:nvSpPr>
        <p:spPr>
          <a:xfrm>
            <a:off x="1500120" y="2786040"/>
            <a:ext cx="3286080" cy="2000160"/>
          </a:xfrm>
          <a:prstGeom prst="downArrowCallout">
            <a:avLst>
              <a:gd name="adj1" fmla="val 24996"/>
              <a:gd name="adj2" fmla="val 25001"/>
              <a:gd name="adj3" fmla="val 25000"/>
              <a:gd name="adj4" fmla="val 64977"/>
            </a:avLst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Fonction enthalpie, les transformations réversibles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ZoneTexte 35"/>
          <p:cNvSpPr/>
          <p:nvPr/>
        </p:nvSpPr>
        <p:spPr>
          <a:xfrm>
            <a:off x="130320" y="500040"/>
            <a:ext cx="3109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Transformation isobare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46" name="Object 5"/>
              <p:cNvSpPr txBox="1"/>
              <p:nvPr/>
            </p:nvSpPr>
            <p:spPr>
              <a:xfrm>
                <a:off x="2111400" y="1170000"/>
                <a:ext cx="1700280" cy="415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r>
                      <m:t xml:space="preserve">δQ</m:t>
                    </m:r>
                    <m:r>
                      <m:t xml:space="preserve">+</m:t>
                    </m:r>
                    <m:r>
                      <m:t xml:space="preserve">δW</m:t>
                    </m:r>
                  </m:oMath>
                </a14:m>
              </a:p>
            </p:txBody>
          </p:sp>
        </mc:Choice>
        <mc:Fallback>
          <p:sp>
            <p:nvSpPr>
              <p:cNvPr id="546" name="Object 5"/>
              <p:cNvSpPr txBox="1"/>
              <p:nvPr/>
            </p:nvSpPr>
            <p:spPr>
              <a:xfrm>
                <a:off x="2111400" y="1170000"/>
                <a:ext cx="1700280" cy="41580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547" name="Étoile à 5 branches 15"/>
          <p:cNvSpPr/>
          <p:nvPr/>
        </p:nvSpPr>
        <p:spPr>
          <a:xfrm>
            <a:off x="1619280" y="121428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48" name="Object 6"/>
              <p:cNvSpPr txBox="1"/>
              <p:nvPr/>
            </p:nvSpPr>
            <p:spPr>
              <a:xfrm>
                <a:off x="2071800" y="2857680"/>
                <a:ext cx="2625480" cy="322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P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Cst</m:t>
                    </m:r>
                    <m:r>
                      <m:t xml:space="preserve">⇒</m:t>
                    </m:r>
                    <m:r>
                      <m:t xml:space="preserve">δW</m:t>
                    </m:r>
                    <m:r>
                      <m:t xml:space="preserve">=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PdV</m:t>
                    </m:r>
                  </m:oMath>
                </a14:m>
              </a:p>
            </p:txBody>
          </p:sp>
        </mc:Choice>
        <mc:Fallback>
          <p:sp>
            <p:nvSpPr>
              <p:cNvPr id="548" name="Object 6"/>
              <p:cNvSpPr txBox="1"/>
              <p:nvPr/>
            </p:nvSpPr>
            <p:spPr>
              <a:xfrm>
                <a:off x="2071800" y="2857680"/>
                <a:ext cx="2625480" cy="322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549" name="Étoile à 5 branches 17"/>
          <p:cNvSpPr/>
          <p:nvPr/>
        </p:nvSpPr>
        <p:spPr>
          <a:xfrm>
            <a:off x="1619280" y="1714680"/>
            <a:ext cx="285840" cy="28548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Étoile à 5 branches 19"/>
          <p:cNvSpPr/>
          <p:nvPr/>
        </p:nvSpPr>
        <p:spPr>
          <a:xfrm>
            <a:off x="1619280" y="235728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ZoneTexte 20"/>
          <p:cNvSpPr/>
          <p:nvPr/>
        </p:nvSpPr>
        <p:spPr>
          <a:xfrm>
            <a:off x="4512600" y="1143000"/>
            <a:ext cx="2944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Application du 1</a:t>
            </a:r>
            <a:r>
              <a:rPr b="0" lang="fr-FR" sz="20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ier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principe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Étoile à 5 branches 23"/>
          <p:cNvSpPr/>
          <p:nvPr/>
        </p:nvSpPr>
        <p:spPr>
          <a:xfrm>
            <a:off x="1636560" y="353520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Étoile à 5 branches 33"/>
          <p:cNvSpPr/>
          <p:nvPr/>
        </p:nvSpPr>
        <p:spPr>
          <a:xfrm>
            <a:off x="1643040" y="292896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54" name="Object 22"/>
              <p:cNvSpPr txBox="1"/>
              <p:nvPr/>
            </p:nvSpPr>
            <p:spPr>
              <a:xfrm>
                <a:off x="2000160" y="1608120"/>
                <a:ext cx="2357640" cy="608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δQ</m:t>
                    </m:r>
                    <m:r>
                      <m:t xml:space="preserve">=</m:t>
                    </m:r>
                    <m:sSub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r>
                                  <m:t xml:space="preserve">∂</m:t>
                                </m:r>
                                <m:r>
                                  <m:t xml:space="preserve">Q</m:t>
                                </m:r>
                              </m:num>
                              <m:den>
                                <m:r>
                                  <m:t xml:space="preserve">∂</m:t>
                                </m:r>
                                <m:r>
                                  <m:t xml:space="preserve">T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  <m:r>
                      <m:t xml:space="preserve">+</m:t>
                    </m:r>
                    <m:sSub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r>
                                  <m:t xml:space="preserve">∂</m:t>
                                </m:r>
                                <m:r>
                                  <m:t xml:space="preserve">Q</m:t>
                                </m:r>
                              </m:num>
                              <m:den>
                                <m:r>
                                  <m:t xml:space="preserve">∂</m:t>
                                </m:r>
                                <m:r>
                                  <m:t xml:space="preserve">P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t xml:space="preserve">T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dP</m:t>
                    </m:r>
                  </m:oMath>
                </a14:m>
              </a:p>
            </p:txBody>
          </p:sp>
        </mc:Choice>
        <mc:Fallback>
          <p:sp>
            <p:nvSpPr>
              <p:cNvPr id="554" name="Object 22"/>
              <p:cNvSpPr txBox="1"/>
              <p:nvPr/>
            </p:nvSpPr>
            <p:spPr>
              <a:xfrm>
                <a:off x="2000160" y="1608120"/>
                <a:ext cx="2357640" cy="608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55" name="Object 11"/>
              <p:cNvSpPr txBox="1"/>
              <p:nvPr/>
            </p:nvSpPr>
            <p:spPr>
              <a:xfrm>
                <a:off x="2058840" y="2274840"/>
                <a:ext cx="1584360" cy="392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δW</m:t>
                    </m:r>
                    <m:r>
                      <m:t xml:space="preserve">=</m:t>
                    </m:r>
                    <m:r>
                      <m:t xml:space="preserve">−</m:t>
                    </m:r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ext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dV</m:t>
                    </m:r>
                  </m:oMath>
                </a14:m>
              </a:p>
            </p:txBody>
          </p:sp>
        </mc:Choice>
        <mc:Fallback>
          <p:sp>
            <p:nvSpPr>
              <p:cNvPr id="555" name="Object 11"/>
              <p:cNvSpPr txBox="1"/>
              <p:nvPr/>
            </p:nvSpPr>
            <p:spPr>
              <a:xfrm>
                <a:off x="2058840" y="2274840"/>
                <a:ext cx="1584360" cy="3920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556" name="Flèche courbée vers le bas 32"/>
          <p:cNvSpPr/>
          <p:nvPr/>
        </p:nvSpPr>
        <p:spPr>
          <a:xfrm rot="5400000">
            <a:off x="5161320" y="2553480"/>
            <a:ext cx="892440" cy="500040"/>
          </a:xfrm>
          <a:custGeom>
            <a:avLst/>
            <a:gdLst>
              <a:gd name="textAreaLeft" fmla="*/ 176040 w 892440"/>
              <a:gd name="textAreaRight" fmla="*/ 653760 w 892440"/>
              <a:gd name="textAreaTop" fmla="*/ 66960 h 500040"/>
              <a:gd name="textAreaBottom" fmla="*/ 433080 h 500040"/>
              <a:gd name="GluePoint1X" fmla="*/ 17 w 21600"/>
              <a:gd name="GluePoint1Y" fmla="*/ 0 h 21600"/>
              <a:gd name="GluePoint2X" fmla="*/ 16 w 21600"/>
              <a:gd name="GluePoint2Y" fmla="*/ 22 h 21600"/>
              <a:gd name="GluePoint3X" fmla="*/ 12 w 21600"/>
              <a:gd name="GluePoint3Y" fmla="*/ 2 h 21600"/>
              <a:gd name="GluePoint4X" fmla="*/ 8 w 21600"/>
              <a:gd name="GluePoint4Y" fmla="*/ 22 h 21600"/>
              <a:gd name="GluePoint5X" fmla="*/ 14 w 21600"/>
              <a:gd name="GluePoint5Y" fmla="*/ 2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8530" hR="21600" stAng="10800000" swAng="5400000"/>
                <a:lnTo>
                  <a:pt x="11557" y="0"/>
                </a:lnTo>
                <a:arcTo wR="8530" hR="21600" stAng="-5400000" swAng="3409349"/>
                <a:lnTo>
                  <a:pt x="21329" y="16200"/>
                </a:lnTo>
                <a:lnTo>
                  <a:pt x="18574" y="21600"/>
                </a:lnTo>
                <a:lnTo>
                  <a:pt x="15276" y="16200"/>
                </a:lnTo>
                <a:lnTo>
                  <a:pt x="16789" y="16200"/>
                </a:lnTo>
                <a:arcTo wR="8530" hR="21600" stAng="-1990651" swAng="-3164997"/>
                <a:lnTo>
                  <a:pt x="10044" y="343"/>
                </a:lnTo>
                <a:arcTo wR="8530" hR="21600" stAng="-5644352" swAng="-5155648"/>
                <a:close/>
              </a:path>
              <a:path fill="darkenLess" w="21600" h="21600">
                <a:moveTo>
                  <a:pt x="0" y="21600"/>
                </a:moveTo>
                <a:arcTo wR="8530" hR="21600" stAng="10800000" swAng="5400000"/>
                <a:lnTo>
                  <a:pt x="8530" y="0"/>
                </a:lnTo>
                <a:arcTo wR="8530" hR="21600" stAng="-5400000" swAng="244352"/>
                <a:lnTo>
                  <a:pt x="10044" y="343"/>
                </a:lnTo>
                <a:arcTo wR="8530" hR="21600" stAng="-5644352" swAng="-5155648"/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ZoneTexte 21"/>
          <p:cNvSpPr/>
          <p:nvPr/>
        </p:nvSpPr>
        <p:spPr>
          <a:xfrm>
            <a:off x="6136200" y="2457360"/>
            <a:ext cx="25624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Transformation isobare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Flèche courbée vers le bas 36"/>
          <p:cNvSpPr/>
          <p:nvPr/>
        </p:nvSpPr>
        <p:spPr>
          <a:xfrm rot="5400000">
            <a:off x="4821840" y="2464560"/>
            <a:ext cx="1785960" cy="714240"/>
          </a:xfrm>
          <a:custGeom>
            <a:avLst/>
            <a:gdLst>
              <a:gd name="textAreaLeft" fmla="*/ 379440 w 1785960"/>
              <a:gd name="textAreaRight" fmla="*/ 1317240 w 1785960"/>
              <a:gd name="textAreaTop" fmla="*/ 95400 h 714240"/>
              <a:gd name="textAreaBottom" fmla="*/ 618840 h 714240"/>
              <a:gd name="GluePoint1X" fmla="*/ 17 w 21600"/>
              <a:gd name="GluePoint1Y" fmla="*/ 0 h 21600"/>
              <a:gd name="GluePoint2X" fmla="*/ 16 w 21600"/>
              <a:gd name="GluePoint2Y" fmla="*/ 22 h 21600"/>
              <a:gd name="GluePoint3X" fmla="*/ 12 w 21600"/>
              <a:gd name="GluePoint3Y" fmla="*/ 2 h 21600"/>
              <a:gd name="GluePoint4X" fmla="*/ 8 w 21600"/>
              <a:gd name="GluePoint4Y" fmla="*/ 22 h 21600"/>
              <a:gd name="GluePoint5X" fmla="*/ 14 w 21600"/>
              <a:gd name="GluePoint5Y" fmla="*/ 2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21600"/>
                </a:moveTo>
                <a:arcTo wR="9180" hR="21600" stAng="10800000" swAng="5400000"/>
                <a:lnTo>
                  <a:pt x="11340" y="0"/>
                </a:lnTo>
                <a:arcTo wR="9180" hR="21600" stAng="-5400000" swAng="3523212"/>
                <a:lnTo>
                  <a:pt x="21308" y="16200"/>
                </a:lnTo>
                <a:lnTo>
                  <a:pt x="19440" y="21600"/>
                </a:lnTo>
                <a:lnTo>
                  <a:pt x="16988" y="16200"/>
                </a:lnTo>
                <a:lnTo>
                  <a:pt x="18068" y="16200"/>
                </a:lnTo>
                <a:arcTo wR="9180" hR="21600" stAng="-1876788" swAng="-3350269"/>
                <a:lnTo>
                  <a:pt x="10260" y="150"/>
                </a:lnTo>
                <a:arcTo wR="9180" hR="21600" stAng="-5572943" swAng="-5227057"/>
                <a:close/>
              </a:path>
              <a:path fill="darkenLess" w="21600" h="21600">
                <a:moveTo>
                  <a:pt x="0" y="21600"/>
                </a:moveTo>
                <a:arcTo wR="9180" hR="21600" stAng="10800000" swAng="5400000"/>
                <a:lnTo>
                  <a:pt x="9180" y="0"/>
                </a:lnTo>
                <a:arcTo wR="9180" hR="21600" stAng="-5400000" swAng="172943"/>
                <a:lnTo>
                  <a:pt x="10260" y="150"/>
                </a:lnTo>
                <a:arcTo wR="9180" hR="21600" stAng="-5572943" swAng="-5227057"/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59" name="Object 12"/>
              <p:cNvSpPr txBox="1"/>
              <p:nvPr/>
            </p:nvSpPr>
            <p:spPr>
              <a:xfrm>
                <a:off x="2143080" y="3286080"/>
                <a:ext cx="2500200" cy="712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δQ</m:t>
                    </m:r>
                    <m:r>
                      <m:t xml:space="preserve">=</m:t>
                    </m:r>
                    <m:sSub>
                      <m:e>
                        <m:d>
                          <m:dPr>
                            <m:begChr m:val="("/>
                            <m:endChr m:val=")"/>
                          </m:dPr>
                          <m:e>
                            <m:f>
                              <m:num>
                                <m:r>
                                  <m:t xml:space="preserve">∂</m:t>
                                </m:r>
                                <m:r>
                                  <m:t xml:space="preserve">Q</m:t>
                                </m:r>
                              </m:num>
                              <m:den>
                                <m:r>
                                  <m:t xml:space="preserve">∂</m:t>
                                </m:r>
                                <m:r>
                                  <m:t xml:space="preserve">T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559" name="Object 12"/>
              <p:cNvSpPr txBox="1"/>
              <p:nvPr/>
            </p:nvSpPr>
            <p:spPr>
              <a:xfrm>
                <a:off x="2143080" y="3286080"/>
                <a:ext cx="2500200" cy="712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60" name="Object 13"/>
              <p:cNvSpPr txBox="1"/>
              <p:nvPr/>
            </p:nvSpPr>
            <p:spPr>
              <a:xfrm>
                <a:off x="3857760" y="4286160"/>
                <a:ext cx="2244600" cy="370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PdV</m:t>
                    </m:r>
                  </m:oMath>
                </a14:m>
              </a:p>
            </p:txBody>
          </p:sp>
        </mc:Choice>
        <mc:Fallback>
          <p:sp>
            <p:nvSpPr>
              <p:cNvPr id="560" name="Object 13"/>
              <p:cNvSpPr txBox="1"/>
              <p:nvPr/>
            </p:nvSpPr>
            <p:spPr>
              <a:xfrm>
                <a:off x="3857760" y="4286160"/>
                <a:ext cx="2244600" cy="3700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61" name="Object 14"/>
              <p:cNvSpPr txBox="1"/>
              <p:nvPr/>
            </p:nvSpPr>
            <p:spPr>
              <a:xfrm>
                <a:off x="5586480" y="5345280"/>
                <a:ext cx="3557520" cy="369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ΔU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t xml:space="preserve">(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  <m:r>
                      <m:t xml:space="preserve">−</m:t>
                    </m:r>
                    <m:r>
                      <m:t xml:space="preserve">P</m:t>
                    </m:r>
                    <m:r>
                      <m:t xml:space="preserve">(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561" name="Object 14"/>
              <p:cNvSpPr txBox="1"/>
              <p:nvPr/>
            </p:nvSpPr>
            <p:spPr>
              <a:xfrm>
                <a:off x="5586480" y="5345280"/>
                <a:ext cx="3557520" cy="3697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p:sp>
        <p:nvSpPr>
          <p:cNvPr id="562" name="Flèche droite rayée 39"/>
          <p:cNvSpPr/>
          <p:nvPr/>
        </p:nvSpPr>
        <p:spPr>
          <a:xfrm>
            <a:off x="4643280" y="5286240"/>
            <a:ext cx="928800" cy="428760"/>
          </a:xfrm>
          <a:custGeom>
            <a:avLst/>
            <a:gdLst>
              <a:gd name="GluePoint1X" fmla="*/ 0 w 928687"/>
              <a:gd name="GluePoint1Y" fmla="*/ 107156 h 428625"/>
              <a:gd name="GluePoint2X" fmla="*/ 13395 w 928687"/>
              <a:gd name="GluePoint2Y" fmla="*/ 107156 h 428625"/>
              <a:gd name="GluePoint3X" fmla="*/ 13395 w 928687"/>
              <a:gd name="GluePoint3Y" fmla="*/ 321469 h 428625"/>
              <a:gd name="GluePoint4X" fmla="*/ 0 w 928687"/>
              <a:gd name="GluePoint4Y" fmla="*/ 321469 h 428625"/>
              <a:gd name="GluePoint5X" fmla="*/ 0 w 928687"/>
              <a:gd name="GluePoint5Y" fmla="*/ 107156 h 428625"/>
              <a:gd name="GluePoint6X" fmla="*/ 26789 w 928687"/>
              <a:gd name="GluePoint6Y" fmla="*/ 107156 h 428625"/>
              <a:gd name="GluePoint7X" fmla="*/ 53578 w 928687"/>
              <a:gd name="GluePoint7Y" fmla="*/ 107156 h 428625"/>
              <a:gd name="GluePoint8X" fmla="*/ 53578 w 928687"/>
              <a:gd name="GluePoint8Y" fmla="*/ 321469 h 428625"/>
              <a:gd name="GluePoint9X" fmla="*/ 26789 w 928687"/>
              <a:gd name="GluePoint9Y" fmla="*/ 321469 h 428625"/>
              <a:gd name="GluePoint10X" fmla="*/ 26789 w 928687"/>
              <a:gd name="GluePoint10Y" fmla="*/ 107156 h 428625"/>
              <a:gd name="GluePoint11X" fmla="*/ 66973 w 928687"/>
              <a:gd name="GluePoint11Y" fmla="*/ 107156 h 428625"/>
              <a:gd name="GluePoint12X" fmla="*/ 714375 w 928687"/>
              <a:gd name="GluePoint12Y" fmla="*/ 107156 h 428625"/>
              <a:gd name="GluePoint13X" fmla="*/ 714375 w 928687"/>
              <a:gd name="GluePoint13Y" fmla="*/ 0 h 428625"/>
              <a:gd name="GluePoint14X" fmla="*/ 928687 w 928687"/>
              <a:gd name="GluePoint14Y" fmla="*/ 214313 h 428625"/>
              <a:gd name="GluePoint15X" fmla="*/ 714375 w 928687"/>
              <a:gd name="GluePoint15Y" fmla="*/ 428625 h 428625"/>
              <a:gd name="GluePoint16X" fmla="*/ 714375 w 928687"/>
              <a:gd name="GluePoint16Y" fmla="*/ 321469 h 428625"/>
              <a:gd name="GluePoint17X" fmla="*/ 66973 w 928687"/>
              <a:gd name="GluePoint17Y" fmla="*/ 321469 h 428625"/>
              <a:gd name="GluePoint18X" fmla="*/ 66973 w 928687"/>
              <a:gd name="GluePoint18Y" fmla="*/ 107156 h 42862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l" t="t" r="r" b="b"/>
            <a:pathLst>
              <a:path w="928687" h="428625">
                <a:moveTo>
                  <a:pt x="0" y="107156"/>
                </a:moveTo>
                <a:lnTo>
                  <a:pt x="13395" y="107156"/>
                </a:lnTo>
                <a:lnTo>
                  <a:pt x="13395" y="321469"/>
                </a:lnTo>
                <a:lnTo>
                  <a:pt x="0" y="321469"/>
                </a:lnTo>
                <a:lnTo>
                  <a:pt x="0" y="107156"/>
                </a:lnTo>
                <a:close/>
                <a:moveTo>
                  <a:pt x="26789" y="107156"/>
                </a:moveTo>
                <a:lnTo>
                  <a:pt x="53578" y="107156"/>
                </a:lnTo>
                <a:lnTo>
                  <a:pt x="53578" y="321469"/>
                </a:lnTo>
                <a:lnTo>
                  <a:pt x="26789" y="321469"/>
                </a:lnTo>
                <a:lnTo>
                  <a:pt x="26789" y="107156"/>
                </a:lnTo>
                <a:close/>
                <a:moveTo>
                  <a:pt x="66973" y="107156"/>
                </a:moveTo>
                <a:lnTo>
                  <a:pt x="714375" y="107156"/>
                </a:lnTo>
                <a:lnTo>
                  <a:pt x="714375" y="0"/>
                </a:lnTo>
                <a:lnTo>
                  <a:pt x="928687" y="214313"/>
                </a:lnTo>
                <a:lnTo>
                  <a:pt x="714375" y="428625"/>
                </a:lnTo>
                <a:lnTo>
                  <a:pt x="714375" y="321469"/>
                </a:lnTo>
                <a:lnTo>
                  <a:pt x="66973" y="321469"/>
                </a:lnTo>
                <a:lnTo>
                  <a:pt x="66973" y="107156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Organigramme : Alternative 40"/>
          <p:cNvSpPr/>
          <p:nvPr/>
        </p:nvSpPr>
        <p:spPr>
          <a:xfrm>
            <a:off x="1714680" y="4857840"/>
            <a:ext cx="2928600" cy="1428840"/>
          </a:xfrm>
          <a:prstGeom prst="flowChartAlternateProcess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64" name="Object 15"/>
              <p:cNvSpPr txBox="1"/>
              <p:nvPr/>
            </p:nvSpPr>
            <p:spPr>
              <a:xfrm>
                <a:off x="2214720" y="4989600"/>
                <a:ext cx="1901520" cy="368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W</m:t>
                    </m:r>
                    <m:r>
                      <m:t xml:space="preserve">=</m:t>
                    </m:r>
                    <m:r>
                      <m:t xml:space="preserve">−</m:t>
                    </m:r>
                    <m:r>
                      <m:t xml:space="preserve">P</m:t>
                    </m:r>
                    <m:r>
                      <m:t xml:space="preserve">(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V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564" name="Object 15"/>
              <p:cNvSpPr txBox="1"/>
              <p:nvPr/>
            </p:nvSpPr>
            <p:spPr>
              <a:xfrm>
                <a:off x="2214720" y="4989600"/>
                <a:ext cx="1901520" cy="3682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65" name="Object 16"/>
              <p:cNvSpPr txBox="1"/>
              <p:nvPr/>
            </p:nvSpPr>
            <p:spPr>
              <a:xfrm>
                <a:off x="2286000" y="5727600"/>
                <a:ext cx="1835280" cy="344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Q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t xml:space="preserve">(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565" name="Object 16"/>
              <p:cNvSpPr txBox="1"/>
              <p:nvPr/>
            </p:nvSpPr>
            <p:spPr>
              <a:xfrm>
                <a:off x="2286000" y="5727600"/>
                <a:ext cx="1835280" cy="344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66" name="Object 17"/>
              <p:cNvSpPr txBox="1"/>
              <p:nvPr/>
            </p:nvSpPr>
            <p:spPr>
              <a:xfrm>
                <a:off x="5643720" y="5918040"/>
                <a:ext cx="2152440" cy="393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ΔU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t xml:space="preserve">(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566" name="Object 17"/>
              <p:cNvSpPr txBox="1"/>
              <p:nvPr/>
            </p:nvSpPr>
            <p:spPr>
              <a:xfrm>
                <a:off x="5643720" y="5918040"/>
                <a:ext cx="2152440" cy="3938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67" name="Object 18"/>
              <p:cNvSpPr txBox="1"/>
              <p:nvPr/>
            </p:nvSpPr>
            <p:spPr>
              <a:xfrm>
                <a:off x="5643720" y="6404040"/>
                <a:ext cx="2152440" cy="371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ΔH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t xml:space="preserve">(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567" name="Object 18"/>
              <p:cNvSpPr txBox="1"/>
              <p:nvPr/>
            </p:nvSpPr>
            <p:spPr>
              <a:xfrm>
                <a:off x="5643720" y="6404040"/>
                <a:ext cx="2152440" cy="3715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4" dur="indefinite" restart="never" nodeType="tmRoot">
          <p:childTnLst>
            <p:seq>
              <p:cTn id="915" dur="indefinite" nodeType="mainSeq">
                <p:childTnLst>
                  <p:par>
                    <p:cTn id="916" nodeType="clickEffect" fill="hold">
                      <p:stCondLst>
                        <p:cond delay="indefinite"/>
                      </p:stCondLst>
                      <p:childTnLst>
                        <p:par>
                          <p:cTn id="91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1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0" dur="500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1" dur="500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2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4" dur="500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5" dur="500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8" dur="500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9" dur="500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0" nodeType="clickEffect" fill="hold">
                      <p:stCondLst>
                        <p:cond delay="indefinite"/>
                      </p:stCondLst>
                      <p:childTnLst>
                        <p:par>
                          <p:cTn id="93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3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4" dur="50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5" dur="50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6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937" nodeType="after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9" dur="5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0" dur="5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1" nodeType="clickEffect" fill="hold">
                      <p:stCondLst>
                        <p:cond delay="indefinite"/>
                      </p:stCondLst>
                      <p:childTnLst>
                        <p:par>
                          <p:cTn id="9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4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5" dur="500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6" dur="500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9" dur="5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0" dur="5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1" nodeType="clickEffect" fill="hold">
                      <p:stCondLst>
                        <p:cond delay="indefinite"/>
                      </p:stCondLst>
                      <p:childTnLst>
                        <p:par>
                          <p:cTn id="9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5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55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6" nodeType="clickEffect" fill="hold">
                      <p:stCondLst>
                        <p:cond delay="indefinite"/>
                      </p:stCondLst>
                      <p:childTnLst>
                        <p:par>
                          <p:cTn id="9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58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960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3" dur="500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4" dur="500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5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7" dur="500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8" dur="500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9" nodeType="clickEffect" fill="hold">
                      <p:stCondLst>
                        <p:cond delay="indefinite"/>
                      </p:stCondLst>
                      <p:childTnLst>
                        <p:par>
                          <p:cTn id="97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1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973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4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6" dur="500" fill="hold"/>
                                        <p:tgtEl>
                                          <p:spTgt spid="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7" dur="500" fill="hold"/>
                                        <p:tgtEl>
                                          <p:spTgt spid="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8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0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1" dur="50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2" nodeType="clickEffect" fill="hold">
                      <p:stCondLst>
                        <p:cond delay="indefinite"/>
                      </p:stCondLst>
                      <p:childTnLst>
                        <p:par>
                          <p:cTn id="9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84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86" dur="1000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87" dur="1000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88"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1" dur="500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2" dur="500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3" nodeType="clickEffect" fill="hold">
                      <p:stCondLst>
                        <p:cond delay="indefinite"/>
                      </p:stCondLst>
                      <p:childTnLst>
                        <p:par>
                          <p:cTn id="99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9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7" dur="500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8" dur="500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9" nodeType="clickEffect" fill="hold">
                      <p:stCondLst>
                        <p:cond delay="indefinite"/>
                      </p:stCondLst>
                      <p:childTnLst>
                        <p:par>
                          <p:cTn id="10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nodeType="clickEffect" fill="hold" presetClass="entr" presetID="2" presetSubtype="4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3" dur="5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4" dur="5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5" nodeType="clickEffect" fill="hold">
                      <p:stCondLst>
                        <p:cond delay="indefinite"/>
                      </p:stCondLst>
                      <p:childTnLst>
                        <p:par>
                          <p:cTn id="10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07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009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0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012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nodeType="clickEffect" fill="hold">
                      <p:stCondLst>
                        <p:cond delay="indefinite"/>
                      </p:stCondLst>
                      <p:childTnLst>
                        <p:par>
                          <p:cTn id="101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1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7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8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9" nodeType="clickEffect" fill="hold">
                      <p:stCondLst>
                        <p:cond delay="indefinite"/>
                      </p:stCondLst>
                      <p:childTnLst>
                        <p:par>
                          <p:cTn id="10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1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3" dur="500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4" dur="500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5" nodeType="clickEffect" fill="hold">
                      <p:stCondLst>
                        <p:cond delay="indefinite"/>
                      </p:stCondLst>
                      <p:childTnLst>
                        <p:par>
                          <p:cTn id="10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2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9" dur="5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0" dur="5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Rectangle avec flèche vers le bas 38"/>
          <p:cNvSpPr/>
          <p:nvPr/>
        </p:nvSpPr>
        <p:spPr>
          <a:xfrm>
            <a:off x="1500120" y="2786040"/>
            <a:ext cx="3286080" cy="2000160"/>
          </a:xfrm>
          <a:prstGeom prst="downArrowCallout">
            <a:avLst>
              <a:gd name="adj1" fmla="val 24996"/>
              <a:gd name="adj2" fmla="val 25001"/>
              <a:gd name="adj3" fmla="val 25000"/>
              <a:gd name="adj4" fmla="val 64977"/>
            </a:avLst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Fonction enthalpie, les transformations réversibles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ZoneTexte 35"/>
          <p:cNvSpPr/>
          <p:nvPr/>
        </p:nvSpPr>
        <p:spPr>
          <a:xfrm>
            <a:off x="121680" y="500040"/>
            <a:ext cx="3185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Transformation isochore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72" name="Object 5"/>
              <p:cNvSpPr txBox="1"/>
              <p:nvPr/>
            </p:nvSpPr>
            <p:spPr>
              <a:xfrm>
                <a:off x="2124000" y="1192320"/>
                <a:ext cx="1676520" cy="369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r>
                      <m:t xml:space="preserve">δQ</m:t>
                    </m:r>
                    <m:r>
                      <m:t xml:space="preserve">+</m:t>
                    </m:r>
                    <m:r>
                      <m:t xml:space="preserve">δW</m:t>
                    </m:r>
                  </m:oMath>
                </a14:m>
              </a:p>
            </p:txBody>
          </p:sp>
        </mc:Choice>
        <mc:Fallback>
          <p:sp>
            <p:nvSpPr>
              <p:cNvPr id="572" name="Object 5"/>
              <p:cNvSpPr txBox="1"/>
              <p:nvPr/>
            </p:nvSpPr>
            <p:spPr>
              <a:xfrm>
                <a:off x="2124000" y="1192320"/>
                <a:ext cx="1676520" cy="3697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573" name="Étoile à 5 branches 15"/>
          <p:cNvSpPr/>
          <p:nvPr/>
        </p:nvSpPr>
        <p:spPr>
          <a:xfrm>
            <a:off x="1619280" y="121428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74" name="Object 6"/>
              <p:cNvSpPr txBox="1"/>
              <p:nvPr/>
            </p:nvSpPr>
            <p:spPr>
              <a:xfrm>
                <a:off x="2203560" y="2857680"/>
                <a:ext cx="2082600" cy="322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V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Cst</m:t>
                    </m:r>
                    <m:r>
                      <m:t xml:space="preserve">⇒</m:t>
                    </m:r>
                    <m:r>
                      <m:t xml:space="preserve">δW</m:t>
                    </m:r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574" name="Object 6"/>
              <p:cNvSpPr txBox="1"/>
              <p:nvPr/>
            </p:nvSpPr>
            <p:spPr>
              <a:xfrm>
                <a:off x="2203560" y="2857680"/>
                <a:ext cx="2082600" cy="322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575" name="Étoile à 5 branches 17"/>
          <p:cNvSpPr/>
          <p:nvPr/>
        </p:nvSpPr>
        <p:spPr>
          <a:xfrm>
            <a:off x="1619280" y="1714680"/>
            <a:ext cx="285840" cy="28548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ZoneTexte 20"/>
          <p:cNvSpPr/>
          <p:nvPr/>
        </p:nvSpPr>
        <p:spPr>
          <a:xfrm>
            <a:off x="4512600" y="1143000"/>
            <a:ext cx="2944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Application du 1</a:t>
            </a:r>
            <a:r>
              <a:rPr b="0" lang="fr-FR" sz="20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ier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principe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ZoneTexte 21"/>
          <p:cNvSpPr/>
          <p:nvPr/>
        </p:nvSpPr>
        <p:spPr>
          <a:xfrm>
            <a:off x="1719000" y="2214720"/>
            <a:ext cx="2689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Transformation isochore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Étoile à 5 branches 23"/>
          <p:cNvSpPr/>
          <p:nvPr/>
        </p:nvSpPr>
        <p:spPr>
          <a:xfrm>
            <a:off x="1636560" y="353520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Étoile à 5 branches 33"/>
          <p:cNvSpPr/>
          <p:nvPr/>
        </p:nvSpPr>
        <p:spPr>
          <a:xfrm>
            <a:off x="1643040" y="292896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80" name="Object 4"/>
              <p:cNvSpPr txBox="1"/>
              <p:nvPr/>
            </p:nvSpPr>
            <p:spPr>
              <a:xfrm>
                <a:off x="2071800" y="1643040"/>
                <a:ext cx="1584360" cy="392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δW</m:t>
                    </m:r>
                    <m:r>
                      <m:t xml:space="preserve">=</m:t>
                    </m:r>
                    <m:r>
                      <m:t xml:space="preserve">−</m:t>
                    </m:r>
                    <m:sSub>
                      <m:e>
                        <m:r>
                          <m:t xml:space="preserve">P</m:t>
                        </m:r>
                      </m:e>
                      <m:sub>
                        <m:r>
                          <m:rPr>
                            <m:lit/>
                            <m:nor/>
                          </m:rPr>
                          <m:t xml:space="preserve">ext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dV</m:t>
                    </m:r>
                  </m:oMath>
                </a14:m>
              </a:p>
            </p:txBody>
          </p:sp>
        </mc:Choice>
        <mc:Fallback>
          <p:sp>
            <p:nvSpPr>
              <p:cNvPr id="580" name="Object 4"/>
              <p:cNvSpPr txBox="1"/>
              <p:nvPr/>
            </p:nvSpPr>
            <p:spPr>
              <a:xfrm>
                <a:off x="2071800" y="1643040"/>
                <a:ext cx="1584360" cy="392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81" name="Object 5"/>
              <p:cNvSpPr txBox="1"/>
              <p:nvPr/>
            </p:nvSpPr>
            <p:spPr>
              <a:xfrm>
                <a:off x="2214720" y="3438360"/>
                <a:ext cx="2243160" cy="419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δQ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581" name="Object 5"/>
              <p:cNvSpPr txBox="1"/>
              <p:nvPr/>
            </p:nvSpPr>
            <p:spPr>
              <a:xfrm>
                <a:off x="2214720" y="3438360"/>
                <a:ext cx="2243160" cy="419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582" name="Organigramme : Alternative 40"/>
          <p:cNvSpPr/>
          <p:nvPr/>
        </p:nvSpPr>
        <p:spPr>
          <a:xfrm>
            <a:off x="1714680" y="4857840"/>
            <a:ext cx="2928600" cy="1428840"/>
          </a:xfrm>
          <a:prstGeom prst="flowChartAlternateProcess">
            <a:avLst/>
          </a:prstGeom>
          <a:noFill/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83" name="Object 9"/>
              <p:cNvSpPr txBox="1"/>
              <p:nvPr/>
            </p:nvSpPr>
            <p:spPr>
              <a:xfrm>
                <a:off x="2801880" y="5011560"/>
                <a:ext cx="725400" cy="322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W</m:t>
                    </m:r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583" name="Object 9"/>
              <p:cNvSpPr txBox="1"/>
              <p:nvPr/>
            </p:nvSpPr>
            <p:spPr>
              <a:xfrm>
                <a:off x="2801880" y="5011560"/>
                <a:ext cx="725400" cy="3225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84" name="Object 10"/>
              <p:cNvSpPr txBox="1"/>
              <p:nvPr/>
            </p:nvSpPr>
            <p:spPr>
              <a:xfrm>
                <a:off x="1928880" y="5429160"/>
                <a:ext cx="2476440" cy="365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ΔU</m:t>
                    </m:r>
                    <m:r>
                      <m:t xml:space="preserve">=</m:t>
                    </m:r>
                    <m:r>
                      <m:t xml:space="preserve">Q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t xml:space="preserve">(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584" name="Object 10"/>
              <p:cNvSpPr txBox="1"/>
              <p:nvPr/>
            </p:nvSpPr>
            <p:spPr>
              <a:xfrm>
                <a:off x="1928880" y="5429160"/>
                <a:ext cx="2476440" cy="3650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85" name="Object 13"/>
              <p:cNvSpPr txBox="1"/>
              <p:nvPr/>
            </p:nvSpPr>
            <p:spPr>
              <a:xfrm>
                <a:off x="1919160" y="5843520"/>
                <a:ext cx="2152800" cy="371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ΔH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t xml:space="preserve">(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2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T</m:t>
                        </m:r>
                      </m:e>
                      <m:sub>
                        <m:r>
                          <m:t xml:space="preserve">1</m:t>
                        </m:r>
                      </m:sub>
                    </m:sSub>
                    <m:r>
                      <m:t xml:space="preserve">)</m:t>
                    </m:r>
                  </m:oMath>
                </a14:m>
              </a:p>
            </p:txBody>
          </p:sp>
        </mc:Choice>
        <mc:Fallback>
          <p:sp>
            <p:nvSpPr>
              <p:cNvPr id="585" name="Object 13"/>
              <p:cNvSpPr txBox="1"/>
              <p:nvPr/>
            </p:nvSpPr>
            <p:spPr>
              <a:xfrm>
                <a:off x="1919160" y="5843520"/>
                <a:ext cx="2152800" cy="371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31" dur="indefinite" restart="never" nodeType="tmRoot">
          <p:childTnLst>
            <p:seq>
              <p:cTn id="1032" dur="indefinite" nodeType="mainSeq">
                <p:childTnLst>
                  <p:par>
                    <p:cTn id="1033" nodeType="clickEffect" fill="hold">
                      <p:stCondLst>
                        <p:cond delay="indefinite"/>
                      </p:stCondLst>
                      <p:childTnLst>
                        <p:par>
                          <p:cTn id="10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3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7" dur="500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8" dur="500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1" dur="500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2" dur="500" fill="hold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5" dur="500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6" dur="500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7" nodeType="clickEffect" fill="hold">
                      <p:stCondLst>
                        <p:cond delay="indefinite"/>
                      </p:stCondLst>
                      <p:childTnLst>
                        <p:par>
                          <p:cTn id="10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1" dur="5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2" dur="5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3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5" dur="500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6" dur="500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7" nodeType="clickEffect" fill="hold">
                      <p:stCondLst>
                        <p:cond delay="indefinite"/>
                      </p:stCondLst>
                      <p:childTnLst>
                        <p:par>
                          <p:cTn id="10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59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1" dur="500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2" dur="500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3" nodeType="clickEffect" fill="hold">
                      <p:stCondLst>
                        <p:cond delay="indefinite"/>
                      </p:stCondLst>
                      <p:childTnLst>
                        <p:par>
                          <p:cTn id="106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6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7" dur="500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8" dur="500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1" dur="500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2" dur="500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3" nodeType="clickEffect" fill="hold">
                      <p:stCondLst>
                        <p:cond delay="indefinite"/>
                      </p:stCondLst>
                      <p:childTnLst>
                        <p:par>
                          <p:cTn id="10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7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7" dur="500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8" dur="500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1" dur="500" fill="hold"/>
                                        <p:tgtEl>
                                          <p:spTgt spid="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2" dur="500" fill="hold"/>
                                        <p:tgtEl>
                                          <p:spTgt spid="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3" nodeType="clickEffect" fill="hold">
                      <p:stCondLst>
                        <p:cond delay="indefinite"/>
                      </p:stCondLst>
                      <p:childTnLst>
                        <p:par>
                          <p:cTn id="108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087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8" nodeType="with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090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1" nodeType="clickEffect" fill="hold">
                      <p:stCondLst>
                        <p:cond delay="indefinite"/>
                      </p:stCondLst>
                      <p:childTnLst>
                        <p:par>
                          <p:cTn id="10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9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5" dur="500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6" dur="500" fill="hold"/>
                                        <p:tgtEl>
                                          <p:spTgt spid="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7" nodeType="clickEffect" fill="hold">
                      <p:stCondLst>
                        <p:cond delay="indefinite"/>
                      </p:stCondLst>
                      <p:childTnLst>
                        <p:par>
                          <p:cTn id="109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99" nodeType="clickEffect" fill="hold" presetClass="entr" presetID="2" presetSubtype="4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1" dur="500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2" dur="500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3" nodeType="clickEffect" fill="hold">
                      <p:stCondLst>
                        <p:cond delay="indefinite"/>
                      </p:stCondLst>
                      <p:childTnLst>
                        <p:par>
                          <p:cTn id="110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0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7" dur="5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8" dur="5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Organigramme : Alternative 40"/>
          <p:cNvSpPr/>
          <p:nvPr/>
        </p:nvSpPr>
        <p:spPr>
          <a:xfrm>
            <a:off x="2857680" y="3357720"/>
            <a:ext cx="1643040" cy="2071440"/>
          </a:xfrm>
          <a:prstGeom prst="flowChartAlternateProcess">
            <a:avLst/>
          </a:prstGeom>
          <a:solidFill>
            <a:srgbClr val="ffff99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Fonction enthalpie, les transformations réversibles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ZoneTexte 35"/>
          <p:cNvSpPr/>
          <p:nvPr/>
        </p:nvSpPr>
        <p:spPr>
          <a:xfrm>
            <a:off x="143640" y="500040"/>
            <a:ext cx="3430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Transformation isotherme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90" name="Object 5"/>
              <p:cNvSpPr txBox="1"/>
              <p:nvPr/>
            </p:nvSpPr>
            <p:spPr>
              <a:xfrm>
                <a:off x="2089080" y="1177920"/>
                <a:ext cx="2697120" cy="393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r>
                      <m:t xml:space="preserve">δQ</m:t>
                    </m:r>
                    <m:r>
                      <m:t xml:space="preserve">+</m:t>
                    </m:r>
                    <m:r>
                      <m:t xml:space="preserve">δW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590" name="Object 5"/>
              <p:cNvSpPr txBox="1"/>
              <p:nvPr/>
            </p:nvSpPr>
            <p:spPr>
              <a:xfrm>
                <a:off x="2089080" y="1177920"/>
                <a:ext cx="2697120" cy="3938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591" name="Étoile à 5 branches 15"/>
          <p:cNvSpPr/>
          <p:nvPr/>
        </p:nvSpPr>
        <p:spPr>
          <a:xfrm>
            <a:off x="1619280" y="121428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92" name="Object 6"/>
              <p:cNvSpPr txBox="1"/>
              <p:nvPr/>
            </p:nvSpPr>
            <p:spPr>
              <a:xfrm>
                <a:off x="3135240" y="3429000"/>
                <a:ext cx="1144800" cy="428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592" name="Object 6"/>
              <p:cNvSpPr txBox="1"/>
              <p:nvPr/>
            </p:nvSpPr>
            <p:spPr>
              <a:xfrm>
                <a:off x="3135240" y="3429000"/>
                <a:ext cx="1144800" cy="4287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593" name="Étoile à 5 branches 17"/>
          <p:cNvSpPr/>
          <p:nvPr/>
        </p:nvSpPr>
        <p:spPr>
          <a:xfrm>
            <a:off x="1619280" y="1714680"/>
            <a:ext cx="285840" cy="28548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ZoneTexte 20"/>
          <p:cNvSpPr/>
          <p:nvPr/>
        </p:nvSpPr>
        <p:spPr>
          <a:xfrm>
            <a:off x="5604840" y="1143000"/>
            <a:ext cx="2944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Application du 1</a:t>
            </a:r>
            <a:r>
              <a:rPr b="0" lang="fr-FR" sz="20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ier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principe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ZoneTexte 21"/>
          <p:cNvSpPr/>
          <p:nvPr/>
        </p:nvSpPr>
        <p:spPr>
          <a:xfrm>
            <a:off x="2093400" y="2786040"/>
            <a:ext cx="28310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Transformation isotherme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596" name="Object 22"/>
              <p:cNvSpPr txBox="1"/>
              <p:nvPr/>
            </p:nvSpPr>
            <p:spPr>
              <a:xfrm>
                <a:off x="2071800" y="1714680"/>
                <a:ext cx="1466640" cy="3585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dH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596" name="Object 22"/>
              <p:cNvSpPr txBox="1"/>
              <p:nvPr/>
            </p:nvSpPr>
            <p:spPr>
              <a:xfrm>
                <a:off x="2071800" y="1714680"/>
                <a:ext cx="1466640" cy="3585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97" name="Object 5"/>
              <p:cNvSpPr txBox="1"/>
              <p:nvPr/>
            </p:nvSpPr>
            <p:spPr>
              <a:xfrm>
                <a:off x="3143160" y="4478400"/>
                <a:ext cx="1173240" cy="450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Q</m:t>
                    </m:r>
                    <m:r>
                      <m:t xml:space="preserve">=</m:t>
                    </m:r>
                    <m:r>
                      <m:t xml:space="preserve">−</m:t>
                    </m:r>
                    <m:r>
                      <m:t xml:space="preserve">W</m:t>
                    </m:r>
                  </m:oMath>
                </a14:m>
              </a:p>
            </p:txBody>
          </p:sp>
        </mc:Choice>
        <mc:Fallback>
          <p:sp>
            <p:nvSpPr>
              <p:cNvPr id="597" name="Object 5"/>
              <p:cNvSpPr txBox="1"/>
              <p:nvPr/>
            </p:nvSpPr>
            <p:spPr>
              <a:xfrm>
                <a:off x="3143160" y="4478400"/>
                <a:ext cx="1173240" cy="4507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598" name="Object 13"/>
              <p:cNvSpPr txBox="1"/>
              <p:nvPr/>
            </p:nvSpPr>
            <p:spPr>
              <a:xfrm>
                <a:off x="3135240" y="3929040"/>
                <a:ext cx="1144800" cy="4287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dH</m:t>
                    </m:r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598" name="Object 13"/>
              <p:cNvSpPr txBox="1"/>
              <p:nvPr/>
            </p:nvSpPr>
            <p:spPr>
              <a:xfrm>
                <a:off x="3135240" y="3929040"/>
                <a:ext cx="1144800" cy="428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599" name="Étoile à 5 branches 28"/>
          <p:cNvSpPr/>
          <p:nvPr/>
        </p:nvSpPr>
        <p:spPr>
          <a:xfrm>
            <a:off x="1643040" y="2284560"/>
            <a:ext cx="285840" cy="28548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00" name="Object 14"/>
              <p:cNvSpPr txBox="1"/>
              <p:nvPr/>
            </p:nvSpPr>
            <p:spPr>
              <a:xfrm>
                <a:off x="2085840" y="2306520"/>
                <a:ext cx="1200240" cy="314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PV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nRT</m:t>
                    </m:r>
                  </m:oMath>
                </a14:m>
              </a:p>
            </p:txBody>
          </p:sp>
        </mc:Choice>
        <mc:Fallback>
          <p:sp>
            <p:nvSpPr>
              <p:cNvPr id="600" name="Object 14"/>
              <p:cNvSpPr txBox="1"/>
              <p:nvPr/>
            </p:nvSpPr>
            <p:spPr>
              <a:xfrm>
                <a:off x="2085840" y="2306520"/>
                <a:ext cx="1200240" cy="3142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01" name="Object 15"/>
              <p:cNvSpPr txBox="1"/>
              <p:nvPr/>
            </p:nvSpPr>
            <p:spPr>
              <a:xfrm>
                <a:off x="3143160" y="5000760"/>
                <a:ext cx="1238400" cy="3571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PV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Cst</m:t>
                    </m:r>
                  </m:oMath>
                </a14:m>
              </a:p>
            </p:txBody>
          </p:sp>
        </mc:Choice>
        <mc:Fallback>
          <p:sp>
            <p:nvSpPr>
              <p:cNvPr id="601" name="Object 15"/>
              <p:cNvSpPr txBox="1"/>
              <p:nvPr/>
            </p:nvSpPr>
            <p:spPr>
              <a:xfrm>
                <a:off x="3143160" y="5000760"/>
                <a:ext cx="1238400" cy="3571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09" dur="indefinite" restart="never" nodeType="tmRoot">
          <p:childTnLst>
            <p:seq>
              <p:cTn id="1110" dur="indefinite" nodeType="mainSeq">
                <p:childTnLst>
                  <p:par>
                    <p:cTn id="1111" nodeType="clickEffect" fill="hold">
                      <p:stCondLst>
                        <p:cond delay="indefinite"/>
                      </p:stCondLst>
                      <p:childTnLst>
                        <p:par>
                          <p:cTn id="11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13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5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6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7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9" dur="500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0" dur="500" fill="hold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3" dur="5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4" dur="5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5" nodeType="clickEffect" fill="hold">
                      <p:stCondLst>
                        <p:cond delay="indefinite"/>
                      </p:stCondLst>
                      <p:childTnLst>
                        <p:par>
                          <p:cTn id="11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9" dur="5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0" dur="5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3" dur="500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4" dur="500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5" nodeType="clickEffect" fill="hold">
                      <p:stCondLst>
                        <p:cond delay="indefinite"/>
                      </p:stCondLst>
                      <p:childTnLst>
                        <p:par>
                          <p:cTn id="113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3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9" dur="500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0" dur="500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1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3" dur="500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4" dur="500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5" nodeType="clickEffect" fill="hold">
                      <p:stCondLst>
                        <p:cond delay="indefinite"/>
                      </p:stCondLst>
                      <p:childTnLst>
                        <p:par>
                          <p:cTn id="11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47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9" dur="500" fill="hold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0" dur="500" fill="hold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1" nodeType="clickEffect" fill="hold">
                      <p:stCondLst>
                        <p:cond delay="indefinite"/>
                      </p:stCondLst>
                      <p:childTnLst>
                        <p:par>
                          <p:cTn id="11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53" nodeType="clickEffect" fill="hold" presetClass="entr" presetID="4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 additive="repl">
                                        <p:cTn id="1155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6" nodeType="clickEffect" fill="hold">
                      <p:stCondLst>
                        <p:cond delay="indefinite"/>
                      </p:stCondLst>
                      <p:childTnLst>
                        <p:par>
                          <p:cTn id="115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5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0" dur="500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1" dur="500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2" nodeType="clickEffect" fill="hold">
                      <p:stCondLst>
                        <p:cond delay="indefinite"/>
                      </p:stCondLst>
                      <p:childTnLst>
                        <p:par>
                          <p:cTn id="11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6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6" dur="500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7" dur="500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8" nodeType="clickEffect" fill="hold">
                      <p:stCondLst>
                        <p:cond delay="indefinite"/>
                      </p:stCondLst>
                      <p:childTnLst>
                        <p:par>
                          <p:cTn id="11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70" nodeType="clickEffect" fill="hold" presetClass="entr" presetID="2" presetSubtype="4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2" dur="5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3" dur="5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4" nodeType="clickEffect" fill="hold">
                      <p:stCondLst>
                        <p:cond delay="indefinite"/>
                      </p:stCondLst>
                      <p:childTnLst>
                        <p:par>
                          <p:cTn id="11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76" nodeType="clickEffect" fill="hold" presetClass="entr" presetID="2" presetSubtype="4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8" dur="5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9" dur="5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Fonction enthalpie, les transformations réversibles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ZoneTexte 35"/>
          <p:cNvSpPr/>
          <p:nvPr/>
        </p:nvSpPr>
        <p:spPr>
          <a:xfrm>
            <a:off x="314640" y="500040"/>
            <a:ext cx="69174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Transformation adiabatique réversible d’un gaz parfait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05" name="Object 5"/>
              <p:cNvSpPr txBox="1"/>
              <p:nvPr/>
            </p:nvSpPr>
            <p:spPr>
              <a:xfrm>
                <a:off x="2066760" y="1192320"/>
                <a:ext cx="1791000" cy="3697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δQ</m:t>
                        </m:r>
                      </m:e>
                      <m:sub>
                        <m:r>
                          <m:t xml:space="preserve">r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δW</m:t>
                        </m:r>
                      </m:e>
                      <m:sub>
                        <m:r>
                          <m:t xml:space="preserve">r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05" name="Object 5"/>
              <p:cNvSpPr txBox="1"/>
              <p:nvPr/>
            </p:nvSpPr>
            <p:spPr>
              <a:xfrm>
                <a:off x="2066760" y="1192320"/>
                <a:ext cx="1791000" cy="36972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606" name="Étoile à 5 branches 15"/>
          <p:cNvSpPr/>
          <p:nvPr/>
        </p:nvSpPr>
        <p:spPr>
          <a:xfrm>
            <a:off x="1619280" y="121428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07" name="Object 6"/>
              <p:cNvSpPr txBox="1"/>
              <p:nvPr/>
            </p:nvSpPr>
            <p:spPr>
              <a:xfrm>
                <a:off x="2048040" y="1690560"/>
                <a:ext cx="2330280" cy="3682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δQ</m:t>
                        </m:r>
                      </m:e>
                      <m:sub>
                        <m:r>
                          <m:t xml:space="preserve">r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0</m:t>
                    </m:r>
                    <m:r>
                      <m:t xml:space="preserve">⇒</m:t>
                    </m:r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δW</m:t>
                        </m:r>
                      </m:e>
                      <m:sub>
                        <m:r>
                          <m:t xml:space="preserve">r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07" name="Object 6"/>
              <p:cNvSpPr txBox="1"/>
              <p:nvPr/>
            </p:nvSpPr>
            <p:spPr>
              <a:xfrm>
                <a:off x="2048040" y="1690560"/>
                <a:ext cx="2330280" cy="3682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608" name="Étoile à 5 branches 17"/>
          <p:cNvSpPr/>
          <p:nvPr/>
        </p:nvSpPr>
        <p:spPr>
          <a:xfrm>
            <a:off x="1619280" y="1714680"/>
            <a:ext cx="285840" cy="28548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09" name="Object 7"/>
              <p:cNvSpPr txBox="1"/>
              <p:nvPr/>
            </p:nvSpPr>
            <p:spPr>
              <a:xfrm>
                <a:off x="2143080" y="2286000"/>
                <a:ext cx="1692360" cy="4460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PV</m:t>
                    </m:r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nRT</m:t>
                    </m:r>
                  </m:oMath>
                </a14:m>
              </a:p>
            </p:txBody>
          </p:sp>
        </mc:Choice>
        <mc:Fallback>
          <p:sp>
            <p:nvSpPr>
              <p:cNvPr id="609" name="Object 7"/>
              <p:cNvSpPr txBox="1"/>
              <p:nvPr/>
            </p:nvSpPr>
            <p:spPr>
              <a:xfrm>
                <a:off x="2143080" y="2286000"/>
                <a:ext cx="1692360" cy="446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610" name="Étoile à 5 branches 19"/>
          <p:cNvSpPr/>
          <p:nvPr/>
        </p:nvSpPr>
        <p:spPr>
          <a:xfrm>
            <a:off x="1619280" y="235728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ZoneTexte 20"/>
          <p:cNvSpPr/>
          <p:nvPr/>
        </p:nvSpPr>
        <p:spPr>
          <a:xfrm>
            <a:off x="4512600" y="1143000"/>
            <a:ext cx="2944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Application du 1</a:t>
            </a:r>
            <a:r>
              <a:rPr b="0" lang="fr-FR" sz="20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ier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principe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ZoneTexte 21"/>
          <p:cNvSpPr/>
          <p:nvPr/>
        </p:nvSpPr>
        <p:spPr>
          <a:xfrm>
            <a:off x="4506120" y="1643040"/>
            <a:ext cx="30006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Transformation adiabatique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13" name="Object 8"/>
              <p:cNvSpPr txBox="1"/>
              <p:nvPr/>
            </p:nvSpPr>
            <p:spPr>
              <a:xfrm>
                <a:off x="2143080" y="3392640"/>
                <a:ext cx="1835280" cy="480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613" name="Object 8"/>
              <p:cNvSpPr txBox="1"/>
              <p:nvPr/>
            </p:nvSpPr>
            <p:spPr>
              <a:xfrm>
                <a:off x="2143080" y="3392640"/>
                <a:ext cx="1835280" cy="480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614" name="Étoile à 5 branches 23"/>
          <p:cNvSpPr/>
          <p:nvPr/>
        </p:nvSpPr>
        <p:spPr>
          <a:xfrm>
            <a:off x="1636560" y="353520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ZoneTexte 24"/>
          <p:cNvSpPr/>
          <p:nvPr/>
        </p:nvSpPr>
        <p:spPr>
          <a:xfrm>
            <a:off x="4509720" y="2243160"/>
            <a:ext cx="2632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Eq. d’état du gaz parfait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ZoneTexte 25"/>
          <p:cNvSpPr/>
          <p:nvPr/>
        </p:nvSpPr>
        <p:spPr>
          <a:xfrm>
            <a:off x="4506480" y="3392640"/>
            <a:ext cx="14104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Loi de joule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17" name="Object 9"/>
              <p:cNvSpPr txBox="1"/>
              <p:nvPr/>
            </p:nvSpPr>
            <p:spPr>
              <a:xfrm>
                <a:off x="2143080" y="3909960"/>
                <a:ext cx="3641760" cy="876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δW</m:t>
                        </m:r>
                      </m:e>
                      <m:sub>
                        <m:r>
                          <m:t xml:space="preserve">r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PdV</m:t>
                    </m:r>
                    <m:r>
                      <m:t xml:space="preserve">=</m:t>
                    </m:r>
                    <m:r>
                      <m:t xml:space="preserve">−</m:t>
                    </m:r>
                    <m:d>
                      <m:dPr>
                        <m:begChr m:val="("/>
                        <m:endChr m:val=")"/>
                      </m:dPr>
                      <m:e>
                        <m:r>
                          <m:rPr>
                            <m:lit/>
                            <m:nor/>
                          </m:rPr>
                          <m:t xml:space="preserve">nRT</m:t>
                        </m:r>
                      </m:e>
                    </m:d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t xml:space="preserve">V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17" name="Object 9"/>
              <p:cNvSpPr txBox="1"/>
              <p:nvPr/>
            </p:nvSpPr>
            <p:spPr>
              <a:xfrm>
                <a:off x="2143080" y="3909960"/>
                <a:ext cx="3641760" cy="8762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p:sp>
        <p:nvSpPr>
          <p:cNvPr id="618" name="Étoile à 5 branches 27"/>
          <p:cNvSpPr/>
          <p:nvPr/>
        </p:nvSpPr>
        <p:spPr>
          <a:xfrm>
            <a:off x="1643040" y="424980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ZoneTexte 28"/>
          <p:cNvSpPr/>
          <p:nvPr/>
        </p:nvSpPr>
        <p:spPr>
          <a:xfrm>
            <a:off x="6075720" y="4106880"/>
            <a:ext cx="21312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Travail de pression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20" name="Object 10"/>
              <p:cNvSpPr txBox="1"/>
              <p:nvPr/>
            </p:nvSpPr>
            <p:spPr>
              <a:xfrm>
                <a:off x="2571840" y="5429160"/>
                <a:ext cx="2031840" cy="876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dP</m:t>
                        </m:r>
                      </m:num>
                      <m:den>
                        <m:r>
                          <m:t xml:space="preserve">P</m:t>
                        </m:r>
                      </m:den>
                    </m:f>
                    <m:r>
                      <m:t xml:space="preserve">+</m:t>
                    </m:r>
                    <m:r>
                      <m:t xml:space="preserve">γ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t xml:space="preserve">V</m:t>
                        </m:r>
                      </m:den>
                    </m:f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620" name="Object 10"/>
              <p:cNvSpPr txBox="1"/>
              <p:nvPr/>
            </p:nvSpPr>
            <p:spPr>
              <a:xfrm>
                <a:off x="2571840" y="5429160"/>
                <a:ext cx="2031840" cy="8762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p:sp>
        <p:nvSpPr>
          <p:cNvPr id="621" name="Accolade fermante 29"/>
          <p:cNvSpPr/>
          <p:nvPr/>
        </p:nvSpPr>
        <p:spPr>
          <a:xfrm rot="5400000">
            <a:off x="3321720" y="3107520"/>
            <a:ext cx="642960" cy="4286160"/>
          </a:xfrm>
          <a:custGeom>
            <a:avLst/>
            <a:gdLst>
              <a:gd name="textAreaLeft" fmla="*/ 0 w 642960"/>
              <a:gd name="textAreaRight" fmla="*/ 232200 w 642960"/>
              <a:gd name="textAreaTop" fmla="*/ 16560 h 4286160"/>
              <a:gd name="textAreaBottom" fmla="*/ 4269600 h 428616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135"/>
                  <a:pt x="10800" y="270"/>
                </a:cubicBezTo>
                <a:lnTo>
                  <a:pt x="10800" y="10530"/>
                </a:lnTo>
                <a:cubicBezTo>
                  <a:pt x="10800" y="10665"/>
                  <a:pt x="16200" y="10800"/>
                  <a:pt x="21600" y="10800"/>
                </a:cubicBezTo>
                <a:cubicBezTo>
                  <a:pt x="16200" y="10800"/>
                  <a:pt x="10800" y="10935"/>
                  <a:pt x="10800" y="11070"/>
                </a:cubicBezTo>
                <a:lnTo>
                  <a:pt x="10800" y="21330"/>
                </a:lnTo>
                <a:cubicBezTo>
                  <a:pt x="10800" y="21465"/>
                  <a:pt x="5400" y="21600"/>
                  <a:pt x="0" y="21600"/>
                </a:cubicBezTo>
              </a:path>
            </a:pathLst>
          </a:custGeom>
          <a:noFill/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22" name="Object 11"/>
              <p:cNvSpPr txBox="1"/>
              <p:nvPr/>
            </p:nvSpPr>
            <p:spPr>
              <a:xfrm>
                <a:off x="5786280" y="5622840"/>
                <a:ext cx="3133800" cy="592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PV</m:t>
                        </m:r>
                      </m:e>
                      <m:sup>
                        <m:r>
                          <m:t xml:space="preserve">γ</m:t>
                        </m:r>
                      </m:sup>
                    </m:sSup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Constante</m:t>
                    </m:r>
                  </m:oMath>
                </a14:m>
              </a:p>
            </p:txBody>
          </p:sp>
        </mc:Choice>
        <mc:Fallback>
          <p:sp>
            <p:nvSpPr>
              <p:cNvPr id="622" name="Object 11"/>
              <p:cNvSpPr txBox="1"/>
              <p:nvPr/>
            </p:nvSpPr>
            <p:spPr>
              <a:xfrm>
                <a:off x="5786280" y="5622840"/>
                <a:ext cx="3133800" cy="592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23" name="Object 12"/>
              <p:cNvSpPr txBox="1"/>
              <p:nvPr/>
            </p:nvSpPr>
            <p:spPr>
              <a:xfrm>
                <a:off x="2143080" y="2786040"/>
                <a:ext cx="1724040" cy="480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P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t xml:space="preserve">=</m:t>
                    </m:r>
                    <m:r>
                      <m:t xml:space="preserve">R</m:t>
                    </m:r>
                  </m:oMath>
                </a14:m>
              </a:p>
            </p:txBody>
          </p:sp>
        </mc:Choice>
        <mc:Fallback>
          <p:sp>
            <p:nvSpPr>
              <p:cNvPr id="623" name="Object 12"/>
              <p:cNvSpPr txBox="1"/>
              <p:nvPr/>
            </p:nvSpPr>
            <p:spPr>
              <a:xfrm>
                <a:off x="2143080" y="2786040"/>
                <a:ext cx="1724040" cy="4809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</p:sp>
        </mc:Fallback>
      </mc:AlternateContent>
      <p:sp>
        <p:nvSpPr>
          <p:cNvPr id="624" name="Étoile à 5 branches 33"/>
          <p:cNvSpPr/>
          <p:nvPr/>
        </p:nvSpPr>
        <p:spPr>
          <a:xfrm>
            <a:off x="1643040" y="2928960"/>
            <a:ext cx="28584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ZoneTexte 34"/>
          <p:cNvSpPr/>
          <p:nvPr/>
        </p:nvSpPr>
        <p:spPr>
          <a:xfrm>
            <a:off x="4508640" y="2743200"/>
            <a:ext cx="2074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Relation de Mayer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Flèche droite 35"/>
          <p:cNvSpPr/>
          <p:nvPr/>
        </p:nvSpPr>
        <p:spPr>
          <a:xfrm>
            <a:off x="4714920" y="5643720"/>
            <a:ext cx="1000080" cy="5000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27" name="Object 27"/>
              <p:cNvSpPr txBox="1"/>
              <p:nvPr/>
            </p:nvSpPr>
            <p:spPr>
              <a:xfrm>
                <a:off x="5929200" y="4500720"/>
                <a:ext cx="862200" cy="78552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γ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P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V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27" name="Object 27"/>
              <p:cNvSpPr txBox="1"/>
              <p:nvPr/>
            </p:nvSpPr>
            <p:spPr>
              <a:xfrm>
                <a:off x="5929200" y="4500720"/>
                <a:ext cx="862200" cy="785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80" dur="indefinite" restart="never" nodeType="tmRoot">
          <p:childTnLst>
            <p:seq>
              <p:cTn id="1181" dur="indefinite" nodeType="mainSeq">
                <p:childTnLst>
                  <p:par>
                    <p:cTn id="1182" nodeType="clickEffect" fill="hold">
                      <p:stCondLst>
                        <p:cond delay="indefinite"/>
                      </p:stCondLst>
                      <p:childTnLst>
                        <p:par>
                          <p:cTn id="11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8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6" dur="50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7" dur="50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8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0" dur="500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1" dur="500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2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4" dur="50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5" dur="50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6" nodeType="clickEffect" fill="hold">
                      <p:stCondLst>
                        <p:cond delay="indefinite"/>
                      </p:stCondLst>
                      <p:childTnLst>
                        <p:par>
                          <p:cTn id="11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9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0" dur="500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1" dur="500" fill="hold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2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4" dur="500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5" dur="500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8" dur="5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9" dur="5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0" nodeType="clickEffect" fill="hold">
                      <p:stCondLst>
                        <p:cond delay="indefinite"/>
                      </p:stCondLst>
                      <p:childTnLst>
                        <p:par>
                          <p:cTn id="12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12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4" dur="50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5" dur="500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6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8" dur="5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9" dur="5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0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2" dur="500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3" dur="500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4" nodeType="clickEffect" fill="hold">
                      <p:stCondLst>
                        <p:cond delay="indefinite"/>
                      </p:stCondLst>
                      <p:childTnLst>
                        <p:par>
                          <p:cTn id="122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26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8" dur="50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9" dur="50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0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2" dur="500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3" dur="500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4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6" dur="500" fill="hold"/>
                                        <p:tgtEl>
                                          <p:spTgt spid="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7" dur="500" fill="hold"/>
                                        <p:tgtEl>
                                          <p:spTgt spid="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8" nodeType="clickEffect" fill="hold">
                      <p:stCondLst>
                        <p:cond delay="indefinite"/>
                      </p:stCondLst>
                      <p:childTnLst>
                        <p:par>
                          <p:cTn id="12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40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2" dur="500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3" dur="500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4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6" dur="500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7" dur="500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8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0" dur="500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1" dur="500" fill="hold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2" nodeType="clickEffect" fill="hold">
                      <p:stCondLst>
                        <p:cond delay="indefinite"/>
                      </p:stCondLst>
                      <p:childTnLst>
                        <p:par>
                          <p:cTn id="12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54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6" dur="500" fill="hold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7" dur="500" fill="hold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8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0" dur="500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1" dur="500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2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4" dur="500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5" dur="500" fill="hold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6" nodeType="clickEffect" fill="hold">
                      <p:stCondLst>
                        <p:cond delay="indefinite"/>
                      </p:stCondLst>
                      <p:childTnLst>
                        <p:par>
                          <p:cTn id="126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6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0" dur="500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1" dur="500" fill="hold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2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4" dur="5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5" dur="500" fill="hold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6" nodeType="clickEffect" fill="hold">
                      <p:stCondLst>
                        <p:cond delay="indefinite"/>
                      </p:stCondLst>
                      <p:childTnLst>
                        <p:par>
                          <p:cTn id="127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78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0" dur="500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1" dur="500" fill="hold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2" nodeType="clickEffect" fill="hold">
                      <p:stCondLst>
                        <p:cond delay="indefinite"/>
                      </p:stCondLst>
                      <p:childTnLst>
                        <p:par>
                          <p:cTn id="128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84" nodeType="click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6" dur="5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7" dur="500" fill="hold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8" nodeType="withEffect" fill="hold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0" dur="500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1" dur="500" fill="hold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Fonction enthalpie, les transformations réversibles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ZoneTexte 35"/>
          <p:cNvSpPr/>
          <p:nvPr/>
        </p:nvSpPr>
        <p:spPr>
          <a:xfrm>
            <a:off x="216360" y="500040"/>
            <a:ext cx="5149080" cy="76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Transformation polytropique réversible 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Modélisation d’une transformation réelle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1" name="Picture 3" descr=""/>
          <p:cNvPicPr/>
          <p:nvPr/>
        </p:nvPicPr>
        <p:blipFill>
          <a:blip r:embed="rId1"/>
          <a:stretch/>
        </p:blipFill>
        <p:spPr>
          <a:xfrm>
            <a:off x="1000080" y="1373040"/>
            <a:ext cx="6215040" cy="348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Rectangle 40"/>
          <p:cNvSpPr/>
          <p:nvPr/>
        </p:nvSpPr>
        <p:spPr>
          <a:xfrm>
            <a:off x="0" y="4857840"/>
            <a:ext cx="907272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Définition 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 gaz parfait subit une transformation polytropique réversible d'indice </a:t>
            </a:r>
            <a:r>
              <a:rPr b="0" i="1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k 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définie par :  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33" name="Object 17"/>
              <p:cNvSpPr txBox="1"/>
              <p:nvPr/>
            </p:nvSpPr>
            <p:spPr>
              <a:xfrm>
                <a:off x="4500720" y="5715000"/>
                <a:ext cx="1560240" cy="781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=</m:t>
                    </m:r>
                    <m:f>
                      <m:num>
                        <m:d>
                          <m:dPr>
                            <m:begChr m:val="("/>
                            <m:endChr m:val=")"/>
                          </m:dPr>
                          <m:e>
                            <m:sSub>
                              <m:e>
                                <m:r>
                                  <m:t xml:space="preserve">C</m:t>
                                </m:r>
                              </m:e>
                              <m:sub>
                                <m:r>
                                  <m:t xml:space="preserve">P</m:t>
                                </m:r>
                              </m:sub>
                            </m:sSub>
                            <m:r>
                              <m:t xml:space="preserve">−</m:t>
                            </m:r>
                            <m:sSub>
                              <m:e>
                                <m:r>
                                  <m:t xml:space="preserve">C</m:t>
                                </m:r>
                              </m:e>
                              <m:sub>
                                <m:r>
                                  <m:t xml:space="preserve">k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("/>
                            <m:endChr m:val=")"/>
                          </m:dPr>
                          <m:e>
                            <m:sSub>
                              <m:e>
                                <m:r>
                                  <m:t xml:space="preserve">C</m:t>
                                </m:r>
                              </m:e>
                              <m:sub>
                                <m:r>
                                  <m:t xml:space="preserve">V</m:t>
                                </m:r>
                              </m:sub>
                            </m:sSub>
                            <m:r>
                              <m:t xml:space="preserve">−</m:t>
                            </m:r>
                            <m:sSub>
                              <m:e>
                                <m:r>
                                  <m:t xml:space="preserve">C</m:t>
                                </m:r>
                              </m:e>
                              <m:sub>
                                <m:r>
                                  <m:t xml:space="preserve">k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33" name="Object 17"/>
              <p:cNvSpPr txBox="1"/>
              <p:nvPr/>
            </p:nvSpPr>
            <p:spPr>
              <a:xfrm>
                <a:off x="4500720" y="5715000"/>
                <a:ext cx="1560240" cy="781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34" name="Object 18"/>
              <p:cNvSpPr txBox="1"/>
              <p:nvPr/>
            </p:nvSpPr>
            <p:spPr>
              <a:xfrm>
                <a:off x="2500200" y="5929200"/>
                <a:ext cx="1538280" cy="390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dQ</m:t>
                        </m:r>
                      </m:e>
                      <m:sub>
                        <m:r>
                          <m:t xml:space="preserve">r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k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</m:oMath>
                </a14:m>
              </a:p>
            </p:txBody>
          </p:sp>
        </mc:Choice>
        <mc:Fallback>
          <p:sp>
            <p:nvSpPr>
              <p:cNvPr id="634" name="Object 18"/>
              <p:cNvSpPr txBox="1"/>
              <p:nvPr/>
            </p:nvSpPr>
            <p:spPr>
              <a:xfrm>
                <a:off x="2500200" y="5929200"/>
                <a:ext cx="1538280" cy="390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Fonction enthalpie, les transformations réversibles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ZoneTexte 35"/>
          <p:cNvSpPr/>
          <p:nvPr/>
        </p:nvSpPr>
        <p:spPr>
          <a:xfrm>
            <a:off x="217080" y="500040"/>
            <a:ext cx="522540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Transformation polytropique réversible 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Modélisation d’une transformation réelle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38" name="Object 2"/>
              <p:cNvSpPr txBox="1"/>
              <p:nvPr/>
            </p:nvSpPr>
            <p:spPr>
              <a:xfrm>
                <a:off x="1852560" y="1887480"/>
                <a:ext cx="1790640" cy="370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rPr>
                        <m:lit/>
                        <m:nor/>
                      </m:rPr>
                      <m:t xml:space="preserve">dU</m:t>
                    </m:r>
                    <m:r>
                      <m:t xml:space="preserve">=</m:t>
                    </m:r>
                    <m:sSub>
                      <m:e>
                        <m:r>
                          <m:t xml:space="preserve">δQ</m:t>
                        </m:r>
                      </m:e>
                      <m:sub>
                        <m:r>
                          <m:t xml:space="preserve">r</m:t>
                        </m:r>
                      </m:sub>
                    </m:sSub>
                    <m:r>
                      <m:t xml:space="preserve">+</m:t>
                    </m:r>
                    <m:sSub>
                      <m:e>
                        <m:r>
                          <m:t xml:space="preserve">δW</m:t>
                        </m:r>
                      </m:e>
                      <m:sub>
                        <m:r>
                          <m:t xml:space="preserve">r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638" name="Object 2"/>
              <p:cNvSpPr txBox="1"/>
              <p:nvPr/>
            </p:nvSpPr>
            <p:spPr>
              <a:xfrm>
                <a:off x="1852560" y="1887480"/>
                <a:ext cx="1790640" cy="37008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sp>
        <p:nvSpPr>
          <p:cNvPr id="639" name="Étoile à 5 branches 15"/>
          <p:cNvSpPr/>
          <p:nvPr/>
        </p:nvSpPr>
        <p:spPr>
          <a:xfrm>
            <a:off x="1405080" y="1909800"/>
            <a:ext cx="285480" cy="285840"/>
          </a:xfrm>
          <a:custGeom>
            <a:avLst/>
            <a:gdLst>
              <a:gd name="GluePoint1X" fmla="*/ 0 w 285750"/>
              <a:gd name="GluePoint1Y" fmla="*/ 109147 h 285750"/>
              <a:gd name="GluePoint2X" fmla="*/ 109147 w 285750"/>
              <a:gd name="GluePoint2Y" fmla="*/ 109147 h 285750"/>
              <a:gd name="GluePoint3X" fmla="*/ 142875 w 285750"/>
              <a:gd name="GluePoint3Y" fmla="*/ 0 h 285750"/>
              <a:gd name="GluePoint4X" fmla="*/ 176603 w 285750"/>
              <a:gd name="GluePoint4Y" fmla="*/ 109147 h 285750"/>
              <a:gd name="GluePoint5X" fmla="*/ 285750 w 285750"/>
              <a:gd name="GluePoint5Y" fmla="*/ 109147 h 285750"/>
              <a:gd name="GluePoint6X" fmla="*/ 197447 w 285750"/>
              <a:gd name="GluePoint6Y" fmla="*/ 176602 h 285750"/>
              <a:gd name="GluePoint7X" fmla="*/ 231176 w 285750"/>
              <a:gd name="GluePoint7Y" fmla="*/ 285749 h 285750"/>
              <a:gd name="GluePoint8X" fmla="*/ 142875 w 285750"/>
              <a:gd name="GluePoint8Y" fmla="*/ 218292 h 285750"/>
              <a:gd name="GluePoint9X" fmla="*/ 54574 w 285750"/>
              <a:gd name="GluePoint9Y" fmla="*/ 285749 h 285750"/>
              <a:gd name="GluePoint10X" fmla="*/ 88303 w 285750"/>
              <a:gd name="GluePoint10Y" fmla="*/ 176602 h 285750"/>
              <a:gd name="GluePoint11X" fmla="*/ 0 w 285750"/>
              <a:gd name="GluePoint11Y" fmla="*/ 109147 h 2857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l" t="t" r="r" b="b"/>
            <a:pathLst>
              <a:path w="285750" h="285750">
                <a:moveTo>
                  <a:pt x="0" y="109147"/>
                </a:moveTo>
                <a:lnTo>
                  <a:pt x="109147" y="109147"/>
                </a:lnTo>
                <a:lnTo>
                  <a:pt x="142875" y="0"/>
                </a:lnTo>
                <a:lnTo>
                  <a:pt x="176603" y="109147"/>
                </a:lnTo>
                <a:lnTo>
                  <a:pt x="285750" y="109147"/>
                </a:lnTo>
                <a:lnTo>
                  <a:pt x="197447" y="176602"/>
                </a:lnTo>
                <a:lnTo>
                  <a:pt x="231176" y="285749"/>
                </a:lnTo>
                <a:lnTo>
                  <a:pt x="142875" y="218292"/>
                </a:lnTo>
                <a:lnTo>
                  <a:pt x="54574" y="285749"/>
                </a:lnTo>
                <a:lnTo>
                  <a:pt x="88303" y="176602"/>
                </a:lnTo>
                <a:lnTo>
                  <a:pt x="0" y="109147"/>
                </a:lnTo>
                <a:close/>
              </a:path>
            </a:pathLst>
          </a:custGeom>
          <a:solidFill>
            <a:srgbClr val="4f81bd"/>
          </a:solidFill>
          <a:ln w="25560">
            <a:solidFill>
              <a:srgbClr val="385d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40" name="Object 3"/>
              <p:cNvSpPr txBox="1"/>
              <p:nvPr/>
            </p:nvSpPr>
            <p:spPr>
              <a:xfrm>
                <a:off x="1876320" y="2376360"/>
                <a:ext cx="2624400" cy="3906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V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  <m:r>
                      <m:t xml:space="preserve">=</m:t>
                    </m:r>
                    <m:sSub>
                      <m:e>
                        <m:r>
                          <m:rPr>
                            <m:lit/>
                            <m:nor/>
                          </m:rPr>
                          <m:t xml:space="preserve">nC</m:t>
                        </m:r>
                      </m:e>
                      <m:sub>
                        <m:r>
                          <m:t xml:space="preserve">k</m:t>
                        </m:r>
                      </m:sub>
                    </m:sSub>
                    <m:r>
                      <m:rPr>
                        <m:lit/>
                        <m:nor/>
                      </m:rPr>
                      <m:t xml:space="preserve">dT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PdV</m:t>
                    </m:r>
                  </m:oMath>
                </a14:m>
              </a:p>
            </p:txBody>
          </p:sp>
        </mc:Choice>
        <mc:Fallback>
          <p:sp>
            <p:nvSpPr>
              <p:cNvPr id="640" name="Object 3"/>
              <p:cNvSpPr txBox="1"/>
              <p:nvPr/>
            </p:nvSpPr>
            <p:spPr>
              <a:xfrm>
                <a:off x="1876320" y="2376360"/>
                <a:ext cx="2624400" cy="390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641" name="ZoneTexte 20"/>
          <p:cNvSpPr/>
          <p:nvPr/>
        </p:nvSpPr>
        <p:spPr>
          <a:xfrm>
            <a:off x="4093920" y="1857240"/>
            <a:ext cx="2944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Application du 1</a:t>
            </a:r>
            <a:r>
              <a:rPr b="0" lang="fr-FR" sz="20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ier</a:t>
            </a: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principe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42" name="Object 4"/>
              <p:cNvSpPr txBox="1"/>
              <p:nvPr/>
            </p:nvSpPr>
            <p:spPr>
              <a:xfrm>
                <a:off x="2500200" y="5338800"/>
                <a:ext cx="2032200" cy="8762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dP</m:t>
                        </m:r>
                      </m:num>
                      <m:den>
                        <m:r>
                          <m:t xml:space="preserve">P</m:t>
                        </m:r>
                      </m:den>
                    </m:f>
                    <m:r>
                      <m:t xml:space="preserve">+</m:t>
                    </m:r>
                    <m:r>
                      <m:t xml:space="preserve">k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t xml:space="preserve">V</m:t>
                        </m:r>
                      </m:den>
                    </m:f>
                    <m:r>
                      <m:t xml:space="preserve">=</m:t>
                    </m:r>
                    <m:r>
                      <m:t xml:space="preserve">0</m:t>
                    </m:r>
                  </m:oMath>
                </a14:m>
              </a:p>
            </p:txBody>
          </p:sp>
        </mc:Choice>
        <mc:Fallback>
          <p:sp>
            <p:nvSpPr>
              <p:cNvPr id="642" name="Object 4"/>
              <p:cNvSpPr txBox="1"/>
              <p:nvPr/>
            </p:nvSpPr>
            <p:spPr>
              <a:xfrm>
                <a:off x="2500200" y="5338800"/>
                <a:ext cx="2032200" cy="876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643" name="Accolade fermante 30"/>
          <p:cNvSpPr/>
          <p:nvPr/>
        </p:nvSpPr>
        <p:spPr>
          <a:xfrm rot="5400000">
            <a:off x="3178440" y="2659680"/>
            <a:ext cx="642960" cy="4286520"/>
          </a:xfrm>
          <a:custGeom>
            <a:avLst/>
            <a:gdLst>
              <a:gd name="textAreaLeft" fmla="*/ 0 w 642960"/>
              <a:gd name="textAreaRight" fmla="*/ 232200 w 642960"/>
              <a:gd name="textAreaTop" fmla="*/ 16560 h 4286520"/>
              <a:gd name="textAreaBottom" fmla="*/ 4269960 h 428652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135"/>
                  <a:pt x="10800" y="270"/>
                </a:cubicBezTo>
                <a:lnTo>
                  <a:pt x="10800" y="10530"/>
                </a:lnTo>
                <a:cubicBezTo>
                  <a:pt x="10800" y="10665"/>
                  <a:pt x="16200" y="10800"/>
                  <a:pt x="21600" y="10800"/>
                </a:cubicBezTo>
                <a:cubicBezTo>
                  <a:pt x="16200" y="10800"/>
                  <a:pt x="10800" y="10935"/>
                  <a:pt x="10800" y="11070"/>
                </a:cubicBezTo>
                <a:lnTo>
                  <a:pt x="10800" y="21330"/>
                </a:lnTo>
                <a:cubicBezTo>
                  <a:pt x="10800" y="21465"/>
                  <a:pt x="5400" y="21600"/>
                  <a:pt x="0" y="21600"/>
                </a:cubicBezTo>
              </a:path>
            </a:pathLst>
          </a:custGeom>
          <a:noFill/>
          <a:ln w="9360">
            <a:solidFill>
              <a:srgbClr val="4a7eb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44" name="Object 5"/>
              <p:cNvSpPr txBox="1"/>
              <p:nvPr/>
            </p:nvSpPr>
            <p:spPr>
              <a:xfrm>
                <a:off x="5796000" y="5553000"/>
                <a:ext cx="3133800" cy="592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PV</m:t>
                        </m:r>
                      </m:e>
                      <m:sup>
                        <m:r>
                          <m:t xml:space="preserve">k</m:t>
                        </m:r>
                      </m:sup>
                    </m:sSup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Constante</m:t>
                    </m:r>
                  </m:oMath>
                </a14:m>
              </a:p>
            </p:txBody>
          </p:sp>
        </mc:Choice>
        <mc:Fallback>
          <p:sp>
            <p:nvSpPr>
              <p:cNvPr id="644" name="Object 5"/>
              <p:cNvSpPr txBox="1"/>
              <p:nvPr/>
            </p:nvSpPr>
            <p:spPr>
              <a:xfrm>
                <a:off x="5796000" y="5553000"/>
                <a:ext cx="3133800" cy="592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</p:sp>
        </mc:Fallback>
      </mc:AlternateContent>
      <p:sp>
        <p:nvSpPr>
          <p:cNvPr id="645" name="Flèche droite 35"/>
          <p:cNvSpPr/>
          <p:nvPr/>
        </p:nvSpPr>
        <p:spPr>
          <a:xfrm>
            <a:off x="4643280" y="5624640"/>
            <a:ext cx="1000440" cy="500040"/>
          </a:xfrm>
          <a:prstGeom prst="rightArrow">
            <a:avLst>
              <a:gd name="adj1" fmla="val 50000"/>
              <a:gd name="adj2" fmla="val 50018"/>
            </a:avLst>
          </a:prstGeom>
          <a:solidFill>
            <a:srgbClr val="4f81bd"/>
          </a:solidFill>
          <a:ln w="25560">
            <a:solidFill>
              <a:srgbClr val="385d8a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46" name="Object 6"/>
              <p:cNvSpPr txBox="1"/>
              <p:nvPr/>
            </p:nvSpPr>
            <p:spPr>
              <a:xfrm>
                <a:off x="1868400" y="2909880"/>
                <a:ext cx="2692440" cy="712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n</m:t>
                    </m:r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V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k</m:t>
                            </m:r>
                          </m:sub>
                        </m:sSub>
                      </m:e>
                    </m:d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dT</m:t>
                        </m:r>
                      </m:num>
                      <m:den>
                        <m:r>
                          <m:t xml:space="preserve">T</m:t>
                        </m:r>
                      </m:den>
                    </m:f>
                    <m:r>
                      <m:t xml:space="preserve">=</m:t>
                    </m:r>
                    <m:r>
                      <m:t xml:space="preserve">−</m:t>
                    </m:r>
                    <m:f>
                      <m:num>
                        <m:r>
                          <m:t xml:space="preserve">P</m:t>
                        </m:r>
                      </m:num>
                      <m:den>
                        <m:r>
                          <m:t xml:space="preserve">T</m:t>
                        </m:r>
                      </m:den>
                    </m:f>
                    <m:r>
                      <m:rPr>
                        <m:lit/>
                        <m:nor/>
                      </m:rPr>
                      <m:t xml:space="preserve">dV</m:t>
                    </m:r>
                  </m:oMath>
                </a14:m>
              </a:p>
            </p:txBody>
          </p:sp>
        </mc:Choice>
        <mc:Fallback>
          <p:sp>
            <p:nvSpPr>
              <p:cNvPr id="646" name="Object 6"/>
              <p:cNvSpPr txBox="1"/>
              <p:nvPr/>
            </p:nvSpPr>
            <p:spPr>
              <a:xfrm>
                <a:off x="1868400" y="2909880"/>
                <a:ext cx="2692440" cy="712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47" name="Object 7"/>
              <p:cNvSpPr txBox="1"/>
              <p:nvPr/>
            </p:nvSpPr>
            <p:spPr>
              <a:xfrm>
                <a:off x="1857240" y="3838680"/>
                <a:ext cx="2986200" cy="7128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n</m:t>
                    </m:r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V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k</m:t>
                            </m:r>
                          </m:sub>
                        </m:sSub>
                      </m:e>
                    </m:d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dPV</m:t>
                        </m:r>
                      </m:num>
                      <m:den>
                        <m:r>
                          <m:rPr>
                            <m:lit/>
                            <m:nor/>
                          </m:rPr>
                          <m:t xml:space="preserve">PV</m:t>
                        </m:r>
                      </m:den>
                    </m:f>
                    <m:r>
                      <m:t xml:space="preserve">=</m:t>
                    </m:r>
                    <m:r>
                      <m:t xml:space="preserve">−</m:t>
                    </m:r>
                    <m:r>
                      <m:rPr>
                        <m:lit/>
                        <m:nor/>
                      </m:rPr>
                      <m:t xml:space="preserve">nR</m:t>
                    </m:r>
                    <m:f>
                      <m:num>
                        <m:r>
                          <m:rPr>
                            <m:lit/>
                            <m:nor/>
                          </m:rPr>
                          <m:t xml:space="preserve">dV</m:t>
                        </m:r>
                      </m:num>
                      <m:den>
                        <m:r>
                          <m:t xml:space="preserve">V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47" name="Object 7"/>
              <p:cNvSpPr txBox="1"/>
              <p:nvPr/>
            </p:nvSpPr>
            <p:spPr>
              <a:xfrm>
                <a:off x="1857240" y="3838680"/>
                <a:ext cx="2986200" cy="712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</p:sp>
        </mc:Fallback>
      </mc:AlternateContent>
      <mc:AlternateContent>
        <mc:Choice xmlns:a14="http://schemas.microsoft.com/office/drawing/2010/main" Requires="a14">
          <p:sp>
            <p:nvSpPr>
              <p:cNvPr id="648" name="Object 15"/>
              <p:cNvSpPr txBox="1"/>
              <p:nvPr/>
            </p:nvSpPr>
            <p:spPr>
              <a:xfrm>
                <a:off x="6045120" y="3835440"/>
                <a:ext cx="1384560" cy="8319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=</m:t>
                    </m:r>
                    <m:f>
                      <m:num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p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k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v</m:t>
                            </m:r>
                          </m:sub>
                        </m:sSub>
                        <m:r>
                          <m:t xml:space="preserve">−</m:t>
                        </m:r>
                        <m:sSub>
                          <m:e>
                            <m:r>
                              <m:t xml:space="preserve">C</m:t>
                            </m:r>
                          </m:e>
                          <m:sub>
                            <m:r>
                              <m:t xml:space="preserve">k</m:t>
                            </m:r>
                          </m:sub>
                        </m:sSub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48" name="Object 15"/>
              <p:cNvSpPr txBox="1"/>
              <p:nvPr/>
            </p:nvSpPr>
            <p:spPr>
              <a:xfrm>
                <a:off x="6045120" y="3835440"/>
                <a:ext cx="1384560" cy="8319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</p:sp>
        </mc:Fallback>
      </mc:AlternateContent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92" dur="indefinite" restart="never" nodeType="tmRoot">
          <p:childTnLst>
            <p:seq>
              <p:cTn id="1293" dur="indefinite" nodeType="mainSeq">
                <p:childTnLst>
                  <p:par>
                    <p:cTn id="1294" nodeType="clickEffect" fill="hold">
                      <p:stCondLst>
                        <p:cond delay="indefinite"/>
                      </p:stCondLst>
                      <p:childTnLst>
                        <p:par>
                          <p:cTn id="12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29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98"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9" nodeType="clickEffect" fill="hold">
                      <p:stCondLst>
                        <p:cond delay="indefinite"/>
                      </p:stCondLst>
                      <p:childTnLst>
                        <p:par>
                          <p:cTn id="130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03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4" nodeType="clickEffect" fill="hold">
                      <p:stCondLst>
                        <p:cond delay="indefinite"/>
                      </p:stCondLst>
                      <p:childTnLst>
                        <p:par>
                          <p:cTn id="130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0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08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9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11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2" nodeType="clickEffect" fill="hold">
                      <p:stCondLst>
                        <p:cond delay="indefinite"/>
                      </p:stCondLst>
                      <p:childTnLst>
                        <p:par>
                          <p:cTn id="131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14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316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7" nodeType="with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319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0" nodeType="clickEffect" fill="hold">
                      <p:stCondLst>
                        <p:cond delay="indefinite"/>
                      </p:stCondLst>
                      <p:childTnLst>
                        <p:par>
                          <p:cTn id="13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2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24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5" nodeType="clickEffect" fill="hold">
                      <p:stCondLst>
                        <p:cond delay="indefinite"/>
                      </p:stCondLst>
                      <p:childTnLst>
                        <p:par>
                          <p:cTn id="132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2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29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Rectangle 23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Fonction enthalpie, les transformations réversibles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ZoneTexte 35"/>
          <p:cNvSpPr/>
          <p:nvPr/>
        </p:nvSpPr>
        <p:spPr>
          <a:xfrm>
            <a:off x="207000" y="500040"/>
            <a:ext cx="49881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92d050"/>
                </a:solidFill>
                <a:effectLst/>
                <a:uFillTx/>
                <a:latin typeface="Times New Roman"/>
                <a:ea typeface="Times New Roman"/>
              </a:rPr>
              <a:t>Transformation polytropique réversible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652" name="Object 8"/>
              <p:cNvSpPr txBox="1"/>
              <p:nvPr/>
            </p:nvSpPr>
            <p:spPr>
              <a:xfrm>
                <a:off x="2714760" y="1765440"/>
                <a:ext cx="3133440" cy="59184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p>
                      <m:e>
                        <m:r>
                          <m:rPr>
                            <m:lit/>
                            <m:nor/>
                          </m:rPr>
                          <m:t xml:space="preserve">PV</m:t>
                        </m:r>
                      </m:e>
                      <m:sup>
                        <m:r>
                          <m:t xml:space="preserve">k</m:t>
                        </m:r>
                      </m:sup>
                    </m:sSup>
                    <m:r>
                      <m:t xml:space="preserve">=</m:t>
                    </m:r>
                    <m:r>
                      <m:rPr>
                        <m:lit/>
                        <m:nor/>
                      </m:rPr>
                      <m:t xml:space="preserve">Constante</m:t>
                    </m:r>
                  </m:oMath>
                </a14:m>
              </a:p>
            </p:txBody>
          </p:sp>
        </mc:Choice>
        <mc:Fallback>
          <p:sp>
            <p:nvSpPr>
              <p:cNvPr id="652" name="Object 8"/>
              <p:cNvSpPr txBox="1"/>
              <p:nvPr/>
            </p:nvSpPr>
            <p:spPr>
              <a:xfrm>
                <a:off x="2714760" y="1765440"/>
                <a:ext cx="3133440" cy="591840"/>
              </a:xfrm>
              <a:prstGeom prst="rect">
                <a:avLst/>
              </a:prstGeom>
              <a:blipFill>
                <a:blip r:embed="rId1"/>
                <a:stretch>
                  <a:fillRect/>
                </a:stretch>
              </a:blipFill>
            </p:spPr>
          </p:sp>
        </mc:Fallback>
      </mc:AlternateContent>
      <p:graphicFrame>
        <p:nvGraphicFramePr>
          <p:cNvPr id="653" name=""/>
          <p:cNvGraphicFramePr/>
          <p:nvPr/>
        </p:nvGraphicFramePr>
        <p:xfrm>
          <a:off x="1428840" y="2571840"/>
          <a:ext cx="6095880" cy="1981080"/>
        </p:xfrm>
        <a:graphic>
          <a:graphicData uri="http://schemas.openxmlformats.org/drawingml/2006/table">
            <a:tbl>
              <a:tblPr/>
              <a:tblGrid>
                <a:gridCol w="2031840"/>
                <a:gridCol w="2032200"/>
                <a:gridCol w="2031840"/>
              </a:tblGrid>
              <a:tr h="440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Transformation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Valeur de k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2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Valeur de C</a:t>
                      </a:r>
                      <a:r>
                        <a:rPr b="1" lang="fr-FR" sz="2000" strike="noStrike" u="none" baseline="-25000">
                          <a:solidFill>
                            <a:srgbClr val="ffffff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k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1872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Isotherme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440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Isobare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  <a:tr h="44064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Isochore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</a:tr>
              <a:tr h="3988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2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Adiabatique</a:t>
                      </a:r>
                      <a:endParaRPr b="0" lang="en-US" sz="2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mc:AlternateContent>
        <mc:Choice xmlns:a14="http://schemas.microsoft.com/office/drawing/2010/main" Requires="a14">
          <p:sp>
            <p:nvSpPr>
              <p:cNvPr id="654" name="Object 9"/>
              <p:cNvSpPr txBox="1"/>
              <p:nvPr/>
            </p:nvSpPr>
            <p:spPr>
              <a:xfrm>
                <a:off x="6000840" y="1643040"/>
                <a:ext cx="1560600" cy="7812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k</m:t>
                    </m:r>
                    <m:r>
                      <m:t xml:space="preserve">=</m:t>
                    </m:r>
                    <m:f>
                      <m:num>
                        <m:d>
                          <m:dPr>
                            <m:begChr m:val="("/>
                            <m:endChr m:val=")"/>
                          </m:dPr>
                          <m:e>
                            <m:sSub>
                              <m:e>
                                <m:r>
                                  <m:t xml:space="preserve">C</m:t>
                                </m:r>
                              </m:e>
                              <m:sub>
                                <m:r>
                                  <m:t xml:space="preserve">P</m:t>
                                </m:r>
                              </m:sub>
                            </m:sSub>
                            <m:r>
                              <m:t xml:space="preserve">−</m:t>
                            </m:r>
                            <m:sSub>
                              <m:e>
                                <m:r>
                                  <m:t xml:space="preserve">C</m:t>
                                </m:r>
                              </m:e>
                              <m:sub>
                                <m:r>
                                  <m:t xml:space="preserve">k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("/>
                            <m:endChr m:val=")"/>
                          </m:dPr>
                          <m:e>
                            <m:sSub>
                              <m:e>
                                <m:r>
                                  <m:t xml:space="preserve">C</m:t>
                                </m:r>
                              </m:e>
                              <m:sub>
                                <m:r>
                                  <m:t xml:space="preserve">V</m:t>
                                </m:r>
                              </m:sub>
                            </m:sSub>
                            <m:r>
                              <m:t xml:space="preserve">−</m:t>
                            </m:r>
                            <m:sSub>
                              <m:e>
                                <m:r>
                                  <m:t xml:space="preserve">C</m:t>
                                </m:r>
                              </m:e>
                              <m:sub>
                                <m:r>
                                  <m:t xml:space="preserve">k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54" name="Object 9"/>
              <p:cNvSpPr txBox="1"/>
              <p:nvPr/>
            </p:nvSpPr>
            <p:spPr>
              <a:xfrm>
                <a:off x="6000840" y="1643040"/>
                <a:ext cx="1560600" cy="781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</p:sp>
        </mc:Fallback>
      </mc:AlternateContent>
      <p:sp>
        <p:nvSpPr>
          <p:cNvPr id="655" name="ZoneTexte 7"/>
          <p:cNvSpPr/>
          <p:nvPr/>
        </p:nvSpPr>
        <p:spPr>
          <a:xfrm>
            <a:off x="4286160" y="3000240"/>
            <a:ext cx="3128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ZoneTexte 8"/>
          <p:cNvSpPr/>
          <p:nvPr/>
        </p:nvSpPr>
        <p:spPr>
          <a:xfrm>
            <a:off x="6288840" y="3000240"/>
            <a:ext cx="352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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ZoneTexte 9"/>
          <p:cNvSpPr/>
          <p:nvPr/>
        </p:nvSpPr>
        <p:spPr>
          <a:xfrm>
            <a:off x="4288680" y="3357720"/>
            <a:ext cx="295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ZoneTexte 10"/>
          <p:cNvSpPr/>
          <p:nvPr/>
        </p:nvSpPr>
        <p:spPr>
          <a:xfrm>
            <a:off x="4288320" y="3786120"/>
            <a:ext cx="3524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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ZoneTexte 11"/>
          <p:cNvSpPr/>
          <p:nvPr/>
        </p:nvSpPr>
        <p:spPr>
          <a:xfrm>
            <a:off x="4342680" y="4214880"/>
            <a:ext cx="309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ZoneTexte 12"/>
          <p:cNvSpPr/>
          <p:nvPr/>
        </p:nvSpPr>
        <p:spPr>
          <a:xfrm>
            <a:off x="6294960" y="3357720"/>
            <a:ext cx="40716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ZoneTexte 13"/>
          <p:cNvSpPr/>
          <p:nvPr/>
        </p:nvSpPr>
        <p:spPr>
          <a:xfrm>
            <a:off x="6296400" y="3786120"/>
            <a:ext cx="429120" cy="40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r>
              <a:rPr b="0" lang="fr-FR" sz="18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ZoneTexte 14"/>
          <p:cNvSpPr/>
          <p:nvPr/>
        </p:nvSpPr>
        <p:spPr>
          <a:xfrm>
            <a:off x="6346080" y="4143240"/>
            <a:ext cx="2952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30" dur="indefinite" restart="never" nodeType="tmRoot">
          <p:childTnLst>
            <p:seq>
              <p:cTn id="1331" dur="indefinite" nodeType="mainSeq">
                <p:childTnLst>
                  <p:par>
                    <p:cTn id="1332" nodeType="clickEffect" fill="hold">
                      <p:stCondLst>
                        <p:cond delay="indefinite"/>
                      </p:stCondLst>
                      <p:childTnLst>
                        <p:par>
                          <p:cTn id="13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34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36"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7" nodeType="clickEffect" fill="hold">
                      <p:stCondLst>
                        <p:cond delay="indefinite"/>
                      </p:stCondLst>
                      <p:childTnLst>
                        <p:par>
                          <p:cTn id="133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3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41"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2" nodeType="clickEffect" fill="hold">
                      <p:stCondLst>
                        <p:cond delay="indefinite"/>
                      </p:stCondLst>
                      <p:childTnLst>
                        <p:par>
                          <p:cTn id="134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44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46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7" nodeType="clickEffect" fill="hold">
                      <p:stCondLst>
                        <p:cond delay="indefinite"/>
                      </p:stCondLst>
                      <p:childTnLst>
                        <p:par>
                          <p:cTn id="134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51"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2" nodeType="clickEffect" fill="hold">
                      <p:stCondLst>
                        <p:cond delay="indefinite"/>
                      </p:stCondLst>
                      <p:childTnLst>
                        <p:par>
                          <p:cTn id="13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4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56"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7" nodeType="clickEffect" fill="hold">
                      <p:stCondLst>
                        <p:cond delay="indefinite"/>
                      </p:stCondLst>
                      <p:childTnLst>
                        <p:par>
                          <p:cTn id="135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61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2" nodeType="clickEffect" fill="hold">
                      <p:stCondLst>
                        <p:cond delay="indefinite"/>
                      </p:stCondLst>
                      <p:childTnLst>
                        <p:par>
                          <p:cTn id="13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64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66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7" nodeType="clickEffect" fill="hold">
                      <p:stCondLst>
                        <p:cond delay="indefinite"/>
                      </p:stCondLst>
                      <p:childTnLst>
                        <p:par>
                          <p:cTn id="136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69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1371"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Rectangle 1"/>
          <p:cNvSpPr/>
          <p:nvPr/>
        </p:nvSpPr>
        <p:spPr>
          <a:xfrm>
            <a:off x="0" y="610560"/>
            <a:ext cx="9144000" cy="15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 gaz parfait échange Q =+200J avec l’extérieur au cours d’une transformation isotherme. Déterminer W échangé au cours de cette transformation.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1</a:t>
            </a:r>
            <a:r>
              <a:rPr b="1" lang="fr-FR" sz="3200" strike="noStrike" u="none" baseline="30000">
                <a:solidFill>
                  <a:srgbClr val="cc3300"/>
                </a:solidFill>
                <a:effectLst/>
                <a:uFillTx/>
                <a:latin typeface="Arial"/>
              </a:rPr>
              <a:t>ier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Principe : Exercice d’application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Rectangle 5"/>
          <p:cNvSpPr/>
          <p:nvPr/>
        </p:nvSpPr>
        <p:spPr>
          <a:xfrm>
            <a:off x="0" y="2000160"/>
            <a:ext cx="8978760" cy="16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Une masse m=1 kg d'air, assimilé à un gaz parfait diatomique de masse molaire M=29 g/mole, subit  une compression adiabatique  qui fait passer sa température de T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=293 K à T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=333 K. Trouver l'expression du travail nécessaire à la compression.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Rectangle 6"/>
          <p:cNvSpPr/>
          <p:nvPr/>
        </p:nvSpPr>
        <p:spPr>
          <a:xfrm>
            <a:off x="0" y="4025880"/>
            <a:ext cx="8997840" cy="275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On considère deux gaz parfaits identiques placés dans des compartiments, de même volume, aux pressions respectives P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= 2 bar et P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= 1 bar, et à la même température initiale. Le réservoir est rigide et adiabatique. On met en communication les deux compartiments et on attend l'équilibre.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Calculer la variation d'énergie interne de l'ensemble et la pression finale.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Rectangle 36"/>
          <p:cNvSpPr/>
          <p:nvPr/>
        </p:nvSpPr>
        <p:spPr>
          <a:xfrm>
            <a:off x="0" y="0"/>
            <a:ext cx="9144000" cy="500040"/>
          </a:xfrm>
          <a:prstGeom prst="rect">
            <a:avLst/>
          </a:prstGeom>
          <a:solidFill>
            <a:srgbClr val="4f81b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 anchorCtr="1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1</a:t>
            </a:r>
            <a:r>
              <a:rPr b="1" lang="fr-FR" sz="3200" strike="noStrike" u="none" baseline="30000">
                <a:solidFill>
                  <a:srgbClr val="cc3300"/>
                </a:solidFill>
                <a:effectLst/>
                <a:uFillTx/>
                <a:latin typeface="Arial"/>
              </a:rPr>
              <a:t>ier</a:t>
            </a:r>
            <a:r>
              <a:rPr b="1" lang="fr-FR" sz="3200" strike="noStrike" u="none">
                <a:solidFill>
                  <a:srgbClr val="cc3300"/>
                </a:solidFill>
                <a:effectLst/>
                <a:uFillTx/>
                <a:latin typeface="Arial"/>
              </a:rPr>
              <a:t> Principe : Exercice d’application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Rectangle 6"/>
          <p:cNvSpPr/>
          <p:nvPr/>
        </p:nvSpPr>
        <p:spPr>
          <a:xfrm>
            <a:off x="0" y="925560"/>
            <a:ext cx="8997840" cy="28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Un gaz parfait diatomique est contenu dans un cylindre horizontal fermé par un piston qui se déplace sans frottement. À l’état initial, le gaz a une température T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= 300 K, un volume V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1L et une pression p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10</a:t>
            </a:r>
            <a:r>
              <a:rPr b="0" lang="fr-FR" sz="24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Pa. On fait subir à ce gaz une compression isotherme réversible jusqu’à atteindre la pression p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10 p</a:t>
            </a:r>
            <a:r>
              <a:rPr b="0" lang="fr-FR" sz="2400" strike="noStrike" u="none" baseline="-25000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  <a:r>
              <a:rPr b="0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 Exprimer le volume final, le travail et le transfert thermique échangés par le gaz avec le milieu extérieur.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1147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2010-03-02T20:53:28Z</dcterms:created>
  <dc:creator>Gsm Salam</dc:creator>
  <dc:description/>
  <dc:language>en-US</dc:language>
  <cp:lastModifiedBy>123456789</cp:lastModifiedBy>
  <dcterms:modified xsi:type="dcterms:W3CDTF">2026-04-12T17:07:06Z</dcterms:modified>
  <cp:revision>73</cp:revision>
  <dc:subject/>
  <dc:title>Diapositive 1</dc:title>
</cp:coreProperties>
</file>