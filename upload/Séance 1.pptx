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7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_rels/presentation.xml.rels" ContentType="application/vnd.openxmlformats-package.relationships+xml"/>
  <Override PartName="/ppt/media/image29.emf" ContentType="image/x-emf"/>
  <Override PartName="/ppt/media/image28.emf" ContentType="image/x-emf"/>
  <Override PartName="/ppt/media/image1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11.wmf" ContentType="image/x-wmf"/>
  <Override PartName="/ppt/media/image9.png" ContentType="image/png"/>
  <Override PartName="/ppt/media/image12.wmf" ContentType="image/x-wmf"/>
  <Override PartName="/ppt/media/image16.emf" ContentType="image/x-emf"/>
  <Override PartName="/ppt/media/image13.wmf" ContentType="image/x-wmf"/>
  <Override PartName="/ppt/media/image5.png" ContentType="image/png"/>
  <Override PartName="/ppt/media/image30.emf" ContentType="image/x-emf"/>
  <Override PartName="/ppt/media/image6.png" ContentType="image/png"/>
  <Override PartName="/ppt/media/image31.emf" ContentType="image/x-emf"/>
  <Override PartName="/ppt/media/image4.jpeg" ContentType="image/jpeg"/>
  <Override PartName="/ppt/media/image3.png" ContentType="image/png"/>
  <Override PartName="/ppt/media/image2.png" ContentType="image/png"/>
  <Override PartName="/ppt/media/image14.wmf" ContentType="image/x-wmf"/>
  <Override PartName="/ppt/media/image17.emf" ContentType="image/x-emf"/>
  <Override PartName="/ppt/media/image15.wmf" ContentType="image/x-wmf"/>
  <Override PartName="/ppt/media/image20.wmf" ContentType="image/x-wmf"/>
  <Override PartName="/ppt/media/image23.emf" ContentType="image/x-emf"/>
  <Override PartName="/ppt/media/image19.wmf" ContentType="image/x-wmf"/>
  <Override PartName="/ppt/media/image21.wmf" ContentType="image/x-wmf"/>
  <Override PartName="/ppt/media/image24.emf" ContentType="image/x-emf"/>
  <Override PartName="/ppt/media/image18.wmf" ContentType="image/x-wmf"/>
  <Override PartName="/ppt/media/image22.emf" ContentType="image/x-emf"/>
  <Override PartName="/ppt/media/image25.emf" ContentType="image/x-emf"/>
  <Override PartName="/ppt/media/image26.emf" ContentType="image/x-emf"/>
  <Override PartName="/ppt/media/image27.emf" ContentType="image/x-emf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3B9A89-1FEE-4046-A7B4-0B0FA67E5D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D50F824-1238-4251-B363-09DB25ABA938}" type="slidenum">
              <a: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1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12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13.wmf"/><Relationship Id="rId7" Type="http://schemas.openxmlformats.org/officeDocument/2006/relationships/image" Target="../media/image14.wmf"/><Relationship Id="rId8" Type="http://schemas.openxmlformats.org/officeDocument/2006/relationships/oleObject" Target="../embeddings/oleObject4.bin"/><Relationship Id="rId9" Type="http://schemas.openxmlformats.org/officeDocument/2006/relationships/image" Target="../media/image15.wmf"/><Relationship Id="rId10" Type="http://schemas.openxmlformats.org/officeDocument/2006/relationships/image" Target="../media/image16.emf"/><Relationship Id="rId11" Type="http://schemas.openxmlformats.org/officeDocument/2006/relationships/image" Target="../media/image17.emf"/><Relationship Id="rId1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8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19.wmf"/><Relationship Id="rId5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0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21.wmf"/><Relationship Id="rId5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2.emf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3.emf"/><Relationship Id="rId2" Type="http://schemas.openxmlformats.org/officeDocument/2006/relationships/image" Target="../media/image24.emf"/><Relationship Id="rId3" Type="http://schemas.openxmlformats.org/officeDocument/2006/relationships/image" Target="../media/image25.emf"/><Relationship Id="rId4" Type="http://schemas.openxmlformats.org/officeDocument/2006/relationships/image" Target="../media/image26.emf"/><Relationship Id="rId5" Type="http://schemas.openxmlformats.org/officeDocument/2006/relationships/image" Target="../media/image27.emf"/><Relationship Id="rId6" Type="http://schemas.openxmlformats.org/officeDocument/2006/relationships/image" Target="../media/image28.emf"/><Relationship Id="rId7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9.emf"/><Relationship Id="rId2" Type="http://schemas.openxmlformats.org/officeDocument/2006/relationships/image" Target="../media/image30.emf"/><Relationship Id="rId3" Type="http://schemas.openxmlformats.org/officeDocument/2006/relationships/image" Target="../media/image31.emf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"/>
          <p:cNvPicPr/>
          <p:nvPr/>
        </p:nvPicPr>
        <p:blipFill>
          <a:blip r:embed="rId1"/>
          <a:stretch/>
        </p:blipFill>
        <p:spPr>
          <a:xfrm>
            <a:off x="903240" y="2214720"/>
            <a:ext cx="7169040" cy="464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71680" y="-36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5400" strike="noStrike" u="none">
                <a:solidFill>
                  <a:srgbClr val="cc0000"/>
                </a:solidFill>
                <a:effectLst/>
                <a:uFillTx/>
                <a:latin typeface="Calibri"/>
              </a:rPr>
              <a:t>Thermodynamique </a:t>
            </a:r>
            <a:br>
              <a:rPr sz="5400"/>
            </a:br>
            <a:endParaRPr b="0" lang="en-US" sz="5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fr-FR" sz="3200" strike="noStrike" u="none">
              <a:solidFill>
                <a:srgbClr val="898989"/>
              </a:solidFill>
              <a:effectLst/>
              <a:uFillTx/>
              <a:latin typeface="Calibri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REFERENCES</a:t>
            </a:r>
            <a:br>
              <a:rPr sz="4400"/>
            </a:b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457200" y="1599840"/>
            <a:ext cx="8229600" cy="1400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Thermodynamique Bases et Applications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Hauteurs : Jean-Noël Foussard, Edmond Julien ;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Edition : DUNOD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Espace réservé du contenu 2"/>
          <p:cNvSpPr/>
          <p:nvPr/>
        </p:nvSpPr>
        <p:spPr>
          <a:xfrm>
            <a:off x="500040" y="4643280"/>
            <a:ext cx="8229600" cy="14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Thermodynamique Fondements  et Applications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Hauteur : José-Philippe PEREZ ;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Edition : DUNOD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Picture 2" descr=""/>
          <p:cNvPicPr/>
          <p:nvPr/>
        </p:nvPicPr>
        <p:blipFill>
          <a:blip r:embed="rId1"/>
          <a:stretch/>
        </p:blipFill>
        <p:spPr>
          <a:xfrm>
            <a:off x="6643800" y="1785960"/>
            <a:ext cx="1562040" cy="220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Picture 3" descr=""/>
          <p:cNvPicPr/>
          <p:nvPr/>
        </p:nvPicPr>
        <p:blipFill>
          <a:blip r:embed="rId2"/>
          <a:stretch/>
        </p:blipFill>
        <p:spPr>
          <a:xfrm>
            <a:off x="6715080" y="4357800"/>
            <a:ext cx="1558800" cy="2151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Séance 1: Concepts de bases (2h)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Introduction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Notion de système thermodynamique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L’évolution d’un système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L’outil Mathématique pour la thermodynamique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Les systèmes thermo-élastiques physiques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Les gaz parfait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2"/>
          <p:cNvSpPr/>
          <p:nvPr/>
        </p:nvSpPr>
        <p:spPr>
          <a:xfrm>
            <a:off x="1676520" y="1219320"/>
            <a:ext cx="5715000" cy="5817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003399"/>
                </a:solidFill>
                <a:effectLst/>
                <a:uFillTx/>
                <a:latin typeface="Times New Roman"/>
              </a:rPr>
              <a:t>LA THERMODYNAMIQUE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Box 3"/>
          <p:cNvSpPr/>
          <p:nvPr/>
        </p:nvSpPr>
        <p:spPr>
          <a:xfrm>
            <a:off x="395280" y="2060640"/>
            <a:ext cx="8497800" cy="37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5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La thermodynamique est née vers les années 1820, au début de l’ère industrielle, de la nécessité de connaître, sur les machines thermiques déjà construites, la relation entre les phénomènes </a:t>
            </a:r>
            <a:r>
              <a:rPr b="0" i="1" lang="fr-FR" sz="32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thermiques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et les phénomènes </a:t>
            </a:r>
            <a:r>
              <a:rPr b="0" i="1" lang="fr-FR" sz="32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dynamiques</a:t>
            </a:r>
            <a:r>
              <a:rPr b="0" i="1" lang="fr-FR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2"/>
          <p:cNvSpPr/>
          <p:nvPr/>
        </p:nvSpPr>
        <p:spPr>
          <a:xfrm>
            <a:off x="1676520" y="1219320"/>
            <a:ext cx="5715000" cy="5817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003399"/>
                </a:solidFill>
                <a:effectLst/>
                <a:uFillTx/>
                <a:latin typeface="Times New Roman"/>
              </a:rPr>
              <a:t>LA THERMODYNAMIQUE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Rectangle 3"/>
          <p:cNvSpPr/>
          <p:nvPr/>
        </p:nvSpPr>
        <p:spPr>
          <a:xfrm>
            <a:off x="142920" y="2071800"/>
            <a:ext cx="84297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Actuellement  c’est : La sciences des transformations de la matière et de l’énergie.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Rectangle 4"/>
          <p:cNvSpPr/>
          <p:nvPr/>
        </p:nvSpPr>
        <p:spPr>
          <a:xfrm>
            <a:off x="0" y="2786040"/>
            <a:ext cx="83581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61800" indent="-361800"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La thermodynamique a un </a:t>
            </a:r>
            <a:r>
              <a:rPr b="1" lang="fr-CA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caractère </a:t>
            </a:r>
            <a:r>
              <a:rPr b="1" i="1" lang="fr-CA" sz="1800" strike="noStrike" u="sng">
                <a:solidFill>
                  <a:srgbClr val="ff0000"/>
                </a:solidFill>
                <a:effectLst/>
                <a:uFillTx/>
                <a:latin typeface="Arial"/>
              </a:rPr>
              <a:t>universel</a:t>
            </a:r>
            <a:r>
              <a:rPr b="1" lang="fr-CA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. </a:t>
            </a:r>
            <a:r>
              <a:rPr b="1" lang="fr-FR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Toute théorie ne vérifiant pas les principes de la thermodynamique est mise en doute.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Rectangle 1"/>
          <p:cNvSpPr/>
          <p:nvPr/>
        </p:nvSpPr>
        <p:spPr>
          <a:xfrm>
            <a:off x="250920" y="4302000"/>
            <a:ext cx="864216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Dans tous les phénomènes,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organismes, dispositifs, machines, systèmes et procédés, il y a inévitablement conversion d’au moins une forme d’énergie en une autre.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2"/>
          <p:cNvSpPr/>
          <p:nvPr/>
        </p:nvSpPr>
        <p:spPr>
          <a:xfrm>
            <a:off x="1676520" y="1219320"/>
            <a:ext cx="5715000" cy="5817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003399"/>
                </a:solidFill>
                <a:effectLst/>
                <a:uFillTx/>
                <a:latin typeface="Times New Roman"/>
              </a:rPr>
              <a:t>LA THERMODYNAMIQUE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angle 5"/>
          <p:cNvSpPr/>
          <p:nvPr/>
        </p:nvSpPr>
        <p:spPr>
          <a:xfrm>
            <a:off x="0" y="2708280"/>
            <a:ext cx="9144000" cy="25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Il existe deux approches thermodynamique 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Approche </a:t>
            </a:r>
            <a:r>
              <a:rPr b="1" lang="fr-FR" sz="1800" strike="noStrike" u="none">
                <a:solidFill>
                  <a:srgbClr val="c0504d"/>
                </a:solidFill>
                <a:effectLst/>
                <a:uFillTx/>
                <a:latin typeface="Arial"/>
              </a:rPr>
              <a:t>macroscopique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 Comportement d’ensemble )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(Variables macroscopiques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: 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pression p, volume V, molarité n, température T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Approche </a:t>
            </a:r>
            <a:r>
              <a:rPr b="1" lang="fr-FR" sz="1800" strike="noStrike" u="none">
                <a:solidFill>
                  <a:srgbClr val="c0504d"/>
                </a:solidFill>
                <a:effectLst/>
                <a:uFillTx/>
                <a:latin typeface="Arial"/>
              </a:rPr>
              <a:t>microscopique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ou </a:t>
            </a:r>
            <a:r>
              <a:rPr b="1" lang="fr-FR" sz="1800" strike="noStrike" u="none">
                <a:solidFill>
                  <a:srgbClr val="c0504d"/>
                </a:solidFill>
                <a:effectLst/>
                <a:uFillTx/>
                <a:latin typeface="Arial"/>
              </a:rPr>
              <a:t>thermodynamique statistique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( Comportement local) 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prend en compte position et vitesse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chaque particule élémentaire du système.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Avis sur la thermodynamique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just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Une théorie est d’autant plus impressionnante que les </a:t>
            </a:r>
            <a:r>
              <a:rPr b="1" lang="fr-CA" sz="24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principes</a:t>
            </a:r>
            <a:r>
              <a:rPr b="0" lang="fr-CA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sur lesquels elle repose sont </a:t>
            </a:r>
            <a:r>
              <a:rPr b="1" lang="fr-CA" sz="24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simples</a:t>
            </a:r>
            <a:r>
              <a:rPr b="0" lang="fr-CA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 qu’elle relie toutes sortes de choses différentes et que son </a:t>
            </a:r>
            <a:r>
              <a:rPr b="1" lang="fr-CA" sz="24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champ d’application</a:t>
            </a:r>
            <a:r>
              <a:rPr b="1" lang="fr-CA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fr-CA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est </a:t>
            </a:r>
            <a:r>
              <a:rPr b="1" lang="fr-CA" sz="24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vaste</a:t>
            </a:r>
            <a:r>
              <a:rPr b="0" lang="fr-CA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 Par conséquent, la </a:t>
            </a:r>
            <a:r>
              <a:rPr b="1" lang="fr-CA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thermodynamique classique</a:t>
            </a:r>
            <a:r>
              <a:rPr b="0" lang="fr-CA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m’a fait une très grande impression. C’est la seule théorie physique à </a:t>
            </a:r>
            <a:r>
              <a:rPr b="1" lang="fr-CA" sz="24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caractère universel</a:t>
            </a:r>
            <a:r>
              <a:rPr b="1" lang="fr-CA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lang="fr-CA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dont je suis convaincu, compte tenu de l’application de ses concepts de base, qu’elle ne sera jamais contestée</a:t>
            </a:r>
            <a:r>
              <a:rPr b="0" lang="fr-CA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Box 4"/>
          <p:cNvSpPr/>
          <p:nvPr/>
        </p:nvSpPr>
        <p:spPr>
          <a:xfrm>
            <a:off x="2340000" y="5229360"/>
            <a:ext cx="59040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A. Einstein, dans `Philosopher-Scientist’, P. A. Schlipp, ed., Open-Court publ., LaSalle, IL. (1973)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Picture 4" descr="Einstein"/>
          <p:cNvPicPr/>
          <p:nvPr/>
        </p:nvPicPr>
        <p:blipFill>
          <a:blip r:embed="rId1"/>
          <a:srcRect l="0" t="441" r="0" b="441"/>
          <a:stretch/>
        </p:blipFill>
        <p:spPr>
          <a:xfrm>
            <a:off x="0" y="4572000"/>
            <a:ext cx="1682640" cy="22654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</p:pic>
    </p:spTree>
  </p:cSld>
  <p:transition advTm="90000">
    <p:fade thruBlk="true"/>
  </p:transition>
  <p:timing>
    <p:tnLst>
      <p:par>
        <p:cTn id="14" dur="indefinite" restart="never" nodeType="tmRoot">
          <p:childTnLst>
            <p:seq>
              <p:cTn id="15" dur="indefinite" nodeType="mainSeq">
                <p:childTnLst>
                  <p:par>
                    <p:cTn id="16" nodeType="clickEffect" fill="hold">
                      <p:stCondLst>
                        <p:cond delay="indefinite"/>
                      </p:stCondLst>
                      <p:childTnLst>
                        <p:par>
                          <p:cTn id="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ubTitle"/>
          </p:nvPr>
        </p:nvSpPr>
        <p:spPr>
          <a:xfrm>
            <a:off x="468000" y="599760"/>
            <a:ext cx="358308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80000"/>
              </a:lnSpc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600" strike="noStrike" u="sng">
                <a:solidFill>
                  <a:srgbClr val="99ff33"/>
                </a:solidFill>
                <a:effectLst/>
                <a:uFillTx/>
                <a:latin typeface="Calibri"/>
              </a:rPr>
              <a:t>I- Le système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Rectangle 4"/>
          <p:cNvSpPr/>
          <p:nvPr/>
        </p:nvSpPr>
        <p:spPr>
          <a:xfrm>
            <a:off x="865080" y="1344600"/>
            <a:ext cx="273708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sng">
                <a:solidFill>
                  <a:srgbClr val="ff0000"/>
                </a:solidFill>
                <a:effectLst/>
                <a:uFillTx/>
                <a:latin typeface="Times New Roman"/>
              </a:rPr>
              <a:t>I-1 Définitions</a:t>
            </a:r>
            <a:r>
              <a:rPr b="1" lang="fr-FR" sz="28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 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Box 5"/>
          <p:cNvSpPr/>
          <p:nvPr/>
        </p:nvSpPr>
        <p:spPr>
          <a:xfrm>
            <a:off x="301680" y="3119400"/>
            <a:ext cx="8642160" cy="30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50000"/>
              </a:lnSpc>
              <a:spcBef>
                <a:spcPts val="1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Il est constitué</a:t>
            </a:r>
            <a:r>
              <a:rPr b="0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(pour ce qui nous concerne) </a:t>
            </a:r>
            <a:r>
              <a:rPr b="1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d'un </a:t>
            </a:r>
            <a:r>
              <a:rPr b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grand</a:t>
            </a:r>
            <a:r>
              <a:rPr b="1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nombre de particules microscopiques (atomes ou molécules) délimitées par une surface</a:t>
            </a:r>
            <a:r>
              <a:rPr b="0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fr-FR" sz="26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fixe</a:t>
            </a:r>
            <a:r>
              <a:rPr b="1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ou </a:t>
            </a:r>
            <a:r>
              <a:rPr b="1" lang="fr-FR" sz="26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mobile</a:t>
            </a:r>
            <a:r>
              <a:rPr b="1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r>
              <a:rPr b="1" lang="fr-FR" sz="26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fictive</a:t>
            </a:r>
            <a:r>
              <a:rPr b="1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ou </a:t>
            </a:r>
            <a:r>
              <a:rPr b="1" lang="fr-FR" sz="26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réelle</a:t>
            </a:r>
            <a:r>
              <a:rPr b="1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à travers laquelle sont susceptibles de s'effectuer des échanges d'énergie et de matière </a:t>
            </a:r>
            <a:r>
              <a:rPr b="0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avec le milieu extérieur.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Rectangle 19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Box 21"/>
          <p:cNvSpPr/>
          <p:nvPr/>
        </p:nvSpPr>
        <p:spPr>
          <a:xfrm>
            <a:off x="152280" y="2070000"/>
            <a:ext cx="899172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 </a:t>
            </a:r>
            <a:r>
              <a:rPr b="1" i="1" lang="fr-FR" sz="2800" strike="noStrike" u="none">
                <a:solidFill>
                  <a:srgbClr val="99ff33"/>
                </a:solidFill>
                <a:effectLst/>
                <a:uFillTx/>
                <a:latin typeface="Times New Roman"/>
                <a:ea typeface="Times New Roman"/>
              </a:rPr>
              <a:t>système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i="1" lang="fr-FR" sz="2800" strike="noStrike" u="none">
                <a:solidFill>
                  <a:srgbClr val="99ff33"/>
                </a:solidFill>
                <a:effectLst/>
                <a:uFillTx/>
                <a:latin typeface="Times New Roman"/>
                <a:ea typeface="Times New Roman"/>
              </a:rPr>
              <a:t>S</a:t>
            </a:r>
            <a:r>
              <a:rPr b="1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est une partie de l'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univers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à laquelle on porte de l’intérêt. Le reste de l’univers est appelé </a:t>
            </a:r>
            <a:r>
              <a:rPr b="1" i="1" lang="fr-FR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« milieu extérieur »</a:t>
            </a:r>
            <a:r>
              <a:rPr b="1" lang="fr-FR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20" dur="indefinite" restart="never" nodeType="tmRoot">
          <p:childTnLst>
            <p:seq>
              <p:cTn id="21" dur="indefinite" nodeType="mainSeq">
                <p:childTnLst>
                  <p:par>
                    <p:cTn id="22" nodeType="clickEffect" fill="hold">
                      <p:stCondLst>
                        <p:cond delay="indefinite"/>
                      </p:stCondLst>
                      <p:childTnLst>
                        <p:par>
                          <p:cTn id="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2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nodeType="clickEffect" fill="hold">
                      <p:stCondLst>
                        <p:cond delay="indefinite"/>
                      </p:stCondLst>
                      <p:childTnLst>
                        <p:par>
                          <p:cTn id="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43" dur="80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44" dur="80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80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nodeType="clickEffect" fill="hold">
                      <p:stCondLst>
                        <p:cond delay="indefinite"/>
                      </p:stCondLst>
                      <p:childTnLst>
                        <p:par>
                          <p:cTn id="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subTitle"/>
          </p:nvPr>
        </p:nvSpPr>
        <p:spPr>
          <a:xfrm>
            <a:off x="468000" y="599760"/>
            <a:ext cx="358308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80000"/>
              </a:lnSpc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600" strike="noStrike" u="sng">
                <a:solidFill>
                  <a:srgbClr val="99ff33"/>
                </a:solidFill>
                <a:effectLst/>
                <a:uFillTx/>
                <a:latin typeface="Calibri"/>
              </a:rPr>
              <a:t>I- Le système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Rectangle 4"/>
          <p:cNvSpPr/>
          <p:nvPr/>
        </p:nvSpPr>
        <p:spPr>
          <a:xfrm>
            <a:off x="865080" y="1344600"/>
            <a:ext cx="273708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sng">
                <a:solidFill>
                  <a:srgbClr val="ff0000"/>
                </a:solidFill>
                <a:effectLst/>
                <a:uFillTx/>
                <a:latin typeface="Times New Roman"/>
              </a:rPr>
              <a:t>Application 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Box 5"/>
          <p:cNvSpPr/>
          <p:nvPr/>
        </p:nvSpPr>
        <p:spPr>
          <a:xfrm>
            <a:off x="324000" y="2133720"/>
            <a:ext cx="864216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5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Soit un point matériel 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et la terre, que l’on suppose </a:t>
            </a:r>
            <a:r>
              <a:rPr b="1" lang="fr-FR" sz="18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isolés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du reste de l’Univers : on ne prend en compte que les forces liées à la pesanteur. Quels systèmes peut on choisir ? Représentez schématiquement les seules forces exercées par l’extérieur sur le système choisi dans chacun des cas.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Rectangle 19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51" dur="indefinite" restart="never" nodeType="tmRoot">
          <p:childTnLst>
            <p:seq>
              <p:cTn id="52" dur="indefinite" nodeType="mainSeq">
                <p:childTnLst>
                  <p:par>
                    <p:cTn id="53" nodeType="clickEffect" fill="hold">
                      <p:stCondLst>
                        <p:cond delay="indefinite"/>
                      </p:stCondLst>
                      <p:childTnLst>
                        <p:par>
                          <p:cTn id="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5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nodeType="clickEffect" fill="hold">
                      <p:stCondLst>
                        <p:cond delay="indefinite"/>
                      </p:stCondLst>
                      <p:childTnLst>
                        <p:par>
                          <p:cTn id="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clickEffect" fill="hold" presetClass="entr" presetID="2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nodeType="clickEffect" fill="hold">
                      <p:stCondLst>
                        <p:cond delay="indefinite"/>
                      </p:stCondLst>
                      <p:childTnLst>
                        <p:par>
                          <p:cTn id="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Box 6"/>
          <p:cNvSpPr/>
          <p:nvPr/>
        </p:nvSpPr>
        <p:spPr>
          <a:xfrm>
            <a:off x="468360" y="1052640"/>
            <a:ext cx="807732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Un système peut être </a:t>
            </a:r>
            <a:r>
              <a:rPr b="0" i="1" lang="fr-FR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ouvert</a:t>
            </a:r>
            <a:r>
              <a:rPr b="0" i="1" lang="fr-FR" sz="3200" strike="noStrike" u="none">
                <a:solidFill>
                  <a:srgbClr val="cc33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 </a:t>
            </a:r>
            <a:r>
              <a:rPr b="0" i="1" lang="fr-FR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fermé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ou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r>
              <a:rPr b="0" i="1" lang="fr-FR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isolé 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et chacun de ces trois termes a un sens précis. </a:t>
            </a:r>
            <a:r>
              <a:rPr b="1" i="1" lang="fr-FR" sz="3200" strike="noStrike" u="none">
                <a:solidFill>
                  <a:srgbClr val="cc33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Rectangle 12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 13"/>
          <p:cNvSpPr/>
          <p:nvPr/>
        </p:nvSpPr>
        <p:spPr>
          <a:xfrm>
            <a:off x="466560" y="2276640"/>
            <a:ext cx="8353440" cy="13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système ouvert :</a:t>
            </a:r>
            <a:r>
              <a:rPr b="0" lang="fr-FR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il peut échanger avec l’extérieur de 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matière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et de 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l’énergie 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(chaleur/travail)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Exemple :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du bois qui brûle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Picture 10" descr=""/>
          <p:cNvPicPr/>
          <p:nvPr/>
        </p:nvPicPr>
        <p:blipFill>
          <a:blip r:embed="rId1"/>
          <a:stretch/>
        </p:blipFill>
        <p:spPr>
          <a:xfrm>
            <a:off x="1187280" y="3789360"/>
            <a:ext cx="6917040" cy="284796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75" dur="indefinite" restart="never" nodeType="tmRoot">
          <p:childTnLst>
            <p:seq>
              <p:cTn id="76" dur="indefinite" nodeType="mainSeq">
                <p:childTnLst>
                  <p:par>
                    <p:cTn id="77" nodeType="clickEffect" fill="hold">
                      <p:stCondLst>
                        <p:cond delay="indefinite"/>
                      </p:stCondLst>
                      <p:childTnLst>
                        <p:par>
                          <p:cTn id="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nodeType="clickEffect" fill="hold">
                      <p:stCondLst>
                        <p:cond delay="indefinite"/>
                      </p:stCondLst>
                      <p:childTnLst>
                        <p:par>
                          <p:cTn id="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2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nodeType="clickEffect" fill="hold">
                      <p:stCondLst>
                        <p:cond delay="indefinite"/>
                      </p:stCondLst>
                      <p:childTnLst>
                        <p:par>
                          <p:cTn id="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4"/>
          <p:cNvSpPr/>
          <p:nvPr/>
        </p:nvSpPr>
        <p:spPr>
          <a:xfrm>
            <a:off x="539640" y="998640"/>
            <a:ext cx="8209080" cy="27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2001"/>
              </a:spcBef>
              <a:buClr>
                <a:srgbClr val="ff0000"/>
              </a:buClr>
              <a:buFont typeface="Times New Roman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système fermé :</a:t>
            </a:r>
            <a:r>
              <a:rPr b="0" lang="fr-FR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il peut échanger avec l’extérieur de </a:t>
            </a:r>
            <a:r>
              <a:rPr b="1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l’énergie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(chaleur/travail) mais pas 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 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matière.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fr-FR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Exemple :</a:t>
            </a:r>
            <a:r>
              <a:rPr b="0" lang="fr-FR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 gaz circulant dans le circuit d’un réfrigérateur.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1" name="Object 2"/>
          <p:cNvGraphicFramePr/>
          <p:nvPr/>
        </p:nvGraphicFramePr>
        <p:xfrm>
          <a:off x="2916360" y="3573360"/>
          <a:ext cx="5472000" cy="293688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42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916360" y="3573360"/>
                    <a:ext cx="5472000" cy="29368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3" name="Text Box 7"/>
          <p:cNvSpPr/>
          <p:nvPr/>
        </p:nvSpPr>
        <p:spPr>
          <a:xfrm>
            <a:off x="5724360" y="3548160"/>
            <a:ext cx="1873440" cy="58176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nergie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Rectangle 8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01" dur="indefinite" restart="never" nodeType="tmRoot">
          <p:childTnLst>
            <p:seq>
              <p:cTn id="102" dur="indefinite" nodeType="mainSeq">
                <p:childTnLst>
                  <p:par>
                    <p:cTn id="103" nodeType="clickEffect" fill="hold">
                      <p:stCondLst>
                        <p:cond delay="indefinite"/>
                      </p:stCondLst>
                      <p:childTnLst>
                        <p:par>
                          <p:cTn id="1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nodeType="clickEffect" fill="hold">
                      <p:stCondLst>
                        <p:cond delay="indefinite"/>
                      </p:stCondLst>
                      <p:childTnLst>
                        <p:par>
                          <p:cTn id="1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nodeType="clickEffect" fill="hold">
                      <p:stCondLst>
                        <p:cond delay="indefinite"/>
                      </p:stCondLst>
                      <p:childTnLst>
                        <p:par>
                          <p:cTn id="1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"/>
          <p:cNvSpPr/>
          <p:nvPr/>
        </p:nvSpPr>
        <p:spPr>
          <a:xfrm>
            <a:off x="539640" y="998640"/>
            <a:ext cx="8209080" cy="18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2001"/>
              </a:spcBef>
              <a:buClr>
                <a:srgbClr val="ff0000"/>
              </a:buClr>
              <a:buFont typeface="Times New Roman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système isolé :</a:t>
            </a:r>
            <a:r>
              <a:rPr b="0" lang="fr-FR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il ne peut 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échangé avec le milieu extérieur ni énergie ni matière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fr-FR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Exemple :</a:t>
            </a:r>
            <a:r>
              <a:rPr b="0" lang="fr-FR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Univers.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Rectangle 8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Picture 8" descr=""/>
          <p:cNvPicPr/>
          <p:nvPr/>
        </p:nvPicPr>
        <p:blipFill>
          <a:blip r:embed="rId1"/>
          <a:stretch/>
        </p:blipFill>
        <p:spPr>
          <a:xfrm>
            <a:off x="1403280" y="3357720"/>
            <a:ext cx="6935760" cy="257148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121" dur="indefinite" restart="never" nodeType="tmRoot">
          <p:childTnLst>
            <p:seq>
              <p:cTn id="122" dur="indefinite" nodeType="mainSeq">
                <p:childTnLst>
                  <p:par>
                    <p:cTn id="123" nodeType="clickEffect" fill="hold">
                      <p:stCondLst>
                        <p:cond delay="indefinite"/>
                      </p:stCondLst>
                      <p:childTnLst>
                        <p:par>
                          <p:cTn id="1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nodeType="clickEffect" fill="hold">
                      <p:stCondLst>
                        <p:cond delay="indefinite"/>
                      </p:stCondLst>
                      <p:childTnLst>
                        <p:par>
                          <p:cTn id="1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"/>
          <p:cNvSpPr/>
          <p:nvPr/>
        </p:nvSpPr>
        <p:spPr>
          <a:xfrm>
            <a:off x="539640" y="998640"/>
            <a:ext cx="8209080" cy="42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500"/>
              </a:spcBef>
              <a:buClr>
                <a:srgbClr val="ff0000"/>
              </a:buClr>
              <a:buFont typeface="Times New Roman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Applications :</a:t>
            </a:r>
            <a:r>
              <a:rPr b="1" i="1" lang="fr-FR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caractérisé chacun des systèmes suivant 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1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 La flamme d’une bougie 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1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 Haut parleur d’un poste radio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1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 L’air contenue dans une chambre en acier indéformable et étanche thermiquement.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Rectangle 8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34" dur="indefinite" restart="never" nodeType="tmRoot">
          <p:childTnLst>
            <p:seq>
              <p:cTn id="135" dur="indefinite" nodeType="mainSeq">
                <p:childTnLst>
                  <p:par>
                    <p:cTn id="136" nodeType="clickEffect" fill="hold">
                      <p:stCondLst>
                        <p:cond delay="indefinite"/>
                      </p:stCondLst>
                      <p:childTnLst>
                        <p:par>
                          <p:cTn id="1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Box 2"/>
          <p:cNvSpPr/>
          <p:nvPr/>
        </p:nvSpPr>
        <p:spPr>
          <a:xfrm>
            <a:off x="468360" y="620640"/>
            <a:ext cx="4751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sng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I-2  Conventions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(du banquier)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 :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Box 3"/>
          <p:cNvSpPr/>
          <p:nvPr/>
        </p:nvSpPr>
        <p:spPr>
          <a:xfrm>
            <a:off x="179280" y="907920"/>
            <a:ext cx="8820360" cy="26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5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Les échanges d'énergie entre 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 système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et 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 milieu extérieur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s'effectuent par transfert de travail 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W</a:t>
            </a:r>
            <a:r>
              <a:rPr b="1" lang="fr-FR" sz="2800" strike="noStrike" u="none">
                <a:solidFill>
                  <a:srgbClr val="0099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ou de chaleur </a:t>
            </a:r>
            <a:r>
              <a:rPr b="1" i="1" lang="fr-FR" sz="2800" strike="noStrike" u="none">
                <a:solidFill>
                  <a:srgbClr val="ff3300"/>
                </a:solidFill>
                <a:effectLst/>
                <a:uFillTx/>
                <a:latin typeface="Times New Roman"/>
                <a:ea typeface="Times New Roman"/>
              </a:rPr>
              <a:t>Q.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Le signe des quantités 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W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et </a:t>
            </a:r>
            <a:r>
              <a:rPr b="1" i="1" lang="fr-FR" sz="2800" strike="noStrike" u="none">
                <a:solidFill>
                  <a:srgbClr val="ff3300"/>
                </a:solidFill>
                <a:effectLst/>
                <a:uFillTx/>
                <a:latin typeface="Times New Roman"/>
                <a:ea typeface="Times New Roman"/>
              </a:rPr>
              <a:t>Q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qui décrivent ces transferts est défini conventionnellement.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AutoShape 5"/>
          <p:cNvSpPr/>
          <p:nvPr/>
        </p:nvSpPr>
        <p:spPr>
          <a:xfrm>
            <a:off x="5189400" y="3294000"/>
            <a:ext cx="3814920" cy="34099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Freeform 6" descr="noir)"/>
          <p:cNvSpPr/>
          <p:nvPr/>
        </p:nvSpPr>
        <p:spPr>
          <a:xfrm>
            <a:off x="5564160" y="3564000"/>
            <a:ext cx="2771640" cy="2816280"/>
          </a:xfrm>
          <a:custGeom>
            <a:avLst/>
            <a:gdLst>
              <a:gd name="textAreaLeft" fmla="*/ 0 w 2771640"/>
              <a:gd name="textAreaRight" fmla="*/ 2772000 w 2771640"/>
              <a:gd name="textAreaTop" fmla="*/ 0 h 2816280"/>
              <a:gd name="textAreaBottom" fmla="*/ 2816640 h 2816280"/>
              <a:gd name="GluePoint1X" fmla="*/ 2147483647 w 3769"/>
              <a:gd name="GluePoint1Y" fmla="*/ 2147483647 h 3840"/>
              <a:gd name="GluePoint2X" fmla="*/ 2147483647 w 3769"/>
              <a:gd name="GluePoint2Y" fmla="*/ 2147483647 h 3840"/>
              <a:gd name="GluePoint3X" fmla="*/ 2147483647 w 3769"/>
              <a:gd name="GluePoint3Y" fmla="*/ 2147483647 h 3840"/>
              <a:gd name="GluePoint4X" fmla="*/ 2147483647 w 3769"/>
              <a:gd name="GluePoint4Y" fmla="*/ 2147483647 h 3840"/>
              <a:gd name="GluePoint5X" fmla="*/ 2147483647 w 3769"/>
              <a:gd name="GluePoint5Y" fmla="*/ 2147483647 h 3840"/>
              <a:gd name="GluePoint6X" fmla="*/ 2147483647 w 3769"/>
              <a:gd name="GluePoint6Y" fmla="*/ 2147483647 h 3840"/>
              <a:gd name="GluePoint7X" fmla="*/ 2147483647 w 3769"/>
              <a:gd name="GluePoint7Y" fmla="*/ 2147483647 h 3840"/>
              <a:gd name="GluePoint8X" fmla="*/ 2147483647 w 3769"/>
              <a:gd name="GluePoint8Y" fmla="*/ 2147483647 h 3840"/>
              <a:gd name="GluePoint9X" fmla="*/ 2147483647 w 3769"/>
              <a:gd name="GluePoint9Y" fmla="*/ 2147483647 h 3840"/>
              <a:gd name="GluePoint10X" fmla="*/ 2147483647 w 3769"/>
              <a:gd name="GluePoint10Y" fmla="*/ 2147483647 h 3840"/>
              <a:gd name="GluePoint11X" fmla="*/ 2147483647 w 3769"/>
              <a:gd name="GluePoint11Y" fmla="*/ 2147483647 h 3840"/>
              <a:gd name="GluePoint12X" fmla="*/ 2147483647 w 3769"/>
              <a:gd name="GluePoint12Y" fmla="*/ 2147483647 h 3840"/>
              <a:gd name="GluePoint13X" fmla="*/ 2147483647 w 3769"/>
              <a:gd name="GluePoint13Y" fmla="*/ 2147483647 h 3840"/>
              <a:gd name="GluePoint14X" fmla="*/ 2147483647 w 3769"/>
              <a:gd name="GluePoint14Y" fmla="*/ 2147483647 h 38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3769" h="3840">
                <a:moveTo>
                  <a:pt x="1307" y="387"/>
                </a:moveTo>
                <a:cubicBezTo>
                  <a:pt x="1032" y="522"/>
                  <a:pt x="550" y="687"/>
                  <a:pt x="392" y="897"/>
                </a:cubicBezTo>
                <a:cubicBezTo>
                  <a:pt x="234" y="1107"/>
                  <a:pt x="352" y="1425"/>
                  <a:pt x="362" y="1647"/>
                </a:cubicBezTo>
                <a:cubicBezTo>
                  <a:pt x="372" y="1869"/>
                  <a:pt x="507" y="2044"/>
                  <a:pt x="452" y="2232"/>
                </a:cubicBezTo>
                <a:cubicBezTo>
                  <a:pt x="397" y="2420"/>
                  <a:pt x="64" y="2570"/>
                  <a:pt x="32" y="2772"/>
                </a:cubicBezTo>
                <a:cubicBezTo>
                  <a:pt x="0" y="2974"/>
                  <a:pt x="12" y="3287"/>
                  <a:pt x="257" y="3447"/>
                </a:cubicBezTo>
                <a:cubicBezTo>
                  <a:pt x="502" y="3607"/>
                  <a:pt x="1052" y="3682"/>
                  <a:pt x="1502" y="3732"/>
                </a:cubicBezTo>
                <a:cubicBezTo>
                  <a:pt x="1952" y="3782"/>
                  <a:pt x="2694" y="3840"/>
                  <a:pt x="2957" y="3747"/>
                </a:cubicBezTo>
                <a:cubicBezTo>
                  <a:pt x="3220" y="3654"/>
                  <a:pt x="2982" y="3434"/>
                  <a:pt x="3077" y="3177"/>
                </a:cubicBezTo>
                <a:cubicBezTo>
                  <a:pt x="3172" y="2920"/>
                  <a:pt x="3430" y="2522"/>
                  <a:pt x="3527" y="2202"/>
                </a:cubicBezTo>
                <a:cubicBezTo>
                  <a:pt x="3624" y="1882"/>
                  <a:pt x="3769" y="1474"/>
                  <a:pt x="3662" y="1257"/>
                </a:cubicBezTo>
                <a:cubicBezTo>
                  <a:pt x="3555" y="1040"/>
                  <a:pt x="3152" y="1092"/>
                  <a:pt x="2882" y="897"/>
                </a:cubicBezTo>
                <a:cubicBezTo>
                  <a:pt x="2612" y="702"/>
                  <a:pt x="2304" y="174"/>
                  <a:pt x="2042" y="87"/>
                </a:cubicBezTo>
                <a:cubicBezTo>
                  <a:pt x="1780" y="0"/>
                  <a:pt x="1582" y="252"/>
                  <a:pt x="1307" y="387"/>
                </a:cubicBezTo>
                <a:close/>
              </a:path>
            </a:pathLst>
          </a:custGeom>
          <a:blipFill rotWithShape="0">
            <a:blip r:embed="rId1"/>
            <a:srcRect/>
            <a:tile tx="0" ty="0" sx="100000" sy="100000" algn="ctr"/>
          </a:blipFill>
          <a:ln w="93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AutoShape 7"/>
          <p:cNvSpPr/>
          <p:nvPr/>
        </p:nvSpPr>
        <p:spPr>
          <a:xfrm rot="20592600">
            <a:off x="5411520" y="5278320"/>
            <a:ext cx="749160" cy="192240"/>
          </a:xfrm>
          <a:custGeom>
            <a:avLst/>
            <a:gdLst>
              <a:gd name="textAreaLeft" fmla="*/ 117000 w 749160"/>
              <a:gd name="textAreaRight" fmla="*/ 655560 w 749160"/>
              <a:gd name="textAreaTop" fmla="*/ 47880 h 192240"/>
              <a:gd name="textAreaBottom" fmla="*/ 144360 h 19224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66ff33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AutoShape 8"/>
          <p:cNvSpPr/>
          <p:nvPr/>
        </p:nvSpPr>
        <p:spPr>
          <a:xfrm rot="19292400">
            <a:off x="6053040" y="6203520"/>
            <a:ext cx="943200" cy="177840"/>
          </a:xfrm>
          <a:prstGeom prst="leftRightArrow">
            <a:avLst>
              <a:gd name="adj1" fmla="val 50000"/>
              <a:gd name="adj2" fmla="val 105582"/>
            </a:avLst>
          </a:prstGeom>
          <a:solidFill>
            <a:srgbClr val="8000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2480" bIns="4248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AutoShape 9"/>
          <p:cNvSpPr/>
          <p:nvPr/>
        </p:nvSpPr>
        <p:spPr>
          <a:xfrm rot="2681400">
            <a:off x="5610240" y="4035240"/>
            <a:ext cx="750960" cy="191880"/>
          </a:xfrm>
          <a:custGeom>
            <a:avLst/>
            <a:gdLst>
              <a:gd name="textAreaLeft" fmla="*/ 117360 w 750960"/>
              <a:gd name="textAreaRight" fmla="*/ 657360 w 750960"/>
              <a:gd name="textAreaTop" fmla="*/ 47880 h 191880"/>
              <a:gd name="textAreaBottom" fmla="*/ 144000 h 19188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AutoShape 10"/>
          <p:cNvSpPr/>
          <p:nvPr/>
        </p:nvSpPr>
        <p:spPr>
          <a:xfrm rot="19570800">
            <a:off x="7924680" y="4684680"/>
            <a:ext cx="749520" cy="192240"/>
          </a:xfrm>
          <a:custGeom>
            <a:avLst/>
            <a:gdLst>
              <a:gd name="textAreaLeft" fmla="*/ 117000 w 749520"/>
              <a:gd name="textAreaRight" fmla="*/ 655920 w 749520"/>
              <a:gd name="textAreaTop" fmla="*/ 47880 h 192240"/>
              <a:gd name="textAreaBottom" fmla="*/ 144360 h 19224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AutoShape 11"/>
          <p:cNvSpPr/>
          <p:nvPr/>
        </p:nvSpPr>
        <p:spPr>
          <a:xfrm rot="2997600">
            <a:off x="7683120" y="5456160"/>
            <a:ext cx="747360" cy="191880"/>
          </a:xfrm>
          <a:custGeom>
            <a:avLst/>
            <a:gdLst>
              <a:gd name="textAreaLeft" fmla="*/ 116640 w 747360"/>
              <a:gd name="textAreaRight" fmla="*/ 654120 w 747360"/>
              <a:gd name="textAreaTop" fmla="*/ 47880 h 191880"/>
              <a:gd name="textAreaBottom" fmla="*/ 144000 h 19188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80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Box 12"/>
          <p:cNvSpPr/>
          <p:nvPr/>
        </p:nvSpPr>
        <p:spPr>
          <a:xfrm>
            <a:off x="5278320" y="3465360"/>
            <a:ext cx="8049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2200" rIns="52200" tIns="25920" bIns="259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Q</a:t>
            </a:r>
            <a:r>
              <a:rPr b="1" lang="fr-FR" sz="24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 &gt; 0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Box 13"/>
          <p:cNvSpPr/>
          <p:nvPr/>
        </p:nvSpPr>
        <p:spPr>
          <a:xfrm>
            <a:off x="5113440" y="4892760"/>
            <a:ext cx="80460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2200" rIns="52200" tIns="25920" bIns="259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009900"/>
                </a:solidFill>
                <a:effectLst/>
                <a:uFillTx/>
                <a:latin typeface="Times New Roman"/>
              </a:rPr>
              <a:t>W</a:t>
            </a:r>
            <a:r>
              <a:rPr b="1" lang="fr-FR" sz="2000" strike="noStrike" u="none">
                <a:solidFill>
                  <a:srgbClr val="009900"/>
                </a:solidFill>
                <a:effectLst/>
                <a:uFillTx/>
                <a:latin typeface="Times New Roman"/>
              </a:rPr>
              <a:t> &gt; 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Box 14"/>
          <p:cNvSpPr/>
          <p:nvPr/>
        </p:nvSpPr>
        <p:spPr>
          <a:xfrm>
            <a:off x="8112240" y="4002120"/>
            <a:ext cx="8046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2200" rIns="52200" tIns="25920" bIns="259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Q</a:t>
            </a:r>
            <a:r>
              <a:rPr b="1" lang="fr-FR" sz="24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 &lt; 0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Box 15"/>
          <p:cNvSpPr/>
          <p:nvPr/>
        </p:nvSpPr>
        <p:spPr>
          <a:xfrm>
            <a:off x="8375760" y="5673600"/>
            <a:ext cx="8046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2200" rIns="52200" tIns="25920" bIns="259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009900"/>
                </a:solidFill>
                <a:effectLst/>
                <a:uFillTx/>
                <a:latin typeface="Times New Roman"/>
              </a:rPr>
              <a:t>W</a:t>
            </a:r>
            <a:r>
              <a:rPr b="1" lang="fr-FR" sz="2000" strike="noStrike" u="none">
                <a:solidFill>
                  <a:srgbClr val="009900"/>
                </a:solidFill>
                <a:effectLst/>
                <a:uFillTx/>
                <a:latin typeface="Times New Roman"/>
              </a:rPr>
              <a:t> &lt; 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Box 16"/>
          <p:cNvSpPr/>
          <p:nvPr/>
        </p:nvSpPr>
        <p:spPr>
          <a:xfrm>
            <a:off x="6567480" y="6280200"/>
            <a:ext cx="8049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2200" rIns="52200" tIns="25920" bIns="259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Matière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Box 17"/>
          <p:cNvSpPr/>
          <p:nvPr/>
        </p:nvSpPr>
        <p:spPr>
          <a:xfrm>
            <a:off x="6562800" y="4662360"/>
            <a:ext cx="1074600" cy="3938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2200" rIns="52200" tIns="25920" bIns="259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Système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18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19"/>
          <p:cNvSpPr/>
          <p:nvPr/>
        </p:nvSpPr>
        <p:spPr>
          <a:xfrm>
            <a:off x="179280" y="3797280"/>
            <a:ext cx="4897440" cy="27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Les énergies échangées avec le milieu extérieur seront affectées :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 </a:t>
            </a:r>
            <a:r>
              <a:rPr b="1" lang="fr-FR" sz="26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d'un </a:t>
            </a:r>
            <a:r>
              <a:rPr b="1" i="1" lang="fr-FR" sz="2600" strike="noStrike" u="sng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signe positif</a:t>
            </a:r>
            <a:r>
              <a:rPr b="0" lang="fr-FR" sz="26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 </a:t>
            </a:r>
            <a:r>
              <a:rPr b="0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lorsqu'elles seront </a:t>
            </a:r>
            <a:r>
              <a:rPr b="1" i="1" lang="fr-FR" sz="2600" strike="noStrike" u="sng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reçues</a:t>
            </a:r>
            <a:r>
              <a:rPr b="0" i="1" lang="fr-FR" sz="26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par le système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 d’un </a:t>
            </a:r>
            <a:r>
              <a:rPr b="1" i="1" lang="fr-FR" sz="2600" strike="noStrike" u="sng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signe négatif</a:t>
            </a:r>
            <a:r>
              <a:rPr b="0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lorsqu’elles seront </a:t>
            </a:r>
            <a:r>
              <a:rPr b="1" i="1" lang="fr-FR" sz="2600" strike="noStrike" u="sng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cédées</a:t>
            </a:r>
            <a:r>
              <a:rPr b="0" i="1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par le système.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42" dur="indefinite" restart="never" nodeType="tmRoot">
          <p:childTnLst>
            <p:seq>
              <p:cTn id="143" dur="indefinite" nodeType="mainSeq">
                <p:childTnLst>
                  <p:par>
                    <p:cTn id="144" nodeType="clickEffect" fill="hold">
                      <p:stCondLst>
                        <p:cond delay="indefinite"/>
                      </p:stCondLst>
                      <p:childTnLst>
                        <p:par>
                          <p:cTn id="1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6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48" dur="80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49" dur="80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0" dur="80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nodeType="clickEffect" fill="hold">
                      <p:stCondLst>
                        <p:cond delay="indefinite"/>
                      </p:stCondLst>
                      <p:childTnLst>
                        <p:par>
                          <p:cTn id="1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55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56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nodeType="clickEffect" fill="hold">
                      <p:stCondLst>
                        <p:cond delay="indefinite"/>
                      </p:stCondLst>
                      <p:childTnLst>
                        <p:par>
                          <p:cTn id="1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0" nodeType="clickEffect" fill="hold" presetClass="entr" presetID="2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4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8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nodeType="withEffect" fill="hold" presetClass="entr" presetID="2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4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8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7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nodeType="withEffect" fill="hold" presetClass="entr" presetID="2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4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8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8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nodeType="clickEffect" fill="hold">
                      <p:stCondLst>
                        <p:cond delay="indefinite"/>
                      </p:stCondLst>
                      <p:childTnLst>
                        <p:par>
                          <p:cTn id="1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0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nodeType="clickEffect" fill="hold">
                      <p:stCondLst>
                        <p:cond delay="indefinite"/>
                      </p:stCondLst>
                      <p:childTnLst>
                        <p:par>
                          <p:cTn id="2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6" nodeType="click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8" dur="5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9" dur="5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nodeType="with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2" dur="5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3" dur="5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nodeType="clickEffect" fill="hold">
                      <p:stCondLst>
                        <p:cond delay="indefinite"/>
                      </p:stCondLst>
                      <p:childTnLst>
                        <p:par>
                          <p:cTn id="2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6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2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2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2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2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nodeType="clickEffect" fill="hold">
                      <p:stCondLst>
                        <p:cond delay="indefinite"/>
                      </p:stCondLst>
                      <p:childTnLst>
                        <p:par>
                          <p:cTn id="2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0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32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33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4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nodeType="clickEffect" fill="hold">
                      <p:stCondLst>
                        <p:cond delay="indefinite"/>
                      </p:stCondLst>
                      <p:childTnLst>
                        <p:par>
                          <p:cTn id="2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39" dur="80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40" dur="80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1" dur="80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Box 2"/>
          <p:cNvSpPr/>
          <p:nvPr/>
        </p:nvSpPr>
        <p:spPr>
          <a:xfrm>
            <a:off x="179280" y="4896000"/>
            <a:ext cx="8785440" cy="17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2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Les variables d’état ne sont toujours pas indépendantes, certaines d’entre elles peuvent être liées par une relation appelée 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équation d’état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du type : </a:t>
            </a:r>
            <a:r>
              <a:rPr b="0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1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r>
              <a:rPr b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(</a:t>
            </a:r>
            <a:r>
              <a:rPr b="1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P,V,T</a:t>
            </a:r>
            <a:r>
              <a:rPr b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,…) = 0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8"/>
          <p:cNvSpPr/>
          <p:nvPr/>
        </p:nvSpPr>
        <p:spPr>
          <a:xfrm>
            <a:off x="38160" y="603360"/>
            <a:ext cx="9004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80000"/>
              </a:lnSpc>
              <a:spcBef>
                <a:spcPts val="1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600" strike="noStrike" u="sng">
                <a:solidFill>
                  <a:srgbClr val="66ff33"/>
                </a:solidFill>
                <a:effectLst/>
                <a:uFillTx/>
                <a:latin typeface="Arial"/>
              </a:rPr>
              <a:t>II- Etat d’un système, variables, équations et fonctions d’état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9"/>
          <p:cNvSpPr/>
          <p:nvPr/>
        </p:nvSpPr>
        <p:spPr>
          <a:xfrm>
            <a:off x="826560" y="1251000"/>
            <a:ext cx="485532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8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sng">
                <a:solidFill>
                  <a:srgbClr val="ff0000"/>
                </a:solidFill>
                <a:effectLst/>
                <a:uFillTx/>
                <a:latin typeface="Arial"/>
              </a:rPr>
              <a:t>II-1 Variables et équation d’état</a:t>
            </a:r>
            <a:r>
              <a:rPr b="1" lang="fr-FR" sz="2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 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10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11"/>
          <p:cNvSpPr/>
          <p:nvPr/>
        </p:nvSpPr>
        <p:spPr>
          <a:xfrm>
            <a:off x="250920" y="1827360"/>
            <a:ext cx="8707320" cy="33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5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Connaître l’état d’un système, c’est déterminer (à tout instant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 </a:t>
            </a:r>
            <a:br>
              <a:rPr sz="2400"/>
            </a:br>
            <a:r>
              <a:rPr b="1" i="1" lang="fr-FR" sz="2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les valeurs</a:t>
            </a:r>
            <a:r>
              <a:rPr b="0" lang="fr-FR" sz="2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d’un</a:t>
            </a:r>
            <a:r>
              <a:rPr b="1" i="1" lang="fr-FR" sz="2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 nombre minimum</a:t>
            </a:r>
            <a:r>
              <a:rPr b="0" lang="fr-FR" sz="2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grandeur mesurables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(la quantité de matière, la pression, la température, le volume…) appelées pour cette raison </a:t>
            </a:r>
            <a:r>
              <a:rPr b="0" i="1" lang="fr-FR" sz="2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variables d’état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capables de décrire le système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242" dur="indefinite" restart="never" nodeType="tmRoot">
          <p:childTnLst>
            <p:seq>
              <p:cTn id="243" dur="indefinite" nodeType="mainSeq">
                <p:childTnLst>
                  <p:par>
                    <p:cTn id="244" nodeType="clickEffect" fill="hold">
                      <p:stCondLst>
                        <p:cond delay="indefinite"/>
                      </p:stCondLst>
                      <p:childTnLst>
                        <p:par>
                          <p:cTn id="2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6" nodeType="clickEffect" fill="hold" presetClass="entr" presetID="2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0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4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5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nodeType="clickEffect" fill="hold">
                      <p:stCondLst>
                        <p:cond delay="indefinite"/>
                      </p:stCondLst>
                      <p:childTnLst>
                        <p:par>
                          <p:cTn id="2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8" nodeType="clickEffect" fill="hold" presetClass="entr" presetID="2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2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6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6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nodeType="clickEffect" fill="hold">
                      <p:stCondLst>
                        <p:cond delay="indefinite"/>
                      </p:stCondLst>
                      <p:childTnLst>
                        <p:par>
                          <p:cTn id="2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0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72" dur="80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73" dur="80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4" dur="80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nodeType="clickEffect" fill="hold">
                      <p:stCondLst>
                        <p:cond delay="indefinite"/>
                      </p:stCondLst>
                      <p:childTnLst>
                        <p:par>
                          <p:cTn id="2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79" dur="80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80" dur="80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1" dur="80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Box 4"/>
          <p:cNvSpPr/>
          <p:nvPr/>
        </p:nvSpPr>
        <p:spPr>
          <a:xfrm>
            <a:off x="209520" y="3147840"/>
            <a:ext cx="8569440" cy="13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10000"/>
              </a:lnSpc>
              <a:spcBef>
                <a:spcPts val="1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Dans ce cas, </a:t>
            </a:r>
            <a:r>
              <a:rPr b="0" i="1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il n’y a que</a:t>
            </a:r>
            <a:r>
              <a:rPr b="0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i="1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deux variables indépendantes</a:t>
            </a:r>
            <a:r>
              <a:rPr b="0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: 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1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P </a:t>
            </a:r>
            <a:r>
              <a:rPr b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= </a:t>
            </a:r>
            <a:r>
              <a:rPr b="1" i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r>
              <a:rPr b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(</a:t>
            </a:r>
            <a:r>
              <a:rPr b="1" i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r>
              <a:rPr b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</a:t>
            </a:r>
            <a:r>
              <a:rPr b="1" i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r>
              <a:rPr b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) ou </a:t>
            </a:r>
            <a:r>
              <a:rPr b="1" i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V </a:t>
            </a:r>
            <a:r>
              <a:rPr b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= </a:t>
            </a:r>
            <a:r>
              <a:rPr b="1" i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r>
              <a:rPr b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(</a:t>
            </a:r>
            <a:r>
              <a:rPr b="1" i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r>
              <a:rPr b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</a:t>
            </a:r>
            <a:r>
              <a:rPr b="1" i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r>
              <a:rPr b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) ou T</a:t>
            </a:r>
            <a:r>
              <a:rPr b="1" i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= </a:t>
            </a:r>
            <a:r>
              <a:rPr b="1" i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r>
              <a:rPr b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(</a:t>
            </a:r>
            <a:r>
              <a:rPr b="1" i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r>
              <a:rPr b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</a:t>
            </a:r>
            <a:r>
              <a:rPr b="1" i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r>
              <a:rPr b="1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r>
              <a:rPr b="0" lang="fr-FR" sz="2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5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6"/>
          <p:cNvSpPr/>
          <p:nvPr/>
        </p:nvSpPr>
        <p:spPr>
          <a:xfrm>
            <a:off x="279360" y="652320"/>
            <a:ext cx="8661600" cy="22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L’exemple le plus connu est celui du</a:t>
            </a:r>
            <a:br>
              <a:rPr sz="2800"/>
            </a:b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GAZ PARFAIT</a:t>
            </a:r>
            <a:r>
              <a:rPr b="0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pour lequel la pression</a:t>
            </a:r>
            <a:r>
              <a:rPr b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r>
              <a:rPr b="0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le volume</a:t>
            </a:r>
            <a:r>
              <a:rPr b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r>
              <a:rPr b="0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la température 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et le nombre de moles (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n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 sont liés par la relation :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PV – nRT = 0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Box 8"/>
          <p:cNvSpPr/>
          <p:nvPr/>
        </p:nvSpPr>
        <p:spPr>
          <a:xfrm>
            <a:off x="330120" y="4546440"/>
            <a:ext cx="8508960" cy="19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1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Il suffit donc, pour définir l’état d’une certaine quantité de gaz parfait, de connaître la valeur </a:t>
            </a:r>
            <a:r>
              <a:rPr b="0" lang="fr-FR" sz="2800" strike="noStrike" u="none">
                <a:solidFill>
                  <a:srgbClr val="c0504d"/>
                </a:solidFill>
                <a:effectLst/>
                <a:uFillTx/>
                <a:latin typeface="Arial"/>
              </a:rPr>
              <a:t>de </a:t>
            </a:r>
            <a:r>
              <a:rPr b="0" i="1" lang="fr-FR" sz="2800" strike="noStrike" u="sng">
                <a:solidFill>
                  <a:srgbClr val="c0504d"/>
                </a:solidFill>
                <a:effectLst/>
                <a:uFillTx/>
                <a:latin typeface="Arial"/>
              </a:rPr>
              <a:t>deux des trois variables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puisque celle de la troisième en résulte.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282" dur="indefinite" restart="never" nodeType="tmRoot">
          <p:childTnLst>
            <p:seq>
              <p:cTn id="283" dur="indefinite" nodeType="mainSeq">
                <p:childTnLst>
                  <p:par>
                    <p:cTn id="284" nodeType="clickEffect" fill="hold">
                      <p:stCondLst>
                        <p:cond delay="indefinite"/>
                      </p:stCondLst>
                      <p:childTnLst>
                        <p:par>
                          <p:cTn id="2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6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88" dur="80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89" dur="80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0" dur="80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nodeType="clickEffect" fill="hold">
                      <p:stCondLst>
                        <p:cond delay="indefinite"/>
                      </p:stCondLst>
                      <p:childTnLst>
                        <p:par>
                          <p:cTn id="2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9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nodeType="clickEffect" fill="hold">
                      <p:stCondLst>
                        <p:cond delay="indefinite"/>
                      </p:stCondLst>
                      <p:childTnLst>
                        <p:par>
                          <p:cTn id="2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8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00" dur="80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01" dur="80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2" dur="80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Box 2"/>
          <p:cNvSpPr/>
          <p:nvPr/>
        </p:nvSpPr>
        <p:spPr>
          <a:xfrm>
            <a:off x="177840" y="4406760"/>
            <a:ext cx="8713800" cy="230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200" strike="noStrike" u="sng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variables intensives</a:t>
            </a:r>
            <a:r>
              <a:rPr b="1" lang="fr-FR" sz="3200" strike="noStrike" u="sng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indépendantes de 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quantité de matière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contenue dans le système.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5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sng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Exemple</a:t>
            </a: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 : </a:t>
            </a:r>
            <a:r>
              <a:rPr b="0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pression</a:t>
            </a: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r>
              <a:rPr b="0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température</a:t>
            </a: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45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                  </a:t>
            </a:r>
            <a:r>
              <a:rPr b="0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masse volumique</a:t>
            </a: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….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3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14"/>
          <p:cNvSpPr/>
          <p:nvPr/>
        </p:nvSpPr>
        <p:spPr>
          <a:xfrm>
            <a:off x="165240" y="595440"/>
            <a:ext cx="8978760" cy="350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On peut séparer l'ensemble de ces variables d'état en :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i="1" lang="fr-FR" sz="3200" strike="noStrike" u="sng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variables extensives</a:t>
            </a:r>
            <a:r>
              <a:rPr b="1" lang="fr-FR" sz="3200" strike="noStrike" u="sng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proportionnelles à 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masse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du système. Elles sont additives lors de la réunion de deux systèmes de même nature.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sng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Exemple</a:t>
            </a: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 : </a:t>
            </a:r>
            <a:r>
              <a:rPr b="0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masse</a:t>
            </a: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r>
              <a:rPr b="0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volume</a:t>
            </a: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                 </a:t>
            </a:r>
            <a:r>
              <a:rPr b="0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nombre total de particules</a:t>
            </a: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….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303" dur="indefinite" restart="never" nodeType="tmRoot">
          <p:childTnLst>
            <p:seq>
              <p:cTn id="304" dur="indefinite" nodeType="mainSeq">
                <p:childTnLst>
                  <p:par>
                    <p:cTn id="305" nodeType="clickEffect" fill="hold">
                      <p:stCondLst>
                        <p:cond delay="indefinite"/>
                      </p:stCondLst>
                      <p:childTnLst>
                        <p:par>
                          <p:cTn id="3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7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09" dur="80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10" dur="80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1" dur="80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nodeType="clickEffect" fill="hold">
                      <p:stCondLst>
                        <p:cond delay="indefinite"/>
                      </p:stCondLst>
                      <p:childTnLst>
                        <p:par>
                          <p:cTn id="3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4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16" dur="80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17" dur="80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8" dur="80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Box 4"/>
          <p:cNvSpPr/>
          <p:nvPr/>
        </p:nvSpPr>
        <p:spPr>
          <a:xfrm>
            <a:off x="0" y="1197000"/>
            <a:ext cx="9144000" cy="11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3600" strike="noStrike" u="sng">
                <a:solidFill>
                  <a:srgbClr val="c0504d"/>
                </a:solidFill>
                <a:effectLst/>
                <a:uFillTx/>
                <a:latin typeface="Times New Roman"/>
              </a:rPr>
              <a:t>Exemple</a:t>
            </a:r>
            <a:r>
              <a:rPr b="0" i="1" lang="fr-FR" sz="36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 </a:t>
            </a:r>
            <a:r>
              <a:rPr b="0" lang="fr-FR" sz="36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: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1" lang="fr-FR" sz="2400" strike="noStrike" u="none">
                <a:solidFill>
                  <a:srgbClr val="cc3300"/>
                </a:solidFill>
                <a:effectLst/>
                <a:uFillTx/>
                <a:latin typeface="Times New Roman"/>
              </a:rPr>
              <a:t>1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litre d’eau à </a:t>
            </a:r>
            <a:r>
              <a:rPr b="1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300K</a:t>
            </a:r>
            <a:r>
              <a:rPr b="1" lang="fr-FR" sz="20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 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+ </a:t>
            </a:r>
            <a:r>
              <a:rPr b="1" lang="fr-FR" sz="24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1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litre d’eau à </a:t>
            </a:r>
            <a:r>
              <a:rPr b="1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300K  </a:t>
            </a:r>
            <a:r>
              <a:rPr b="1" lang="fr-FR" sz="20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 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 </a:t>
            </a:r>
            <a:r>
              <a:rPr b="1" lang="fr-FR" sz="2400" strike="noStrike" u="none">
                <a:solidFill>
                  <a:srgbClr val="cc3300"/>
                </a:solidFill>
                <a:effectLst/>
                <a:uFillTx/>
                <a:latin typeface="Times New Roman"/>
              </a:rPr>
              <a:t>2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litres d’eau à </a:t>
            </a:r>
            <a:r>
              <a:rPr b="1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300K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5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Line 6"/>
          <p:cNvSpPr/>
          <p:nvPr/>
        </p:nvSpPr>
        <p:spPr>
          <a:xfrm>
            <a:off x="5305320" y="1989000"/>
            <a:ext cx="1067040" cy="0"/>
          </a:xfrm>
          <a:prstGeom prst="line">
            <a:avLst/>
          </a:prstGeom>
          <a:ln w="57240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" name="Group 17"/>
          <p:cNvGrpSpPr/>
          <p:nvPr/>
        </p:nvGrpSpPr>
        <p:grpSpPr>
          <a:xfrm>
            <a:off x="1187280" y="2714760"/>
            <a:ext cx="6696720" cy="650880"/>
            <a:chOff x="1187280" y="2714760"/>
            <a:chExt cx="6696720" cy="650880"/>
          </a:xfrm>
        </p:grpSpPr>
        <p:grpSp>
          <p:nvGrpSpPr>
            <p:cNvPr id="83" name="Group 14"/>
            <p:cNvGrpSpPr/>
            <p:nvPr/>
          </p:nvGrpSpPr>
          <p:grpSpPr>
            <a:xfrm>
              <a:off x="1187280" y="2748240"/>
              <a:ext cx="2316960" cy="617400"/>
              <a:chOff x="1187280" y="2748240"/>
              <a:chExt cx="2316960" cy="617400"/>
            </a:xfrm>
          </p:grpSpPr>
          <p:sp>
            <p:nvSpPr>
              <p:cNvPr id="84" name="Rectangle 7"/>
              <p:cNvSpPr/>
              <p:nvPr/>
            </p:nvSpPr>
            <p:spPr>
              <a:xfrm>
                <a:off x="1187280" y="2748240"/>
                <a:ext cx="2316960" cy="609480"/>
              </a:xfrm>
              <a:prstGeom prst="rect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Line 8"/>
              <p:cNvSpPr/>
              <p:nvPr/>
            </p:nvSpPr>
            <p:spPr>
              <a:xfrm>
                <a:off x="2360520" y="2748240"/>
                <a:ext cx="0" cy="60948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Text Box 9"/>
              <p:cNvSpPr/>
              <p:nvPr/>
            </p:nvSpPr>
            <p:spPr>
              <a:xfrm>
                <a:off x="1285560" y="2786040"/>
                <a:ext cx="958680" cy="57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1749"/>
                  </a:spcBef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2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m</a:t>
                </a:r>
                <a:r>
                  <a:rPr b="0" lang="fr-FR" sz="28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1</a:t>
                </a:r>
                <a:r>
                  <a:rPr b="0" lang="fr-FR" sz="2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;T</a:t>
                </a:r>
                <a:endParaRPr b="0" lang="en-US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Text Box 10"/>
              <p:cNvSpPr/>
              <p:nvPr/>
            </p:nvSpPr>
            <p:spPr>
              <a:xfrm>
                <a:off x="2404080" y="2786040"/>
                <a:ext cx="1038600" cy="57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1749"/>
                  </a:spcBef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2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m</a:t>
                </a:r>
                <a:r>
                  <a:rPr b="0" lang="fr-FR" sz="28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2</a:t>
                </a:r>
                <a:r>
                  <a:rPr b="0" lang="fr-FR" sz="2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;T</a:t>
                </a:r>
                <a:endParaRPr b="0" lang="en-US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8" name="Group 15"/>
            <p:cNvGrpSpPr/>
            <p:nvPr/>
          </p:nvGrpSpPr>
          <p:grpSpPr>
            <a:xfrm>
              <a:off x="5567040" y="2714760"/>
              <a:ext cx="2316960" cy="609480"/>
              <a:chOff x="5567040" y="2714760"/>
              <a:chExt cx="2316960" cy="609480"/>
            </a:xfrm>
          </p:grpSpPr>
          <p:sp>
            <p:nvSpPr>
              <p:cNvPr id="89" name="Rectangle 11"/>
              <p:cNvSpPr/>
              <p:nvPr/>
            </p:nvSpPr>
            <p:spPr>
              <a:xfrm>
                <a:off x="5567040" y="2714760"/>
                <a:ext cx="2316960" cy="609480"/>
              </a:xfrm>
              <a:prstGeom prst="rect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Text Box 12"/>
              <p:cNvSpPr/>
              <p:nvPr/>
            </p:nvSpPr>
            <p:spPr>
              <a:xfrm>
                <a:off x="5886720" y="2778120"/>
                <a:ext cx="1837800" cy="51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1500"/>
                  </a:spcBef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m</a:t>
                </a:r>
                <a:r>
                  <a:rPr b="0" lang="fr-FR" sz="24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1</a:t>
                </a:r>
                <a:r>
                  <a:rPr b="0" lang="fr-FR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 + m</a:t>
                </a:r>
                <a:r>
                  <a:rPr b="0" lang="fr-FR" sz="24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2</a:t>
                </a:r>
                <a:r>
                  <a:rPr b="0" lang="fr-FR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 ; T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" name="Line 13"/>
            <p:cNvSpPr/>
            <p:nvPr/>
          </p:nvSpPr>
          <p:spPr>
            <a:xfrm>
              <a:off x="3805920" y="3035520"/>
              <a:ext cx="11185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" name="Rectangle 16"/>
          <p:cNvSpPr/>
          <p:nvPr/>
        </p:nvSpPr>
        <p:spPr>
          <a:xfrm>
            <a:off x="539640" y="4365720"/>
            <a:ext cx="820908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volume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est une grandeur 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Arial"/>
              </a:rPr>
              <a:t>extensive</a:t>
            </a:r>
            <a:r>
              <a:rPr b="0" lang="fr-FR" sz="2800" strike="noStrike" u="none">
                <a:solidFill>
                  <a:srgbClr val="c0504d"/>
                </a:solidFill>
                <a:effectLst/>
                <a:uFillTx/>
                <a:latin typeface="Arial"/>
              </a:rPr>
              <a:t>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température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est une grandeur 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Arial"/>
              </a:rPr>
              <a:t>intensive.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319" dur="indefinite" restart="never" nodeType="tmRoot">
          <p:childTnLst>
            <p:seq>
              <p:cTn id="320" dur="indefinite" nodeType="mainSeq">
                <p:childTnLst>
                  <p:par>
                    <p:cTn id="321" nodeType="clickEffect" fill="hold">
                      <p:stCondLst>
                        <p:cond delay="indefinite"/>
                      </p:stCondLst>
                      <p:childTnLst>
                        <p:par>
                          <p:cTn id="3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3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32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nodeType="clickEffect" fill="hold">
                      <p:stCondLst>
                        <p:cond delay="indefinite"/>
                      </p:stCondLst>
                      <p:childTnLst>
                        <p:par>
                          <p:cTn id="3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8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nodeType="clickEffect" fill="hold">
                      <p:stCondLst>
                        <p:cond delay="indefinite"/>
                      </p:stCondLst>
                      <p:childTnLst>
                        <p:par>
                          <p:cTn id="3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3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35" dur="80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36" dur="80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7" dur="80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3"/>
          <p:cNvSpPr/>
          <p:nvPr/>
        </p:nvSpPr>
        <p:spPr>
          <a:xfrm>
            <a:off x="394560" y="595440"/>
            <a:ext cx="3059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sng">
                <a:solidFill>
                  <a:srgbClr val="c0504d"/>
                </a:solidFill>
                <a:effectLst/>
                <a:uFillTx/>
                <a:latin typeface="Arial"/>
              </a:rPr>
              <a:t>II.2 Fonction d’état</a:t>
            </a:r>
            <a:r>
              <a:rPr b="1" lang="fr-FR" sz="2400" strike="noStrike" u="none">
                <a:solidFill>
                  <a:srgbClr val="c0504d"/>
                </a:solidFill>
                <a:effectLst/>
                <a:uFillTx/>
                <a:latin typeface="Arial"/>
              </a:rPr>
              <a:t> 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4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5"/>
          <p:cNvSpPr/>
          <p:nvPr/>
        </p:nvSpPr>
        <p:spPr>
          <a:xfrm>
            <a:off x="250920" y="1197000"/>
            <a:ext cx="8642160" cy="20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Souvent, on peut réaliser des 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transformations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entre un état 1 (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état initial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 et un état 2 (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état final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 de plusieurs façons différentes, c.à.d en empruntant des 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chemins différents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7"/>
          <p:cNvSpPr/>
          <p:nvPr/>
        </p:nvSpPr>
        <p:spPr>
          <a:xfrm>
            <a:off x="395280" y="5681520"/>
            <a:ext cx="856944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En général, la variation </a:t>
            </a:r>
            <a:r>
              <a:rPr b="1" lang="fr-FR" sz="2800" strike="noStrike" u="none">
                <a:solidFill>
                  <a:srgbClr val="c0504d"/>
                </a:solidFill>
                <a:effectLst/>
                <a:uFillTx/>
                <a:latin typeface="Symbol"/>
                <a:ea typeface="Symbol"/>
              </a:rPr>
              <a:t>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r>
              <a:rPr b="0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 ,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entre l’état 1 et l’état 2, dépend du 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chemin suivi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7" name="Group 21"/>
          <p:cNvGrpSpPr/>
          <p:nvPr/>
        </p:nvGrpSpPr>
        <p:grpSpPr>
          <a:xfrm>
            <a:off x="325440" y="3322800"/>
            <a:ext cx="8348760" cy="2356920"/>
            <a:chOff x="325440" y="3322800"/>
            <a:chExt cx="8348760" cy="2356920"/>
          </a:xfrm>
        </p:grpSpPr>
        <p:sp>
          <p:nvSpPr>
            <p:cNvPr id="98" name="Freeform 8" descr="5 %"/>
            <p:cNvSpPr/>
            <p:nvPr/>
          </p:nvSpPr>
          <p:spPr>
            <a:xfrm>
              <a:off x="468360" y="3855960"/>
              <a:ext cx="2982960" cy="1823760"/>
            </a:xfrm>
            <a:custGeom>
              <a:avLst/>
              <a:gdLst>
                <a:gd name="textAreaLeft" fmla="*/ 0 w 2982960"/>
                <a:gd name="textAreaRight" fmla="*/ 2983320 w 2982960"/>
                <a:gd name="textAreaTop" fmla="*/ 0 h 1823760"/>
                <a:gd name="textAreaBottom" fmla="*/ 1824120 h 1823760"/>
                <a:gd name="GluePoint1X" fmla="*/ 440 w 1879"/>
                <a:gd name="GluePoint1Y" fmla="*/ 221 h 1149"/>
                <a:gd name="GluePoint2X" fmla="*/ 768 w 1879"/>
                <a:gd name="GluePoint2Y" fmla="*/ 53 h 1149"/>
                <a:gd name="GluePoint3X" fmla="*/ 995 w 1879"/>
                <a:gd name="GluePoint3Y" fmla="*/ 8 h 1149"/>
                <a:gd name="GluePoint4X" fmla="*/ 1267 w 1879"/>
                <a:gd name="GluePoint4Y" fmla="*/ 99 h 1149"/>
                <a:gd name="GluePoint5X" fmla="*/ 1766 w 1879"/>
                <a:gd name="GluePoint5Y" fmla="*/ 416 h 1149"/>
                <a:gd name="GluePoint6X" fmla="*/ 1856 w 1879"/>
                <a:gd name="GluePoint6Y" fmla="*/ 689 h 1149"/>
                <a:gd name="GluePoint7X" fmla="*/ 1630 w 1879"/>
                <a:gd name="GluePoint7Y" fmla="*/ 1006 h 1149"/>
                <a:gd name="GluePoint8X" fmla="*/ 859 w 1879"/>
                <a:gd name="GluePoint8Y" fmla="*/ 1142 h 1149"/>
                <a:gd name="GluePoint9X" fmla="*/ 178 w 1879"/>
                <a:gd name="GluePoint9Y" fmla="*/ 961 h 1149"/>
                <a:gd name="GluePoint10X" fmla="*/ 42 w 1879"/>
                <a:gd name="GluePoint10Y" fmla="*/ 552 h 1149"/>
                <a:gd name="GluePoint11X" fmla="*/ 432 w 1879"/>
                <a:gd name="GluePoint11Y" fmla="*/ 245 h 1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879" h="1149">
                  <a:moveTo>
                    <a:pt x="440" y="221"/>
                  </a:moveTo>
                  <a:cubicBezTo>
                    <a:pt x="495" y="194"/>
                    <a:pt x="676" y="89"/>
                    <a:pt x="768" y="53"/>
                  </a:cubicBezTo>
                  <a:cubicBezTo>
                    <a:pt x="860" y="17"/>
                    <a:pt x="912" y="0"/>
                    <a:pt x="995" y="8"/>
                  </a:cubicBezTo>
                  <a:cubicBezTo>
                    <a:pt x="1078" y="16"/>
                    <a:pt x="1138" y="31"/>
                    <a:pt x="1267" y="99"/>
                  </a:cubicBezTo>
                  <a:cubicBezTo>
                    <a:pt x="1396" y="167"/>
                    <a:pt x="1668" y="318"/>
                    <a:pt x="1766" y="416"/>
                  </a:cubicBezTo>
                  <a:cubicBezTo>
                    <a:pt x="1864" y="514"/>
                    <a:pt x="1879" y="591"/>
                    <a:pt x="1856" y="689"/>
                  </a:cubicBezTo>
                  <a:cubicBezTo>
                    <a:pt x="1833" y="787"/>
                    <a:pt x="1796" y="931"/>
                    <a:pt x="1630" y="1006"/>
                  </a:cubicBezTo>
                  <a:cubicBezTo>
                    <a:pt x="1464" y="1081"/>
                    <a:pt x="1101" y="1149"/>
                    <a:pt x="859" y="1142"/>
                  </a:cubicBezTo>
                  <a:cubicBezTo>
                    <a:pt x="617" y="1135"/>
                    <a:pt x="314" y="1059"/>
                    <a:pt x="178" y="961"/>
                  </a:cubicBezTo>
                  <a:cubicBezTo>
                    <a:pt x="42" y="863"/>
                    <a:pt x="0" y="671"/>
                    <a:pt x="42" y="552"/>
                  </a:cubicBezTo>
                  <a:cubicBezTo>
                    <a:pt x="84" y="433"/>
                    <a:pt x="351" y="309"/>
                    <a:pt x="432" y="245"/>
                  </a:cubicBezTo>
                </a:path>
              </a:pathLst>
            </a:custGeom>
            <a:blipFill rotWithShape="0">
              <a:blip r:embed="rId1"/>
              <a:srcRect/>
              <a:tile tx="0" ty="0" sx="100000" sy="100000" algn="ctr"/>
            </a:blip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Freeform 9" descr="Carrelage"/>
            <p:cNvSpPr/>
            <p:nvPr/>
          </p:nvSpPr>
          <p:spPr>
            <a:xfrm>
              <a:off x="5580000" y="3784320"/>
              <a:ext cx="2982960" cy="1823760"/>
            </a:xfrm>
            <a:custGeom>
              <a:avLst/>
              <a:gdLst>
                <a:gd name="textAreaLeft" fmla="*/ 0 w 2982960"/>
                <a:gd name="textAreaRight" fmla="*/ 2983320 w 2982960"/>
                <a:gd name="textAreaTop" fmla="*/ 0 h 1823760"/>
                <a:gd name="textAreaBottom" fmla="*/ 1824120 h 1823760"/>
                <a:gd name="GluePoint1X" fmla="*/ 402 w 1879"/>
                <a:gd name="GluePoint1Y" fmla="*/ 248 h 1149"/>
                <a:gd name="GluePoint2X" fmla="*/ 768 w 1879"/>
                <a:gd name="GluePoint2Y" fmla="*/ 53 h 1149"/>
                <a:gd name="GluePoint3X" fmla="*/ 995 w 1879"/>
                <a:gd name="GluePoint3Y" fmla="*/ 8 h 1149"/>
                <a:gd name="GluePoint4X" fmla="*/ 1267 w 1879"/>
                <a:gd name="GluePoint4Y" fmla="*/ 99 h 1149"/>
                <a:gd name="GluePoint5X" fmla="*/ 1766 w 1879"/>
                <a:gd name="GluePoint5Y" fmla="*/ 416 h 1149"/>
                <a:gd name="GluePoint6X" fmla="*/ 1856 w 1879"/>
                <a:gd name="GluePoint6Y" fmla="*/ 689 h 1149"/>
                <a:gd name="GluePoint7X" fmla="*/ 1630 w 1879"/>
                <a:gd name="GluePoint7Y" fmla="*/ 1006 h 1149"/>
                <a:gd name="GluePoint8X" fmla="*/ 859 w 1879"/>
                <a:gd name="GluePoint8Y" fmla="*/ 1142 h 1149"/>
                <a:gd name="GluePoint9X" fmla="*/ 178 w 1879"/>
                <a:gd name="GluePoint9Y" fmla="*/ 961 h 1149"/>
                <a:gd name="GluePoint10X" fmla="*/ 42 w 1879"/>
                <a:gd name="GluePoint10Y" fmla="*/ 552 h 1149"/>
                <a:gd name="GluePoint11X" fmla="*/ 432 w 1879"/>
                <a:gd name="GluePoint11Y" fmla="*/ 245 h 1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879" h="1149">
                  <a:moveTo>
                    <a:pt x="402" y="248"/>
                  </a:moveTo>
                  <a:cubicBezTo>
                    <a:pt x="463" y="213"/>
                    <a:pt x="669" y="93"/>
                    <a:pt x="768" y="53"/>
                  </a:cubicBezTo>
                  <a:cubicBezTo>
                    <a:pt x="867" y="13"/>
                    <a:pt x="912" y="0"/>
                    <a:pt x="995" y="8"/>
                  </a:cubicBezTo>
                  <a:cubicBezTo>
                    <a:pt x="1078" y="16"/>
                    <a:pt x="1138" y="31"/>
                    <a:pt x="1267" y="99"/>
                  </a:cubicBezTo>
                  <a:cubicBezTo>
                    <a:pt x="1396" y="167"/>
                    <a:pt x="1668" y="318"/>
                    <a:pt x="1766" y="416"/>
                  </a:cubicBezTo>
                  <a:cubicBezTo>
                    <a:pt x="1864" y="514"/>
                    <a:pt x="1879" y="591"/>
                    <a:pt x="1856" y="689"/>
                  </a:cubicBezTo>
                  <a:cubicBezTo>
                    <a:pt x="1833" y="787"/>
                    <a:pt x="1796" y="931"/>
                    <a:pt x="1630" y="1006"/>
                  </a:cubicBezTo>
                  <a:cubicBezTo>
                    <a:pt x="1464" y="1081"/>
                    <a:pt x="1101" y="1149"/>
                    <a:pt x="859" y="1142"/>
                  </a:cubicBezTo>
                  <a:cubicBezTo>
                    <a:pt x="617" y="1135"/>
                    <a:pt x="314" y="1059"/>
                    <a:pt x="178" y="961"/>
                  </a:cubicBezTo>
                  <a:cubicBezTo>
                    <a:pt x="42" y="863"/>
                    <a:pt x="0" y="671"/>
                    <a:pt x="42" y="552"/>
                  </a:cubicBezTo>
                  <a:cubicBezTo>
                    <a:pt x="84" y="433"/>
                    <a:pt x="351" y="309"/>
                    <a:pt x="432" y="245"/>
                  </a:cubicBezTo>
                </a:path>
              </a:pathLst>
            </a:custGeom>
            <a:blipFill rotWithShape="0">
              <a:blip r:embed="rId2"/>
              <a:srcRect/>
              <a:tile tx="0" ty="0" sx="100000" sy="100000" algn="ctr"/>
            </a:blip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0" name="AutoShape 10"/>
            <p:cNvCxnSpPr>
              <a:stCxn id="98" idx="3"/>
              <a:endCxn id="99" idx="0"/>
            </p:cNvCxnSpPr>
            <p:nvPr/>
          </p:nvCxnSpPr>
          <p:spPr>
            <a:xfrm flipH="1" rot="16200000">
              <a:off x="4266360" y="2225880"/>
              <a:ext cx="165600" cy="3739320"/>
            </a:xfrm>
            <a:prstGeom prst="bentConnector4">
              <a:avLst>
                <a:gd name="adj1" fmla="val -233551"/>
                <a:gd name="adj2" fmla="val 54429"/>
              </a:avLst>
            </a:prstGeom>
            <a:ln w="381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101" name="AutoShape 13"/>
            <p:cNvCxnSpPr>
              <a:stCxn id="98" idx="5"/>
            </p:cNvCxnSpPr>
            <p:nvPr/>
          </p:nvCxnSpPr>
          <p:spPr>
            <a:xfrm flipV="1">
              <a:off x="3414240" y="4575960"/>
              <a:ext cx="2242440" cy="373320"/>
            </a:xfrm>
            <a:prstGeom prst="curvedConnector5">
              <a:avLst>
                <a:gd name="adj1" fmla="val 50770"/>
                <a:gd name="adj2" fmla="val 50000"/>
                <a:gd name="adj3" fmla="val 50770"/>
              </a:avLst>
            </a:prstGeom>
            <a:ln w="38160">
              <a:solidFill>
                <a:srgbClr val="000000"/>
              </a:solidFill>
              <a:miter/>
              <a:tailEnd len="med" type="arrow" w="med"/>
            </a:ln>
          </p:spPr>
        </p:cxnSp>
        <p:cxnSp>
          <p:nvCxnSpPr>
            <p:cNvPr id="102" name="AutoShape 15"/>
            <p:cNvCxnSpPr/>
            <p:nvPr/>
          </p:nvCxnSpPr>
          <p:spPr>
            <a:xfrm flipV="1">
              <a:off x="3127320" y="5080680"/>
              <a:ext cx="2525040" cy="371880"/>
            </a:xfrm>
            <a:prstGeom prst="bentConnector3">
              <a:avLst>
                <a:gd name="adj1" fmla="val 57792"/>
              </a:avLst>
            </a:prstGeom>
            <a:ln w="38160">
              <a:solidFill>
                <a:srgbClr val="000000"/>
              </a:solidFill>
              <a:prstDash val="dash"/>
              <a:miter/>
              <a:tailEnd len="med" type="triangle" w="med"/>
            </a:ln>
          </p:spPr>
        </p:cxnSp>
        <p:sp>
          <p:nvSpPr>
            <p:cNvPr id="103" name="Rectangle 16"/>
            <p:cNvSpPr/>
            <p:nvPr/>
          </p:nvSpPr>
          <p:spPr>
            <a:xfrm>
              <a:off x="4653360" y="3322800"/>
              <a:ext cx="673560" cy="64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3200" strike="noStrike" u="none">
                  <a:solidFill>
                    <a:srgbClr val="c0504d"/>
                  </a:solidFill>
                  <a:effectLst/>
                  <a:uFillTx/>
                  <a:latin typeface="Symbol"/>
                  <a:ea typeface="Symbol"/>
                </a:rPr>
                <a:t></a:t>
              </a:r>
              <a:r>
                <a:rPr b="0" i="1" lang="fr-FR" sz="3200" strike="noStrike" u="none">
                  <a:solidFill>
                    <a:srgbClr val="c0504d"/>
                  </a:solidFill>
                  <a:effectLst/>
                  <a:uFillTx/>
                  <a:latin typeface="Arial"/>
                </a:rPr>
                <a:t>f</a:t>
              </a:r>
              <a:r>
                <a:rPr b="0" i="1" lang="fr-FR" sz="3200" strike="noStrike" u="none" baseline="-25000">
                  <a:solidFill>
                    <a:srgbClr val="c0504d"/>
                  </a:solidFill>
                  <a:effectLst/>
                  <a:uFillTx/>
                  <a:latin typeface="Arial"/>
                </a:rPr>
                <a:t>1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Rectangle 17"/>
            <p:cNvSpPr/>
            <p:nvPr/>
          </p:nvSpPr>
          <p:spPr>
            <a:xfrm>
              <a:off x="3709800" y="4357440"/>
              <a:ext cx="669960" cy="58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3200" strike="noStrike" u="none">
                  <a:solidFill>
                    <a:srgbClr val="c0504d"/>
                  </a:solidFill>
                  <a:effectLst/>
                  <a:uFillTx/>
                  <a:latin typeface="Symbol"/>
                  <a:ea typeface="Symbol"/>
                </a:rPr>
                <a:t></a:t>
              </a:r>
              <a:r>
                <a:rPr b="0" i="1" lang="fr-FR" sz="3200" strike="noStrike" u="none">
                  <a:solidFill>
                    <a:srgbClr val="c0504d"/>
                  </a:solidFill>
                  <a:effectLst/>
                  <a:uFillTx/>
                  <a:latin typeface="Arial"/>
                </a:rPr>
                <a:t>f</a:t>
              </a:r>
              <a:r>
                <a:rPr b="0" i="1" lang="fr-FR" sz="1800" strike="noStrike" u="none">
                  <a:solidFill>
                    <a:srgbClr val="c0504d"/>
                  </a:solidFill>
                  <a:effectLst/>
                  <a:uFillTx/>
                  <a:latin typeface="Arial"/>
                </a:rPr>
                <a:t>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Rectangle 18"/>
            <p:cNvSpPr/>
            <p:nvPr/>
          </p:nvSpPr>
          <p:spPr>
            <a:xfrm>
              <a:off x="4717800" y="5081400"/>
              <a:ext cx="669960" cy="58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3200" strike="noStrike" u="none">
                  <a:solidFill>
                    <a:srgbClr val="c0504d"/>
                  </a:solidFill>
                  <a:effectLst/>
                  <a:uFillTx/>
                  <a:latin typeface="Symbol"/>
                  <a:ea typeface="Symbol"/>
                </a:rPr>
                <a:t></a:t>
              </a:r>
              <a:r>
                <a:rPr b="0" i="1" lang="fr-FR" sz="3200" strike="noStrike" u="none">
                  <a:solidFill>
                    <a:srgbClr val="c0504d"/>
                  </a:solidFill>
                  <a:effectLst/>
                  <a:uFillTx/>
                  <a:latin typeface="Arial"/>
                </a:rPr>
                <a:t>f</a:t>
              </a:r>
              <a:r>
                <a:rPr b="0" i="1" lang="fr-FR" sz="1800" strike="noStrike" u="none">
                  <a:solidFill>
                    <a:srgbClr val="c0504d"/>
                  </a:solidFill>
                  <a:effectLst/>
                  <a:uFillTx/>
                  <a:latin typeface="Arial"/>
                </a:rPr>
                <a:t>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Rectangle 19"/>
            <p:cNvSpPr/>
            <p:nvPr/>
          </p:nvSpPr>
          <p:spPr>
            <a:xfrm>
              <a:off x="325440" y="3713040"/>
              <a:ext cx="94320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c0504d"/>
                  </a:solidFill>
                  <a:effectLst/>
                  <a:uFillTx/>
                  <a:latin typeface="Arial"/>
                </a:rPr>
                <a:t>état 1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Rectangle 20"/>
            <p:cNvSpPr/>
            <p:nvPr/>
          </p:nvSpPr>
          <p:spPr>
            <a:xfrm>
              <a:off x="7731000" y="3616200"/>
              <a:ext cx="94320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c0504d"/>
                  </a:solidFill>
                  <a:effectLst/>
                  <a:uFillTx/>
                  <a:latin typeface="Arial"/>
                </a:rPr>
                <a:t>état 2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iming>
    <p:tnLst>
      <p:par>
        <p:cTn id="338" dur="indefinite" restart="never" nodeType="tmRoot">
          <p:childTnLst>
            <p:seq>
              <p:cTn id="339" dur="indefinite" nodeType="mainSeq">
                <p:childTnLst>
                  <p:par>
                    <p:cTn id="340" nodeType="clickEffect" fill="hold">
                      <p:stCondLst>
                        <p:cond delay="indefinite"/>
                      </p:stCondLst>
                      <p:childTnLst>
                        <p:par>
                          <p:cTn id="3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2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44" dur="80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45" dur="80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6" dur="80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nodeType="clickEffect" fill="hold">
                      <p:stCondLst>
                        <p:cond delay="indefinite"/>
                      </p:stCondLst>
                      <p:childTnLst>
                        <p:par>
                          <p:cTn id="3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9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51" dur="80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52" dur="80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3" dur="80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nodeType="clickEffect" fill="hold">
                      <p:stCondLst>
                        <p:cond delay="indefinite"/>
                      </p:stCondLst>
                      <p:childTnLst>
                        <p:par>
                          <p:cTn id="3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6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358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nodeType="clickEffect" fill="hold">
                      <p:stCondLst>
                        <p:cond delay="indefinite"/>
                      </p:stCondLst>
                      <p:childTnLst>
                        <p:par>
                          <p:cTn id="3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1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63" dur="80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64" dur="80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5" dur="80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Box 4"/>
          <p:cNvSpPr/>
          <p:nvPr/>
        </p:nvSpPr>
        <p:spPr>
          <a:xfrm>
            <a:off x="142920" y="2749680"/>
            <a:ext cx="8713800" cy="41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Ces fonctions sont dites </a:t>
            </a:r>
            <a:r>
              <a:rPr b="1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fonctions d'état</a:t>
            </a:r>
            <a:r>
              <a:rPr b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0000"/>
              </a:lnSpc>
              <a:spcBef>
                <a:spcPts val="2001"/>
              </a:spcBef>
              <a:spcAft>
                <a:spcPts val="799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0504d"/>
                </a:solidFill>
                <a:effectLst/>
                <a:uFillTx/>
                <a:latin typeface="Symbol"/>
                <a:ea typeface="Symbol"/>
              </a:rPr>
              <a:t></a:t>
            </a:r>
            <a:r>
              <a:rPr b="1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r>
              <a:rPr b="1" lang="fr-FR" sz="3200" strike="noStrike" u="none" baseline="-30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r>
              <a:rPr b="1" lang="fr-FR" sz="3200" strike="noStrike" u="none" baseline="-30000">
                <a:solidFill>
                  <a:srgbClr val="c0504d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b="1" lang="fr-FR" sz="3200" strike="noStrike" u="none" baseline="-30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r>
              <a:rPr b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 = </a:t>
            </a:r>
            <a:r>
              <a:rPr b="1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r>
              <a:rPr b="1" lang="fr-FR" sz="3200" strike="noStrike" u="none" baseline="-30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r>
              <a:rPr b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 -  </a:t>
            </a:r>
            <a:r>
              <a:rPr b="1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r>
              <a:rPr b="1" lang="fr-FR" sz="3200" strike="noStrike" u="none" baseline="-30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r>
              <a:rPr b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 = Cte</a:t>
            </a:r>
            <a:r>
              <a:rPr b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quelque soit le chemin suivi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001"/>
              </a:spcBef>
              <a:spcAft>
                <a:spcPts val="799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Exemple: L’enthalpie</a:t>
            </a: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</a:t>
            </a:r>
            <a:r>
              <a:rPr b="0" i="1" lang="fr-FR" sz="36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H</a:t>
            </a: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</a:t>
            </a: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et l’énergie interne</a:t>
            </a: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</a:t>
            </a:r>
            <a:r>
              <a:rPr b="0" i="1" lang="fr-FR" sz="36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U</a:t>
            </a:r>
            <a:r>
              <a:rPr b="0" lang="fr-FR" sz="32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 </a:t>
            </a: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sont des </a:t>
            </a:r>
            <a:r>
              <a:rPr b="0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fonctions d’état.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001"/>
              </a:spcBef>
              <a:spcAft>
                <a:spcPts val="799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 Le travail</a:t>
            </a: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</a:t>
            </a:r>
            <a:r>
              <a:rPr b="0" i="1" lang="fr-FR" sz="36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W</a:t>
            </a:r>
            <a:r>
              <a:rPr b="0" lang="fr-FR" sz="32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 </a:t>
            </a: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et la chaleur </a:t>
            </a:r>
            <a:r>
              <a:rPr b="0" i="1" lang="fr-FR" sz="36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Q</a:t>
            </a: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 ne sont pas </a:t>
            </a:r>
            <a:r>
              <a:rPr b="0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des fonctions d’état </a:t>
            </a: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(</a:t>
            </a:r>
            <a:r>
              <a:rPr b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fonctions de transfert</a:t>
            </a: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</a:rPr>
              <a:t>).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5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6"/>
          <p:cNvSpPr/>
          <p:nvPr/>
        </p:nvSpPr>
        <p:spPr>
          <a:xfrm>
            <a:off x="250920" y="765000"/>
            <a:ext cx="8496360" cy="20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Il existe en thermodynamique des 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fonctions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P,V,T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,…) 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liées aux variables d'état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dont 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les variations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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au cours d'une transformation sont 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indépendantes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du 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chemin suivi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366" dur="indefinite" restart="never" nodeType="tmRoot">
          <p:childTnLst>
            <p:seq>
              <p:cTn id="367" dur="indefinite" nodeType="mainSeq">
                <p:childTnLst>
                  <p:par>
                    <p:cTn id="368" nodeType="clickEffect" fill="hold">
                      <p:stCondLst>
                        <p:cond delay="indefinite"/>
                      </p:stCondLst>
                      <p:childTnLst>
                        <p:par>
                          <p:cTn id="3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0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72" dur="8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73" dur="8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4" dur="8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nodeType="clickEffect" fill="hold">
                      <p:stCondLst>
                        <p:cond delay="indefinite"/>
                      </p:stCondLst>
                      <p:childTnLst>
                        <p:par>
                          <p:cTn id="3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79" dur="8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80" dur="8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1" dur="8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Box 2"/>
          <p:cNvSpPr/>
          <p:nvPr/>
        </p:nvSpPr>
        <p:spPr>
          <a:xfrm>
            <a:off x="250920" y="981000"/>
            <a:ext cx="8713800" cy="24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1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Considérons un système constitué de </a:t>
            </a:r>
            <a:r>
              <a:rPr b="1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moles d’un gaz parfait. Son 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état 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à un instant </a:t>
            </a:r>
            <a:r>
              <a:rPr b="1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 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est déterminé par la connaissance de 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deux variables d’état indépendantes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Cet 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état 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peut ainsi être représenté par 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un point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dans l’un des 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digrammes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suivants :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2" name="Group 55"/>
          <p:cNvGrpSpPr/>
          <p:nvPr/>
        </p:nvGrpSpPr>
        <p:grpSpPr>
          <a:xfrm>
            <a:off x="0" y="3500280"/>
            <a:ext cx="8839080" cy="3357720"/>
            <a:chOff x="0" y="3500280"/>
            <a:chExt cx="8839080" cy="3357720"/>
          </a:xfrm>
        </p:grpSpPr>
        <p:sp>
          <p:nvSpPr>
            <p:cNvPr id="113" name="AutoShape 4"/>
            <p:cNvSpPr/>
            <p:nvPr/>
          </p:nvSpPr>
          <p:spPr>
            <a:xfrm>
              <a:off x="0" y="3500280"/>
              <a:ext cx="8839080" cy="335772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Line 5"/>
            <p:cNvSpPr/>
            <p:nvPr/>
          </p:nvSpPr>
          <p:spPr>
            <a:xfrm flipV="1">
              <a:off x="784080" y="3675960"/>
              <a:ext cx="1080" cy="2057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Line 6"/>
            <p:cNvSpPr/>
            <p:nvPr/>
          </p:nvSpPr>
          <p:spPr>
            <a:xfrm>
              <a:off x="774360" y="5724360"/>
              <a:ext cx="2091960" cy="14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Oval 7"/>
            <p:cNvSpPr/>
            <p:nvPr/>
          </p:nvSpPr>
          <p:spPr>
            <a:xfrm>
              <a:off x="1261800" y="5189400"/>
              <a:ext cx="58320" cy="57240"/>
            </a:xfrm>
            <a:prstGeom prst="ellipse">
              <a:avLst/>
            </a:prstGeom>
            <a:solidFill>
              <a:srgbClr val="ffff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120" bIns="-612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Oval 8"/>
            <p:cNvSpPr/>
            <p:nvPr/>
          </p:nvSpPr>
          <p:spPr>
            <a:xfrm>
              <a:off x="2158920" y="4608360"/>
              <a:ext cx="56520" cy="57240"/>
            </a:xfrm>
            <a:prstGeom prst="ellipse">
              <a:avLst/>
            </a:prstGeom>
            <a:solidFill>
              <a:srgbClr val="ffff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120" bIns="-612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Text Box 9"/>
            <p:cNvSpPr/>
            <p:nvPr/>
          </p:nvSpPr>
          <p:spPr>
            <a:xfrm>
              <a:off x="1962000" y="4309920"/>
              <a:ext cx="1061640" cy="30168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B (P</a:t>
              </a:r>
              <a:r>
                <a:rPr b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B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,V</a:t>
              </a:r>
              <a:r>
                <a:rPr b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B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)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Line 10"/>
            <p:cNvSpPr/>
            <p:nvPr/>
          </p:nvSpPr>
          <p:spPr>
            <a:xfrm flipV="1">
              <a:off x="3490560" y="3657240"/>
              <a:ext cx="1440" cy="20588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Line 11"/>
            <p:cNvSpPr/>
            <p:nvPr/>
          </p:nvSpPr>
          <p:spPr>
            <a:xfrm>
              <a:off x="3482640" y="5730840"/>
              <a:ext cx="2091960" cy="14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Oval 12"/>
            <p:cNvSpPr/>
            <p:nvPr/>
          </p:nvSpPr>
          <p:spPr>
            <a:xfrm>
              <a:off x="4400280" y="5198760"/>
              <a:ext cx="56880" cy="55800"/>
            </a:xfrm>
            <a:prstGeom prst="ellipse">
              <a:avLst/>
            </a:prstGeom>
            <a:solidFill>
              <a:srgbClr val="ffff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840" bIns="-684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Oval 13"/>
            <p:cNvSpPr/>
            <p:nvPr/>
          </p:nvSpPr>
          <p:spPr>
            <a:xfrm>
              <a:off x="4698720" y="4608360"/>
              <a:ext cx="56880" cy="57240"/>
            </a:xfrm>
            <a:prstGeom prst="ellipse">
              <a:avLst/>
            </a:prstGeom>
            <a:solidFill>
              <a:srgbClr val="ffff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120" bIns="-612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ext Box 14"/>
            <p:cNvSpPr/>
            <p:nvPr/>
          </p:nvSpPr>
          <p:spPr>
            <a:xfrm>
              <a:off x="493560" y="3571560"/>
              <a:ext cx="264600" cy="37008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P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Text Box 15"/>
            <p:cNvSpPr/>
            <p:nvPr/>
          </p:nvSpPr>
          <p:spPr>
            <a:xfrm>
              <a:off x="2812680" y="5452920"/>
              <a:ext cx="264960" cy="26352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V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Text Box 16"/>
            <p:cNvSpPr/>
            <p:nvPr/>
          </p:nvSpPr>
          <p:spPr>
            <a:xfrm>
              <a:off x="3078000" y="3676320"/>
              <a:ext cx="387000" cy="34776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P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Text Box 17"/>
            <p:cNvSpPr/>
            <p:nvPr/>
          </p:nvSpPr>
          <p:spPr>
            <a:xfrm>
              <a:off x="5414760" y="5418000"/>
              <a:ext cx="264600" cy="26352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Text Box 18"/>
            <p:cNvSpPr/>
            <p:nvPr/>
          </p:nvSpPr>
          <p:spPr>
            <a:xfrm>
              <a:off x="792000" y="6237000"/>
              <a:ext cx="2304720" cy="32544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Diagramme de Clapeyron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Text Box 19"/>
            <p:cNvSpPr/>
            <p:nvPr/>
          </p:nvSpPr>
          <p:spPr>
            <a:xfrm>
              <a:off x="3568320" y="6213240"/>
              <a:ext cx="2408040" cy="45576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Diagramme (P,T)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Line 20"/>
            <p:cNvSpPr/>
            <p:nvPr/>
          </p:nvSpPr>
          <p:spPr>
            <a:xfrm>
              <a:off x="785520" y="5208480"/>
              <a:ext cx="3661920" cy="1440"/>
            </a:xfrm>
            <a:prstGeom prst="line">
              <a:avLst/>
            </a:prstGeom>
            <a:ln w="648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Line 21"/>
            <p:cNvSpPr/>
            <p:nvPr/>
          </p:nvSpPr>
          <p:spPr>
            <a:xfrm flipV="1">
              <a:off x="795240" y="4623840"/>
              <a:ext cx="3880800" cy="11160"/>
            </a:xfrm>
            <a:prstGeom prst="line">
              <a:avLst/>
            </a:prstGeom>
            <a:ln w="648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Text Box 22"/>
            <p:cNvSpPr/>
            <p:nvPr/>
          </p:nvSpPr>
          <p:spPr>
            <a:xfrm>
              <a:off x="367920" y="5073480"/>
              <a:ext cx="375840" cy="39060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P</a:t>
              </a:r>
              <a:r>
                <a:rPr b="1" i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A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Text Box 23"/>
            <p:cNvSpPr/>
            <p:nvPr/>
          </p:nvSpPr>
          <p:spPr>
            <a:xfrm>
              <a:off x="367920" y="4465440"/>
              <a:ext cx="375840" cy="39060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P</a:t>
              </a:r>
              <a:r>
                <a:rPr b="1" i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B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Text Box 24"/>
            <p:cNvSpPr/>
            <p:nvPr/>
          </p:nvSpPr>
          <p:spPr>
            <a:xfrm>
              <a:off x="936360" y="4836960"/>
              <a:ext cx="1098360" cy="30168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A (P</a:t>
              </a:r>
              <a:r>
                <a:rPr b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A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,V</a:t>
              </a:r>
              <a:r>
                <a:rPr b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A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)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Line 25"/>
            <p:cNvSpPr/>
            <p:nvPr/>
          </p:nvSpPr>
          <p:spPr>
            <a:xfrm>
              <a:off x="1280880" y="5214960"/>
              <a:ext cx="1080" cy="502920"/>
            </a:xfrm>
            <a:prstGeom prst="line">
              <a:avLst/>
            </a:prstGeom>
            <a:ln w="936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Line 26"/>
            <p:cNvSpPr/>
            <p:nvPr/>
          </p:nvSpPr>
          <p:spPr>
            <a:xfrm>
              <a:off x="2185560" y="4662360"/>
              <a:ext cx="1440" cy="1055520"/>
            </a:xfrm>
            <a:prstGeom prst="line">
              <a:avLst/>
            </a:prstGeom>
            <a:ln w="936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Text Box 27"/>
            <p:cNvSpPr/>
            <p:nvPr/>
          </p:nvSpPr>
          <p:spPr>
            <a:xfrm>
              <a:off x="1004760" y="5743440"/>
              <a:ext cx="551880" cy="35064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  V</a:t>
              </a:r>
              <a:r>
                <a:rPr b="1" i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A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Text Box 28"/>
            <p:cNvSpPr/>
            <p:nvPr/>
          </p:nvSpPr>
          <p:spPr>
            <a:xfrm>
              <a:off x="1858680" y="5743440"/>
              <a:ext cx="661680" cy="35064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   </a:t>
              </a:r>
              <a:r>
                <a:rPr b="1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V</a:t>
              </a:r>
              <a:r>
                <a:rPr b="1" i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B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Text Box 29"/>
            <p:cNvSpPr/>
            <p:nvPr/>
          </p:nvSpPr>
          <p:spPr>
            <a:xfrm>
              <a:off x="3719160" y="4887720"/>
              <a:ext cx="1033200" cy="30168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A(P</a:t>
              </a:r>
              <a:r>
                <a:rPr b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A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,T</a:t>
              </a:r>
              <a:r>
                <a:rPr b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A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)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Text Box 30"/>
            <p:cNvSpPr/>
            <p:nvPr/>
          </p:nvSpPr>
          <p:spPr>
            <a:xfrm>
              <a:off x="4371840" y="4284360"/>
              <a:ext cx="1099800" cy="30168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B (P</a:t>
              </a:r>
              <a:r>
                <a:rPr b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B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, T</a:t>
              </a:r>
              <a:r>
                <a:rPr b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B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)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Line 31"/>
            <p:cNvSpPr/>
            <p:nvPr/>
          </p:nvSpPr>
          <p:spPr>
            <a:xfrm>
              <a:off x="4422600" y="5214960"/>
              <a:ext cx="1080" cy="502920"/>
            </a:xfrm>
            <a:prstGeom prst="line">
              <a:avLst/>
            </a:prstGeom>
            <a:ln w="936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Line 32"/>
            <p:cNvSpPr/>
            <p:nvPr/>
          </p:nvSpPr>
          <p:spPr>
            <a:xfrm>
              <a:off x="4724280" y="4662360"/>
              <a:ext cx="1080" cy="1055520"/>
            </a:xfrm>
            <a:prstGeom prst="line">
              <a:avLst/>
            </a:prstGeom>
            <a:ln w="936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Text Box 33"/>
            <p:cNvSpPr/>
            <p:nvPr/>
          </p:nvSpPr>
          <p:spPr>
            <a:xfrm>
              <a:off x="4176360" y="5717880"/>
              <a:ext cx="572760" cy="35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T</a:t>
              </a:r>
              <a:r>
                <a:rPr b="1" i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A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Text Box 34"/>
            <p:cNvSpPr/>
            <p:nvPr/>
          </p:nvSpPr>
          <p:spPr>
            <a:xfrm>
              <a:off x="4536720" y="5732280"/>
              <a:ext cx="552240" cy="35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  T</a:t>
              </a:r>
              <a:r>
                <a:rPr b="1" i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B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Line 35"/>
            <p:cNvSpPr/>
            <p:nvPr/>
          </p:nvSpPr>
          <p:spPr>
            <a:xfrm flipV="1">
              <a:off x="6092640" y="3649320"/>
              <a:ext cx="1080" cy="2057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Line 36"/>
            <p:cNvSpPr/>
            <p:nvPr/>
          </p:nvSpPr>
          <p:spPr>
            <a:xfrm>
              <a:off x="6084720" y="5698800"/>
              <a:ext cx="2091960" cy="1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Oval 37"/>
            <p:cNvSpPr/>
            <p:nvPr/>
          </p:nvSpPr>
          <p:spPr>
            <a:xfrm>
              <a:off x="7003800" y="4840200"/>
              <a:ext cx="55080" cy="55440"/>
            </a:xfrm>
            <a:prstGeom prst="ellipse">
              <a:avLst/>
            </a:prstGeom>
            <a:solidFill>
              <a:srgbClr val="ffff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200" bIns="-72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Oval 38"/>
            <p:cNvSpPr/>
            <p:nvPr/>
          </p:nvSpPr>
          <p:spPr>
            <a:xfrm>
              <a:off x="7300800" y="4240080"/>
              <a:ext cx="58320" cy="58680"/>
            </a:xfrm>
            <a:prstGeom prst="ellipse">
              <a:avLst/>
            </a:prstGeom>
            <a:solidFill>
              <a:srgbClr val="ffff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400" bIns="-54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Text Box 39"/>
            <p:cNvSpPr/>
            <p:nvPr/>
          </p:nvSpPr>
          <p:spPr>
            <a:xfrm>
              <a:off x="5681520" y="3668400"/>
              <a:ext cx="385200" cy="34632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V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Text Box 40"/>
            <p:cNvSpPr/>
            <p:nvPr/>
          </p:nvSpPr>
          <p:spPr>
            <a:xfrm>
              <a:off x="8018280" y="5408280"/>
              <a:ext cx="263160" cy="26388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Text Box 41"/>
            <p:cNvSpPr/>
            <p:nvPr/>
          </p:nvSpPr>
          <p:spPr>
            <a:xfrm>
              <a:off x="6321240" y="4519440"/>
              <a:ext cx="1383840" cy="30168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A(V</a:t>
              </a:r>
              <a:r>
                <a:rPr b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A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, T</a:t>
              </a:r>
              <a:r>
                <a:rPr b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A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)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Text Box 42"/>
            <p:cNvSpPr/>
            <p:nvPr/>
          </p:nvSpPr>
          <p:spPr>
            <a:xfrm>
              <a:off x="6975360" y="3916080"/>
              <a:ext cx="1233000" cy="30168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B(V</a:t>
              </a:r>
              <a:r>
                <a:rPr b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B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, T</a:t>
              </a:r>
              <a:r>
                <a:rPr b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B</a:t>
              </a: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)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Line 43"/>
            <p:cNvSpPr/>
            <p:nvPr/>
          </p:nvSpPr>
          <p:spPr>
            <a:xfrm>
              <a:off x="7026120" y="4846320"/>
              <a:ext cx="1080" cy="817560"/>
            </a:xfrm>
            <a:prstGeom prst="line">
              <a:avLst/>
            </a:prstGeom>
            <a:ln w="648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Line 44"/>
            <p:cNvSpPr/>
            <p:nvPr/>
          </p:nvSpPr>
          <p:spPr>
            <a:xfrm>
              <a:off x="7327800" y="4267080"/>
              <a:ext cx="1080" cy="1441440"/>
            </a:xfrm>
            <a:prstGeom prst="line">
              <a:avLst/>
            </a:prstGeom>
            <a:ln w="648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Text Box 45"/>
            <p:cNvSpPr/>
            <p:nvPr/>
          </p:nvSpPr>
          <p:spPr>
            <a:xfrm>
              <a:off x="6841800" y="5740200"/>
              <a:ext cx="574560" cy="352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T</a:t>
              </a:r>
              <a:r>
                <a:rPr b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A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Text Box 46"/>
            <p:cNvSpPr/>
            <p:nvPr/>
          </p:nvSpPr>
          <p:spPr>
            <a:xfrm>
              <a:off x="7223040" y="5732280"/>
              <a:ext cx="553680" cy="352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T</a:t>
              </a:r>
              <a:r>
                <a:rPr b="1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B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Text Box 47"/>
            <p:cNvSpPr/>
            <p:nvPr/>
          </p:nvSpPr>
          <p:spPr>
            <a:xfrm>
              <a:off x="6217920" y="6211800"/>
              <a:ext cx="2350800" cy="241200"/>
            </a:xfrm>
            <a:prstGeom prst="rect">
              <a:avLst/>
            </a:prstGeom>
            <a:solidFill>
              <a:srgbClr val="fff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rIns="59760" tIns="29880" bIns="2988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Diagramme (V,T)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7" name="Rectangle 53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54"/>
          <p:cNvSpPr/>
          <p:nvPr/>
        </p:nvSpPr>
        <p:spPr>
          <a:xfrm>
            <a:off x="479160" y="533520"/>
            <a:ext cx="69872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sng">
                <a:solidFill>
                  <a:srgbClr val="66ff33"/>
                </a:solidFill>
                <a:effectLst/>
                <a:uFillTx/>
                <a:latin typeface="Arial"/>
              </a:rPr>
              <a:t>III- Représentation graphique d’un état</a:t>
            </a:r>
            <a:r>
              <a:rPr b="1" lang="fr-FR" sz="2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 :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2" dur="indefinite" restart="never" nodeType="tmRoot">
          <p:childTnLst>
            <p:seq>
              <p:cTn id="383" dur="indefinite" nodeType="mainSeq">
                <p:childTnLst>
                  <p:par>
                    <p:cTn id="384" nodeType="clickEffect" fill="hold">
                      <p:stCondLst>
                        <p:cond delay="indefinite"/>
                      </p:stCondLst>
                      <p:childTnLst>
                        <p:par>
                          <p:cTn id="3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6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88" dur="8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89" dur="8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0" dur="8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nodeType="clickEffect" fill="hold">
                      <p:stCondLst>
                        <p:cond delay="indefinite"/>
                      </p:stCondLst>
                      <p:childTnLst>
                        <p:par>
                          <p:cTn id="3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3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95" dur="8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96" dur="8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7" dur="8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nodeType="clickEffect" fill="hold">
                      <p:stCondLst>
                        <p:cond delay="indefinite"/>
                      </p:stCondLst>
                      <p:childTnLst>
                        <p:par>
                          <p:cTn id="39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0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0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03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4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5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6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7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8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9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0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1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2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3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4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5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Box 4"/>
          <p:cNvSpPr/>
          <p:nvPr/>
        </p:nvSpPr>
        <p:spPr>
          <a:xfrm>
            <a:off x="4067280" y="1341360"/>
            <a:ext cx="4841640" cy="48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749"/>
              </a:spcBef>
              <a:spcAft>
                <a:spcPts val="700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Dans le cas du diagramme de Clapeyron :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749"/>
              </a:spcBef>
              <a:spcAft>
                <a:spcPts val="700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L’état A est caractérisé par les variables thermodynamiques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749"/>
              </a:spcBef>
              <a:spcAft>
                <a:spcPts val="700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r>
              <a:rPr b="1" i="1" lang="fr-FR" sz="28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A</a:t>
            </a:r>
            <a:r>
              <a:rPr b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r>
              <a:rPr b="1" i="1" lang="fr-FR" sz="28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A</a:t>
            </a:r>
            <a:r>
              <a:rPr b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 et 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r>
              <a:rPr b="1" i="1" lang="fr-FR" sz="28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A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= 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r>
              <a:rPr b="1" i="1" lang="fr-FR" sz="28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A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r>
              <a:rPr b="1" i="1" lang="fr-FR" sz="28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A 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/nR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749"/>
              </a:spcBef>
              <a:spcAft>
                <a:spcPts val="700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L’état 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est caractérisé par les variables thermodynamiques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749"/>
              </a:spcBef>
              <a:spcAft>
                <a:spcPts val="700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r>
              <a:rPr b="1" i="1" lang="fr-FR" sz="28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B</a:t>
            </a:r>
            <a:r>
              <a:rPr b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r>
              <a:rPr b="1" i="1" lang="fr-FR" sz="28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B</a:t>
            </a:r>
            <a:r>
              <a:rPr b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 et 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r>
              <a:rPr b="1" i="1" lang="fr-FR" sz="28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B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= 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r>
              <a:rPr b="1" i="1" lang="fr-FR" sz="28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B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r>
              <a:rPr b="1" i="1" lang="fr-FR" sz="28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B 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/nR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0" name="Group 23"/>
          <p:cNvGrpSpPr/>
          <p:nvPr/>
        </p:nvGrpSpPr>
        <p:grpSpPr>
          <a:xfrm>
            <a:off x="0" y="1268280"/>
            <a:ext cx="4067280" cy="4321440"/>
            <a:chOff x="0" y="1268280"/>
            <a:chExt cx="4067280" cy="4321440"/>
          </a:xfrm>
        </p:grpSpPr>
        <p:sp>
          <p:nvSpPr>
            <p:cNvPr id="161" name="Rectangle 21"/>
            <p:cNvSpPr/>
            <p:nvPr/>
          </p:nvSpPr>
          <p:spPr>
            <a:xfrm>
              <a:off x="0" y="1268280"/>
              <a:ext cx="4067280" cy="4321440"/>
            </a:xfrm>
            <a:prstGeom prst="rect">
              <a:avLst/>
            </a:prstGeom>
            <a:solidFill>
              <a:srgbClr val="ffff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2" name="Group 20"/>
            <p:cNvGrpSpPr/>
            <p:nvPr/>
          </p:nvGrpSpPr>
          <p:grpSpPr>
            <a:xfrm>
              <a:off x="216000" y="1413000"/>
              <a:ext cx="3708000" cy="3887280"/>
              <a:chOff x="216000" y="1413000"/>
              <a:chExt cx="3708000" cy="3887280"/>
            </a:xfrm>
          </p:grpSpPr>
          <p:sp>
            <p:nvSpPr>
              <p:cNvPr id="163" name="Line 5"/>
              <p:cNvSpPr/>
              <p:nvPr/>
            </p:nvSpPr>
            <p:spPr>
              <a:xfrm flipV="1">
                <a:off x="781200" y="1549080"/>
                <a:ext cx="1800" cy="267408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Line 6"/>
              <p:cNvSpPr/>
              <p:nvPr/>
            </p:nvSpPr>
            <p:spPr>
              <a:xfrm>
                <a:off x="768240" y="4210920"/>
                <a:ext cx="2842920" cy="18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Oval 7"/>
              <p:cNvSpPr/>
              <p:nvPr/>
            </p:nvSpPr>
            <p:spPr>
              <a:xfrm>
                <a:off x="1430280" y="3515760"/>
                <a:ext cx="79560" cy="74160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760" bIns="576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Oval 8"/>
              <p:cNvSpPr/>
              <p:nvPr/>
            </p:nvSpPr>
            <p:spPr>
              <a:xfrm>
                <a:off x="2649240" y="2760480"/>
                <a:ext cx="77040" cy="74160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760" bIns="576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Text Box 9"/>
              <p:cNvSpPr/>
              <p:nvPr/>
            </p:nvSpPr>
            <p:spPr>
              <a:xfrm>
                <a:off x="2381760" y="2372400"/>
                <a:ext cx="1442880" cy="39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9760" rIns="59760" tIns="29880" bIns="2988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B (P</a:t>
                </a:r>
                <a:r>
                  <a:rPr b="1" lang="fr-FR" sz="18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B</a:t>
                </a:r>
                <a:r>
                  <a:rPr b="1" lang="fr-FR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,V</a:t>
                </a:r>
                <a:r>
                  <a:rPr b="1" lang="fr-FR" sz="18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B</a:t>
                </a:r>
                <a:r>
                  <a:rPr b="1" lang="fr-FR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)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Text Box 10"/>
              <p:cNvSpPr/>
              <p:nvPr/>
            </p:nvSpPr>
            <p:spPr>
              <a:xfrm>
                <a:off x="386640" y="1413000"/>
                <a:ext cx="360000" cy="480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9760" rIns="59760" tIns="29880" bIns="2988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i="1" lang="fr-FR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P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Text Box 11"/>
              <p:cNvSpPr/>
              <p:nvPr/>
            </p:nvSpPr>
            <p:spPr>
              <a:xfrm>
                <a:off x="3537720" y="3858120"/>
                <a:ext cx="360360" cy="34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9760" rIns="59760" tIns="29880" bIns="2988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i="1" lang="fr-FR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V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Text Box 12"/>
              <p:cNvSpPr/>
              <p:nvPr/>
            </p:nvSpPr>
            <p:spPr>
              <a:xfrm>
                <a:off x="792000" y="4877280"/>
                <a:ext cx="3132000" cy="423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9760" rIns="59760" tIns="29880" bIns="2988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i="1" lang="fr-FR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Diagramme de Clapeyron</a:t>
                </a:r>
                <a:r>
                  <a:rPr b="1" lang="fr-FR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Text Box 13"/>
              <p:cNvSpPr/>
              <p:nvPr/>
            </p:nvSpPr>
            <p:spPr>
              <a:xfrm>
                <a:off x="216000" y="3364920"/>
                <a:ext cx="510840" cy="507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9760" rIns="59760" tIns="29880" bIns="2988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i="1" lang="fr-FR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P</a:t>
                </a:r>
                <a:r>
                  <a:rPr b="1" i="1" lang="fr-FR" sz="18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A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Text Box 14"/>
              <p:cNvSpPr/>
              <p:nvPr/>
            </p:nvSpPr>
            <p:spPr>
              <a:xfrm>
                <a:off x="216000" y="2574720"/>
                <a:ext cx="510840" cy="507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9760" rIns="59760" tIns="29880" bIns="2988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i="1" lang="fr-FR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P</a:t>
                </a:r>
                <a:r>
                  <a:rPr b="1" i="1" lang="fr-FR" sz="18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B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Text Box 15"/>
              <p:cNvSpPr/>
              <p:nvPr/>
            </p:nvSpPr>
            <p:spPr>
              <a:xfrm>
                <a:off x="988200" y="3057480"/>
                <a:ext cx="1492560" cy="39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9760" rIns="59760" tIns="29880" bIns="2988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A (P</a:t>
                </a:r>
                <a:r>
                  <a:rPr b="1" lang="fr-FR" sz="18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A</a:t>
                </a:r>
                <a:r>
                  <a:rPr b="1" lang="fr-FR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,V</a:t>
                </a:r>
                <a:r>
                  <a:rPr b="1" lang="fr-FR" sz="18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A</a:t>
                </a:r>
                <a:r>
                  <a:rPr b="1" lang="fr-FR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)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Line 16"/>
              <p:cNvSpPr/>
              <p:nvPr/>
            </p:nvSpPr>
            <p:spPr>
              <a:xfrm>
                <a:off x="1456200" y="3548880"/>
                <a:ext cx="1800" cy="653400"/>
              </a:xfrm>
              <a:prstGeom prst="line">
                <a:avLst/>
              </a:prstGeom>
              <a:ln w="9360">
                <a:solidFill>
                  <a:srgbClr val="000000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Line 17"/>
              <p:cNvSpPr/>
              <p:nvPr/>
            </p:nvSpPr>
            <p:spPr>
              <a:xfrm>
                <a:off x="2685600" y="2830680"/>
                <a:ext cx="2160" cy="1371960"/>
              </a:xfrm>
              <a:prstGeom prst="line">
                <a:avLst/>
              </a:prstGeom>
              <a:ln w="9360">
                <a:solidFill>
                  <a:srgbClr val="000000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Text Box 18"/>
              <p:cNvSpPr/>
              <p:nvPr/>
            </p:nvSpPr>
            <p:spPr>
              <a:xfrm>
                <a:off x="1081080" y="4235760"/>
                <a:ext cx="750240" cy="455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i="1" lang="fr-FR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  V</a:t>
                </a:r>
                <a:r>
                  <a:rPr b="1" i="1" lang="fr-FR" sz="18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A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Text Box 19"/>
              <p:cNvSpPr/>
              <p:nvPr/>
            </p:nvSpPr>
            <p:spPr>
              <a:xfrm>
                <a:off x="2241360" y="4235760"/>
                <a:ext cx="899280" cy="455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   </a:t>
                </a:r>
                <a:r>
                  <a:rPr b="1" i="1" lang="fr-FR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V</a:t>
                </a:r>
                <a:r>
                  <a:rPr b="1" i="1" lang="fr-FR" sz="18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B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78" name="Rectangle 22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416" dur="indefinite" restart="never" nodeType="tmRoot">
          <p:childTnLst>
            <p:seq>
              <p:cTn id="417" dur="indefinite" nodeType="mainSeq">
                <p:childTnLst>
                  <p:par>
                    <p:cTn id="418" nodeType="clickEffect" fill="hold">
                      <p:stCondLst>
                        <p:cond delay="indefinite"/>
                      </p:stCondLst>
                      <p:childTnLst>
                        <p:par>
                          <p:cTn id="4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0" nodeType="clickEffect" fill="hold" presetClass="entr" presetID="1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2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3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4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5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nodeType="clickEffect" fill="hold">
                      <p:stCondLst>
                        <p:cond delay="indefinite"/>
                      </p:stCondLst>
                      <p:childTnLst>
                        <p:par>
                          <p:cTn id="4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8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430" dur="8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431" dur="8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2" dur="8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4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Box 5"/>
          <p:cNvSpPr/>
          <p:nvPr/>
        </p:nvSpPr>
        <p:spPr>
          <a:xfrm>
            <a:off x="250920" y="3735360"/>
            <a:ext cx="8569080" cy="272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0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Par exemple : Si 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température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est la même en chaque point et n'évolue pas au cours du temps, on a un </a:t>
            </a: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équilibre thermique</a:t>
            </a:r>
            <a:r>
              <a:rPr b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r>
              <a:rPr b="0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Si 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pression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est la même en chaque point et n'évolue pas au cours du temps, on a un </a:t>
            </a:r>
            <a:br>
              <a:rPr sz="2800"/>
            </a:br>
            <a:r>
              <a:rPr b="1" i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équilibre mécanique</a:t>
            </a:r>
            <a:r>
              <a:rPr b="1" lang="fr-FR" sz="28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6"/>
          <p:cNvSpPr/>
          <p:nvPr/>
        </p:nvSpPr>
        <p:spPr>
          <a:xfrm>
            <a:off x="536760" y="592200"/>
            <a:ext cx="38448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sng">
                <a:solidFill>
                  <a:srgbClr val="66ff33"/>
                </a:solidFill>
                <a:effectLst/>
                <a:uFillTx/>
                <a:latin typeface="Arial"/>
              </a:rPr>
              <a:t>IV- État d’équilibre</a:t>
            </a:r>
            <a:r>
              <a:rPr b="0" lang="fr-FR" sz="32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 :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7"/>
          <p:cNvSpPr/>
          <p:nvPr/>
        </p:nvSpPr>
        <p:spPr>
          <a:xfrm>
            <a:off x="250920" y="1341360"/>
            <a:ext cx="8569080" cy="21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20000"/>
              </a:lnSpc>
              <a:spcBef>
                <a:spcPts val="10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Un système se trouve dans un état d’</a:t>
            </a:r>
            <a:r>
              <a:rPr b="0" i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équilibre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si les </a:t>
            </a:r>
            <a:r>
              <a:rPr b="0" lang="fr-FR" sz="28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variables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qui définissent son état ne varient </a:t>
            </a:r>
            <a:r>
              <a:rPr b="0" lang="fr-FR" sz="28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pas au cours du temps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et si les </a:t>
            </a:r>
            <a:r>
              <a:rPr b="0" lang="fr-FR" sz="28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variables </a:t>
            </a:r>
            <a:r>
              <a:rPr b="0" i="1" lang="fr-FR" sz="28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intensives</a:t>
            </a:r>
            <a:r>
              <a:rPr b="0" lang="fr-FR" sz="28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ont la </a:t>
            </a:r>
            <a:r>
              <a:rPr b="0" lang="fr-FR" sz="28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même valeur </a:t>
            </a: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dans toute l’étendue du système 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433" dur="indefinite" restart="never" nodeType="tmRoot">
          <p:childTnLst>
            <p:seq>
              <p:cTn id="434" dur="indefinite" nodeType="mainSeq">
                <p:childTnLst>
                  <p:par>
                    <p:cTn id="435" nodeType="clickEffect" fill="hold">
                      <p:stCondLst>
                        <p:cond delay="indefinite"/>
                      </p:stCondLst>
                      <p:childTnLst>
                        <p:par>
                          <p:cTn id="4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7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439" dur="8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440" dur="8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1" dur="8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nodeType="clickEffect" fill="hold">
                      <p:stCondLst>
                        <p:cond delay="indefinite"/>
                      </p:stCondLst>
                      <p:childTnLst>
                        <p:par>
                          <p:cTn id="4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4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446" dur="8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447" dur="8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8" dur="8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nodeType="clickEffect" fill="hold">
                      <p:stCondLst>
                        <p:cond delay="indefinite"/>
                      </p:stCondLst>
                      <p:childTnLst>
                        <p:par>
                          <p:cTn id="4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1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453" dur="8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454" dur="8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5" dur="8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62"/>
          <p:cNvGrpSpPr/>
          <p:nvPr/>
        </p:nvGrpSpPr>
        <p:grpSpPr>
          <a:xfrm>
            <a:off x="3000240" y="1143000"/>
            <a:ext cx="5978520" cy="3479760"/>
            <a:chOff x="3000240" y="1143000"/>
            <a:chExt cx="5978520" cy="3479760"/>
          </a:xfrm>
        </p:grpSpPr>
        <p:sp>
          <p:nvSpPr>
            <p:cNvPr id="184" name="Rectangle 60"/>
            <p:cNvSpPr/>
            <p:nvPr/>
          </p:nvSpPr>
          <p:spPr>
            <a:xfrm>
              <a:off x="3000240" y="1143000"/>
              <a:ext cx="5976720" cy="3456000"/>
            </a:xfrm>
            <a:prstGeom prst="rect">
              <a:avLst/>
            </a:prstGeom>
            <a:solidFill>
              <a:srgbClr val="4f81bd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AutoShape 23"/>
            <p:cNvSpPr/>
            <p:nvPr/>
          </p:nvSpPr>
          <p:spPr>
            <a:xfrm>
              <a:off x="3001680" y="1143000"/>
              <a:ext cx="5977080" cy="347976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6" name="Group 24"/>
            <p:cNvGrpSpPr/>
            <p:nvPr/>
          </p:nvGrpSpPr>
          <p:grpSpPr>
            <a:xfrm>
              <a:off x="5281200" y="1224000"/>
              <a:ext cx="2252160" cy="2181960"/>
              <a:chOff x="5281200" y="1224000"/>
              <a:chExt cx="2252160" cy="2181960"/>
            </a:xfrm>
          </p:grpSpPr>
          <p:sp>
            <p:nvSpPr>
              <p:cNvPr id="187" name="Freeform 25"/>
              <p:cNvSpPr/>
              <p:nvPr/>
            </p:nvSpPr>
            <p:spPr>
              <a:xfrm>
                <a:off x="6114240" y="2921760"/>
                <a:ext cx="847800" cy="136440"/>
              </a:xfrm>
              <a:custGeom>
                <a:avLst/>
                <a:gdLst>
                  <a:gd name="textAreaLeft" fmla="*/ 0 w 847800"/>
                  <a:gd name="textAreaRight" fmla="*/ 848160 w 847800"/>
                  <a:gd name="textAreaTop" fmla="*/ 0 h 136440"/>
                  <a:gd name="textAreaBottom" fmla="*/ 136800 h 136440"/>
                  <a:gd name="GluePoint1X" fmla="*/ 0 w 455"/>
                  <a:gd name="GluePoint1Y" fmla="*/ 13 h 76"/>
                  <a:gd name="GluePoint2X" fmla="*/ 123 w 455"/>
                  <a:gd name="GluePoint2Y" fmla="*/ 13 h 76"/>
                  <a:gd name="GluePoint3X" fmla="*/ 112 w 455"/>
                  <a:gd name="GluePoint3Y" fmla="*/ 0 h 76"/>
                  <a:gd name="GluePoint4X" fmla="*/ 10 w 455"/>
                  <a:gd name="GluePoint4Y" fmla="*/ 3 h 76"/>
                  <a:gd name="GluePoint5X" fmla="*/ 0 w 455"/>
                  <a:gd name="GluePoint5Y" fmla="*/ 13 h 7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455" h="76">
                    <a:moveTo>
                      <a:pt x="0" y="76"/>
                    </a:moveTo>
                    <a:lnTo>
                      <a:pt x="455" y="76"/>
                    </a:lnTo>
                    <a:lnTo>
                      <a:pt x="417" y="0"/>
                    </a:lnTo>
                    <a:lnTo>
                      <a:pt x="36" y="3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c0c0c0"/>
              </a:solidFill>
              <a:ln w="1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eform 26"/>
              <p:cNvSpPr/>
              <p:nvPr/>
            </p:nvSpPr>
            <p:spPr>
              <a:xfrm>
                <a:off x="5927400" y="2638440"/>
                <a:ext cx="716040" cy="129960"/>
              </a:xfrm>
              <a:custGeom>
                <a:avLst/>
                <a:gdLst>
                  <a:gd name="textAreaLeft" fmla="*/ 0 w 716040"/>
                  <a:gd name="textAreaRight" fmla="*/ 716400 w 716040"/>
                  <a:gd name="textAreaTop" fmla="*/ 0 h 129960"/>
                  <a:gd name="textAreaBottom" fmla="*/ 130320 h 129960"/>
                  <a:gd name="GluePoint1X" fmla="*/ 0 w 382"/>
                  <a:gd name="GluePoint1Y" fmla="*/ 15 h 71"/>
                  <a:gd name="GluePoint2X" fmla="*/ 109 w 382"/>
                  <a:gd name="GluePoint2Y" fmla="*/ 15 h 71"/>
                  <a:gd name="GluePoint3X" fmla="*/ 97 w 382"/>
                  <a:gd name="GluePoint3Y" fmla="*/ 0 h 71"/>
                  <a:gd name="GluePoint4X" fmla="*/ 11 w 382"/>
                  <a:gd name="GluePoint4Y" fmla="*/ 0 h 71"/>
                  <a:gd name="GluePoint5X" fmla="*/ 0 w 382"/>
                  <a:gd name="GluePoint5Y" fmla="*/ 15 h 7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82" h="71">
                    <a:moveTo>
                      <a:pt x="0" y="71"/>
                    </a:moveTo>
                    <a:lnTo>
                      <a:pt x="382" y="69"/>
                    </a:lnTo>
                    <a:lnTo>
                      <a:pt x="343" y="0"/>
                    </a:lnTo>
                    <a:lnTo>
                      <a:pt x="40" y="0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rgbClr val="c0c0c0"/>
              </a:solidFill>
              <a:ln w="1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eform 27"/>
              <p:cNvSpPr/>
              <p:nvPr/>
            </p:nvSpPr>
            <p:spPr>
              <a:xfrm>
                <a:off x="5799600" y="2436120"/>
                <a:ext cx="567000" cy="136080"/>
              </a:xfrm>
              <a:custGeom>
                <a:avLst/>
                <a:gdLst>
                  <a:gd name="textAreaLeft" fmla="*/ 0 w 567000"/>
                  <a:gd name="textAreaRight" fmla="*/ 567360 w 567000"/>
                  <a:gd name="textAreaTop" fmla="*/ 0 h 136080"/>
                  <a:gd name="textAreaBottom" fmla="*/ 136440 h 136080"/>
                  <a:gd name="GluePoint1X" fmla="*/ 0 w 303"/>
                  <a:gd name="GluePoint1Y" fmla="*/ 15 h 75"/>
                  <a:gd name="GluePoint2X" fmla="*/ 85 w 303"/>
                  <a:gd name="GluePoint2Y" fmla="*/ 15 h 75"/>
                  <a:gd name="GluePoint3X" fmla="*/ 74 w 303"/>
                  <a:gd name="GluePoint3Y" fmla="*/ 0 h 75"/>
                  <a:gd name="GluePoint4X" fmla="*/ 10 w 303"/>
                  <a:gd name="GluePoint4Y" fmla="*/ 0 h 75"/>
                  <a:gd name="GluePoint5X" fmla="*/ 0 w 303"/>
                  <a:gd name="GluePoint5Y" fmla="*/ 15 h 7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3" h="75">
                    <a:moveTo>
                      <a:pt x="0" y="75"/>
                    </a:moveTo>
                    <a:lnTo>
                      <a:pt x="303" y="72"/>
                    </a:lnTo>
                    <a:lnTo>
                      <a:pt x="262" y="0"/>
                    </a:lnTo>
                    <a:lnTo>
                      <a:pt x="36" y="0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c0c0c0"/>
              </a:solidFill>
              <a:ln w="1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eform 28"/>
              <p:cNvSpPr/>
              <p:nvPr/>
            </p:nvSpPr>
            <p:spPr>
              <a:xfrm>
                <a:off x="5519160" y="2250360"/>
                <a:ext cx="418680" cy="136440"/>
              </a:xfrm>
              <a:custGeom>
                <a:avLst/>
                <a:gdLst>
                  <a:gd name="textAreaLeft" fmla="*/ 0 w 418680"/>
                  <a:gd name="textAreaRight" fmla="*/ 419040 w 418680"/>
                  <a:gd name="textAreaTop" fmla="*/ 0 h 136440"/>
                  <a:gd name="textAreaBottom" fmla="*/ 136800 h 136440"/>
                  <a:gd name="GluePoint1X" fmla="*/ 0 w 228"/>
                  <a:gd name="GluePoint1Y" fmla="*/ 15 h 75"/>
                  <a:gd name="GluePoint2X" fmla="*/ 53 w 228"/>
                  <a:gd name="GluePoint2Y" fmla="*/ 15 h 75"/>
                  <a:gd name="GluePoint3X" fmla="*/ 44 w 228"/>
                  <a:gd name="GluePoint3Y" fmla="*/ 0 h 75"/>
                  <a:gd name="GluePoint4X" fmla="*/ 8 w 228"/>
                  <a:gd name="GluePoint4Y" fmla="*/ 3 h 75"/>
                  <a:gd name="GluePoint5X" fmla="*/ 0 w 228"/>
                  <a:gd name="GluePoint5Y" fmla="*/ 15 h 7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28" h="75">
                    <a:moveTo>
                      <a:pt x="0" y="75"/>
                    </a:moveTo>
                    <a:lnTo>
                      <a:pt x="228" y="72"/>
                    </a:lnTo>
                    <a:lnTo>
                      <a:pt x="189" y="0"/>
                    </a:lnTo>
                    <a:lnTo>
                      <a:pt x="33" y="3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c0c0c0"/>
              </a:solidFill>
              <a:ln w="1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" name="Freeform 29"/>
              <p:cNvSpPr/>
              <p:nvPr/>
            </p:nvSpPr>
            <p:spPr>
              <a:xfrm>
                <a:off x="5406480" y="2076120"/>
                <a:ext cx="284760" cy="136080"/>
              </a:xfrm>
              <a:custGeom>
                <a:avLst/>
                <a:gdLst>
                  <a:gd name="textAreaLeft" fmla="*/ 0 w 284760"/>
                  <a:gd name="textAreaRight" fmla="*/ 285120 w 284760"/>
                  <a:gd name="textAreaTop" fmla="*/ 0 h 136080"/>
                  <a:gd name="textAreaBottom" fmla="*/ 136440 h 136080"/>
                  <a:gd name="GluePoint1X" fmla="*/ 0 w 153"/>
                  <a:gd name="GluePoint1Y" fmla="*/ 15 h 75"/>
                  <a:gd name="GluePoint2X" fmla="*/ 40 w 153"/>
                  <a:gd name="GluePoint2Y" fmla="*/ 15 h 75"/>
                  <a:gd name="GluePoint3X" fmla="*/ 30 w 153"/>
                  <a:gd name="GluePoint3Y" fmla="*/ 0 h 75"/>
                  <a:gd name="GluePoint4X" fmla="*/ 9 w 153"/>
                  <a:gd name="GluePoint4Y" fmla="*/ 3 h 75"/>
                  <a:gd name="GluePoint5X" fmla="*/ 0 w 153"/>
                  <a:gd name="GluePoint5Y" fmla="*/ 15 h 7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3" h="75">
                    <a:moveTo>
                      <a:pt x="0" y="75"/>
                    </a:moveTo>
                    <a:lnTo>
                      <a:pt x="153" y="75"/>
                    </a:lnTo>
                    <a:lnTo>
                      <a:pt x="111" y="0"/>
                    </a:lnTo>
                    <a:lnTo>
                      <a:pt x="33" y="3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c0c0c0"/>
              </a:solidFill>
              <a:ln w="1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" name="Freeform 30"/>
              <p:cNvSpPr/>
              <p:nvPr/>
            </p:nvSpPr>
            <p:spPr>
              <a:xfrm>
                <a:off x="5281200" y="1826640"/>
                <a:ext cx="135720" cy="131760"/>
              </a:xfrm>
              <a:custGeom>
                <a:avLst/>
                <a:gdLst>
                  <a:gd name="textAreaLeft" fmla="*/ 0 w 135720"/>
                  <a:gd name="textAreaRight" fmla="*/ 136080 w 135720"/>
                  <a:gd name="textAreaTop" fmla="*/ 0 h 131760"/>
                  <a:gd name="textAreaBottom" fmla="*/ 132120 h 131760"/>
                  <a:gd name="GluePoint1X" fmla="*/ 0 w 81"/>
                  <a:gd name="GluePoint1Y" fmla="*/ 16 h 72"/>
                  <a:gd name="GluePoint2X" fmla="*/ 8 w 81"/>
                  <a:gd name="GluePoint2Y" fmla="*/ 16 h 72"/>
                  <a:gd name="GluePoint3X" fmla="*/ 3 w 81"/>
                  <a:gd name="GluePoint3Y" fmla="*/ 3 h 72"/>
                  <a:gd name="GluePoint4X" fmla="*/ 4 w 81"/>
                  <a:gd name="GluePoint4Y" fmla="*/ 0 h 72"/>
                  <a:gd name="GluePoint5X" fmla="*/ 0 w 81"/>
                  <a:gd name="GluePoint5Y" fmla="*/ 16 h 7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81" h="72">
                    <a:moveTo>
                      <a:pt x="0" y="72"/>
                    </a:moveTo>
                    <a:lnTo>
                      <a:pt x="81" y="69"/>
                    </a:lnTo>
                    <a:lnTo>
                      <a:pt x="36" y="3"/>
                    </a:lnTo>
                    <a:lnTo>
                      <a:pt x="42" y="0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c0c0c0"/>
              </a:solidFill>
              <a:ln w="1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" name="Freeform 31"/>
              <p:cNvSpPr/>
              <p:nvPr/>
            </p:nvSpPr>
            <p:spPr>
              <a:xfrm flipH="1" flipV="1" rot="1780200">
                <a:off x="5658840" y="1780920"/>
                <a:ext cx="1668600" cy="745920"/>
              </a:xfrm>
              <a:custGeom>
                <a:avLst/>
                <a:gdLst>
                  <a:gd name="textAreaLeft" fmla="*/ -360 w 1668600"/>
                  <a:gd name="textAreaRight" fmla="*/ 1668600 w 1668600"/>
                  <a:gd name="textAreaTop" fmla="*/ 360 h 745920"/>
                  <a:gd name="textAreaBottom" fmla="*/ 746640 h 745920"/>
                  <a:gd name="GluePoint1X" fmla="*/ 13342 w 573"/>
                  <a:gd name="GluePoint1Y" fmla="*/ 0 h 341"/>
                  <a:gd name="GluePoint2X" fmla="*/ 12219 w 573"/>
                  <a:gd name="GluePoint2Y" fmla="*/ 218 h 341"/>
                  <a:gd name="GluePoint3X" fmla="*/ 8519 w 573"/>
                  <a:gd name="GluePoint3Y" fmla="*/ 365 h 341"/>
                  <a:gd name="GluePoint4X" fmla="*/ 2945 w 573"/>
                  <a:gd name="GluePoint4Y" fmla="*/ 433 h 341"/>
                  <a:gd name="GluePoint5X" fmla="*/ 0 w 573"/>
                  <a:gd name="GluePoint5Y" fmla="*/ 433 h 34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573" h="341">
                    <a:moveTo>
                      <a:pt x="573" y="0"/>
                    </a:moveTo>
                    <a:cubicBezTo>
                      <a:pt x="566" y="60"/>
                      <a:pt x="560" y="121"/>
                      <a:pt x="525" y="168"/>
                    </a:cubicBezTo>
                    <a:cubicBezTo>
                      <a:pt x="490" y="215"/>
                      <a:pt x="432" y="255"/>
                      <a:pt x="366" y="282"/>
                    </a:cubicBezTo>
                    <a:cubicBezTo>
                      <a:pt x="300" y="309"/>
                      <a:pt x="187" y="325"/>
                      <a:pt x="126" y="333"/>
                    </a:cubicBezTo>
                    <a:cubicBezTo>
                      <a:pt x="65" y="341"/>
                      <a:pt x="32" y="337"/>
                      <a:pt x="0" y="333"/>
                    </a:cubicBezTo>
                  </a:path>
                </a:pathLst>
              </a:custGeom>
              <a:noFill/>
              <a:ln w="3240">
                <a:solidFill>
                  <a:srgbClr val="000000"/>
                </a:solidFill>
                <a:round/>
                <a:tailEnd len="sm" type="stealth" w="sm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" name="Freeform 32"/>
              <p:cNvSpPr/>
              <p:nvPr/>
            </p:nvSpPr>
            <p:spPr>
              <a:xfrm flipH="1" flipV="1" rot="1829400">
                <a:off x="5801040" y="2114280"/>
                <a:ext cx="1664280" cy="592200"/>
              </a:xfrm>
              <a:custGeom>
                <a:avLst/>
                <a:gdLst>
                  <a:gd name="textAreaLeft" fmla="*/ -360 w 1664280"/>
                  <a:gd name="textAreaRight" fmla="*/ 1664280 w 1664280"/>
                  <a:gd name="textAreaTop" fmla="*/ -360 h 592200"/>
                  <a:gd name="textAreaBottom" fmla="*/ 592200 h 592200"/>
                  <a:gd name="GluePoint1X" fmla="*/ 13008 w 573"/>
                  <a:gd name="GluePoint1Y" fmla="*/ 0 h 341"/>
                  <a:gd name="GluePoint2X" fmla="*/ 11919 w 573"/>
                  <a:gd name="GluePoint2Y" fmla="*/ 22 h 341"/>
                  <a:gd name="GluePoint3X" fmla="*/ 8299 w 573"/>
                  <a:gd name="GluePoint3Y" fmla="*/ 37 h 341"/>
                  <a:gd name="GluePoint4X" fmla="*/ 2860 w 573"/>
                  <a:gd name="GluePoint4Y" fmla="*/ 43 h 341"/>
                  <a:gd name="GluePoint5X" fmla="*/ 0 w 573"/>
                  <a:gd name="GluePoint5Y" fmla="*/ 43 h 34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573" h="341">
                    <a:moveTo>
                      <a:pt x="573" y="0"/>
                    </a:moveTo>
                    <a:cubicBezTo>
                      <a:pt x="566" y="60"/>
                      <a:pt x="560" y="121"/>
                      <a:pt x="525" y="168"/>
                    </a:cubicBezTo>
                    <a:cubicBezTo>
                      <a:pt x="490" y="215"/>
                      <a:pt x="432" y="255"/>
                      <a:pt x="366" y="282"/>
                    </a:cubicBezTo>
                    <a:cubicBezTo>
                      <a:pt x="300" y="309"/>
                      <a:pt x="187" y="325"/>
                      <a:pt x="126" y="333"/>
                    </a:cubicBezTo>
                    <a:cubicBezTo>
                      <a:pt x="65" y="341"/>
                      <a:pt x="32" y="337"/>
                      <a:pt x="0" y="333"/>
                    </a:cubicBezTo>
                  </a:path>
                </a:pathLst>
              </a:custGeom>
              <a:noFill/>
              <a:ln w="3240">
                <a:solidFill>
                  <a:srgbClr val="000000"/>
                </a:solidFill>
                <a:round/>
                <a:tailEnd len="sm" type="stealth" w="sm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" name="Freeform 33"/>
              <p:cNvSpPr/>
              <p:nvPr/>
            </p:nvSpPr>
            <p:spPr>
              <a:xfrm flipH="1" flipV="1" rot="1205400">
                <a:off x="5434200" y="1449360"/>
                <a:ext cx="1425960" cy="647640"/>
              </a:xfrm>
              <a:custGeom>
                <a:avLst/>
                <a:gdLst>
                  <a:gd name="textAreaLeft" fmla="*/ -360 w 1425960"/>
                  <a:gd name="textAreaRight" fmla="*/ 1425960 w 1425960"/>
                  <a:gd name="textAreaTop" fmla="*/ -360 h 647640"/>
                  <a:gd name="textAreaBottom" fmla="*/ 647640 h 647640"/>
                  <a:gd name="GluePoint1X" fmla="*/ 2779 w 573"/>
                  <a:gd name="GluePoint1Y" fmla="*/ 0 h 341"/>
                  <a:gd name="GluePoint2X" fmla="*/ 2547 w 573"/>
                  <a:gd name="GluePoint2Y" fmla="*/ 53 h 341"/>
                  <a:gd name="GluePoint3X" fmla="*/ 1778 w 573"/>
                  <a:gd name="GluePoint3Y" fmla="*/ 90 h 341"/>
                  <a:gd name="GluePoint4X" fmla="*/ 616 w 573"/>
                  <a:gd name="GluePoint4Y" fmla="*/ 106 h 341"/>
                  <a:gd name="GluePoint5X" fmla="*/ 0 w 573"/>
                  <a:gd name="GluePoint5Y" fmla="*/ 106 h 34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573" h="341">
                    <a:moveTo>
                      <a:pt x="573" y="0"/>
                    </a:moveTo>
                    <a:cubicBezTo>
                      <a:pt x="566" y="60"/>
                      <a:pt x="560" y="121"/>
                      <a:pt x="525" y="168"/>
                    </a:cubicBezTo>
                    <a:cubicBezTo>
                      <a:pt x="490" y="215"/>
                      <a:pt x="432" y="255"/>
                      <a:pt x="366" y="282"/>
                    </a:cubicBezTo>
                    <a:cubicBezTo>
                      <a:pt x="300" y="309"/>
                      <a:pt x="187" y="325"/>
                      <a:pt x="126" y="333"/>
                    </a:cubicBezTo>
                    <a:cubicBezTo>
                      <a:pt x="65" y="341"/>
                      <a:pt x="32" y="337"/>
                      <a:pt x="0" y="333"/>
                    </a:cubicBezTo>
                  </a:path>
                </a:pathLst>
              </a:custGeom>
              <a:noFill/>
              <a:ln w="3240">
                <a:solidFill>
                  <a:srgbClr val="000000"/>
                </a:solidFill>
                <a:round/>
                <a:tailEnd len="sm" type="stealth" w="sm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eform 34"/>
              <p:cNvSpPr/>
              <p:nvPr/>
            </p:nvSpPr>
            <p:spPr>
              <a:xfrm flipH="1" flipV="1" rot="1660800">
                <a:off x="6247440" y="2398680"/>
                <a:ext cx="1240920" cy="294840"/>
              </a:xfrm>
              <a:custGeom>
                <a:avLst/>
                <a:gdLst>
                  <a:gd name="textAreaLeft" fmla="*/ -360 w 1240920"/>
                  <a:gd name="textAreaRight" fmla="*/ 1240920 w 1240920"/>
                  <a:gd name="textAreaTop" fmla="*/ -360 h 294840"/>
                  <a:gd name="textAreaBottom" fmla="*/ 294840 h 294840"/>
                  <a:gd name="GluePoint1X" fmla="*/ 693 w 573"/>
                  <a:gd name="GluePoint1Y" fmla="*/ 0 h 341"/>
                  <a:gd name="GluePoint2X" fmla="*/ 634 w 573"/>
                  <a:gd name="GluePoint2Y" fmla="*/ 0 h 341"/>
                  <a:gd name="GluePoint3X" fmla="*/ 442 w 573"/>
                  <a:gd name="GluePoint3Y" fmla="*/ 0 h 341"/>
                  <a:gd name="GluePoint4X" fmla="*/ 153 w 573"/>
                  <a:gd name="GluePoint4Y" fmla="*/ 0 h 341"/>
                  <a:gd name="GluePoint5X" fmla="*/ 0 w 573"/>
                  <a:gd name="GluePoint5Y" fmla="*/ 0 h 34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573" h="341">
                    <a:moveTo>
                      <a:pt x="573" y="0"/>
                    </a:moveTo>
                    <a:cubicBezTo>
                      <a:pt x="566" y="60"/>
                      <a:pt x="560" y="121"/>
                      <a:pt x="525" y="168"/>
                    </a:cubicBezTo>
                    <a:cubicBezTo>
                      <a:pt x="490" y="215"/>
                      <a:pt x="432" y="255"/>
                      <a:pt x="366" y="282"/>
                    </a:cubicBezTo>
                    <a:cubicBezTo>
                      <a:pt x="300" y="309"/>
                      <a:pt x="187" y="325"/>
                      <a:pt x="126" y="333"/>
                    </a:cubicBezTo>
                    <a:cubicBezTo>
                      <a:pt x="65" y="341"/>
                      <a:pt x="32" y="337"/>
                      <a:pt x="0" y="333"/>
                    </a:cubicBezTo>
                  </a:path>
                </a:pathLst>
              </a:custGeom>
              <a:noFill/>
              <a:ln w="3240">
                <a:solidFill>
                  <a:srgbClr val="000000"/>
                </a:solidFill>
                <a:round/>
                <a:tailEnd len="sm" type="stealth" w="sm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" name="Freeform 35"/>
              <p:cNvSpPr/>
              <p:nvPr/>
            </p:nvSpPr>
            <p:spPr>
              <a:xfrm flipH="1" flipV="1" rot="1759200">
                <a:off x="6469200" y="2629800"/>
                <a:ext cx="1062720" cy="283320"/>
              </a:xfrm>
              <a:custGeom>
                <a:avLst/>
                <a:gdLst>
                  <a:gd name="textAreaLeft" fmla="*/ 360 w 1062720"/>
                  <a:gd name="textAreaRight" fmla="*/ 1063440 w 1062720"/>
                  <a:gd name="textAreaTop" fmla="*/ -360 h 283320"/>
                  <a:gd name="textAreaBottom" fmla="*/ 283320 h 283320"/>
                  <a:gd name="GluePoint1X" fmla="*/ 147 w 573"/>
                  <a:gd name="GluePoint1Y" fmla="*/ 0 h 341"/>
                  <a:gd name="GluePoint2X" fmla="*/ 134 w 573"/>
                  <a:gd name="GluePoint2Y" fmla="*/ 0 h 341"/>
                  <a:gd name="GluePoint3X" fmla="*/ 92 w 573"/>
                  <a:gd name="GluePoint3Y" fmla="*/ 0 h 341"/>
                  <a:gd name="GluePoint4X" fmla="*/ 33 w 573"/>
                  <a:gd name="GluePoint4Y" fmla="*/ 0 h 341"/>
                  <a:gd name="GluePoint5X" fmla="*/ 0 w 573"/>
                  <a:gd name="GluePoint5Y" fmla="*/ 0 h 34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573" h="341">
                    <a:moveTo>
                      <a:pt x="573" y="0"/>
                    </a:moveTo>
                    <a:cubicBezTo>
                      <a:pt x="566" y="60"/>
                      <a:pt x="560" y="121"/>
                      <a:pt x="525" y="168"/>
                    </a:cubicBezTo>
                    <a:cubicBezTo>
                      <a:pt x="490" y="215"/>
                      <a:pt x="432" y="255"/>
                      <a:pt x="366" y="282"/>
                    </a:cubicBezTo>
                    <a:cubicBezTo>
                      <a:pt x="300" y="309"/>
                      <a:pt x="187" y="325"/>
                      <a:pt x="126" y="333"/>
                    </a:cubicBezTo>
                    <a:cubicBezTo>
                      <a:pt x="65" y="341"/>
                      <a:pt x="32" y="337"/>
                      <a:pt x="0" y="333"/>
                    </a:cubicBezTo>
                  </a:path>
                </a:pathLst>
              </a:custGeom>
              <a:noFill/>
              <a:ln w="3240">
                <a:solidFill>
                  <a:srgbClr val="000000"/>
                </a:solidFill>
                <a:round/>
                <a:tailEnd len="sm" type="stealth" w="sm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" name="Freeform 36"/>
              <p:cNvSpPr/>
              <p:nvPr/>
            </p:nvSpPr>
            <p:spPr>
              <a:xfrm flipH="1" flipV="1" rot="2380800">
                <a:off x="6625080" y="2847240"/>
                <a:ext cx="729000" cy="368280"/>
              </a:xfrm>
              <a:custGeom>
                <a:avLst/>
                <a:gdLst>
                  <a:gd name="textAreaLeft" fmla="*/ -360 w 729000"/>
                  <a:gd name="textAreaRight" fmla="*/ 729000 w 729000"/>
                  <a:gd name="textAreaTop" fmla="*/ -360 h 368280"/>
                  <a:gd name="textAreaBottom" fmla="*/ 368280 h 368280"/>
                  <a:gd name="GluePoint1X" fmla="*/ 4 w 573"/>
                  <a:gd name="GluePoint1Y" fmla="*/ 0 h 341"/>
                  <a:gd name="GluePoint2X" fmla="*/ 3 w 573"/>
                  <a:gd name="GluePoint2Y" fmla="*/ 1 h 341"/>
                  <a:gd name="GluePoint3X" fmla="*/ 2 w 573"/>
                  <a:gd name="GluePoint3Y" fmla="*/ 1 h 341"/>
                  <a:gd name="GluePoint4X" fmla="*/ 1 w 573"/>
                  <a:gd name="GluePoint4Y" fmla="*/ 1 h 341"/>
                  <a:gd name="GluePoint5X" fmla="*/ 0 w 573"/>
                  <a:gd name="GluePoint5Y" fmla="*/ 1 h 34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573" h="341">
                    <a:moveTo>
                      <a:pt x="573" y="0"/>
                    </a:moveTo>
                    <a:cubicBezTo>
                      <a:pt x="566" y="60"/>
                      <a:pt x="560" y="121"/>
                      <a:pt x="525" y="168"/>
                    </a:cubicBezTo>
                    <a:cubicBezTo>
                      <a:pt x="490" y="215"/>
                      <a:pt x="432" y="255"/>
                      <a:pt x="366" y="282"/>
                    </a:cubicBezTo>
                    <a:cubicBezTo>
                      <a:pt x="300" y="309"/>
                      <a:pt x="187" y="325"/>
                      <a:pt x="126" y="333"/>
                    </a:cubicBezTo>
                    <a:cubicBezTo>
                      <a:pt x="65" y="341"/>
                      <a:pt x="32" y="337"/>
                      <a:pt x="0" y="333"/>
                    </a:cubicBezTo>
                  </a:path>
                </a:pathLst>
              </a:custGeom>
              <a:noFill/>
              <a:ln w="3240">
                <a:solidFill>
                  <a:srgbClr val="000000"/>
                </a:solidFill>
                <a:round/>
                <a:tailEnd len="sm" type="stealth" w="sm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9" name="Group 37"/>
            <p:cNvGrpSpPr/>
            <p:nvPr/>
          </p:nvGrpSpPr>
          <p:grpSpPr>
            <a:xfrm>
              <a:off x="3196800" y="1514520"/>
              <a:ext cx="1671480" cy="2877840"/>
              <a:chOff x="3196800" y="1514520"/>
              <a:chExt cx="1671480" cy="2877840"/>
            </a:xfrm>
          </p:grpSpPr>
          <p:sp>
            <p:nvSpPr>
              <p:cNvPr id="200" name="Rectangle 38"/>
              <p:cNvSpPr/>
              <p:nvPr/>
            </p:nvSpPr>
            <p:spPr>
              <a:xfrm>
                <a:off x="3214800" y="2568240"/>
                <a:ext cx="1633680" cy="1824120"/>
              </a:xfrm>
              <a:prstGeom prst="rect">
                <a:avLst/>
              </a:prstGeom>
              <a:gradFill rotWithShape="0">
                <a:gsLst>
                  <a:gs pos="0">
                    <a:srgbClr val="185e5e"/>
                  </a:gs>
                  <a:gs pos="50000">
                    <a:srgbClr val="33cccc"/>
                  </a:gs>
                  <a:gs pos="100000">
                    <a:srgbClr val="185e5e"/>
                  </a:gs>
                </a:gsLst>
                <a:lin ang="0"/>
              </a:gra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" name="Rectangle 39"/>
              <p:cNvSpPr/>
              <p:nvPr/>
            </p:nvSpPr>
            <p:spPr>
              <a:xfrm>
                <a:off x="3523680" y="3079800"/>
                <a:ext cx="1051920" cy="859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rIns="78480" tIns="39240" bIns="3924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i="1" lang="fr-FR" sz="2400" strike="noStrike" u="none">
                    <a:solidFill>
                      <a:srgbClr val="993300"/>
                    </a:solidFill>
                    <a:effectLst/>
                    <a:uFillTx/>
                    <a:latin typeface="Times New Roman"/>
                  </a:rPr>
                  <a:t>P</a:t>
                </a:r>
                <a:r>
                  <a:rPr b="1" i="1" lang="fr-FR" sz="2400" strike="noStrike" u="none" baseline="-25000">
                    <a:solidFill>
                      <a:srgbClr val="993300"/>
                    </a:solidFill>
                    <a:effectLst/>
                    <a:uFillTx/>
                    <a:latin typeface="Times New Roman"/>
                  </a:rPr>
                  <a:t>1</a:t>
                </a:r>
                <a:r>
                  <a:rPr b="1" i="1" lang="fr-FR" sz="2400" strike="noStrike" u="none">
                    <a:solidFill>
                      <a:srgbClr val="993300"/>
                    </a:solidFill>
                    <a:effectLst/>
                    <a:uFillTx/>
                    <a:latin typeface="Times New Roman"/>
                  </a:rPr>
                  <a:t>V</a:t>
                </a:r>
                <a:r>
                  <a:rPr b="1" i="1" lang="fr-FR" sz="2400" strike="noStrike" u="none" baseline="-25000">
                    <a:solidFill>
                      <a:srgbClr val="993300"/>
                    </a:solidFill>
                    <a:effectLst/>
                    <a:uFillTx/>
                    <a:latin typeface="Times New Roman"/>
                  </a:rPr>
                  <a:t>1</a:t>
                </a:r>
                <a:r>
                  <a:rPr b="1" i="1" lang="fr-FR" sz="2400" strike="noStrike" u="none">
                    <a:solidFill>
                      <a:srgbClr val="993300"/>
                    </a:solidFill>
                    <a:effectLst/>
                    <a:uFillTx/>
                    <a:latin typeface="Times New Roman"/>
                  </a:rPr>
                  <a:t>T</a:t>
                </a:r>
                <a:r>
                  <a:rPr b="1" i="1" lang="fr-FR" sz="2400" strike="noStrike" u="none" baseline="-25000">
                    <a:solidFill>
                      <a:srgbClr val="993300"/>
                    </a:solidFill>
                    <a:effectLst/>
                    <a:uFillTx/>
                    <a:latin typeface="Times New Roman"/>
                  </a:rPr>
                  <a:t>1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02" name="Group 40"/>
              <p:cNvGrpSpPr/>
              <p:nvPr/>
            </p:nvGrpSpPr>
            <p:grpSpPr>
              <a:xfrm>
                <a:off x="3196800" y="1962360"/>
                <a:ext cx="1653120" cy="2420640"/>
                <a:chOff x="3196800" y="1962360"/>
                <a:chExt cx="1653120" cy="2420640"/>
              </a:xfrm>
            </p:grpSpPr>
            <p:sp>
              <p:nvSpPr>
                <p:cNvPr id="203" name="Freeform 41"/>
                <p:cNvSpPr/>
                <p:nvPr/>
              </p:nvSpPr>
              <p:spPr>
                <a:xfrm>
                  <a:off x="3196800" y="1962360"/>
                  <a:ext cx="1653120" cy="2420640"/>
                </a:xfrm>
                <a:custGeom>
                  <a:avLst/>
                  <a:gdLst>
                    <a:gd name="textAreaLeft" fmla="*/ 0 w 1653120"/>
                    <a:gd name="textAreaRight" fmla="*/ 1653480 w 1653120"/>
                    <a:gd name="textAreaTop" fmla="*/ 0 h 2420640"/>
                    <a:gd name="textAreaBottom" fmla="*/ 2421000 h 2420640"/>
                    <a:gd name="GluePoint1X" fmla="*/ 0 w 910"/>
                    <a:gd name="GluePoint1Y" fmla="*/ 10 h 1330"/>
                    <a:gd name="GluePoint2X" fmla="*/ 0 w 910"/>
                    <a:gd name="GluePoint2Y" fmla="*/ 1330 h 1330"/>
                    <a:gd name="GluePoint3X" fmla="*/ 910 w 910"/>
                    <a:gd name="GluePoint3Y" fmla="*/ 1330 h 1330"/>
                    <a:gd name="GluePoint4X" fmla="*/ 910 w 910"/>
                    <a:gd name="GluePoint4Y" fmla="*/ 0 h 133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</a:cxnLst>
                  <a:rect l="textAreaLeft" t="textAreaTop" r="textAreaRight" b="textAreaBottom"/>
                  <a:pathLst>
                    <a:path w="910" h="1330">
                      <a:moveTo>
                        <a:pt x="0" y="10"/>
                      </a:moveTo>
                      <a:lnTo>
                        <a:pt x="0" y="1330"/>
                      </a:lnTo>
                      <a:lnTo>
                        <a:pt x="910" y="1330"/>
                      </a:lnTo>
                      <a:lnTo>
                        <a:pt x="910" y="0"/>
                      </a:lnTo>
                    </a:path>
                  </a:pathLst>
                </a:custGeom>
                <a:noFill/>
                <a:ln w="936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4" name="Rectangle 42"/>
                <p:cNvSpPr/>
                <p:nvPr/>
              </p:nvSpPr>
              <p:spPr>
                <a:xfrm>
                  <a:off x="3560040" y="2200320"/>
                  <a:ext cx="853920" cy="273240"/>
                </a:xfrm>
                <a:prstGeom prst="rect">
                  <a:avLst/>
                </a:prstGeom>
                <a:solidFill>
                  <a:srgbClr val="80808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205" name="Line 43"/>
              <p:cNvSpPr/>
              <p:nvPr/>
            </p:nvSpPr>
            <p:spPr>
              <a:xfrm>
                <a:off x="3196800" y="2508480"/>
                <a:ext cx="1671480" cy="144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Rectangle 44"/>
              <p:cNvSpPr/>
              <p:nvPr/>
            </p:nvSpPr>
            <p:spPr>
              <a:xfrm>
                <a:off x="3469320" y="1514520"/>
                <a:ext cx="1051920" cy="85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rIns="78480" tIns="39240" bIns="3924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i="1" lang="fr-FR" sz="36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m</a:t>
                </a:r>
                <a:r>
                  <a:rPr b="0" lang="fr-FR" sz="36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1</a:t>
                </a:r>
                <a:endParaRPr b="0" lang="en-US" sz="3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7" name="Group 45"/>
            <p:cNvGrpSpPr/>
            <p:nvPr/>
          </p:nvGrpSpPr>
          <p:grpSpPr>
            <a:xfrm>
              <a:off x="7154640" y="1711440"/>
              <a:ext cx="1653840" cy="2825280"/>
              <a:chOff x="7154640" y="1711440"/>
              <a:chExt cx="1653840" cy="2825280"/>
            </a:xfrm>
          </p:grpSpPr>
          <p:sp>
            <p:nvSpPr>
              <p:cNvPr id="208" name="Rectangle 46"/>
              <p:cNvSpPr/>
              <p:nvPr/>
            </p:nvSpPr>
            <p:spPr>
              <a:xfrm>
                <a:off x="7172640" y="3750480"/>
                <a:ext cx="1634040" cy="622440"/>
              </a:xfrm>
              <a:prstGeom prst="rect">
                <a:avLst/>
              </a:prstGeom>
              <a:gradFill rotWithShape="0">
                <a:gsLst>
                  <a:gs pos="0">
                    <a:srgbClr val="185e5e"/>
                  </a:gs>
                  <a:gs pos="50000">
                    <a:srgbClr val="33cccc"/>
                  </a:gs>
                  <a:gs pos="100000">
                    <a:srgbClr val="185e5e"/>
                  </a:gs>
                </a:gsLst>
                <a:lin ang="0"/>
              </a:gra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Freeform 47"/>
              <p:cNvSpPr/>
              <p:nvPr/>
            </p:nvSpPr>
            <p:spPr>
              <a:xfrm>
                <a:off x="7154640" y="1959120"/>
                <a:ext cx="1653840" cy="2421360"/>
              </a:xfrm>
              <a:custGeom>
                <a:avLst/>
                <a:gdLst>
                  <a:gd name="textAreaLeft" fmla="*/ 0 w 1653840"/>
                  <a:gd name="textAreaRight" fmla="*/ 1654200 w 1653840"/>
                  <a:gd name="textAreaTop" fmla="*/ 0 h 2421360"/>
                  <a:gd name="textAreaBottom" fmla="*/ 2421720 h 2421360"/>
                  <a:gd name="GluePoint1X" fmla="*/ 0 w 910"/>
                  <a:gd name="GluePoint1Y" fmla="*/ 10 h 1330"/>
                  <a:gd name="GluePoint2X" fmla="*/ 0 w 910"/>
                  <a:gd name="GluePoint2Y" fmla="*/ 1330 h 1330"/>
                  <a:gd name="GluePoint3X" fmla="*/ 910 w 910"/>
                  <a:gd name="GluePoint3Y" fmla="*/ 1330 h 1330"/>
                  <a:gd name="GluePoint4X" fmla="*/ 910 w 910"/>
                  <a:gd name="GluePoint4Y" fmla="*/ 0 h 133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910" h="1330">
                    <a:moveTo>
                      <a:pt x="0" y="10"/>
                    </a:moveTo>
                    <a:lnTo>
                      <a:pt x="0" y="1330"/>
                    </a:lnTo>
                    <a:lnTo>
                      <a:pt x="910" y="1330"/>
                    </a:lnTo>
                    <a:lnTo>
                      <a:pt x="910" y="0"/>
                    </a:ln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" name="Rectangle 48"/>
              <p:cNvSpPr/>
              <p:nvPr/>
            </p:nvSpPr>
            <p:spPr>
              <a:xfrm>
                <a:off x="7536240" y="3380760"/>
                <a:ext cx="854280" cy="272880"/>
              </a:xfrm>
              <a:prstGeom prst="rect">
                <a:avLst/>
              </a:prstGeom>
              <a:solidFill>
                <a:srgbClr val="808080"/>
              </a:solidFill>
              <a:ln w="18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" name="Line 49"/>
              <p:cNvSpPr/>
              <p:nvPr/>
            </p:nvSpPr>
            <p:spPr>
              <a:xfrm>
                <a:off x="7172640" y="3706560"/>
                <a:ext cx="1628280" cy="144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" name="Freeform 50"/>
              <p:cNvSpPr/>
              <p:nvPr/>
            </p:nvSpPr>
            <p:spPr>
              <a:xfrm>
                <a:off x="7536240" y="3240360"/>
                <a:ext cx="848880" cy="138240"/>
              </a:xfrm>
              <a:custGeom>
                <a:avLst/>
                <a:gdLst>
                  <a:gd name="textAreaLeft" fmla="*/ 0 w 848880"/>
                  <a:gd name="textAreaRight" fmla="*/ 849240 w 848880"/>
                  <a:gd name="textAreaTop" fmla="*/ 0 h 138240"/>
                  <a:gd name="textAreaBottom" fmla="*/ 138600 h 138240"/>
                  <a:gd name="GluePoint1X" fmla="*/ 0 w 455"/>
                  <a:gd name="GluePoint1Y" fmla="*/ 76 h 76"/>
                  <a:gd name="GluePoint2X" fmla="*/ 590 w 455"/>
                  <a:gd name="GluePoint2Y" fmla="*/ 76 h 76"/>
                  <a:gd name="GluePoint3X" fmla="*/ 542 w 455"/>
                  <a:gd name="GluePoint3Y" fmla="*/ 0 h 76"/>
                  <a:gd name="GluePoint4X" fmla="*/ 46 w 455"/>
                  <a:gd name="GluePoint4Y" fmla="*/ 3 h 76"/>
                  <a:gd name="GluePoint5X" fmla="*/ 0 w 455"/>
                  <a:gd name="GluePoint5Y" fmla="*/ 76 h 7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455" h="76">
                    <a:moveTo>
                      <a:pt x="0" y="76"/>
                    </a:moveTo>
                    <a:lnTo>
                      <a:pt x="455" y="76"/>
                    </a:lnTo>
                    <a:lnTo>
                      <a:pt x="417" y="0"/>
                    </a:lnTo>
                    <a:lnTo>
                      <a:pt x="36" y="3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c0c0c0"/>
              </a:solidFill>
              <a:ln w="1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" name="Freeform 51"/>
              <p:cNvSpPr/>
              <p:nvPr/>
            </p:nvSpPr>
            <p:spPr>
              <a:xfrm>
                <a:off x="7599960" y="3120480"/>
                <a:ext cx="715680" cy="128880"/>
              </a:xfrm>
              <a:custGeom>
                <a:avLst/>
                <a:gdLst>
                  <a:gd name="textAreaLeft" fmla="*/ 0 w 715680"/>
                  <a:gd name="textAreaRight" fmla="*/ 716040 w 715680"/>
                  <a:gd name="textAreaTop" fmla="*/ 0 h 128880"/>
                  <a:gd name="textAreaBottom" fmla="*/ 129240 h 128880"/>
                  <a:gd name="GluePoint1X" fmla="*/ 0 w 382"/>
                  <a:gd name="GluePoint1Y" fmla="*/ 71 h 71"/>
                  <a:gd name="GluePoint2X" fmla="*/ 520 w 382"/>
                  <a:gd name="GluePoint2Y" fmla="*/ 69 h 71"/>
                  <a:gd name="GluePoint3X" fmla="*/ 467 w 382"/>
                  <a:gd name="GluePoint3Y" fmla="*/ 0 h 71"/>
                  <a:gd name="GluePoint4X" fmla="*/ 52 w 382"/>
                  <a:gd name="GluePoint4Y" fmla="*/ 0 h 71"/>
                  <a:gd name="GluePoint5X" fmla="*/ 0 w 382"/>
                  <a:gd name="GluePoint5Y" fmla="*/ 71 h 7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82" h="71">
                    <a:moveTo>
                      <a:pt x="0" y="71"/>
                    </a:moveTo>
                    <a:lnTo>
                      <a:pt x="382" y="69"/>
                    </a:lnTo>
                    <a:lnTo>
                      <a:pt x="343" y="0"/>
                    </a:lnTo>
                    <a:lnTo>
                      <a:pt x="40" y="0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rgbClr val="c0c0c0"/>
              </a:solidFill>
              <a:ln w="1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" name="Freeform 52"/>
              <p:cNvSpPr/>
              <p:nvPr/>
            </p:nvSpPr>
            <p:spPr>
              <a:xfrm>
                <a:off x="7672680" y="2983680"/>
                <a:ext cx="567000" cy="136440"/>
              </a:xfrm>
              <a:custGeom>
                <a:avLst/>
                <a:gdLst>
                  <a:gd name="textAreaLeft" fmla="*/ 0 w 567000"/>
                  <a:gd name="textAreaRight" fmla="*/ 567360 w 567000"/>
                  <a:gd name="textAreaTop" fmla="*/ 0 h 136440"/>
                  <a:gd name="textAreaBottom" fmla="*/ 136800 h 136440"/>
                  <a:gd name="GluePoint1X" fmla="*/ 0 w 303"/>
                  <a:gd name="GluePoint1Y" fmla="*/ 75 h 75"/>
                  <a:gd name="GluePoint2X" fmla="*/ 406 w 303"/>
                  <a:gd name="GluePoint2Y" fmla="*/ 72 h 75"/>
                  <a:gd name="GluePoint3X" fmla="*/ 351 w 303"/>
                  <a:gd name="GluePoint3Y" fmla="*/ 0 h 75"/>
                  <a:gd name="GluePoint4X" fmla="*/ 46 w 303"/>
                  <a:gd name="GluePoint4Y" fmla="*/ 0 h 75"/>
                  <a:gd name="GluePoint5X" fmla="*/ 0 w 303"/>
                  <a:gd name="GluePoint5Y" fmla="*/ 75 h 7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3" h="75">
                    <a:moveTo>
                      <a:pt x="0" y="75"/>
                    </a:moveTo>
                    <a:lnTo>
                      <a:pt x="303" y="72"/>
                    </a:lnTo>
                    <a:lnTo>
                      <a:pt x="262" y="0"/>
                    </a:lnTo>
                    <a:lnTo>
                      <a:pt x="36" y="0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c0c0c0"/>
              </a:solidFill>
              <a:ln w="1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Freeform 53"/>
              <p:cNvSpPr/>
              <p:nvPr/>
            </p:nvSpPr>
            <p:spPr>
              <a:xfrm>
                <a:off x="7743600" y="2847600"/>
                <a:ext cx="419760" cy="136080"/>
              </a:xfrm>
              <a:custGeom>
                <a:avLst/>
                <a:gdLst>
                  <a:gd name="textAreaLeft" fmla="*/ 0 w 419760"/>
                  <a:gd name="textAreaRight" fmla="*/ 420120 w 419760"/>
                  <a:gd name="textAreaTop" fmla="*/ 0 h 136080"/>
                  <a:gd name="textAreaBottom" fmla="*/ 136440 h 136080"/>
                  <a:gd name="GluePoint1X" fmla="*/ 0 w 228"/>
                  <a:gd name="GluePoint1Y" fmla="*/ 75 h 75"/>
                  <a:gd name="GluePoint2X" fmla="*/ 258 w 228"/>
                  <a:gd name="GluePoint2Y" fmla="*/ 72 h 75"/>
                  <a:gd name="GluePoint3X" fmla="*/ 218 w 228"/>
                  <a:gd name="GluePoint3Y" fmla="*/ 0 h 75"/>
                  <a:gd name="GluePoint4X" fmla="*/ 33 w 228"/>
                  <a:gd name="GluePoint4Y" fmla="*/ 3 h 75"/>
                  <a:gd name="GluePoint5X" fmla="*/ 0 w 228"/>
                  <a:gd name="GluePoint5Y" fmla="*/ 75 h 7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28" h="75">
                    <a:moveTo>
                      <a:pt x="0" y="75"/>
                    </a:moveTo>
                    <a:lnTo>
                      <a:pt x="228" y="72"/>
                    </a:lnTo>
                    <a:lnTo>
                      <a:pt x="189" y="0"/>
                    </a:lnTo>
                    <a:lnTo>
                      <a:pt x="33" y="3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c0c0c0"/>
              </a:solidFill>
              <a:ln w="1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" name="Freeform 54"/>
              <p:cNvSpPr/>
              <p:nvPr/>
            </p:nvSpPr>
            <p:spPr>
              <a:xfrm>
                <a:off x="7809120" y="2716200"/>
                <a:ext cx="283320" cy="136440"/>
              </a:xfrm>
              <a:custGeom>
                <a:avLst/>
                <a:gdLst>
                  <a:gd name="textAreaLeft" fmla="*/ 0 w 283320"/>
                  <a:gd name="textAreaRight" fmla="*/ 283680 w 283320"/>
                  <a:gd name="textAreaTop" fmla="*/ 0 h 136440"/>
                  <a:gd name="textAreaBottom" fmla="*/ 136800 h 136440"/>
                  <a:gd name="GluePoint1X" fmla="*/ 0 w 153"/>
                  <a:gd name="GluePoint1Y" fmla="*/ 75 h 75"/>
                  <a:gd name="GluePoint2X" fmla="*/ 184 w 153"/>
                  <a:gd name="GluePoint2Y" fmla="*/ 75 h 75"/>
                  <a:gd name="GluePoint3X" fmla="*/ 132 w 153"/>
                  <a:gd name="GluePoint3Y" fmla="*/ 0 h 75"/>
                  <a:gd name="GluePoint4X" fmla="*/ 43 w 153"/>
                  <a:gd name="GluePoint4Y" fmla="*/ 3 h 75"/>
                  <a:gd name="GluePoint5X" fmla="*/ 0 w 153"/>
                  <a:gd name="GluePoint5Y" fmla="*/ 75 h 7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3" h="75">
                    <a:moveTo>
                      <a:pt x="0" y="75"/>
                    </a:moveTo>
                    <a:lnTo>
                      <a:pt x="153" y="75"/>
                    </a:lnTo>
                    <a:lnTo>
                      <a:pt x="111" y="0"/>
                    </a:lnTo>
                    <a:lnTo>
                      <a:pt x="33" y="3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c0c0c0"/>
              </a:solidFill>
              <a:ln w="1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" name="Freeform 55"/>
              <p:cNvSpPr/>
              <p:nvPr/>
            </p:nvSpPr>
            <p:spPr>
              <a:xfrm>
                <a:off x="7874280" y="2590560"/>
                <a:ext cx="136080" cy="130680"/>
              </a:xfrm>
              <a:custGeom>
                <a:avLst/>
                <a:gdLst>
                  <a:gd name="textAreaLeft" fmla="*/ 0 w 136080"/>
                  <a:gd name="textAreaRight" fmla="*/ 136440 w 136080"/>
                  <a:gd name="textAreaTop" fmla="*/ 0 h 130680"/>
                  <a:gd name="textAreaBottom" fmla="*/ 131040 h 130680"/>
                  <a:gd name="GluePoint1X" fmla="*/ 0 w 81"/>
                  <a:gd name="GluePoint1Y" fmla="*/ 72 h 72"/>
                  <a:gd name="GluePoint2X" fmla="*/ 38 w 81"/>
                  <a:gd name="GluePoint2Y" fmla="*/ 69 h 72"/>
                  <a:gd name="GluePoint3X" fmla="*/ 17 w 81"/>
                  <a:gd name="GluePoint3Y" fmla="*/ 3 h 72"/>
                  <a:gd name="GluePoint4X" fmla="*/ 19 w 81"/>
                  <a:gd name="GluePoint4Y" fmla="*/ 0 h 72"/>
                  <a:gd name="GluePoint5X" fmla="*/ 0 w 81"/>
                  <a:gd name="GluePoint5Y" fmla="*/ 72 h 7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81" h="72">
                    <a:moveTo>
                      <a:pt x="0" y="72"/>
                    </a:moveTo>
                    <a:lnTo>
                      <a:pt x="81" y="69"/>
                    </a:lnTo>
                    <a:lnTo>
                      <a:pt x="36" y="3"/>
                    </a:lnTo>
                    <a:lnTo>
                      <a:pt x="42" y="0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c0c0c0"/>
              </a:solidFill>
              <a:ln w="1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" name="Rectangle 56"/>
              <p:cNvSpPr/>
              <p:nvPr/>
            </p:nvSpPr>
            <p:spPr>
              <a:xfrm>
                <a:off x="7517880" y="3677400"/>
                <a:ext cx="1052280" cy="859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rIns="78480" tIns="39240" bIns="3924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i="1" lang="fr-FR" sz="2400" strike="noStrike" u="none">
                    <a:solidFill>
                      <a:srgbClr val="993300"/>
                    </a:solidFill>
                    <a:effectLst/>
                    <a:uFillTx/>
                    <a:latin typeface="Times New Roman"/>
                  </a:rPr>
                  <a:t>P</a:t>
                </a:r>
                <a:r>
                  <a:rPr b="1" i="1" lang="fr-FR" sz="2400" strike="noStrike" u="none" baseline="-25000">
                    <a:solidFill>
                      <a:srgbClr val="993300"/>
                    </a:solidFill>
                    <a:effectLst/>
                    <a:uFillTx/>
                    <a:latin typeface="Times New Roman"/>
                  </a:rPr>
                  <a:t>2</a:t>
                </a:r>
                <a:r>
                  <a:rPr b="1" i="1" lang="fr-FR" sz="2400" strike="noStrike" u="none">
                    <a:solidFill>
                      <a:srgbClr val="993300"/>
                    </a:solidFill>
                    <a:effectLst/>
                    <a:uFillTx/>
                    <a:latin typeface="Times New Roman"/>
                  </a:rPr>
                  <a:t>V</a:t>
                </a:r>
                <a:r>
                  <a:rPr b="1" i="1" lang="fr-FR" sz="2400" strike="noStrike" u="none" baseline="-25000">
                    <a:solidFill>
                      <a:srgbClr val="993300"/>
                    </a:solidFill>
                    <a:effectLst/>
                    <a:uFillTx/>
                    <a:latin typeface="Times New Roman"/>
                  </a:rPr>
                  <a:t>2</a:t>
                </a:r>
                <a:r>
                  <a:rPr b="1" i="1" lang="fr-FR" sz="2400" strike="noStrike" u="none">
                    <a:solidFill>
                      <a:srgbClr val="993300"/>
                    </a:solidFill>
                    <a:effectLst/>
                    <a:uFillTx/>
                    <a:latin typeface="Times New Roman"/>
                  </a:rPr>
                  <a:t>T</a:t>
                </a:r>
                <a:r>
                  <a:rPr b="1" i="1" lang="fr-FR" sz="2400" strike="noStrike" u="none" baseline="-25000">
                    <a:solidFill>
                      <a:srgbClr val="993300"/>
                    </a:solidFill>
                    <a:effectLst/>
                    <a:uFillTx/>
                    <a:latin typeface="Times New Roman"/>
                  </a:rPr>
                  <a:t>2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Rectangle 57"/>
              <p:cNvSpPr/>
              <p:nvPr/>
            </p:nvSpPr>
            <p:spPr>
              <a:xfrm>
                <a:off x="7445520" y="1711440"/>
                <a:ext cx="1052280" cy="85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rIns="78480" tIns="39240" bIns="3924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i="1" lang="fr-FR" sz="36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m</a:t>
                </a:r>
                <a:r>
                  <a:rPr b="0" lang="fr-FR" sz="3600" strike="noStrike" u="none" baseline="-25000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2</a:t>
                </a:r>
                <a:endParaRPr b="0" lang="en-US" sz="3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20" name="Text Box 58"/>
          <p:cNvSpPr/>
          <p:nvPr/>
        </p:nvSpPr>
        <p:spPr>
          <a:xfrm>
            <a:off x="324000" y="533520"/>
            <a:ext cx="59767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sng">
                <a:solidFill>
                  <a:srgbClr val="66ff33"/>
                </a:solidFill>
                <a:effectLst/>
                <a:uFillTx/>
                <a:latin typeface="Times New Roman"/>
              </a:rPr>
              <a:t>V- Transformation d’un système</a:t>
            </a:r>
            <a:r>
              <a:rPr b="1" lang="fr-FR" sz="2800" strike="noStrike" u="none">
                <a:solidFill>
                  <a:srgbClr val="66ff33"/>
                </a:solidFill>
                <a:effectLst/>
                <a:uFillTx/>
                <a:latin typeface="Times New Roman"/>
              </a:rPr>
              <a:t> 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59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63"/>
          <p:cNvSpPr/>
          <p:nvPr/>
        </p:nvSpPr>
        <p:spPr>
          <a:xfrm>
            <a:off x="179280" y="2462040"/>
            <a:ext cx="28800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c0504d"/>
                </a:solidFill>
                <a:effectLst/>
                <a:uFillTx/>
                <a:latin typeface="Arial"/>
              </a:rPr>
              <a:t>V-1  Transformation quasi-statique 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Box 64"/>
          <p:cNvSpPr/>
          <p:nvPr/>
        </p:nvSpPr>
        <p:spPr>
          <a:xfrm>
            <a:off x="231840" y="4772160"/>
            <a:ext cx="8785080" cy="16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80000"/>
              </a:lnSpc>
              <a:spcBef>
                <a:spcPts val="15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C’est une transformation constituée d’une suite continue d’états d’équilibre interne 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pour le système étudié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A tout instant de la transformation, </a:t>
            </a:r>
            <a:br>
              <a:rPr sz="3200"/>
            </a:br>
            <a:r>
              <a:rPr b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les variables du système sont définies.</a:t>
            </a:r>
            <a:r>
              <a:rPr b="0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456" dur="indefinite" restart="never" nodeType="tmRoot">
          <p:childTnLst>
            <p:seq>
              <p:cTn id="457" dur="indefinite" nodeType="mainSeq">
                <p:childTnLst>
                  <p:par>
                    <p:cTn id="458" nodeType="clickEffect" fill="hold">
                      <p:stCondLst>
                        <p:cond delay="indefinite"/>
                      </p:stCondLst>
                      <p:childTnLst>
                        <p:par>
                          <p:cTn id="4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0" nodeType="click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62" dur="5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3" dur="5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nodeType="clickEffect" fill="hold">
                      <p:stCondLst>
                        <p:cond delay="indefinite"/>
                      </p:stCondLst>
                      <p:childTnLst>
                        <p:par>
                          <p:cTn id="4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6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468" dur="8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469" dur="8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0" dur="8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nodeType="clickEffect" fill="hold">
                      <p:stCondLst>
                        <p:cond delay="indefinite"/>
                      </p:stCondLst>
                      <p:childTnLst>
                        <p:par>
                          <p:cTn id="4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3" nodeType="clickEffect" fill="hold" presetClass="entr" presetID="1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5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6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7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8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nodeType="clickEffect" fill="hold">
                      <p:stCondLst>
                        <p:cond delay="indefinite"/>
                      </p:stCondLst>
                      <p:childTnLst>
                        <p:par>
                          <p:cTn id="4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1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483" dur="8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484" dur="8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5" dur="8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4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5"/>
          <p:cNvSpPr/>
          <p:nvPr/>
        </p:nvSpPr>
        <p:spPr>
          <a:xfrm>
            <a:off x="395280" y="692280"/>
            <a:ext cx="54007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c0504d"/>
                </a:solidFill>
                <a:effectLst/>
                <a:uFillTx/>
                <a:latin typeface="Arial"/>
              </a:rPr>
              <a:t>V-2 Transformation réversible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Box 6"/>
          <p:cNvSpPr/>
          <p:nvPr/>
        </p:nvSpPr>
        <p:spPr>
          <a:xfrm>
            <a:off x="250920" y="1197000"/>
            <a:ext cx="8642160" cy="28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30000"/>
              </a:lnSpc>
              <a:spcBef>
                <a:spcPts val="13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C’est une transformation qui se fait par une succession d’états d’équilibre infiniment voisins, </a:t>
            </a:r>
            <a:r>
              <a:rPr b="0" i="1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condition d’équilibre concerne aussi bien le système étudié que le milieu extérieur.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40000"/>
              </a:lnSpc>
              <a:spcBef>
                <a:spcPts val="9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Une transformation est réversible si la transformation inverse passe par les mêmes états intermédiaires dans le sens inverse.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Box 8"/>
          <p:cNvSpPr/>
          <p:nvPr/>
        </p:nvSpPr>
        <p:spPr>
          <a:xfrm>
            <a:off x="324000" y="4797360"/>
            <a:ext cx="8424720" cy="18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40000"/>
              </a:lnSpc>
              <a:spcBef>
                <a:spcPts val="1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C’est une transformation (brutale, Spontanée) qui ne répond pas au critère précédent. C’est le cas si les états intermédiaires ne sont pas des états d’équilibre.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9"/>
          <p:cNvSpPr/>
          <p:nvPr/>
        </p:nvSpPr>
        <p:spPr>
          <a:xfrm>
            <a:off x="478800" y="4292640"/>
            <a:ext cx="52524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c0504d"/>
                </a:solidFill>
                <a:effectLst/>
                <a:uFillTx/>
                <a:latin typeface="Arial"/>
              </a:rPr>
              <a:t>V-3 Transformation irréversible 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486" dur="indefinite" restart="never" nodeType="tmRoot">
          <p:childTnLst>
            <p:seq>
              <p:cTn id="487" dur="indefinite" nodeType="mainSeq">
                <p:childTnLst>
                  <p:par>
                    <p:cTn id="488" nodeType="clickEffect" fill="hold">
                      <p:stCondLst>
                        <p:cond delay="indefinite"/>
                      </p:stCondLst>
                      <p:childTnLst>
                        <p:par>
                          <p:cTn id="4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0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492" dur="8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493" dur="8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4" dur="8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nodeType="clickEffect" fill="hold">
                      <p:stCondLst>
                        <p:cond delay="indefinite"/>
                      </p:stCondLst>
                      <p:childTnLst>
                        <p:par>
                          <p:cTn id="4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499" dur="8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500" dur="8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1" dur="8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nodeType="clickEffect" fill="hold">
                      <p:stCondLst>
                        <p:cond delay="indefinite"/>
                      </p:stCondLst>
                      <p:childTnLst>
                        <p:par>
                          <p:cTn id="5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4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506" dur="8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507" dur="8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8" dur="8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nodeType="clickEffect" fill="hold">
                      <p:stCondLst>
                        <p:cond delay="indefinite"/>
                      </p:stCondLst>
                      <p:childTnLst>
                        <p:par>
                          <p:cTn id="5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1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513" dur="8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514" dur="8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5" dur="8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4"/>
          <p:cNvSpPr/>
          <p:nvPr/>
        </p:nvSpPr>
        <p:spPr>
          <a:xfrm>
            <a:off x="250920" y="2408400"/>
            <a:ext cx="8642160" cy="32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10000"/>
              </a:lnSpc>
              <a:spcBef>
                <a:spcPts val="13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6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REMARQUE</a:t>
            </a:r>
            <a:r>
              <a:rPr b="0" lang="fr-FR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: Une transformation quasi statique n'est pas nécessairement réversible .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10000"/>
              </a:lnSpc>
              <a:spcBef>
                <a:spcPts val="13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traction sur un fil en dehors de la limite d'élasticité peut être réalisée de façon quasi statique et est irréversible.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5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516" dur="indefinite" restart="never" nodeType="tmRoot">
          <p:childTnLst>
            <p:seq>
              <p:cTn id="517" dur="indefinite" nodeType="mainSeq">
                <p:childTnLst>
                  <p:par>
                    <p:cTn id="518" nodeType="clickEffect" fill="hold">
                      <p:stCondLst>
                        <p:cond delay="indefinite"/>
                      </p:stCondLst>
                      <p:childTnLst>
                        <p:par>
                          <p:cTn id="5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0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23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4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5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6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7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8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9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0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1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2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3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4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5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24"/>
          <p:cNvSpPr/>
          <p:nvPr/>
        </p:nvSpPr>
        <p:spPr>
          <a:xfrm>
            <a:off x="3706920" y="765000"/>
            <a:ext cx="5329080" cy="3024360"/>
          </a:xfrm>
          <a:prstGeom prst="rect">
            <a:avLst/>
          </a:prstGeom>
          <a:solidFill>
            <a:srgbClr val="0033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2" name="Group 2"/>
          <p:cNvGrpSpPr/>
          <p:nvPr/>
        </p:nvGrpSpPr>
        <p:grpSpPr>
          <a:xfrm>
            <a:off x="3708360" y="765000"/>
            <a:ext cx="5327640" cy="3054600"/>
            <a:chOff x="3708360" y="765000"/>
            <a:chExt cx="5327640" cy="3054600"/>
          </a:xfrm>
        </p:grpSpPr>
        <p:sp>
          <p:nvSpPr>
            <p:cNvPr id="233" name="AutoShape 3"/>
            <p:cNvSpPr/>
            <p:nvPr/>
          </p:nvSpPr>
          <p:spPr>
            <a:xfrm>
              <a:off x="3708360" y="765000"/>
              <a:ext cx="5327640" cy="3054600"/>
            </a:xfrm>
            <a:prstGeom prst="rect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Line 4"/>
            <p:cNvSpPr/>
            <p:nvPr/>
          </p:nvSpPr>
          <p:spPr>
            <a:xfrm flipH="1" flipV="1">
              <a:off x="4215240" y="1001880"/>
              <a:ext cx="13680" cy="2364480"/>
            </a:xfrm>
            <a:prstGeom prst="line">
              <a:avLst/>
            </a:prstGeom>
            <a:ln w="28440">
              <a:solidFill>
                <a:srgbClr val="1f497d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Line 5"/>
            <p:cNvSpPr/>
            <p:nvPr/>
          </p:nvSpPr>
          <p:spPr>
            <a:xfrm>
              <a:off x="4229280" y="3380400"/>
              <a:ext cx="4412160" cy="1080"/>
            </a:xfrm>
            <a:prstGeom prst="line">
              <a:avLst/>
            </a:prstGeom>
            <a:ln w="28440">
              <a:solidFill>
                <a:srgbClr val="1f497d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Text Box 6"/>
            <p:cNvSpPr/>
            <p:nvPr/>
          </p:nvSpPr>
          <p:spPr>
            <a:xfrm>
              <a:off x="8105040" y="3347640"/>
              <a:ext cx="746640" cy="471600"/>
            </a:xfrm>
            <a:prstGeom prst="rect">
              <a:avLst/>
            </a:prstGeom>
            <a:solidFill>
              <a:srgbClr val="ffff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4800" rIns="64800" tIns="32400" bIns="324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2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  V</a:t>
              </a:r>
              <a:endPara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Text Box 7"/>
            <p:cNvSpPr/>
            <p:nvPr/>
          </p:nvSpPr>
          <p:spPr>
            <a:xfrm>
              <a:off x="3708360" y="765000"/>
              <a:ext cx="901440" cy="473040"/>
            </a:xfrm>
            <a:prstGeom prst="rect">
              <a:avLst/>
            </a:prstGeom>
            <a:solidFill>
              <a:srgbClr val="ffff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4800" rIns="64800" tIns="32400" bIns="324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2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P</a:t>
              </a:r>
              <a:endPara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Text Box 8"/>
            <p:cNvSpPr/>
            <p:nvPr/>
          </p:nvSpPr>
          <p:spPr>
            <a:xfrm>
              <a:off x="4488840" y="2826720"/>
              <a:ext cx="1006560" cy="471240"/>
            </a:xfrm>
            <a:prstGeom prst="rect">
              <a:avLst/>
            </a:prstGeom>
            <a:solidFill>
              <a:srgbClr val="ffff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4800" rIns="64800" tIns="32400" bIns="324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2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Etat 1</a:t>
              </a:r>
              <a:endPara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Text Box 9"/>
            <p:cNvSpPr/>
            <p:nvPr/>
          </p:nvSpPr>
          <p:spPr>
            <a:xfrm>
              <a:off x="7635960" y="1184760"/>
              <a:ext cx="1006560" cy="473400"/>
            </a:xfrm>
            <a:prstGeom prst="rect">
              <a:avLst/>
            </a:prstGeom>
            <a:solidFill>
              <a:srgbClr val="ffff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4800" rIns="64800" tIns="32400" bIns="324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i="1" lang="fr-FR" sz="2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Etat 2</a:t>
              </a:r>
              <a:endPara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0" name="Group 10"/>
            <p:cNvGrpSpPr/>
            <p:nvPr/>
          </p:nvGrpSpPr>
          <p:grpSpPr>
            <a:xfrm>
              <a:off x="4966560" y="1028160"/>
              <a:ext cx="2958120" cy="1762920"/>
              <a:chOff x="4966560" y="1028160"/>
              <a:chExt cx="2958120" cy="1762920"/>
            </a:xfrm>
          </p:grpSpPr>
          <p:grpSp>
            <p:nvGrpSpPr>
              <p:cNvPr id="241" name="Group 11"/>
              <p:cNvGrpSpPr/>
              <p:nvPr/>
            </p:nvGrpSpPr>
            <p:grpSpPr>
              <a:xfrm>
                <a:off x="4966560" y="1028160"/>
                <a:ext cx="2958120" cy="1762920"/>
                <a:chOff x="4966560" y="1028160"/>
                <a:chExt cx="2958120" cy="1762920"/>
              </a:xfrm>
            </p:grpSpPr>
            <p:grpSp>
              <p:nvGrpSpPr>
                <p:cNvPr id="242" name="Group 12"/>
                <p:cNvGrpSpPr/>
                <p:nvPr/>
              </p:nvGrpSpPr>
              <p:grpSpPr>
                <a:xfrm>
                  <a:off x="4997160" y="1028160"/>
                  <a:ext cx="2896920" cy="1726200"/>
                  <a:chOff x="4997160" y="1028160"/>
                  <a:chExt cx="2896920" cy="1726200"/>
                </a:xfrm>
              </p:grpSpPr>
              <p:sp>
                <p:nvSpPr>
                  <p:cNvPr id="243" name="Freeform 13"/>
                  <p:cNvSpPr/>
                  <p:nvPr/>
                </p:nvSpPr>
                <p:spPr>
                  <a:xfrm>
                    <a:off x="4997160" y="1028160"/>
                    <a:ext cx="2896920" cy="1726200"/>
                  </a:xfrm>
                  <a:custGeom>
                    <a:avLst/>
                    <a:gdLst>
                      <a:gd name="textAreaLeft" fmla="*/ 0 w 2896920"/>
                      <a:gd name="textAreaRight" fmla="*/ 2897280 w 2896920"/>
                      <a:gd name="textAreaTop" fmla="*/ 0 h 1726200"/>
                      <a:gd name="textAreaBottom" fmla="*/ 1726560 h 1726200"/>
                      <a:gd name="GluePoint1X" fmla="*/ 0 w 3580"/>
                      <a:gd name="GluePoint1Y" fmla="*/ 30 h 1580"/>
                      <a:gd name="GluePoint2X" fmla="*/ 2 w 3580"/>
                      <a:gd name="GluePoint2Y" fmla="*/ 24 h 1580"/>
                      <a:gd name="GluePoint3X" fmla="*/ 4 w 3580"/>
                      <a:gd name="GluePoint3Y" fmla="*/ 17 h 1580"/>
                      <a:gd name="GluePoint4X" fmla="*/ 7 w 3580"/>
                      <a:gd name="GluePoint4Y" fmla="*/ 12 h 1580"/>
                      <a:gd name="GluePoint5X" fmla="*/ 10 w 3580"/>
                      <a:gd name="GluePoint5Y" fmla="*/ 7 h 1580"/>
                      <a:gd name="GluePoint6X" fmla="*/ 13 w 3580"/>
                      <a:gd name="GluePoint6Y" fmla="*/ 3 h 1580"/>
                      <a:gd name="GluePoint7X" fmla="*/ 17 w 3580"/>
                      <a:gd name="GluePoint7Y" fmla="*/ 1 h 1580"/>
                      <a:gd name="GluePoint8X" fmla="*/ 20 w 3580"/>
                      <a:gd name="GluePoint8Y" fmla="*/ 0 h 158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</a:cxnLst>
                    <a:rect l="textAreaLeft" t="textAreaTop" r="textAreaRight" b="textAreaBottom"/>
                    <a:pathLst>
                      <a:path w="3580" h="1580">
                        <a:moveTo>
                          <a:pt x="0" y="1580"/>
                        </a:moveTo>
                        <a:cubicBezTo>
                          <a:pt x="89" y="1481"/>
                          <a:pt x="178" y="1382"/>
                          <a:pt x="300" y="1270"/>
                        </a:cubicBezTo>
                        <a:cubicBezTo>
                          <a:pt x="422" y="1158"/>
                          <a:pt x="587" y="1017"/>
                          <a:pt x="730" y="910"/>
                        </a:cubicBezTo>
                        <a:cubicBezTo>
                          <a:pt x="873" y="803"/>
                          <a:pt x="992" y="723"/>
                          <a:pt x="1160" y="630"/>
                        </a:cubicBezTo>
                        <a:cubicBezTo>
                          <a:pt x="1328" y="537"/>
                          <a:pt x="1533" y="432"/>
                          <a:pt x="1740" y="350"/>
                        </a:cubicBezTo>
                        <a:cubicBezTo>
                          <a:pt x="1947" y="268"/>
                          <a:pt x="2180" y="193"/>
                          <a:pt x="2400" y="140"/>
                        </a:cubicBezTo>
                        <a:cubicBezTo>
                          <a:pt x="2620" y="87"/>
                          <a:pt x="2863" y="53"/>
                          <a:pt x="3060" y="30"/>
                        </a:cubicBezTo>
                        <a:cubicBezTo>
                          <a:pt x="3257" y="7"/>
                          <a:pt x="3418" y="3"/>
                          <a:pt x="3580" y="0"/>
                        </a:cubicBezTo>
                      </a:path>
                    </a:pathLst>
                  </a:custGeom>
                  <a:solidFill>
                    <a:srgbClr val="ffff99"/>
                  </a:solidFill>
                  <a:ln w="28440">
                    <a:solidFill>
                      <a:srgbClr val="3366ff"/>
                    </a:solidFill>
                    <a:round/>
                    <a:headEnd len="med" type="oval" w="med"/>
                    <a:tailEnd len="med" type="oval" w="med"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6800" bIns="46800" anchor="t">
                    <a:noAutofit/>
                  </a:bodyPr>
                  <a:p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44" name="Line 14"/>
                  <p:cNvSpPr/>
                  <p:nvPr/>
                </p:nvSpPr>
                <p:spPr>
                  <a:xfrm flipV="1">
                    <a:off x="5793480" y="1605960"/>
                    <a:ext cx="272160" cy="195120"/>
                  </a:xfrm>
                  <a:prstGeom prst="line">
                    <a:avLst/>
                  </a:prstGeom>
                  <a:ln w="38160">
                    <a:solidFill>
                      <a:srgbClr val="3366ff"/>
                    </a:solidFill>
                    <a:miter/>
                    <a:tailEnd len="med" type="triangle" w="med"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6800" bIns="46800" anchor="t">
                    <a:noAutofit/>
                  </a:bodyPr>
                  <a:p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45" name="Line 15"/>
                  <p:cNvSpPr/>
                  <p:nvPr/>
                </p:nvSpPr>
                <p:spPr>
                  <a:xfrm flipH="1">
                    <a:off x="6338160" y="1346400"/>
                    <a:ext cx="204120" cy="64800"/>
                  </a:xfrm>
                  <a:prstGeom prst="line">
                    <a:avLst/>
                  </a:prstGeom>
                  <a:ln w="9360">
                    <a:solidFill>
                      <a:srgbClr val="339966"/>
                    </a:solidFill>
                    <a:miter/>
                    <a:tailEnd len="med" type="triangle" w="med"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18000" bIns="18000" anchor="t">
                    <a:noAutofit/>
                  </a:bodyPr>
                  <a:p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246" name="Freeform 16"/>
                <p:cNvSpPr/>
                <p:nvPr/>
              </p:nvSpPr>
              <p:spPr>
                <a:xfrm flipH="1" flipV="1">
                  <a:off x="4966200" y="1032120"/>
                  <a:ext cx="2958120" cy="1758960"/>
                </a:xfrm>
                <a:custGeom>
                  <a:avLst/>
                  <a:gdLst>
                    <a:gd name="textAreaLeft" fmla="*/ -360 w 2958120"/>
                    <a:gd name="textAreaRight" fmla="*/ 2958120 w 2958120"/>
                    <a:gd name="textAreaTop" fmla="*/ 360 h 1758960"/>
                    <a:gd name="textAreaBottom" fmla="*/ 1759680 h 1758960"/>
                    <a:gd name="GluePoint1X" fmla="*/ 0 w 3580"/>
                    <a:gd name="GluePoint1Y" fmla="*/ 237 h 1580"/>
                    <a:gd name="GluePoint2X" fmla="*/ 1 w 3580"/>
                    <a:gd name="GluePoint2Y" fmla="*/ 191 h 1580"/>
                    <a:gd name="GluePoint3X" fmla="*/ 2 w 3580"/>
                    <a:gd name="GluePoint3Y" fmla="*/ 136 h 1580"/>
                    <a:gd name="GluePoint4X" fmla="*/ 3 w 3580"/>
                    <a:gd name="GluePoint4Y" fmla="*/ 94 h 1580"/>
                    <a:gd name="GluePoint5X" fmla="*/ 4 w 3580"/>
                    <a:gd name="GluePoint5Y" fmla="*/ 53 h 1580"/>
                    <a:gd name="GluePoint6X" fmla="*/ 5 w 3580"/>
                    <a:gd name="GluePoint6Y" fmla="*/ 22 h 1580"/>
                    <a:gd name="GluePoint7X" fmla="*/ 6 w 3580"/>
                    <a:gd name="GluePoint7Y" fmla="*/ 5 h 1580"/>
                    <a:gd name="GluePoint8X" fmla="*/ 8 w 3580"/>
                    <a:gd name="GluePoint8Y" fmla="*/ 0 h 15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</a:cxnLst>
                  <a:rect l="textAreaLeft" t="textAreaTop" r="textAreaRight" b="textAreaBottom"/>
                  <a:pathLst>
                    <a:path w="3580" h="1580">
                      <a:moveTo>
                        <a:pt x="0" y="1580"/>
                      </a:moveTo>
                      <a:cubicBezTo>
                        <a:pt x="89" y="1481"/>
                        <a:pt x="178" y="1382"/>
                        <a:pt x="300" y="1270"/>
                      </a:cubicBezTo>
                      <a:cubicBezTo>
                        <a:pt x="422" y="1158"/>
                        <a:pt x="587" y="1017"/>
                        <a:pt x="730" y="910"/>
                      </a:cubicBezTo>
                      <a:cubicBezTo>
                        <a:pt x="873" y="803"/>
                        <a:pt x="992" y="723"/>
                        <a:pt x="1160" y="630"/>
                      </a:cubicBezTo>
                      <a:cubicBezTo>
                        <a:pt x="1328" y="537"/>
                        <a:pt x="1533" y="432"/>
                        <a:pt x="1740" y="350"/>
                      </a:cubicBezTo>
                      <a:cubicBezTo>
                        <a:pt x="1947" y="268"/>
                        <a:pt x="2180" y="193"/>
                        <a:pt x="2400" y="140"/>
                      </a:cubicBezTo>
                      <a:cubicBezTo>
                        <a:pt x="2620" y="87"/>
                        <a:pt x="2863" y="53"/>
                        <a:pt x="3060" y="30"/>
                      </a:cubicBezTo>
                      <a:cubicBezTo>
                        <a:pt x="3257" y="7"/>
                        <a:pt x="3418" y="3"/>
                        <a:pt x="3580" y="0"/>
                      </a:cubicBezTo>
                    </a:path>
                  </a:pathLst>
                </a:custGeom>
                <a:solidFill>
                  <a:srgbClr val="ffff99"/>
                </a:solidFill>
                <a:ln w="28440">
                  <a:solidFill>
                    <a:srgbClr val="339966"/>
                  </a:solidFill>
                  <a:round/>
                  <a:headEnd len="med" type="oval" w="med"/>
                  <a:tailEnd len="med" type="oval" w="med"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 rot="10800000">
                  <a:noAutofit/>
                </a:bodyPr>
                <a:p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247" name="Line 17"/>
              <p:cNvSpPr/>
              <p:nvPr/>
            </p:nvSpPr>
            <p:spPr>
              <a:xfrm flipH="1">
                <a:off x="6832800" y="2003760"/>
                <a:ext cx="277920" cy="197640"/>
              </a:xfrm>
              <a:prstGeom prst="line">
                <a:avLst/>
              </a:prstGeom>
              <a:ln w="38160">
                <a:solidFill>
                  <a:srgbClr val="339966"/>
                </a:solidFill>
                <a:prstDash val="sysDot"/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48" name="Text Box 18"/>
          <p:cNvSpPr/>
          <p:nvPr/>
        </p:nvSpPr>
        <p:spPr>
          <a:xfrm>
            <a:off x="179280" y="5070600"/>
            <a:ext cx="8785440" cy="174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66ff33"/>
                </a:solidFill>
                <a:effectLst/>
                <a:uFillTx/>
                <a:latin typeface="Times New Roman"/>
                <a:ea typeface="Times New Roman"/>
              </a:rPr>
              <a:t>- </a:t>
            </a:r>
            <a:r>
              <a:rPr b="0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Si on est obligé de passer par un autre chemin pour aller de l’état 2 à l’état 1, les transformations 1-2 et 2-1 sont quasi-statiques.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- Si la transformation entre les état 1 et l’état 2 est brutale (spontanée), alors celle-ci est irréversible.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22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23"/>
          <p:cNvSpPr/>
          <p:nvPr/>
        </p:nvSpPr>
        <p:spPr>
          <a:xfrm>
            <a:off x="474480" y="782640"/>
            <a:ext cx="26892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66ff33"/>
                </a:solidFill>
                <a:effectLst/>
                <a:uFillTx/>
                <a:latin typeface="Times New Roman"/>
                <a:ea typeface="Times New Roman"/>
              </a:rPr>
              <a:t>V-4  Remarque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Box 26"/>
          <p:cNvSpPr/>
          <p:nvPr/>
        </p:nvSpPr>
        <p:spPr>
          <a:xfrm>
            <a:off x="241200" y="3860640"/>
            <a:ext cx="873756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Une transformation faisant passer un système d’un état 1 à un état 2 est réversible si l’on peut effectuer la transformation inverse de l’état 2 à l’état 1 en passant par le même chemin.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536" dur="indefinite" restart="never" nodeType="tmRoot">
          <p:childTnLst>
            <p:seq>
              <p:cTn id="537" dur="indefinite" nodeType="mainSeq">
                <p:childTnLst>
                  <p:par>
                    <p:cTn id="538" nodeType="clickEffect" fill="hold">
                      <p:stCondLst>
                        <p:cond delay="indefinite"/>
                      </p:stCondLst>
                      <p:childTnLst>
                        <p:par>
                          <p:cTn id="5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0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542" dur="8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543" dur="8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4" dur="8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5" nodeType="clickEffect" fill="hold">
                      <p:stCondLst>
                        <p:cond delay="indefinite"/>
                      </p:stCondLst>
                      <p:childTnLst>
                        <p:par>
                          <p:cTn id="5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7" nodeType="clickEffect" fill="hold" presetClass="entr" presetID="1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9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0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1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2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nodeType="clickEffect" fill="hold">
                      <p:stCondLst>
                        <p:cond delay="indefinite"/>
                      </p:stCondLst>
                      <p:childTnLst>
                        <p:par>
                          <p:cTn id="5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5" nodeType="clickEffect" fill="hold" presetClass="entr" presetID="2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9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0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6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5" nodeType="clickEffect" fill="hold">
                      <p:stCondLst>
                        <p:cond delay="indefinite"/>
                      </p:stCondLst>
                      <p:childTnLst>
                        <p:par>
                          <p:cTn id="5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7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569" dur="8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570" dur="8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1" dur="8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2" nodeType="clickEffect" fill="hold">
                      <p:stCondLst>
                        <p:cond delay="indefinite"/>
                      </p:stCondLst>
                      <p:childTnLst>
                        <p:par>
                          <p:cTn id="5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4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576" dur="8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577" dur="8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8" dur="8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Box 123"/>
          <p:cNvSpPr/>
          <p:nvPr/>
        </p:nvSpPr>
        <p:spPr>
          <a:xfrm>
            <a:off x="469800" y="803160"/>
            <a:ext cx="77868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66ff33"/>
                </a:solidFill>
                <a:effectLst/>
                <a:uFillTx/>
                <a:latin typeface="Times New Roman"/>
                <a:ea typeface="Times New Roman"/>
              </a:rPr>
              <a:t>V-5 Transformations réversibles Particulières</a:t>
            </a:r>
            <a:r>
              <a:rPr b="1" lang="fr-FR" sz="2800" strike="noStrike" u="none">
                <a:solidFill>
                  <a:srgbClr val="66ff33"/>
                </a:solidFill>
                <a:effectLst/>
                <a:uFillTx/>
                <a:latin typeface="Times New Roman"/>
              </a:rPr>
              <a:t>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Box 125"/>
          <p:cNvSpPr/>
          <p:nvPr/>
        </p:nvSpPr>
        <p:spPr>
          <a:xfrm>
            <a:off x="596880" y="1449360"/>
            <a:ext cx="3522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Transformation Isochore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Box 126"/>
          <p:cNvSpPr/>
          <p:nvPr/>
        </p:nvSpPr>
        <p:spPr>
          <a:xfrm>
            <a:off x="4924440" y="1463760"/>
            <a:ext cx="33843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Transformation Isobare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Box 134"/>
          <p:cNvSpPr/>
          <p:nvPr/>
        </p:nvSpPr>
        <p:spPr>
          <a:xfrm>
            <a:off x="1476360" y="4292640"/>
            <a:ext cx="83808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V</a:t>
            </a:r>
            <a:r>
              <a:rPr b="1" i="1" lang="fr-FR" sz="1800" strike="noStrike" u="none" baseline="-25000">
                <a:solidFill>
                  <a:srgbClr val="ffffff"/>
                </a:solidFill>
                <a:effectLst/>
                <a:uFillTx/>
                <a:latin typeface="Times New Roman"/>
              </a:rPr>
              <a:t>1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=V</a:t>
            </a:r>
            <a:r>
              <a:rPr b="1" i="1" lang="fr-FR" sz="1800" strike="noStrike" u="none" baseline="-25000">
                <a:solidFill>
                  <a:srgbClr val="ffffff"/>
                </a:solidFill>
                <a:effectLst/>
                <a:uFillTx/>
                <a:latin typeface="Times New Roman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Box 57"/>
          <p:cNvSpPr/>
          <p:nvPr/>
        </p:nvSpPr>
        <p:spPr>
          <a:xfrm>
            <a:off x="1100160" y="2008080"/>
            <a:ext cx="4665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t">
            <a:no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Box 135"/>
          <p:cNvSpPr/>
          <p:nvPr/>
        </p:nvSpPr>
        <p:spPr>
          <a:xfrm>
            <a:off x="468360" y="3708360"/>
            <a:ext cx="8240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</a:t>
            </a:r>
            <a:r>
              <a:rPr b="1" i="1" lang="fr-FR" sz="1600" strike="noStrike" u="none" baseline="-25000">
                <a:solidFill>
                  <a:srgbClr val="ffffff"/>
                </a:solidFill>
                <a:effectLst/>
                <a:uFillTx/>
                <a:latin typeface="Times New Roman"/>
              </a:rPr>
              <a:t>1</a:t>
            </a:r>
            <a:r>
              <a:rPr b="1" i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Box 141"/>
          <p:cNvSpPr/>
          <p:nvPr/>
        </p:nvSpPr>
        <p:spPr>
          <a:xfrm>
            <a:off x="638280" y="4941720"/>
            <a:ext cx="342900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C’est une transformation au cours de laquelle </a:t>
            </a:r>
            <a:r>
              <a:rPr b="1" i="1" lang="fr-FR" sz="20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 volume</a:t>
            </a:r>
            <a:r>
              <a:rPr b="1" i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demeure constant (V = Cste)</a:t>
            </a:r>
            <a:r>
              <a:rPr b="1" i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Box 142"/>
          <p:cNvSpPr/>
          <p:nvPr/>
        </p:nvSpPr>
        <p:spPr>
          <a:xfrm>
            <a:off x="4892760" y="4950000"/>
            <a:ext cx="342900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C’est une transformation au cours de laquelle </a:t>
            </a:r>
            <a:r>
              <a:rPr b="1" i="1" lang="fr-FR" sz="20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pression</a:t>
            </a:r>
            <a:r>
              <a:rPr b="1" i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demeure constante (P = Cste)</a:t>
            </a:r>
            <a:r>
              <a:rPr b="1" i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143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1" name="Group 45"/>
          <p:cNvGrpSpPr/>
          <p:nvPr/>
        </p:nvGrpSpPr>
        <p:grpSpPr>
          <a:xfrm>
            <a:off x="1042920" y="2141640"/>
            <a:ext cx="3313080" cy="2582640"/>
            <a:chOff x="1042920" y="2141640"/>
            <a:chExt cx="3313080" cy="2582640"/>
          </a:xfrm>
        </p:grpSpPr>
        <p:sp>
          <p:nvSpPr>
            <p:cNvPr id="262" name="AutoShape 46"/>
            <p:cNvSpPr/>
            <p:nvPr/>
          </p:nvSpPr>
          <p:spPr>
            <a:xfrm>
              <a:off x="1042920" y="2141640"/>
              <a:ext cx="3313080" cy="258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Line 47"/>
            <p:cNvSpPr/>
            <p:nvPr/>
          </p:nvSpPr>
          <p:spPr>
            <a:xfrm flipV="1">
              <a:off x="1405440" y="2355840"/>
              <a:ext cx="0" cy="2221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Line 48"/>
            <p:cNvSpPr/>
            <p:nvPr/>
          </p:nvSpPr>
          <p:spPr>
            <a:xfrm>
              <a:off x="1405440" y="4577040"/>
              <a:ext cx="250884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Text Box 49"/>
            <p:cNvSpPr/>
            <p:nvPr/>
          </p:nvSpPr>
          <p:spPr>
            <a:xfrm>
              <a:off x="1904760" y="4256640"/>
              <a:ext cx="782640" cy="27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560" rIns="61560" tIns="30960" bIns="3096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Etat 1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Oval 50"/>
            <p:cNvSpPr/>
            <p:nvPr/>
          </p:nvSpPr>
          <p:spPr>
            <a:xfrm>
              <a:off x="2237400" y="4173120"/>
              <a:ext cx="81360" cy="8208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520" bIns="1152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Text Box 51"/>
            <p:cNvSpPr/>
            <p:nvPr/>
          </p:nvSpPr>
          <p:spPr>
            <a:xfrm>
              <a:off x="3828240" y="4416840"/>
              <a:ext cx="475560" cy="30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560" rIns="61560" tIns="30960" bIns="3096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V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Text Box 52"/>
            <p:cNvSpPr/>
            <p:nvPr/>
          </p:nvSpPr>
          <p:spPr>
            <a:xfrm>
              <a:off x="1471320" y="2309760"/>
              <a:ext cx="422640" cy="30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560" rIns="61560" tIns="30960" bIns="3096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P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Line 53"/>
            <p:cNvSpPr/>
            <p:nvPr/>
          </p:nvSpPr>
          <p:spPr>
            <a:xfrm flipV="1">
              <a:off x="2270520" y="2809080"/>
              <a:ext cx="0" cy="138384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Oval 54"/>
            <p:cNvSpPr/>
            <p:nvPr/>
          </p:nvSpPr>
          <p:spPr>
            <a:xfrm>
              <a:off x="2237400" y="2759760"/>
              <a:ext cx="81360" cy="8244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880" bIns="1188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Text Box 55"/>
            <p:cNvSpPr/>
            <p:nvPr/>
          </p:nvSpPr>
          <p:spPr>
            <a:xfrm>
              <a:off x="1918440" y="2482920"/>
              <a:ext cx="783000" cy="27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560" rIns="61560" tIns="30960" bIns="3096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Etat 2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Line 56"/>
            <p:cNvSpPr/>
            <p:nvPr/>
          </p:nvSpPr>
          <p:spPr>
            <a:xfrm flipV="1">
              <a:off x="2265840" y="3328200"/>
              <a:ext cx="1080" cy="4294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3" name="Group 57"/>
          <p:cNvGrpSpPr/>
          <p:nvPr/>
        </p:nvGrpSpPr>
        <p:grpSpPr>
          <a:xfrm>
            <a:off x="5724360" y="2498760"/>
            <a:ext cx="2519640" cy="2370240"/>
            <a:chOff x="5724360" y="2498760"/>
            <a:chExt cx="2519640" cy="2370240"/>
          </a:xfrm>
        </p:grpSpPr>
        <p:sp>
          <p:nvSpPr>
            <p:cNvPr id="274" name="AutoShape 58"/>
            <p:cNvSpPr/>
            <p:nvPr/>
          </p:nvSpPr>
          <p:spPr>
            <a:xfrm>
              <a:off x="5724360" y="2498760"/>
              <a:ext cx="2519640" cy="2370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Line 59"/>
            <p:cNvSpPr/>
            <p:nvPr/>
          </p:nvSpPr>
          <p:spPr>
            <a:xfrm flipV="1">
              <a:off x="5724360" y="2538720"/>
              <a:ext cx="0" cy="19386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Line 60"/>
            <p:cNvSpPr/>
            <p:nvPr/>
          </p:nvSpPr>
          <p:spPr>
            <a:xfrm>
              <a:off x="5724360" y="4478040"/>
              <a:ext cx="21927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Text Box 61"/>
            <p:cNvSpPr/>
            <p:nvPr/>
          </p:nvSpPr>
          <p:spPr>
            <a:xfrm>
              <a:off x="5845320" y="3228480"/>
              <a:ext cx="684000" cy="24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200" rIns="61200" tIns="30600" bIns="306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Etat 1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Text Box 62"/>
            <p:cNvSpPr/>
            <p:nvPr/>
          </p:nvSpPr>
          <p:spPr>
            <a:xfrm>
              <a:off x="7811640" y="4323600"/>
              <a:ext cx="432000" cy="31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200" rIns="61200" tIns="30600" bIns="306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V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Text Box 63"/>
            <p:cNvSpPr/>
            <p:nvPr/>
          </p:nvSpPr>
          <p:spPr>
            <a:xfrm>
              <a:off x="5782680" y="2498760"/>
              <a:ext cx="479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200" rIns="61200" tIns="30600" bIns="306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P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0" name="Group 64"/>
            <p:cNvGrpSpPr/>
            <p:nvPr/>
          </p:nvGrpSpPr>
          <p:grpSpPr>
            <a:xfrm>
              <a:off x="6186600" y="3533040"/>
              <a:ext cx="1306800" cy="72000"/>
              <a:chOff x="6186600" y="3533040"/>
              <a:chExt cx="1306800" cy="72000"/>
            </a:xfrm>
          </p:grpSpPr>
          <p:sp>
            <p:nvSpPr>
              <p:cNvPr id="281" name="Oval 65"/>
              <p:cNvSpPr/>
              <p:nvPr/>
            </p:nvSpPr>
            <p:spPr>
              <a:xfrm rot="5400000">
                <a:off x="6186240" y="3533040"/>
                <a:ext cx="72000" cy="71640"/>
              </a:xfrm>
              <a:prstGeom prst="ellipse">
                <a:avLst/>
              </a:prstGeom>
              <a:solidFill>
                <a:srgbClr val="000000"/>
              </a:solidFill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" bIns="396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2" name="Line 66"/>
              <p:cNvSpPr/>
              <p:nvPr/>
            </p:nvSpPr>
            <p:spPr>
              <a:xfrm>
                <a:off x="6240960" y="3561840"/>
                <a:ext cx="1209960" cy="0"/>
              </a:xfrm>
              <a:prstGeom prst="line">
                <a:avLst/>
              </a:prstGeom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Oval 67"/>
              <p:cNvSpPr/>
              <p:nvPr/>
            </p:nvSpPr>
            <p:spPr>
              <a:xfrm rot="5400000">
                <a:off x="7421400" y="3533040"/>
                <a:ext cx="72000" cy="71640"/>
              </a:xfrm>
              <a:prstGeom prst="ellipse">
                <a:avLst/>
              </a:prstGeom>
              <a:solidFill>
                <a:srgbClr val="000000"/>
              </a:solidFill>
              <a:ln w="126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" bIns="396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4" name="Text Box 68"/>
            <p:cNvSpPr/>
            <p:nvPr/>
          </p:nvSpPr>
          <p:spPr>
            <a:xfrm>
              <a:off x="7105680" y="3178440"/>
              <a:ext cx="683640" cy="24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200" rIns="61200" tIns="30600" bIns="306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Etat 2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Line 69"/>
            <p:cNvSpPr/>
            <p:nvPr/>
          </p:nvSpPr>
          <p:spPr>
            <a:xfrm>
              <a:off x="6216120" y="3578760"/>
              <a:ext cx="720" cy="893520"/>
            </a:xfrm>
            <a:prstGeom prst="line">
              <a:avLst/>
            </a:prstGeom>
            <a:ln w="936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Line 70"/>
            <p:cNvSpPr/>
            <p:nvPr/>
          </p:nvSpPr>
          <p:spPr>
            <a:xfrm>
              <a:off x="7451280" y="3610440"/>
              <a:ext cx="1080" cy="893520"/>
            </a:xfrm>
            <a:prstGeom prst="line">
              <a:avLst/>
            </a:prstGeom>
            <a:ln w="936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Text Box 71"/>
            <p:cNvSpPr/>
            <p:nvPr/>
          </p:nvSpPr>
          <p:spPr>
            <a:xfrm>
              <a:off x="6085440" y="4421520"/>
              <a:ext cx="508320" cy="34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200" rIns="61200" tIns="30600" bIns="306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V</a:t>
              </a:r>
              <a:r>
                <a:rPr b="1" lang="fr-FR" sz="1400" strike="noStrike" u="none" baseline="-25000">
                  <a:solidFill>
                    <a:srgbClr val="000000"/>
                  </a:solidFill>
                  <a:effectLst/>
                  <a:uFillTx/>
                  <a:latin typeface="Arial"/>
                </a:rPr>
                <a:t>1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Text Box 72"/>
            <p:cNvSpPr/>
            <p:nvPr/>
          </p:nvSpPr>
          <p:spPr>
            <a:xfrm>
              <a:off x="7196760" y="4430880"/>
              <a:ext cx="509040" cy="34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200" rIns="61200" tIns="30600" bIns="306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V</a:t>
              </a:r>
              <a:r>
                <a:rPr b="1" lang="fr-FR" sz="1400" strike="noStrike" u="none" baseline="-25000">
                  <a:solidFill>
                    <a:srgbClr val="000000"/>
                  </a:solidFill>
                  <a:effectLst/>
                  <a:uFillTx/>
                  <a:latin typeface="Arial"/>
                </a:rPr>
                <a:t>2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Line 73"/>
            <p:cNvSpPr/>
            <p:nvPr/>
          </p:nvSpPr>
          <p:spPr>
            <a:xfrm>
              <a:off x="6642000" y="3564360"/>
              <a:ext cx="350640" cy="7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080" bIns="-4608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iming>
    <p:tnLst>
      <p:par>
        <p:cTn id="579" dur="indefinite" restart="never" nodeType="tmRoot">
          <p:childTnLst>
            <p:seq>
              <p:cTn id="580" dur="indefinite" nodeType="mainSeq">
                <p:childTnLst>
                  <p:par>
                    <p:cTn id="581" nodeType="clickEffect" fill="hold">
                      <p:stCondLst>
                        <p:cond delay="indefinite"/>
                      </p:stCondLst>
                      <p:childTnLst>
                        <p:par>
                          <p:cTn id="58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3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585" dur="8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586" dur="8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7" dur="8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nodeType="with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9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91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2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3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4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5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6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7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8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9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0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1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2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3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4" nodeType="with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0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07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8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9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0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1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2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3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4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5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6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7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8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9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20" nodeType="with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23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4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5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6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7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8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9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0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1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2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3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4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5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36" nodeType="with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39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0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1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2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3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4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5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6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7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8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9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0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1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2" nodeType="clickEffect" fill="hold">
                      <p:stCondLst>
                        <p:cond delay="indefinite"/>
                      </p:stCondLst>
                      <p:childTnLst>
                        <p:par>
                          <p:cTn id="6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54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656" dur="8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657" dur="8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8" dur="8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nodeType="withEffect" fill="hold" presetClass="entr" presetID="1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61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2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3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4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5" nodeType="clickEffect" fill="hold">
                      <p:stCondLst>
                        <p:cond delay="indefinite"/>
                      </p:stCondLst>
                      <p:childTnLst>
                        <p:par>
                          <p:cTn id="6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67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669" dur="8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670" dur="8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1" dur="8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Box 2"/>
          <p:cNvSpPr/>
          <p:nvPr/>
        </p:nvSpPr>
        <p:spPr>
          <a:xfrm>
            <a:off x="457200" y="584280"/>
            <a:ext cx="31748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Transformation Isotherme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(Cas du gaz Parfait)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Box 18"/>
          <p:cNvSpPr/>
          <p:nvPr/>
        </p:nvSpPr>
        <p:spPr>
          <a:xfrm>
            <a:off x="4622760" y="660240"/>
            <a:ext cx="36831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Transformation Cyclique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Box 29"/>
          <p:cNvSpPr/>
          <p:nvPr/>
        </p:nvSpPr>
        <p:spPr>
          <a:xfrm>
            <a:off x="5867280" y="3289320"/>
            <a:ext cx="13240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Etat1=Etat2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Box 32"/>
          <p:cNvSpPr/>
          <p:nvPr/>
        </p:nvSpPr>
        <p:spPr>
          <a:xfrm>
            <a:off x="190440" y="4267080"/>
            <a:ext cx="365760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000" strike="noStrike" u="none">
                <a:solidFill>
                  <a:srgbClr val="ff3300"/>
                </a:solidFill>
                <a:effectLst/>
                <a:uFillTx/>
                <a:latin typeface="Times New Roman"/>
                <a:ea typeface="Times New Roman"/>
              </a:rPr>
              <a:t>C’est une transformation au cours de laquelle la température demeure constante (T = Cste)</a:t>
            </a:r>
            <a:r>
              <a:rPr b="0" i="1" lang="fr-FR" sz="20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Box 33"/>
          <p:cNvSpPr/>
          <p:nvPr/>
        </p:nvSpPr>
        <p:spPr>
          <a:xfrm>
            <a:off x="4915080" y="4216320"/>
            <a:ext cx="373356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000" strike="noStrike" u="none">
                <a:solidFill>
                  <a:srgbClr val="ff3300"/>
                </a:solidFill>
                <a:effectLst/>
                <a:uFillTx/>
                <a:latin typeface="Times New Roman"/>
                <a:ea typeface="Times New Roman"/>
              </a:rPr>
              <a:t>Pour ce type de transformation l’état final est identique à l’état initial.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Box 35"/>
          <p:cNvSpPr/>
          <p:nvPr/>
        </p:nvSpPr>
        <p:spPr>
          <a:xfrm>
            <a:off x="177840" y="5773680"/>
            <a:ext cx="838188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C’est une transformation au cours de laquelle le système n’échange pas de chaleur avec le milieu extérieur.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ectangle 36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QUELQUES D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  <a:ea typeface="Times New Roman"/>
              </a:rPr>
              <a:t>É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FINITIONS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39"/>
          <p:cNvSpPr/>
          <p:nvPr/>
        </p:nvSpPr>
        <p:spPr>
          <a:xfrm>
            <a:off x="330480" y="5337000"/>
            <a:ext cx="50583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V-6 Transformations Adiabatique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8" name="Group 40"/>
          <p:cNvGrpSpPr/>
          <p:nvPr/>
        </p:nvGrpSpPr>
        <p:grpSpPr>
          <a:xfrm>
            <a:off x="1258920" y="1566720"/>
            <a:ext cx="2952720" cy="2654280"/>
            <a:chOff x="1258920" y="1566720"/>
            <a:chExt cx="2952720" cy="2654280"/>
          </a:xfrm>
        </p:grpSpPr>
        <p:sp>
          <p:nvSpPr>
            <p:cNvPr id="299" name="AutoShape 41"/>
            <p:cNvSpPr/>
            <p:nvPr/>
          </p:nvSpPr>
          <p:spPr>
            <a:xfrm>
              <a:off x="1258920" y="1566720"/>
              <a:ext cx="2952720" cy="265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Line 42"/>
            <p:cNvSpPr/>
            <p:nvPr/>
          </p:nvSpPr>
          <p:spPr>
            <a:xfrm flipV="1">
              <a:off x="1258920" y="1613880"/>
              <a:ext cx="0" cy="22730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Line 43"/>
            <p:cNvSpPr/>
            <p:nvPr/>
          </p:nvSpPr>
          <p:spPr>
            <a:xfrm>
              <a:off x="1258920" y="3887280"/>
              <a:ext cx="25704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Text Box 44"/>
            <p:cNvSpPr/>
            <p:nvPr/>
          </p:nvSpPr>
          <p:spPr>
            <a:xfrm>
              <a:off x="1737720" y="2478240"/>
              <a:ext cx="802080" cy="28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760" rIns="68760" tIns="34560" bIns="3456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Etat 1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Text Box 45"/>
            <p:cNvSpPr/>
            <p:nvPr/>
          </p:nvSpPr>
          <p:spPr>
            <a:xfrm>
              <a:off x="3734280" y="3766680"/>
              <a:ext cx="477000" cy="31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760" rIns="68760" tIns="34560" bIns="3456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V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Text Box 46"/>
            <p:cNvSpPr/>
            <p:nvPr/>
          </p:nvSpPr>
          <p:spPr>
            <a:xfrm>
              <a:off x="1326600" y="1566720"/>
              <a:ext cx="432720" cy="31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760" rIns="68760" tIns="34560" bIns="3456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P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Oval 47"/>
            <p:cNvSpPr/>
            <p:nvPr/>
          </p:nvSpPr>
          <p:spPr>
            <a:xfrm rot="5400000">
              <a:off x="1774080" y="2689200"/>
              <a:ext cx="83880" cy="8388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Oval 48"/>
            <p:cNvSpPr/>
            <p:nvPr/>
          </p:nvSpPr>
          <p:spPr>
            <a:xfrm rot="5400000">
              <a:off x="3004200" y="3502800"/>
              <a:ext cx="84600" cy="8496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680" bIns="1368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Text Box 49"/>
            <p:cNvSpPr/>
            <p:nvPr/>
          </p:nvSpPr>
          <p:spPr>
            <a:xfrm>
              <a:off x="2823480" y="3141360"/>
              <a:ext cx="802080" cy="28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760" rIns="68760" tIns="34560" bIns="3456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Etat 2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Text Box 50"/>
            <p:cNvSpPr/>
            <p:nvPr/>
          </p:nvSpPr>
          <p:spPr>
            <a:xfrm>
              <a:off x="1715400" y="3816360"/>
              <a:ext cx="595080" cy="40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760" rIns="68760" tIns="34560" bIns="3456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V</a:t>
              </a:r>
              <a:r>
                <a:rPr b="1" lang="fr-FR" sz="1400" strike="noStrike" u="none" baseline="-25000">
                  <a:solidFill>
                    <a:srgbClr val="000000"/>
                  </a:solidFill>
                  <a:effectLst/>
                  <a:uFillTx/>
                  <a:latin typeface="Arial"/>
                </a:rPr>
                <a:t>1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Text Box 51"/>
            <p:cNvSpPr/>
            <p:nvPr/>
          </p:nvSpPr>
          <p:spPr>
            <a:xfrm>
              <a:off x="2468160" y="3799080"/>
              <a:ext cx="669600" cy="40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760" rIns="68760" tIns="34560" bIns="3456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       V</a:t>
              </a:r>
              <a:r>
                <a:rPr b="1" lang="fr-FR" sz="1400" strike="noStrike" u="none" baseline="-25000">
                  <a:solidFill>
                    <a:srgbClr val="000000"/>
                  </a:solidFill>
                  <a:effectLst/>
                  <a:uFillTx/>
                  <a:latin typeface="Arial"/>
                </a:rPr>
                <a:t>2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Freeform 52"/>
            <p:cNvSpPr/>
            <p:nvPr/>
          </p:nvSpPr>
          <p:spPr>
            <a:xfrm>
              <a:off x="1601280" y="1868040"/>
              <a:ext cx="2098800" cy="1785600"/>
            </a:xfrm>
            <a:custGeom>
              <a:avLst/>
              <a:gdLst>
                <a:gd name="textAreaLeft" fmla="*/ 0 w 2098800"/>
                <a:gd name="textAreaRight" fmla="*/ 2099160 w 2098800"/>
                <a:gd name="textAreaTop" fmla="*/ 0 h 1785600"/>
                <a:gd name="textAreaBottom" fmla="*/ 1785960 h 1785600"/>
                <a:gd name="GluePoint1X" fmla="*/ 0 w 1949"/>
                <a:gd name="GluePoint1Y" fmla="*/ 0 h 1659"/>
                <a:gd name="GluePoint2X" fmla="*/ 40 w 1949"/>
                <a:gd name="GluePoint2Y" fmla="*/ 370 h 1659"/>
                <a:gd name="GluePoint3X" fmla="*/ 120 w 1949"/>
                <a:gd name="GluePoint3Y" fmla="*/ 660 h 1659"/>
                <a:gd name="GluePoint4X" fmla="*/ 190 w 1949"/>
                <a:gd name="GluePoint4Y" fmla="*/ 800 h 1659"/>
                <a:gd name="GluePoint5X" fmla="*/ 320 w 1949"/>
                <a:gd name="GluePoint5Y" fmla="*/ 990 h 1659"/>
                <a:gd name="GluePoint6X" fmla="*/ 560 w 1949"/>
                <a:gd name="GluePoint6Y" fmla="*/ 1199 h 1659"/>
                <a:gd name="GluePoint7X" fmla="*/ 890 w 1949"/>
                <a:gd name="GluePoint7Y" fmla="*/ 1399 h 1659"/>
                <a:gd name="GluePoint8X" fmla="*/ 1189 w 1949"/>
                <a:gd name="GluePoint8Y" fmla="*/ 1509 h 1659"/>
                <a:gd name="GluePoint9X" fmla="*/ 1549 w 1949"/>
                <a:gd name="GluePoint9Y" fmla="*/ 1599 h 1659"/>
                <a:gd name="GluePoint10X" fmla="*/ 1949 w 1949"/>
                <a:gd name="GluePoint10Y" fmla="*/ 1659 h 16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949" h="1659">
                  <a:moveTo>
                    <a:pt x="0" y="0"/>
                  </a:moveTo>
                  <a:cubicBezTo>
                    <a:pt x="7" y="62"/>
                    <a:pt x="20" y="260"/>
                    <a:pt x="40" y="370"/>
                  </a:cubicBezTo>
                  <a:cubicBezTo>
                    <a:pt x="60" y="480"/>
                    <a:pt x="95" y="588"/>
                    <a:pt x="120" y="660"/>
                  </a:cubicBezTo>
                  <a:cubicBezTo>
                    <a:pt x="145" y="732"/>
                    <a:pt x="157" y="745"/>
                    <a:pt x="190" y="800"/>
                  </a:cubicBezTo>
                  <a:cubicBezTo>
                    <a:pt x="223" y="855"/>
                    <a:pt x="258" y="924"/>
                    <a:pt x="320" y="990"/>
                  </a:cubicBezTo>
                  <a:cubicBezTo>
                    <a:pt x="382" y="1056"/>
                    <a:pt x="465" y="1131"/>
                    <a:pt x="560" y="1199"/>
                  </a:cubicBezTo>
                  <a:cubicBezTo>
                    <a:pt x="655" y="1267"/>
                    <a:pt x="785" y="1347"/>
                    <a:pt x="890" y="1399"/>
                  </a:cubicBezTo>
                  <a:cubicBezTo>
                    <a:pt x="994" y="1451"/>
                    <a:pt x="1079" y="1476"/>
                    <a:pt x="1189" y="1509"/>
                  </a:cubicBezTo>
                  <a:cubicBezTo>
                    <a:pt x="1299" y="1542"/>
                    <a:pt x="1423" y="1574"/>
                    <a:pt x="1549" y="1599"/>
                  </a:cubicBezTo>
                  <a:cubicBezTo>
                    <a:pt x="1675" y="1624"/>
                    <a:pt x="1866" y="1647"/>
                    <a:pt x="1949" y="1659"/>
                  </a:cubicBezTo>
                </a:path>
              </a:pathLst>
            </a:custGeom>
            <a:noFill/>
            <a:ln w="93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Line 53"/>
            <p:cNvSpPr/>
            <p:nvPr/>
          </p:nvSpPr>
          <p:spPr>
            <a:xfrm>
              <a:off x="1811160" y="2746080"/>
              <a:ext cx="0" cy="1145160"/>
            </a:xfrm>
            <a:prstGeom prst="line">
              <a:avLst/>
            </a:prstGeom>
            <a:ln w="936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Line 54"/>
            <p:cNvSpPr/>
            <p:nvPr/>
          </p:nvSpPr>
          <p:spPr>
            <a:xfrm>
              <a:off x="3034440" y="3503160"/>
              <a:ext cx="720" cy="361440"/>
            </a:xfrm>
            <a:prstGeom prst="line">
              <a:avLst/>
            </a:prstGeom>
            <a:ln w="936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3" name="Group 55"/>
          <p:cNvGrpSpPr/>
          <p:nvPr/>
        </p:nvGrpSpPr>
        <p:grpSpPr>
          <a:xfrm>
            <a:off x="5651640" y="1628640"/>
            <a:ext cx="2663640" cy="2481480"/>
            <a:chOff x="5651640" y="1628640"/>
            <a:chExt cx="2663640" cy="2481480"/>
          </a:xfrm>
        </p:grpSpPr>
        <p:sp>
          <p:nvSpPr>
            <p:cNvPr id="314" name="AutoShape 56"/>
            <p:cNvSpPr/>
            <p:nvPr/>
          </p:nvSpPr>
          <p:spPr>
            <a:xfrm>
              <a:off x="5651640" y="1628640"/>
              <a:ext cx="2663640" cy="248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Line 57"/>
            <p:cNvSpPr/>
            <p:nvPr/>
          </p:nvSpPr>
          <p:spPr>
            <a:xfrm flipV="1">
              <a:off x="5651640" y="1676160"/>
              <a:ext cx="0" cy="23216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Line 58"/>
            <p:cNvSpPr/>
            <p:nvPr/>
          </p:nvSpPr>
          <p:spPr>
            <a:xfrm>
              <a:off x="5651640" y="3998520"/>
              <a:ext cx="26254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7" name="Group 59"/>
            <p:cNvGrpSpPr/>
            <p:nvPr/>
          </p:nvGrpSpPr>
          <p:grpSpPr>
            <a:xfrm>
              <a:off x="5720760" y="1628640"/>
              <a:ext cx="2492280" cy="2346840"/>
              <a:chOff x="5720760" y="1628640"/>
              <a:chExt cx="2492280" cy="2346840"/>
            </a:xfrm>
          </p:grpSpPr>
          <p:sp>
            <p:nvSpPr>
              <p:cNvPr id="318" name="Text Box 60"/>
              <p:cNvSpPr/>
              <p:nvPr/>
            </p:nvSpPr>
            <p:spPr>
              <a:xfrm>
                <a:off x="6007320" y="3301920"/>
                <a:ext cx="819360" cy="290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7400" rIns="77400" tIns="38520" bIns="3852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9" name="Oval 61"/>
              <p:cNvSpPr/>
              <p:nvPr/>
            </p:nvSpPr>
            <p:spPr>
              <a:xfrm rot="19599600">
                <a:off x="6239520" y="2083680"/>
                <a:ext cx="1749960" cy="108540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Oval 62"/>
              <p:cNvSpPr/>
              <p:nvPr/>
            </p:nvSpPr>
            <p:spPr>
              <a:xfrm>
                <a:off x="6416280" y="3153960"/>
                <a:ext cx="85680" cy="86040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4040" bIns="140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Text Box 63"/>
              <p:cNvSpPr/>
              <p:nvPr/>
            </p:nvSpPr>
            <p:spPr>
              <a:xfrm>
                <a:off x="7725960" y="3654360"/>
                <a:ext cx="487080" cy="321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7400" rIns="77400" tIns="38520" bIns="3852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V</a:t>
                </a: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2" name="Text Box 64"/>
              <p:cNvSpPr/>
              <p:nvPr/>
            </p:nvSpPr>
            <p:spPr>
              <a:xfrm>
                <a:off x="5720760" y="1628640"/>
                <a:ext cx="441720" cy="320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7400" rIns="77400" tIns="38520" bIns="3852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fr-F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P</a:t>
                </a: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p:timing>
    <p:tnLst>
      <p:par>
        <p:cTn id="672" dur="indefinite" restart="never" nodeType="tmRoot">
          <p:childTnLst>
            <p:seq>
              <p:cTn id="673" dur="indefinite" nodeType="mainSeq">
                <p:childTnLst>
                  <p:par>
                    <p:cTn id="674" nodeType="clickEffect" fill="hold">
                      <p:stCondLst>
                        <p:cond delay="indefinite"/>
                      </p:stCondLst>
                      <p:childTnLst>
                        <p:par>
                          <p:cTn id="6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76" nodeType="clickEffect" fill="hold" presetClass="entr" presetID="1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78" dur="1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9" dur="1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0" dur="1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1" dur="1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2" nodeType="clickEffect" fill="hold">
                      <p:stCondLst>
                        <p:cond delay="indefinite"/>
                      </p:stCondLst>
                      <p:childTnLst>
                        <p:par>
                          <p:cTn id="6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84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686" dur="8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687" dur="8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8" dur="8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9" nodeType="with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92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3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4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5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6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7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8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9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0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1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2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3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4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05" nodeType="with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70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08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9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0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1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2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3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4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5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6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7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8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9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0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1" nodeType="clickEffect" fill="hold">
                      <p:stCondLst>
                        <p:cond delay="indefinite"/>
                      </p:stCondLst>
                      <p:childTnLst>
                        <p:par>
                          <p:cTn id="7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3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725" dur="8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726" dur="8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7" dur="8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8" nodeType="clickEffect" fill="hold">
                      <p:stCondLst>
                        <p:cond delay="indefinite"/>
                      </p:stCondLst>
                      <p:childTnLst>
                        <p:par>
                          <p:cTn id="7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30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732" dur="8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733" dur="8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4" dur="8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5" nodeType="clickEffect" fill="hold">
                      <p:stCondLst>
                        <p:cond delay="indefinite"/>
                      </p:stCondLst>
                      <p:childTnLst>
                        <p:par>
                          <p:cTn id="7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37" nodeType="clickEffect" fill="hold" presetClass="entr" presetID="2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739" dur="8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740" dur="8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1" dur="8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 Box 2"/>
          <p:cNvSpPr/>
          <p:nvPr/>
        </p:nvSpPr>
        <p:spPr>
          <a:xfrm>
            <a:off x="457200" y="584280"/>
            <a:ext cx="62755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Différentielle d’une fonction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Box 32"/>
          <p:cNvSpPr/>
          <p:nvPr/>
        </p:nvSpPr>
        <p:spPr>
          <a:xfrm>
            <a:off x="428760" y="1071720"/>
            <a:ext cx="79293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différentielle de la fonction f(x,y) (f supposée continue et dérivable) s’écrit 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Rectangle 36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L’outil Mathématique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Rectangle 36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ectangle 3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8" name="Object 37"/>
          <p:cNvGraphicFramePr/>
          <p:nvPr/>
        </p:nvGraphicFramePr>
        <p:xfrm>
          <a:off x="4214880" y="1436760"/>
          <a:ext cx="4105080" cy="8492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329" name="Object 37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4214880" y="1436760"/>
                    <a:ext cx="4105080" cy="8492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30" name="Rectangle 39"/>
          <p:cNvSpPr/>
          <p:nvPr/>
        </p:nvSpPr>
        <p:spPr>
          <a:xfrm>
            <a:off x="469440" y="1996560"/>
            <a:ext cx="33314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Dérivées d’ordre supérieure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 dérivées secondes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4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ectangle 43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Rectangle 45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ectangle 47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5" name="Object 46"/>
          <p:cNvGraphicFramePr/>
          <p:nvPr/>
        </p:nvGraphicFramePr>
        <p:xfrm>
          <a:off x="4370400" y="2782800"/>
          <a:ext cx="4305240" cy="83052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336" name="Object 46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4370400" y="2782800"/>
                    <a:ext cx="4305240" cy="8305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337" name="Object 49"/>
          <p:cNvGraphicFramePr/>
          <p:nvPr/>
        </p:nvGraphicFramePr>
        <p:xfrm>
          <a:off x="4284720" y="5459400"/>
          <a:ext cx="4248000" cy="84924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338" name="Object 49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4284720" y="5459400"/>
                    <a:ext cx="4248000" cy="8492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339" name="Picture 51" descr=""/>
          <p:cNvPicPr/>
          <p:nvPr/>
        </p:nvPicPr>
        <p:blipFill>
          <a:blip r:embed="rId7"/>
          <a:stretch/>
        </p:blipFill>
        <p:spPr>
          <a:xfrm>
            <a:off x="4284720" y="3673440"/>
            <a:ext cx="4390920" cy="8557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340" name="Object 52"/>
          <p:cNvGraphicFramePr/>
          <p:nvPr/>
        </p:nvGraphicFramePr>
        <p:xfrm>
          <a:off x="4211640" y="4605480"/>
          <a:ext cx="4392720" cy="850680"/>
        </p:xfrm>
        <a:graphic>
          <a:graphicData uri="http://schemas.openxmlformats.org/presentationml/2006/ole">
            <p:oleObj r:id="rId8" spid="">
              <p:embed/>
              <p:pic>
                <p:nvPicPr>
                  <p:cNvPr id="341" name="Object 52" descr=""/>
                  <p:cNvPicPr/>
                  <p:nvPr/>
                </p:nvPicPr>
                <p:blipFill>
                  <a:blip r:embed="rId9"/>
                  <a:stretch/>
                </p:blipFill>
                <p:spPr>
                  <a:xfrm>
                    <a:off x="4211640" y="4605480"/>
                    <a:ext cx="4392720" cy="850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42" name="Rectangle 20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43" name="Object 19"/>
              <p:cNvSpPr txBox="1"/>
              <p:nvPr/>
            </p:nvSpPr>
            <p:spPr>
              <a:xfrm>
                <a:off x="1143000" y="2786040"/>
                <a:ext cx="2797200" cy="811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Sup>
                      <m:e>
                        <m:r>
                          <m:t xml:space="preserve">f</m:t>
                        </m:r>
                      </m:e>
                      <m:sub>
                        <m:r>
                          <m:t xml:space="preserve">x</m:t>
                        </m:r>
                      </m:sub>
                      <m:sup>
                        <m:r>
                          <m:t xml:space="preserve">'</m:t>
                        </m:r>
                      </m:sup>
                    </m:sSubSup>
                    <m:r>
                      <m:t xml:space="preserve">(</m:t>
                    </m:r>
                    <m:r>
                      <m:t xml:space="preserve">x</m:t>
                    </m:r>
                    <m:r>
                      <m:t xml:space="preserve">,</m:t>
                    </m:r>
                    <m:r>
                      <m:t xml:space="preserve">y</m:t>
                    </m:r>
                    <m:r>
                      <m:t xml:space="preserve">)</m:t>
                    </m:r>
                    <m:r>
                      <m:t xml:space="preserve">=</m:t>
                    </m:r>
                    <m:sSub>
                      <m:e>
                        <m:d>
                          <m:dPr>
                            <m:begChr m:val="("/>
                            <m:endChr m:val=")"/>
                          </m:dPr>
                          <m:e>
                            <m:f>
                              <m:num>
                                <m:r>
                                  <m:t xml:space="preserve">∂</m:t>
                                </m:r>
                                <m:r>
                                  <m:t xml:space="preserve">f</m:t>
                                </m:r>
                                <m:r>
                                  <m:t xml:space="preserve">(</m:t>
                                </m:r>
                                <m:r>
                                  <m:t xml:space="preserve">x</m:t>
                                </m:r>
                                <m:r>
                                  <m:t xml:space="preserve">,</m:t>
                                </m:r>
                                <m:r>
                                  <m:t xml:space="preserve">y</m:t>
                                </m:r>
                                <m:r>
                                  <m:t xml:space="preserve">)</m:t>
                                </m:r>
                              </m:num>
                              <m:den>
                                <m:r>
                                  <m:t xml:space="preserve">∂</m:t>
                                </m:r>
                                <m:r>
                                  <m:t xml:space="preserve">x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t xml:space="preserve">y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43" name="Object 19"/>
              <p:cNvSpPr txBox="1"/>
              <p:nvPr/>
            </p:nvSpPr>
            <p:spPr>
              <a:xfrm>
                <a:off x="1143000" y="2786040"/>
                <a:ext cx="2797200" cy="8110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44" name="Object 21"/>
              <p:cNvSpPr txBox="1"/>
              <p:nvPr/>
            </p:nvSpPr>
            <p:spPr>
              <a:xfrm>
                <a:off x="1071720" y="4703760"/>
                <a:ext cx="2796840" cy="833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Sup>
                      <m:e>
                        <m:r>
                          <m:t xml:space="preserve">f</m:t>
                        </m:r>
                      </m:e>
                      <m:sub>
                        <m:r>
                          <m:t xml:space="preserve">y</m:t>
                        </m:r>
                      </m:sub>
                      <m:sup>
                        <m:r>
                          <m:t xml:space="preserve">'</m:t>
                        </m:r>
                      </m:sup>
                    </m:sSubSup>
                    <m:r>
                      <m:t xml:space="preserve">(</m:t>
                    </m:r>
                    <m:r>
                      <m:t xml:space="preserve">x</m:t>
                    </m:r>
                    <m:r>
                      <m:t xml:space="preserve">,</m:t>
                    </m:r>
                    <m:r>
                      <m:t xml:space="preserve">y</m:t>
                    </m:r>
                    <m:r>
                      <m:t xml:space="preserve">)</m:t>
                    </m:r>
                    <m:r>
                      <m:t xml:space="preserve">=</m:t>
                    </m:r>
                    <m:sSub>
                      <m:e>
                        <m:d>
                          <m:dPr>
                            <m:begChr m:val="("/>
                            <m:endChr m:val=")"/>
                          </m:dPr>
                          <m:e>
                            <m:f>
                              <m:num>
                                <m:r>
                                  <m:t xml:space="preserve">∂</m:t>
                                </m:r>
                                <m:r>
                                  <m:t xml:space="preserve">f</m:t>
                                </m:r>
                                <m:r>
                                  <m:t xml:space="preserve">(</m:t>
                                </m:r>
                                <m:r>
                                  <m:t xml:space="preserve">x</m:t>
                                </m:r>
                                <m:r>
                                  <m:t xml:space="preserve">,</m:t>
                                </m:r>
                                <m:r>
                                  <m:t xml:space="preserve">y</m:t>
                                </m:r>
                                <m:r>
                                  <m:t xml:space="preserve">)</m:t>
                                </m:r>
                              </m:num>
                              <m:den>
                                <m:r>
                                  <m:t xml:space="preserve">∂</m:t>
                                </m:r>
                                <m:r>
                                  <m:t xml:space="preserve">y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t xml:space="preserve">x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44" name="Object 21"/>
              <p:cNvSpPr txBox="1"/>
              <p:nvPr/>
            </p:nvSpPr>
            <p:spPr>
              <a:xfrm>
                <a:off x="1071720" y="4703760"/>
                <a:ext cx="2796840" cy="8334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 Box 2"/>
          <p:cNvSpPr/>
          <p:nvPr/>
        </p:nvSpPr>
        <p:spPr>
          <a:xfrm>
            <a:off x="457200" y="584280"/>
            <a:ext cx="6275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Différentielle totale d</a:t>
            </a:r>
            <a:r>
              <a:rPr b="1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et forme différentielle 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b="1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36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L’outil Mathématique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6"/>
          <p:cNvSpPr/>
          <p:nvPr/>
        </p:nvSpPr>
        <p:spPr>
          <a:xfrm>
            <a:off x="468360" y="1125000"/>
            <a:ext cx="82357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* Condition d’existence d'une différentielle totale </a:t>
            </a:r>
            <a:r>
              <a:rPr b="1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df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df = A(x,y) dx +B(x,y) dy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 une différentielle totale si et seulement si 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9" name="Object 21"/>
          <p:cNvGraphicFramePr/>
          <p:nvPr/>
        </p:nvGraphicFramePr>
        <p:xfrm>
          <a:off x="2340000" y="2060640"/>
          <a:ext cx="4248000" cy="12031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360" name="Object 21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340000" y="2060640"/>
                    <a:ext cx="4248000" cy="12031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61" name="Rectangle 23"/>
          <p:cNvSpPr/>
          <p:nvPr/>
        </p:nvSpPr>
        <p:spPr>
          <a:xfrm>
            <a:off x="1144440" y="4357080"/>
            <a:ext cx="17053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autrement dit 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3" name="Object 24"/>
          <p:cNvGraphicFramePr/>
          <p:nvPr/>
        </p:nvGraphicFramePr>
        <p:xfrm>
          <a:off x="4000680" y="3929040"/>
          <a:ext cx="2087280" cy="117324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364" name="Object 24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4000680" y="3929040"/>
                    <a:ext cx="2087280" cy="11732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 Box 2"/>
          <p:cNvSpPr/>
          <p:nvPr/>
        </p:nvSpPr>
        <p:spPr>
          <a:xfrm>
            <a:off x="457200" y="584280"/>
            <a:ext cx="6275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Différentielle totale d</a:t>
            </a:r>
            <a:r>
              <a:rPr b="1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et forme différentielle 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b="1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ectangle 36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L’outil Mathématique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Rectangle 26"/>
          <p:cNvSpPr/>
          <p:nvPr/>
        </p:nvSpPr>
        <p:spPr>
          <a:xfrm>
            <a:off x="469800" y="999360"/>
            <a:ext cx="2770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* Forme différentielle 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b="1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Rectangle 27"/>
          <p:cNvSpPr/>
          <p:nvPr/>
        </p:nvSpPr>
        <p:spPr>
          <a:xfrm>
            <a:off x="900720" y="1431360"/>
            <a:ext cx="4430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quantité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A(x,y) dx +B(x,y) dy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telle que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1" name="Object 4"/>
          <p:cNvGraphicFramePr/>
          <p:nvPr/>
        </p:nvGraphicFramePr>
        <p:xfrm>
          <a:off x="0" y="1863720"/>
          <a:ext cx="4281480" cy="120348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382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0" y="1863720"/>
                    <a:ext cx="4281480" cy="12034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383" name="Object 5"/>
          <p:cNvGraphicFramePr/>
          <p:nvPr/>
        </p:nvGraphicFramePr>
        <p:xfrm>
          <a:off x="6676920" y="1719360"/>
          <a:ext cx="2467080" cy="132372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384" name="Object 5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6676920" y="1719360"/>
                    <a:ext cx="2467080" cy="13237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85" name="Rectangle 31"/>
          <p:cNvSpPr/>
          <p:nvPr/>
        </p:nvSpPr>
        <p:spPr>
          <a:xfrm>
            <a:off x="4573440" y="2223360"/>
            <a:ext cx="17053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autrement dit 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Rectangle 24"/>
          <p:cNvSpPr/>
          <p:nvPr/>
        </p:nvSpPr>
        <p:spPr>
          <a:xfrm>
            <a:off x="214200" y="3214800"/>
            <a:ext cx="85726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quantité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A(x,y) dx +B(x,y) dy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n'est pas une différentielle totale, mais représente </a:t>
            </a:r>
            <a:r>
              <a:rPr b="1" lang="fr-FR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une forme différentielle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l'on désigne par </a:t>
            </a:r>
            <a:r>
              <a:rPr b="1" i="1" lang="fr-FR" sz="1800" strike="noStrike" u="none">
                <a:solidFill>
                  <a:srgbClr val="ff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b="1" i="1" lang="fr-FR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f= A(x,y) dx +B(x,y) dy</a:t>
            </a:r>
            <a:r>
              <a:rPr b="1" lang="fr-FR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Rectangle 26"/>
          <p:cNvSpPr/>
          <p:nvPr/>
        </p:nvSpPr>
        <p:spPr>
          <a:xfrm>
            <a:off x="214200" y="4071960"/>
            <a:ext cx="85726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 exemple de forme différentielle en physique est fourni par 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le travail élémentaire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la chaleur élémentaire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22"/>
          <p:cNvSpPr/>
          <p:nvPr/>
        </p:nvSpPr>
        <p:spPr>
          <a:xfrm>
            <a:off x="142920" y="5429160"/>
            <a:ext cx="90010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  :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Soit la fonction :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f(x,y)= 2x</a:t>
            </a:r>
            <a:r>
              <a:rPr b="0" i="1" lang="fr-FR" sz="18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+xy+y</a:t>
            </a:r>
            <a:r>
              <a:rPr b="0" i="1" lang="fr-FR" sz="18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dont on se propose d’évaluer l’augmentation lorsque les variables subissent les accroissements élémentaires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dx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et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dy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ext Box 2"/>
          <p:cNvSpPr/>
          <p:nvPr/>
        </p:nvSpPr>
        <p:spPr>
          <a:xfrm>
            <a:off x="457200" y="584280"/>
            <a:ext cx="6275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Différentielle totale d</a:t>
            </a:r>
            <a:r>
              <a:rPr b="1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et forme différentielle 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b="1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Rectangle 36"/>
          <p:cNvSpPr/>
          <p:nvPr/>
        </p:nvSpPr>
        <p:spPr>
          <a:xfrm>
            <a:off x="0" y="-27000"/>
            <a:ext cx="9144000" cy="60948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L’outil Mathématique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ectangle 6"/>
          <p:cNvSpPr/>
          <p:nvPr/>
        </p:nvSpPr>
        <p:spPr>
          <a:xfrm>
            <a:off x="492120" y="1126080"/>
            <a:ext cx="5442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* </a:t>
            </a:r>
            <a:r>
              <a:rPr b="0" lang="fr-MA" sz="18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Intérêt physique de la notion de différentielle tota</a:t>
            </a:r>
            <a:r>
              <a:rPr b="0" lang="fr-M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Rectangle 9"/>
          <p:cNvSpPr/>
          <p:nvPr/>
        </p:nvSpPr>
        <p:spPr>
          <a:xfrm>
            <a:off x="214200" y="1550880"/>
            <a:ext cx="8715600" cy="96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Considérons une grandeur physique </a:t>
            </a:r>
            <a:r>
              <a:rPr b="0" i="1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f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dépendant de deux paramètres d'état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et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y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L'intégration de la </a:t>
            </a:r>
            <a:r>
              <a:rPr b="0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différentielle totale </a:t>
            </a:r>
            <a:r>
              <a:rPr b="0" i="1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df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entre deux états </a:t>
            </a:r>
            <a:r>
              <a:rPr b="0" i="1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A (x</a:t>
            </a:r>
            <a:r>
              <a:rPr b="0" i="1" lang="fr-FR" sz="1800" strike="noStrike" u="none" baseline="-30000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b="0" i="1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,y</a:t>
            </a:r>
            <a:r>
              <a:rPr b="0" i="1" lang="fr-FR" sz="1800" strike="noStrike" u="none" baseline="-30000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b="0" i="1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)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et </a:t>
            </a:r>
            <a:r>
              <a:rPr b="0" i="1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B(x</a:t>
            </a:r>
            <a:r>
              <a:rPr b="0" i="1" lang="fr-FR" sz="1800" strike="noStrike" u="none" baseline="-30000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b="0" i="1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,y</a:t>
            </a:r>
            <a:r>
              <a:rPr b="0" i="1" lang="fr-FR" sz="1800" strike="noStrike" u="none" baseline="-30000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b="0" i="1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)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conduit à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ectangle 10"/>
          <p:cNvSpPr/>
          <p:nvPr/>
        </p:nvSpPr>
        <p:spPr>
          <a:xfrm>
            <a:off x="0" y="2804040"/>
            <a:ext cx="8786880" cy="39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On en déduit la propriété suivante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- L'intégration d'une différentielle totale df, entre un état initial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et un état final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ne dépend pas du chemin suivi.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- La variation .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b="0" i="1" lang="el-G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Δ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f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f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(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)-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f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(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),  le long du chemin suivi, ne dépend donc que de l'état initial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et de l'état final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- La grandeur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b="1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f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représente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une </a:t>
            </a:r>
            <a:r>
              <a:rPr b="1" lang="fr-FR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fonction d'état 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du système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Exemple :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L'énergie interne, l’entropie sont des fonctions d’état.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En revanche, l'intégration de la forme différentielle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f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telle que :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f = A(x,y) dx +B(x,y) dy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dépend du chemin suivi entre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et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Exemple :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La chaleur et le travail ne sont pas des fonctions d'état (en revanche, leur somme l’est).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08" name="Object 11"/>
              <p:cNvSpPr txBox="1"/>
              <p:nvPr/>
            </p:nvSpPr>
            <p:spPr>
              <a:xfrm>
                <a:off x="1857240" y="2143080"/>
                <a:ext cx="4740480" cy="642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Δf</m:t>
                    </m:r>
                    <m:r>
                      <m:t xml:space="preserve">=</m:t>
                    </m:r>
                    <m:nary>
                      <m:naryPr>
                        <m:chr m:val="∫"/>
                      </m:naryPr>
                      <m:sub>
                        <m:r>
                          <m:t xml:space="preserve">1</m:t>
                        </m:r>
                      </m:sub>
                      <m:sup>
                        <m:r>
                          <m:t xml:space="preserve">2</m:t>
                        </m:r>
                      </m:sup>
                      <m:e>
                        <m:r>
                          <m:rPr>
                            <m:lit/>
                            <m:nor/>
                          </m:rPr>
                          <m:t xml:space="preserve">df</m:t>
                        </m:r>
                        <m:r>
                          <m:t xml:space="preserve">(</m:t>
                        </m:r>
                        <m:r>
                          <m:t xml:space="preserve">x</m:t>
                        </m:r>
                        <m:r>
                          <m:t xml:space="preserve">,</m:t>
                        </m:r>
                        <m:r>
                          <m:t xml:space="preserve">y</m:t>
                        </m:r>
                        <m:r>
                          <m:t xml:space="preserve">)</m:t>
                        </m:r>
                      </m:e>
                    </m:nary>
                    <m:r>
                      <m:t xml:space="preserve">=</m:t>
                    </m:r>
                    <m:r>
                      <m:t xml:space="preserve">f</m:t>
                    </m:r>
                    <m:r>
                      <m:t xml:space="preserve">(</m:t>
                    </m:r>
                    <m:sSub>
                      <m:e>
                        <m:r>
                          <m:t xml:space="preserve">x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,</m:t>
                    </m:r>
                    <m:sSub>
                      <m:e>
                        <m:r>
                          <m:t xml:space="preserve">y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)</m:t>
                    </m:r>
                    <m:r>
                      <m:t xml:space="preserve">−</m:t>
                    </m:r>
                    <m:r>
                      <m:t xml:space="preserve">f</m:t>
                    </m:r>
                    <m:r>
                      <m:t xml:space="preserve">(</m:t>
                    </m:r>
                    <m:sSub>
                      <m:e>
                        <m:r>
                          <m:t xml:space="preserve">x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sSub>
                      <m:e>
                        <m:r>
                          <m:t xml:space="preserve">y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)</m:t>
                    </m:r>
                    <m:r>
                      <m:t xml:space="preserve">=</m:t>
                    </m:r>
                    <m:r>
                      <m:t xml:space="preserve">f</m:t>
                    </m:r>
                    <m:r>
                      <m:t xml:space="preserve">(</m:t>
                    </m:r>
                    <m:r>
                      <m:t xml:space="preserve">B</m:t>
                    </m:r>
                    <m:r>
                      <m:t xml:space="preserve">)</m:t>
                    </m:r>
                    <m:r>
                      <m:t xml:space="preserve">−</m:t>
                    </m:r>
                    <m:r>
                      <m:t xml:space="preserve">f</m:t>
                    </m:r>
                    <m:r>
                      <m:t xml:space="preserve">(</m:t>
                    </m:r>
                    <m:r>
                      <m:t xml:space="preserve">A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408" name="Object 11"/>
              <p:cNvSpPr txBox="1"/>
              <p:nvPr/>
            </p:nvSpPr>
            <p:spPr>
              <a:xfrm>
                <a:off x="1857240" y="2143080"/>
                <a:ext cx="4740480" cy="6429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MA" sz="2800" strike="noStrike" u="none">
                <a:solidFill>
                  <a:srgbClr val="c0504d"/>
                </a:solidFill>
                <a:effectLst/>
                <a:uFillTx/>
                <a:latin typeface="Arial"/>
              </a:rPr>
              <a:t>Les systèmes thermo-élastiques physiques (S.T.E.P.)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ZoneTexte 16"/>
          <p:cNvSpPr/>
          <p:nvPr/>
        </p:nvSpPr>
        <p:spPr>
          <a:xfrm>
            <a:off x="214200" y="1714680"/>
            <a:ext cx="871560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M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C’est un liquide pur, un gaz pur, un mélange liquide ou gazeux de constituant non susceptibles de réagir entre eux (</a:t>
            </a:r>
            <a:r>
              <a:rPr b="1" lang="fr-M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inerte chimiquement</a:t>
            </a:r>
            <a:r>
              <a:rPr b="0" lang="fr-M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M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Les S.T.E.P. sont des systèmes </a:t>
            </a:r>
            <a:r>
              <a:rPr b="0" lang="fr-MA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hormogènes</a:t>
            </a:r>
            <a:r>
              <a:rPr b="0" lang="fr-M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dont la </a:t>
            </a:r>
            <a:r>
              <a:rPr b="0" lang="fr-MA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composition</a:t>
            </a:r>
            <a:r>
              <a:rPr b="0" lang="fr-M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et la </a:t>
            </a:r>
            <a:r>
              <a:rPr b="0" lang="fr-MA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masse totale</a:t>
            </a:r>
            <a:r>
              <a:rPr b="0" lang="fr-M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restent constantes. Les travaux échangés avec l’extérieur au cours d’une transformation sont uniquement de type mécanique.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ZoneTexte 17"/>
          <p:cNvSpPr/>
          <p:nvPr/>
        </p:nvSpPr>
        <p:spPr>
          <a:xfrm>
            <a:off x="294120" y="1357200"/>
            <a:ext cx="1374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M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Définition 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ZoneTexte 18"/>
          <p:cNvSpPr/>
          <p:nvPr/>
        </p:nvSpPr>
        <p:spPr>
          <a:xfrm>
            <a:off x="274680" y="3286080"/>
            <a:ext cx="2809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Equations d’état  (P,V,T)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27" name="Object 22"/>
              <p:cNvSpPr txBox="1"/>
              <p:nvPr/>
            </p:nvSpPr>
            <p:spPr>
              <a:xfrm>
                <a:off x="1857240" y="3857760"/>
                <a:ext cx="1184400" cy="285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</m:t>
                    </m:r>
                    <m:r>
                      <m:t xml:space="preserve">=</m:t>
                    </m:r>
                    <m:r>
                      <m:t xml:space="preserve">f</m:t>
                    </m:r>
                    <m:r>
                      <m:t xml:space="preserve">(</m:t>
                    </m:r>
                    <m:r>
                      <m:t xml:space="preserve">V</m:t>
                    </m:r>
                    <m:r>
                      <m:t xml:space="preserve">,</m:t>
                    </m:r>
                    <m:r>
                      <m:t xml:space="preserve">P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427" name="Object 22"/>
              <p:cNvSpPr txBox="1"/>
              <p:nvPr/>
            </p:nvSpPr>
            <p:spPr>
              <a:xfrm>
                <a:off x="1857240" y="3857760"/>
                <a:ext cx="1184400" cy="2854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28" name="Object 21"/>
              <p:cNvSpPr txBox="1"/>
              <p:nvPr/>
            </p:nvSpPr>
            <p:spPr>
              <a:xfrm>
                <a:off x="5143680" y="3714840"/>
                <a:ext cx="2062080" cy="571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dT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∂</m:t>
                        </m:r>
                        <m:r>
                          <m:t xml:space="preserve">T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V</m:t>
                        </m:r>
                      </m:den>
                    </m:f>
                    <m:sSub>
                      <m:e>
                        <m:r>
                          <m:t xml:space="preserve">)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dV</m:t>
                    </m:r>
                    <m:r>
                      <m:t xml:space="preserve">+</m:t>
                    </m:r>
                    <m:f>
                      <m:num>
                        <m:r>
                          <m:t xml:space="preserve">∂</m:t>
                        </m:r>
                        <m:r>
                          <m:t xml:space="preserve">T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P</m:t>
                        </m:r>
                      </m:den>
                    </m:f>
                    <m:sSub>
                      <m:e>
                        <m:r>
                          <m:t xml:space="preserve">)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dP</m:t>
                    </m:r>
                  </m:oMath>
                </a14:m>
              </a:p>
            </p:txBody>
          </p:sp>
        </mc:Choice>
        <mc:Fallback>
          <p:sp>
            <p:nvSpPr>
              <p:cNvPr id="428" name="Object 21"/>
              <p:cNvSpPr txBox="1"/>
              <p:nvPr/>
            </p:nvSpPr>
            <p:spPr>
              <a:xfrm>
                <a:off x="5143680" y="3714840"/>
                <a:ext cx="2062080" cy="5713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29" name="Object 20"/>
              <p:cNvSpPr txBox="1"/>
              <p:nvPr/>
            </p:nvSpPr>
            <p:spPr>
              <a:xfrm>
                <a:off x="1857240" y="5214960"/>
                <a:ext cx="1143000" cy="285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P</m:t>
                    </m:r>
                    <m:r>
                      <m:t xml:space="preserve">=</m:t>
                    </m:r>
                    <m:r>
                      <m:t xml:space="preserve">k</m:t>
                    </m:r>
                    <m:r>
                      <m:t xml:space="preserve">(</m:t>
                    </m:r>
                    <m:r>
                      <m:t xml:space="preserve">V</m:t>
                    </m:r>
                    <m:r>
                      <m:t xml:space="preserve">,</m:t>
                    </m:r>
                    <m:r>
                      <m:t xml:space="preserve">T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429" name="Object 20"/>
              <p:cNvSpPr txBox="1"/>
              <p:nvPr/>
            </p:nvSpPr>
            <p:spPr>
              <a:xfrm>
                <a:off x="1857240" y="5214960"/>
                <a:ext cx="1143000" cy="2858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30" name="Object 19"/>
              <p:cNvSpPr txBox="1"/>
              <p:nvPr/>
            </p:nvSpPr>
            <p:spPr>
              <a:xfrm>
                <a:off x="5099040" y="5072040"/>
                <a:ext cx="2313000" cy="642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dP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∂</m:t>
                        </m:r>
                        <m:r>
                          <m:t xml:space="preserve">P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V</m:t>
                        </m:r>
                      </m:den>
                    </m:f>
                    <m:sSub>
                      <m:e>
                        <m:r>
                          <m:t xml:space="preserve">)</m:t>
                        </m:r>
                      </m:e>
                      <m:sub>
                        <m:r>
                          <m:t xml:space="preserve">T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dV</m:t>
                    </m:r>
                    <m:r>
                      <m:t xml:space="preserve">+</m:t>
                    </m:r>
                    <m:f>
                      <m:num>
                        <m:r>
                          <m:t xml:space="preserve">∂</m:t>
                        </m:r>
                        <m:r>
                          <m:t xml:space="preserve">P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T</m:t>
                        </m:r>
                      </m:den>
                    </m:f>
                    <m:sSub>
                      <m:e>
                        <m:r>
                          <m:t xml:space="preserve">)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</m:oMath>
                </a14:m>
              </a:p>
            </p:txBody>
          </p:sp>
        </mc:Choice>
        <mc:Fallback>
          <p:sp>
            <p:nvSpPr>
              <p:cNvPr id="430" name="Object 19"/>
              <p:cNvSpPr txBox="1"/>
              <p:nvPr/>
            </p:nvSpPr>
            <p:spPr>
              <a:xfrm>
                <a:off x="5099040" y="5072040"/>
                <a:ext cx="2313000" cy="642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31" name="Object 18"/>
              <p:cNvSpPr txBox="1"/>
              <p:nvPr/>
            </p:nvSpPr>
            <p:spPr>
              <a:xfrm>
                <a:off x="1857240" y="4500720"/>
                <a:ext cx="1143000" cy="285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r>
                      <m:t xml:space="preserve">h</m:t>
                    </m:r>
                    <m:r>
                      <m:t xml:space="preserve">(</m:t>
                    </m:r>
                    <m:r>
                      <m:t xml:space="preserve">T</m:t>
                    </m:r>
                    <m:r>
                      <m:t xml:space="preserve">,</m:t>
                    </m:r>
                    <m:r>
                      <m:t xml:space="preserve">P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431" name="Object 18"/>
              <p:cNvSpPr txBox="1"/>
              <p:nvPr/>
            </p:nvSpPr>
            <p:spPr>
              <a:xfrm>
                <a:off x="1857240" y="4500720"/>
                <a:ext cx="1143000" cy="2854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32" name="Object 17"/>
              <p:cNvSpPr txBox="1"/>
              <p:nvPr/>
            </p:nvSpPr>
            <p:spPr>
              <a:xfrm>
                <a:off x="5143680" y="4357800"/>
                <a:ext cx="2062080" cy="571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dV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∂</m:t>
                        </m:r>
                        <m:r>
                          <m:t xml:space="preserve">V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T</m:t>
                        </m:r>
                      </m:den>
                    </m:f>
                    <m:sSub>
                      <m:e>
                        <m:r>
                          <m:t xml:space="preserve">)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  <m:r>
                      <m:t xml:space="preserve">+</m:t>
                    </m:r>
                    <m:f>
                      <m:num>
                        <m:r>
                          <m:t xml:space="preserve">∂</m:t>
                        </m:r>
                        <m:r>
                          <m:t xml:space="preserve">V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P</m:t>
                        </m:r>
                      </m:den>
                    </m:f>
                    <m:sSub>
                      <m:e>
                        <m:r>
                          <m:t xml:space="preserve">)</m:t>
                        </m:r>
                      </m:e>
                      <m:sub>
                        <m:r>
                          <m:t xml:space="preserve">T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dP</m:t>
                    </m:r>
                  </m:oMath>
                </a14:m>
              </a:p>
            </p:txBody>
          </p:sp>
        </mc:Choice>
        <mc:Fallback>
          <p:sp>
            <p:nvSpPr>
              <p:cNvPr id="432" name="Object 17"/>
              <p:cNvSpPr txBox="1"/>
              <p:nvPr/>
            </p:nvSpPr>
            <p:spPr>
              <a:xfrm>
                <a:off x="5143680" y="4357800"/>
                <a:ext cx="2062080" cy="5713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433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Rectangle 25"/>
          <p:cNvSpPr/>
          <p:nvPr/>
        </p:nvSpPr>
        <p:spPr>
          <a:xfrm>
            <a:off x="0" y="110484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Rectangle 27"/>
          <p:cNvSpPr/>
          <p:nvPr/>
        </p:nvSpPr>
        <p:spPr>
          <a:xfrm>
            <a:off x="0" y="220968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Rectangle 28"/>
          <p:cNvSpPr/>
          <p:nvPr/>
        </p:nvSpPr>
        <p:spPr>
          <a:xfrm>
            <a:off x="3110040" y="274392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Rectangle 29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Rectangle 36"/>
          <p:cNvSpPr/>
          <p:nvPr/>
        </p:nvSpPr>
        <p:spPr>
          <a:xfrm>
            <a:off x="0" y="0"/>
            <a:ext cx="9144000" cy="1071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MA" sz="2800" strike="noStrike" u="none">
                <a:solidFill>
                  <a:srgbClr val="c0504d"/>
                </a:solidFill>
                <a:effectLst/>
                <a:uFillTx/>
                <a:latin typeface="Arial"/>
              </a:rPr>
              <a:t>Les systèmes thermo-élastiques physiques (S.T.E.P.)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ZoneTexte 16"/>
          <p:cNvSpPr/>
          <p:nvPr/>
        </p:nvSpPr>
        <p:spPr>
          <a:xfrm>
            <a:off x="214200" y="1714680"/>
            <a:ext cx="871560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 considère un système décrit par les variables P, V, T. On peut s'intéresser à la variation d'une des grandeurs en fonction d'une autre en maintenant la troisième constante. On définit alors, au voisinage d'un état donné, les coefficients 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ZoneTexte 17"/>
          <p:cNvSpPr/>
          <p:nvPr/>
        </p:nvSpPr>
        <p:spPr>
          <a:xfrm>
            <a:off x="303840" y="1357200"/>
            <a:ext cx="3508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Coefficients thermoélastiques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Rectangle 25"/>
          <p:cNvSpPr/>
          <p:nvPr/>
        </p:nvSpPr>
        <p:spPr>
          <a:xfrm>
            <a:off x="0" y="110484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Rectangle 27"/>
          <p:cNvSpPr/>
          <p:nvPr/>
        </p:nvSpPr>
        <p:spPr>
          <a:xfrm>
            <a:off x="0" y="220968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Rectangle 28"/>
          <p:cNvSpPr/>
          <p:nvPr/>
        </p:nvSpPr>
        <p:spPr>
          <a:xfrm>
            <a:off x="3110040" y="274392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Rectangle 29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65" name="Object 8"/>
              <p:cNvSpPr txBox="1"/>
              <p:nvPr/>
            </p:nvSpPr>
            <p:spPr>
              <a:xfrm>
                <a:off x="723960" y="3143160"/>
                <a:ext cx="1195200" cy="671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α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V</m:t>
                        </m:r>
                      </m:den>
                    </m:f>
                    <m:f>
                      <m:num>
                        <m:r>
                          <m:t xml:space="preserve">∂</m:t>
                        </m:r>
                        <m:r>
                          <m:t xml:space="preserve">V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T</m:t>
                        </m:r>
                      </m:den>
                    </m:f>
                    <m:sSub>
                      <m:e>
                        <m:r>
                          <m:t xml:space="preserve">)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465" name="Object 8"/>
              <p:cNvSpPr txBox="1"/>
              <p:nvPr/>
            </p:nvSpPr>
            <p:spPr>
              <a:xfrm>
                <a:off x="723960" y="3143160"/>
                <a:ext cx="1195200" cy="6717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466" name="Rectangle 11"/>
          <p:cNvSpPr/>
          <p:nvPr/>
        </p:nvSpPr>
        <p:spPr>
          <a:xfrm>
            <a:off x="2000160" y="3357720"/>
            <a:ext cx="56437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: Coefficient de </a:t>
            </a:r>
            <a:r>
              <a:rPr b="0" i="1" lang="fr-F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dilatation isobare</a:t>
            </a: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à la pression constante.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68" name="Object 13"/>
              <p:cNvSpPr txBox="1"/>
              <p:nvPr/>
            </p:nvSpPr>
            <p:spPr>
              <a:xfrm>
                <a:off x="714240" y="3929040"/>
                <a:ext cx="1143000" cy="625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β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P</m:t>
                        </m:r>
                      </m:den>
                    </m:f>
                    <m:f>
                      <m:num>
                        <m:r>
                          <m:t xml:space="preserve">∂</m:t>
                        </m:r>
                        <m:r>
                          <m:t xml:space="preserve">P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T</m:t>
                        </m:r>
                      </m:den>
                    </m:f>
                    <m:sSub>
                      <m:e>
                        <m:r>
                          <m:t xml:space="preserve">)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468" name="Object 13"/>
              <p:cNvSpPr txBox="1"/>
              <p:nvPr/>
            </p:nvSpPr>
            <p:spPr>
              <a:xfrm>
                <a:off x="714240" y="3929040"/>
                <a:ext cx="1143000" cy="6253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469" name="Rectangle 16"/>
          <p:cNvSpPr/>
          <p:nvPr/>
        </p:nvSpPr>
        <p:spPr>
          <a:xfrm>
            <a:off x="2071800" y="4143600"/>
            <a:ext cx="5143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: </a:t>
            </a: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Coefficient  d’augmentation de pression à  volume constant.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71" name="Object 18"/>
              <p:cNvSpPr txBox="1"/>
              <p:nvPr/>
            </p:nvSpPr>
            <p:spPr>
              <a:xfrm>
                <a:off x="642960" y="4786200"/>
                <a:ext cx="1166760" cy="571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χ</m:t>
                    </m:r>
                    <m:r>
                      <m:t xml:space="preserve">=</m:t>
                    </m:r>
                    <m:r>
                      <m:t xml:space="preserve">−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V</m:t>
                        </m:r>
                      </m:den>
                    </m:f>
                    <m:f>
                      <m:num>
                        <m:r>
                          <m:t xml:space="preserve">∂</m:t>
                        </m:r>
                        <m:r>
                          <m:t xml:space="preserve">V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P</m:t>
                        </m:r>
                      </m:den>
                    </m:f>
                    <m:sSub>
                      <m:e>
                        <m:r>
                          <m:t xml:space="preserve">)</m:t>
                        </m:r>
                      </m:e>
                      <m:sub>
                        <m:r>
                          <m:t xml:space="preserve">T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471" name="Object 18"/>
              <p:cNvSpPr txBox="1"/>
              <p:nvPr/>
            </p:nvSpPr>
            <p:spPr>
              <a:xfrm>
                <a:off x="642960" y="4786200"/>
                <a:ext cx="1166760" cy="571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472" name="ZoneTexte 44"/>
          <p:cNvSpPr/>
          <p:nvPr/>
        </p:nvSpPr>
        <p:spPr>
          <a:xfrm>
            <a:off x="2101320" y="4929120"/>
            <a:ext cx="5265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Coefficient </a:t>
            </a:r>
            <a:r>
              <a:rPr b="0" i="1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compressibilité isotherme</a:t>
            </a: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à température constante 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927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2009-09-27T11:23:05Z</dcterms:created>
  <dc:creator>Gsm Salam</dc:creator>
  <dc:description/>
  <dc:language>en-US</dc:language>
  <cp:lastModifiedBy>moi</cp:lastModifiedBy>
  <dcterms:modified xsi:type="dcterms:W3CDTF">2015-02-08T22:19:33Z</dcterms:modified>
  <cp:revision>87</cp:revision>
  <dc:subject/>
  <dc:title>Diapositive 1</dc:title>
</cp:coreProperties>
</file>