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media/image28.wmf" ContentType="image/x-wmf"/>
  <Override PartName="/ppt/media/image32.emf" ContentType="image/x-emf"/>
  <Override PartName="/ppt/media/image27.wmf" ContentType="image/x-wmf"/>
  <Override PartName="/ppt/media/image29.emf" ContentType="image/x-emf"/>
  <Override PartName="/ppt/media/image30.wmf" ContentType="image/x-wmf"/>
  <Override PartName="/ppt/media/image26.wmf" ContentType="image/x-wmf"/>
  <Override PartName="/ppt/media/image25.wmf" ContentType="image/x-wmf"/>
  <Override PartName="/ppt/media/image3.wmf" ContentType="image/x-wmf"/>
  <Override PartName="/ppt/media/image12.wmf" ContentType="image/x-wmf"/>
  <Override PartName="/ppt/media/image4.wmf" ContentType="image/x-wmf"/>
  <Override PartName="/ppt/media/image13.wmf" ContentType="image/x-wmf"/>
  <Override PartName="/ppt/media/image1.wmf" ContentType="image/x-wmf"/>
  <Override PartName="/ppt/media/image10.wmf" ContentType="image/x-wmf"/>
  <Override PartName="/ppt/media/image14.wmf" ContentType="image/x-wmf"/>
  <Override PartName="/ppt/media/image31.png" ContentType="image/png"/>
  <Override PartName="/ppt/media/image33.emf" ContentType="image/x-emf"/>
  <Override PartName="/ppt/media/image8.wmf" ContentType="image/x-wmf"/>
  <Override PartName="/ppt/media/image17.wmf" ContentType="image/x-wmf"/>
  <Override PartName="/ppt/media/image34.emf" ContentType="image/x-emf"/>
  <Override PartName="/ppt/media/image9.wmf" ContentType="image/x-wmf"/>
  <Override PartName="/ppt/media/image22.emf" ContentType="image/x-emf"/>
  <Override PartName="/ppt/media/image18.wmf" ContentType="image/x-wmf"/>
  <Override PartName="/ppt/media/image35.emf" ContentType="image/x-emf"/>
  <Override PartName="/ppt/media/image36.emf" ContentType="image/x-emf"/>
  <Override PartName="/ppt/media/image11.wmf" ContentType="image/x-wmf"/>
  <Override PartName="/ppt/media/image2.wmf" ContentType="image/x-wmf"/>
  <Override PartName="/ppt/media/image7.wmf" ContentType="image/x-wmf"/>
  <Override PartName="/ppt/media/image19.emf" ContentType="image/x-emf"/>
  <Override PartName="/ppt/media/image6.png" ContentType="image/png"/>
  <Override PartName="/ppt/media/image5.png" ContentType="image/png"/>
  <Override PartName="/ppt/media/image15.wmf" ContentType="image/x-wmf"/>
  <Override PartName="/ppt/media/image16.wmf" ContentType="image/x-wmf"/>
  <Override PartName="/ppt/media/image20.emf" ContentType="image/x-emf"/>
  <Override PartName="/ppt/media/image21.wmf" ContentType="image/x-wmf"/>
  <Override PartName="/ppt/media/image23.wmf" ContentType="image/x-wmf"/>
  <Override PartName="/ppt/media/image24.wmf" ContentType="image/x-wmf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dt" idx="7"/>
          </p:nvPr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notes format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B77F0DC-4737-47D3-A11A-1E12C98D84F0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fr-FR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5" name="Espace réservé du numéro de diapositive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09D7906-9CB3-48A0-9088-E654A910D7FF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fr-FR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8" name="Espace réservé du numéro de diapositive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91768FC-E227-442E-8BF6-BE48777F7B39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fr-FR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1" name="Espace réservé du numéro de diapositive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C8D8F91-A306-4DAF-AB46-86D206C2009F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fr-FR" sz="1200" strike="noStrike" u="non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fr-FR" sz="1200" strike="noStrike" u="non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484E1EA-3F10-43E4-822B-114771360816}" type="slidenum">
              <a:rPr b="0" lang="fr-FR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45684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655272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fr-FR" sz="1200" strike="noStrike" u="non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67F3F0D-F1E3-46AC-9777-62A705677478}" type="slidenum">
              <a:rPr b="0" lang="fr-FR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.wmf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wmf"/><Relationship Id="rId5" Type="http://schemas.openxmlformats.org/officeDocument/2006/relationships/oleObject" Target="../embeddings/oleObject3.bin"/><Relationship Id="rId6" Type="http://schemas.openxmlformats.org/officeDocument/2006/relationships/image" Target="../media/image3.wmf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4.wm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7.wmf"/><Relationship Id="rId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8.wmf"/><Relationship Id="rId3" Type="http://schemas.openxmlformats.org/officeDocument/2006/relationships/oleObject" Target="../embeddings/oleObject2.bin"/><Relationship Id="rId4" Type="http://schemas.openxmlformats.org/officeDocument/2006/relationships/image" Target="../media/image9.wmf"/><Relationship Id="rId5" Type="http://schemas.openxmlformats.org/officeDocument/2006/relationships/oleObject" Target="../embeddings/oleObject3.bin"/><Relationship Id="rId6" Type="http://schemas.openxmlformats.org/officeDocument/2006/relationships/image" Target="../media/image10.wmf"/><Relationship Id="rId7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1.wmf"/><Relationship Id="rId3" Type="http://schemas.openxmlformats.org/officeDocument/2006/relationships/oleObject" Target="../embeddings/oleObject2.bin"/><Relationship Id="rId4" Type="http://schemas.openxmlformats.org/officeDocument/2006/relationships/image" Target="../media/image12.wmf"/><Relationship Id="rId5" Type="http://schemas.openxmlformats.org/officeDocument/2006/relationships/oleObject" Target="../embeddings/oleObject3.bin"/><Relationship Id="rId6" Type="http://schemas.openxmlformats.org/officeDocument/2006/relationships/image" Target="../media/image13.wmf"/><Relationship Id="rId7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4.wmf"/><Relationship Id="rId3" Type="http://schemas.openxmlformats.org/officeDocument/2006/relationships/oleObject" Target="../embeddings/oleObject2.bin"/><Relationship Id="rId4" Type="http://schemas.openxmlformats.org/officeDocument/2006/relationships/image" Target="../media/image15.wmf"/><Relationship Id="rId5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6.wmf"/><Relationship Id="rId3" Type="http://schemas.openxmlformats.org/officeDocument/2006/relationships/oleObject" Target="../embeddings/oleObject2.bin"/><Relationship Id="rId4" Type="http://schemas.openxmlformats.org/officeDocument/2006/relationships/image" Target="../media/image17.wmf"/><Relationship Id="rId5" Type="http://schemas.openxmlformats.org/officeDocument/2006/relationships/oleObject" Target="../embeddings/oleObject3.bin"/><Relationship Id="rId6" Type="http://schemas.openxmlformats.org/officeDocument/2006/relationships/image" Target="../media/image18.wmf"/><Relationship Id="rId7" Type="http://schemas.openxmlformats.org/officeDocument/2006/relationships/image" Target="../media/image19.emf"/><Relationship Id="rId8" Type="http://schemas.openxmlformats.org/officeDocument/2006/relationships/image" Target="../media/image20.emf"/><Relationship Id="rId9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21.wmf"/><Relationship Id="rId3" Type="http://schemas.openxmlformats.org/officeDocument/2006/relationships/image" Target="../media/image22.emf"/><Relationship Id="rId4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23.wmf"/><Relationship Id="rId3" Type="http://schemas.openxmlformats.org/officeDocument/2006/relationships/oleObject" Target="../embeddings/oleObject2.bin"/><Relationship Id="rId4" Type="http://schemas.openxmlformats.org/officeDocument/2006/relationships/image" Target="../media/image24.wmf"/><Relationship Id="rId5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25.wmf"/><Relationship Id="rId3" Type="http://schemas.openxmlformats.org/officeDocument/2006/relationships/oleObject" Target="../embeddings/oleObject2.bin"/><Relationship Id="rId4" Type="http://schemas.openxmlformats.org/officeDocument/2006/relationships/image" Target="../media/image26.wmf"/><Relationship Id="rId5" Type="http://schemas.openxmlformats.org/officeDocument/2006/relationships/oleObject" Target="../embeddings/oleObject3.bin"/><Relationship Id="rId6" Type="http://schemas.openxmlformats.org/officeDocument/2006/relationships/image" Target="../media/image27.wmf"/><Relationship Id="rId7" Type="http://schemas.openxmlformats.org/officeDocument/2006/relationships/oleObject" Target="../embeddings/oleObject4.bin"/><Relationship Id="rId8" Type="http://schemas.openxmlformats.org/officeDocument/2006/relationships/image" Target="../media/image28.wmf"/><Relationship Id="rId9" Type="http://schemas.openxmlformats.org/officeDocument/2006/relationships/image" Target="../media/image29.emf"/><Relationship Id="rId10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30.wmf"/><Relationship Id="rId3" Type="http://schemas.openxmlformats.org/officeDocument/2006/relationships/oleObject" Target="../embeddings/oleObject2.bin"/><Relationship Id="rId4" Type="http://schemas.openxmlformats.org/officeDocument/2006/relationships/image" Target="../media/image26.wmf"/><Relationship Id="rId5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emf"/><Relationship Id="rId3" Type="http://schemas.openxmlformats.org/officeDocument/2006/relationships/image" Target="../media/image33.emf"/><Relationship Id="rId4" Type="http://schemas.openxmlformats.org/officeDocument/2006/relationships/image" Target="../media/image34.emf"/><Relationship Id="rId5" Type="http://schemas.openxmlformats.org/officeDocument/2006/relationships/image" Target="../media/image35.emf"/><Relationship Id="rId6" Type="http://schemas.openxmlformats.org/officeDocument/2006/relationships/image" Target="../media/image36.emf"/><Relationship Id="rId7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/>
          <p:nvPr/>
        </p:nvSpPr>
        <p:spPr>
          <a:xfrm>
            <a:off x="0" y="2730600"/>
            <a:ext cx="9144000" cy="185400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54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Séance 5: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6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 </a:t>
            </a:r>
            <a:r>
              <a:rPr b="1" lang="fr-FR" sz="4800" strike="noStrike" u="none">
                <a:solidFill>
                  <a:srgbClr val="00ffff"/>
                </a:solidFill>
                <a:effectLst/>
                <a:uFillTx/>
                <a:latin typeface="Arial"/>
              </a:rPr>
              <a:t>SECOND PRINCIPE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Deuxième principe 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Nécessité d'un deuxième principe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Enoncé mathématique du deuxième principe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Transformations Irréversibles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Postulats d'irréversibilité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Notion d'entropie 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Conséquences du deuxième principe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Calcul des variations d'entropie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"/>
          <p:cNvSpPr/>
          <p:nvPr/>
        </p:nvSpPr>
        <p:spPr>
          <a:xfrm>
            <a:off x="0" y="0"/>
            <a:ext cx="9144000" cy="72396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4000" strike="noStrike" u="none">
                <a:solidFill>
                  <a:srgbClr val="003300"/>
                </a:solidFill>
                <a:effectLst/>
                <a:uFillTx/>
                <a:latin typeface="Arial"/>
              </a:rPr>
              <a:t>2</a:t>
            </a:r>
            <a:r>
              <a:rPr b="1" lang="fr-FR" sz="4000" strike="noStrike" u="none" baseline="30000">
                <a:solidFill>
                  <a:srgbClr val="003300"/>
                </a:solidFill>
                <a:effectLst/>
                <a:uFillTx/>
                <a:latin typeface="Arial"/>
              </a:rPr>
              <a:t>nd</a:t>
            </a:r>
            <a:r>
              <a:rPr b="1" lang="fr-FR" sz="4000" strike="noStrike" u="none">
                <a:solidFill>
                  <a:srgbClr val="003300"/>
                </a:solidFill>
                <a:effectLst/>
                <a:uFillTx/>
                <a:latin typeface="Arial"/>
              </a:rPr>
              <a:t> Principe</a:t>
            </a:r>
            <a:r>
              <a:rPr b="1" lang="fr-FR" sz="2800" strike="noStrike" u="none">
                <a:solidFill>
                  <a:srgbClr val="003300"/>
                </a:solidFill>
                <a:effectLst/>
                <a:uFillTx/>
                <a:latin typeface="Arial"/>
              </a:rPr>
              <a:t> </a:t>
            </a:r>
            <a:r>
              <a:rPr b="0" lang="fr-FR" sz="4800" strike="noStrike" u="none">
                <a:solidFill>
                  <a:srgbClr val="1f497d"/>
                </a:solidFill>
                <a:effectLst/>
                <a:uFillTx/>
                <a:latin typeface="Arial"/>
              </a:rPr>
              <a:t> 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1" name="Object 3"/>
          <p:cNvGraphicFramePr/>
          <p:nvPr/>
        </p:nvGraphicFramePr>
        <p:xfrm>
          <a:off x="2357280" y="2571840"/>
          <a:ext cx="4071960" cy="81756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22" name="Object 3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2357280" y="2571840"/>
                    <a:ext cx="4071960" cy="817560"/>
                  </a:xfrm>
                  <a:prstGeom prst="rect">
                    <a:avLst/>
                  </a:prstGeom>
                  <a:solidFill>
                    <a:srgbClr val="0000ff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23" name="Rectangle 4"/>
          <p:cNvSpPr/>
          <p:nvPr/>
        </p:nvSpPr>
        <p:spPr>
          <a:xfrm>
            <a:off x="401400" y="792000"/>
            <a:ext cx="6226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I- INSUFFISANCE DU PREMIER PRINCIPE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Rectangle 5"/>
          <p:cNvSpPr/>
          <p:nvPr/>
        </p:nvSpPr>
        <p:spPr>
          <a:xfrm>
            <a:off x="789120" y="1214280"/>
            <a:ext cx="3211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I.1-  INTRODUCTION</a:t>
            </a:r>
            <a:r>
              <a:rPr b="0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Box 6"/>
          <p:cNvSpPr/>
          <p:nvPr/>
        </p:nvSpPr>
        <p:spPr>
          <a:xfrm>
            <a:off x="0" y="1285920"/>
            <a:ext cx="9144000" cy="11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L’expression mathématique du premier principe appliqué à un système isolé ou subissant une transformation cyclique s’écrit :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Box 5"/>
          <p:cNvSpPr/>
          <p:nvPr/>
        </p:nvSpPr>
        <p:spPr>
          <a:xfrm>
            <a:off x="0" y="3429000"/>
            <a:ext cx="9144000" cy="180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cette expression qui traduit la conservation d’énergie ne nous renseigne pas du tout sur le signe de la quantité de chaleur </a:t>
            </a:r>
            <a:r>
              <a:rPr b="0" i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et du travail </a:t>
            </a:r>
            <a:r>
              <a:rPr b="0" i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échangés avec le milieu extérieur. Deux cas sont mathématiquement possibles 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7" name="Object 4"/>
          <p:cNvGraphicFramePr/>
          <p:nvPr/>
        </p:nvGraphicFramePr>
        <p:xfrm>
          <a:off x="0" y="5429160"/>
          <a:ext cx="4487760" cy="735120"/>
        </p:xfrm>
        <a:graphic>
          <a:graphicData uri="http://schemas.openxmlformats.org/presentationml/2006/ole">
            <p:oleObj r:id="rId3" spid="">
              <p:embed/>
              <p:pic>
                <p:nvPicPr>
                  <p:cNvPr id="28" name="Object 4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0" y="5429160"/>
                    <a:ext cx="4487760" cy="735120"/>
                  </a:xfrm>
                  <a:prstGeom prst="rect">
                    <a:avLst/>
                  </a:prstGeom>
                  <a:solidFill>
                    <a:srgbClr val="0000ff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29" name="Object 4"/>
          <p:cNvGraphicFramePr/>
          <p:nvPr/>
        </p:nvGraphicFramePr>
        <p:xfrm>
          <a:off x="4697280" y="5429160"/>
          <a:ext cx="4446720" cy="722520"/>
        </p:xfrm>
        <a:graphic>
          <a:graphicData uri="http://schemas.openxmlformats.org/presentationml/2006/ole">
            <p:oleObj r:id="rId5" spid="">
              <p:embed/>
              <p:pic>
                <p:nvPicPr>
                  <p:cNvPr id="30" name="Object 4" descr=""/>
                  <p:cNvPicPr/>
                  <p:nvPr/>
                </p:nvPicPr>
                <p:blipFill>
                  <a:blip r:embed="rId6"/>
                  <a:stretch/>
                </p:blipFill>
                <p:spPr>
                  <a:xfrm>
                    <a:off x="4697280" y="5429160"/>
                    <a:ext cx="4446720" cy="722520"/>
                  </a:xfrm>
                  <a:prstGeom prst="rect">
                    <a:avLst/>
                  </a:prstGeom>
                  <a:solidFill>
                    <a:srgbClr val="0000ff"/>
                  </a:solidFill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7" dur="80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8" dur="80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nodeType="clickEffect" fill="hold">
                      <p:stCondLst>
                        <p:cond delay="indefinite"/>
                      </p:stCondLst>
                      <p:childTnLst>
                        <p:par>
                          <p:cTn id="1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14" dur="80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15" dur="80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nodeType="clickEffect" fill="hold">
                      <p:stCondLst>
                        <p:cond delay="indefinite"/>
                      </p:stCondLst>
                      <p:childTnLst>
                        <p:par>
                          <p:cTn id="1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21" dur="80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22" dur="80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nodeType="clickEffect" fill="hold">
                      <p:stCondLst>
                        <p:cond delay="indefinite"/>
                      </p:stCondLst>
                      <p:childTnLst>
                        <p:par>
                          <p:cTn id="2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nodeType="clickEffect" fill="hold">
                      <p:stCondLst>
                        <p:cond delay="indefinite"/>
                      </p:stCondLst>
                      <p:childTnLst>
                        <p:par>
                          <p:cTn id="3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33" dur="8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34" dur="8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8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nodeType="clickEffect" fill="hold">
                      <p:stCondLst>
                        <p:cond delay="indefinite"/>
                      </p:stCondLst>
                      <p:childTnLst>
                        <p:par>
                          <p:cTn id="3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nodeType="clickEffect" fill="hold">
                      <p:stCondLst>
                        <p:cond delay="indefinite"/>
                      </p:stCondLst>
                      <p:childTnLst>
                        <p:par>
                          <p:cTn id="4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2"/>
          <p:cNvSpPr/>
          <p:nvPr/>
        </p:nvSpPr>
        <p:spPr>
          <a:xfrm>
            <a:off x="0" y="0"/>
            <a:ext cx="9144000" cy="72396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4000" strike="noStrike" u="none">
                <a:solidFill>
                  <a:srgbClr val="003300"/>
                </a:solidFill>
                <a:effectLst/>
                <a:uFillTx/>
                <a:latin typeface="Arial"/>
              </a:rPr>
              <a:t>2</a:t>
            </a:r>
            <a:r>
              <a:rPr b="1" lang="fr-FR" sz="4000" strike="noStrike" u="none" baseline="30000">
                <a:solidFill>
                  <a:srgbClr val="003300"/>
                </a:solidFill>
                <a:effectLst/>
                <a:uFillTx/>
                <a:latin typeface="Arial"/>
              </a:rPr>
              <a:t>nd</a:t>
            </a:r>
            <a:r>
              <a:rPr b="1" lang="fr-FR" sz="4000" strike="noStrike" u="none">
                <a:solidFill>
                  <a:srgbClr val="003300"/>
                </a:solidFill>
                <a:effectLst/>
                <a:uFillTx/>
                <a:latin typeface="Arial"/>
              </a:rPr>
              <a:t> Principe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Rectangle 3"/>
          <p:cNvSpPr/>
          <p:nvPr/>
        </p:nvSpPr>
        <p:spPr>
          <a:xfrm>
            <a:off x="365760" y="1358280"/>
            <a:ext cx="29754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I.1.1.A EXEMPLE1 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Rectangle 4"/>
          <p:cNvSpPr/>
          <p:nvPr/>
        </p:nvSpPr>
        <p:spPr>
          <a:xfrm>
            <a:off x="418680" y="757080"/>
            <a:ext cx="26546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I.1.1 Expériences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4" name="Group 5"/>
          <p:cNvGrpSpPr/>
          <p:nvPr/>
        </p:nvGrpSpPr>
        <p:grpSpPr>
          <a:xfrm>
            <a:off x="71280" y="1857240"/>
            <a:ext cx="2928960" cy="3070080"/>
            <a:chOff x="71280" y="1857240"/>
            <a:chExt cx="2928960" cy="3070080"/>
          </a:xfrm>
        </p:grpSpPr>
        <p:sp>
          <p:nvSpPr>
            <p:cNvPr id="35" name="Rectangle 6"/>
            <p:cNvSpPr/>
            <p:nvPr/>
          </p:nvSpPr>
          <p:spPr>
            <a:xfrm>
              <a:off x="71280" y="1862640"/>
              <a:ext cx="2928960" cy="3064680"/>
            </a:xfrm>
            <a:prstGeom prst="rect">
              <a:avLst/>
            </a:prstGeom>
            <a:solidFill>
              <a:srgbClr val="ffcccc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6" name="Group 7"/>
            <p:cNvGrpSpPr/>
            <p:nvPr/>
          </p:nvGrpSpPr>
          <p:grpSpPr>
            <a:xfrm>
              <a:off x="71280" y="1857240"/>
              <a:ext cx="2914560" cy="3058920"/>
              <a:chOff x="71280" y="1857240"/>
              <a:chExt cx="2914560" cy="3058920"/>
            </a:xfrm>
          </p:grpSpPr>
          <p:sp>
            <p:nvSpPr>
              <p:cNvPr id="37" name="AutoShape 8"/>
              <p:cNvSpPr/>
              <p:nvPr/>
            </p:nvSpPr>
            <p:spPr>
              <a:xfrm>
                <a:off x="71280" y="1857240"/>
                <a:ext cx="2914560" cy="3058920"/>
              </a:xfrm>
              <a:prstGeom prst="rect">
                <a:avLst/>
              </a:prstGeom>
              <a:noFill/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" name="Freeform 9"/>
              <p:cNvSpPr/>
              <p:nvPr/>
            </p:nvSpPr>
            <p:spPr>
              <a:xfrm>
                <a:off x="617040" y="2622960"/>
                <a:ext cx="1903320" cy="1552680"/>
              </a:xfrm>
              <a:custGeom>
                <a:avLst/>
                <a:gdLst>
                  <a:gd name="textAreaLeft" fmla="*/ 0 w 1903320"/>
                  <a:gd name="textAreaRight" fmla="*/ 1903320 w 1903320"/>
                  <a:gd name="textAreaTop" fmla="*/ 0 h 1552680"/>
                  <a:gd name="textAreaBottom" fmla="*/ 1553040 h 1552680"/>
                  <a:gd name="GluePoint1X" fmla="*/ 0 w 2341"/>
                  <a:gd name="GluePoint1Y" fmla="*/ 0 h 2410"/>
                  <a:gd name="GluePoint2X" fmla="*/ 0 w 2341"/>
                  <a:gd name="GluePoint2Y" fmla="*/ 1 h 2410"/>
                  <a:gd name="GluePoint3X" fmla="*/ 144 w 2341"/>
                  <a:gd name="GluePoint3Y" fmla="*/ 1 h 2410"/>
                  <a:gd name="GluePoint4X" fmla="*/ 145 w 2341"/>
                  <a:gd name="GluePoint4Y" fmla="*/ 1 h 241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textAreaLeft" t="textAreaTop" r="textAreaRight" b="textAreaBottom"/>
                <a:pathLst>
                  <a:path w="2341" h="2410">
                    <a:moveTo>
                      <a:pt x="0" y="0"/>
                    </a:moveTo>
                    <a:lnTo>
                      <a:pt x="0" y="2410"/>
                    </a:lnTo>
                    <a:lnTo>
                      <a:pt x="2339" y="2410"/>
                    </a:lnTo>
                    <a:lnTo>
                      <a:pt x="2341" y="1"/>
                    </a:lnTo>
                  </a:path>
                </a:pathLst>
              </a:custGeom>
              <a:noFill/>
              <a:ln w="2844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" name="Freeform 10"/>
              <p:cNvSpPr/>
              <p:nvPr/>
            </p:nvSpPr>
            <p:spPr>
              <a:xfrm>
                <a:off x="958320" y="4190040"/>
                <a:ext cx="366480" cy="406440"/>
              </a:xfrm>
              <a:custGeom>
                <a:avLst/>
                <a:gdLst>
                  <a:gd name="textAreaLeft" fmla="*/ 0 w 366480"/>
                  <a:gd name="textAreaRight" fmla="*/ 366840 w 366480"/>
                  <a:gd name="textAreaTop" fmla="*/ 0 h 406440"/>
                  <a:gd name="textAreaBottom" fmla="*/ 406800 h 406440"/>
                  <a:gd name="GluePoint1X" fmla="*/ 15 w 450"/>
                  <a:gd name="GluePoint1Y" fmla="*/ 0 h 420"/>
                  <a:gd name="GluePoint2X" fmla="*/ 0 w 450"/>
                  <a:gd name="GluePoint2Y" fmla="*/ 21 h 420"/>
                  <a:gd name="GluePoint3X" fmla="*/ 29 w 450"/>
                  <a:gd name="GluePoint3Y" fmla="*/ 21 h 420"/>
                  <a:gd name="GluePoint4X" fmla="*/ 15 w 450"/>
                  <a:gd name="GluePoint4Y" fmla="*/ 0 h 42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textAreaLeft" t="textAreaTop" r="textAreaRight" b="textAreaBottom"/>
                <a:pathLst>
                  <a:path w="450" h="420">
                    <a:moveTo>
                      <a:pt x="240" y="0"/>
                    </a:moveTo>
                    <a:lnTo>
                      <a:pt x="0" y="420"/>
                    </a:lnTo>
                    <a:lnTo>
                      <a:pt x="450" y="420"/>
                    </a:lnTo>
                    <a:lnTo>
                      <a:pt x="24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3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" name="Freeform 11"/>
              <p:cNvSpPr/>
              <p:nvPr/>
            </p:nvSpPr>
            <p:spPr>
              <a:xfrm>
                <a:off x="1848960" y="4175640"/>
                <a:ext cx="365400" cy="406440"/>
              </a:xfrm>
              <a:custGeom>
                <a:avLst/>
                <a:gdLst>
                  <a:gd name="textAreaLeft" fmla="*/ 0 w 365400"/>
                  <a:gd name="textAreaRight" fmla="*/ 365760 w 365400"/>
                  <a:gd name="textAreaTop" fmla="*/ 0 h 406440"/>
                  <a:gd name="textAreaBottom" fmla="*/ 406800 h 406440"/>
                  <a:gd name="GluePoint1X" fmla="*/ 15 w 450"/>
                  <a:gd name="GluePoint1Y" fmla="*/ 0 h 420"/>
                  <a:gd name="GluePoint2X" fmla="*/ 0 w 450"/>
                  <a:gd name="GluePoint2Y" fmla="*/ 21 h 420"/>
                  <a:gd name="GluePoint3X" fmla="*/ 27 w 450"/>
                  <a:gd name="GluePoint3Y" fmla="*/ 21 h 420"/>
                  <a:gd name="GluePoint4X" fmla="*/ 15 w 450"/>
                  <a:gd name="GluePoint4Y" fmla="*/ 0 h 42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textAreaLeft" t="textAreaTop" r="textAreaRight" b="textAreaBottom"/>
                <a:pathLst>
                  <a:path w="450" h="420">
                    <a:moveTo>
                      <a:pt x="240" y="0"/>
                    </a:moveTo>
                    <a:lnTo>
                      <a:pt x="0" y="420"/>
                    </a:lnTo>
                    <a:lnTo>
                      <a:pt x="450" y="420"/>
                    </a:lnTo>
                    <a:lnTo>
                      <a:pt x="24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3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41" name="Group 12"/>
              <p:cNvGrpSpPr/>
              <p:nvPr/>
            </p:nvGrpSpPr>
            <p:grpSpPr>
              <a:xfrm>
                <a:off x="1387440" y="1978920"/>
                <a:ext cx="91440" cy="1281960"/>
                <a:chOff x="1387440" y="1978920"/>
                <a:chExt cx="91440" cy="1281960"/>
              </a:xfrm>
            </p:grpSpPr>
            <p:sp>
              <p:nvSpPr>
                <p:cNvPr id="42" name="Line 13"/>
                <p:cNvSpPr/>
                <p:nvPr/>
              </p:nvSpPr>
              <p:spPr>
                <a:xfrm>
                  <a:off x="1433160" y="1978920"/>
                  <a:ext cx="360" cy="124668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" name="Oval 14"/>
                <p:cNvSpPr/>
                <p:nvPr/>
              </p:nvSpPr>
              <p:spPr>
                <a:xfrm>
                  <a:off x="1387440" y="3182760"/>
                  <a:ext cx="91440" cy="78120"/>
                </a:xfrm>
                <a:prstGeom prst="ellipse">
                  <a:avLst/>
                </a:prstGeom>
                <a:solidFill>
                  <a:srgbClr val="000000"/>
                </a:solidFill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000" bIns="9000" anchor="t">
                  <a:noAutofit/>
                </a:bodyPr>
                <a:p>
                  <a:pPr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4" name="Group 15"/>
              <p:cNvGrpSpPr/>
              <p:nvPr/>
            </p:nvGrpSpPr>
            <p:grpSpPr>
              <a:xfrm>
                <a:off x="208080" y="2259000"/>
                <a:ext cx="2636640" cy="2497320"/>
                <a:chOff x="208080" y="2259000"/>
                <a:chExt cx="2636640" cy="2497320"/>
              </a:xfrm>
            </p:grpSpPr>
            <p:sp>
              <p:nvSpPr>
                <p:cNvPr id="45" name="Rectangle 16"/>
                <p:cNvSpPr/>
                <p:nvPr/>
              </p:nvSpPr>
              <p:spPr>
                <a:xfrm>
                  <a:off x="208080" y="2273040"/>
                  <a:ext cx="153000" cy="2356560"/>
                </a:xfrm>
                <a:prstGeom prst="rect">
                  <a:avLst/>
                </a:prstGeom>
                <a:solidFill>
                  <a:srgbClr val="80808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" name="Rectangle 17"/>
                <p:cNvSpPr/>
                <p:nvPr/>
              </p:nvSpPr>
              <p:spPr>
                <a:xfrm>
                  <a:off x="2700720" y="2259000"/>
                  <a:ext cx="142560" cy="2392920"/>
                </a:xfrm>
                <a:prstGeom prst="rect">
                  <a:avLst/>
                </a:prstGeom>
                <a:solidFill>
                  <a:srgbClr val="80808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7" name="Rectangle 18"/>
                <p:cNvSpPr/>
                <p:nvPr/>
              </p:nvSpPr>
              <p:spPr>
                <a:xfrm>
                  <a:off x="208080" y="4629240"/>
                  <a:ext cx="2636640" cy="127080"/>
                </a:xfrm>
                <a:prstGeom prst="rect">
                  <a:avLst/>
                </a:prstGeom>
                <a:solidFill>
                  <a:srgbClr val="80808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" name="Rectangle 19"/>
                <p:cNvSpPr/>
                <p:nvPr/>
              </p:nvSpPr>
              <p:spPr>
                <a:xfrm>
                  <a:off x="213120" y="2266560"/>
                  <a:ext cx="2630520" cy="127080"/>
                </a:xfrm>
                <a:prstGeom prst="rect">
                  <a:avLst/>
                </a:prstGeom>
                <a:solidFill>
                  <a:srgbClr val="80808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49" name="Rectangle 20"/>
              <p:cNvSpPr/>
              <p:nvPr/>
            </p:nvSpPr>
            <p:spPr>
              <a:xfrm>
                <a:off x="1605960" y="3567960"/>
                <a:ext cx="604080" cy="487080"/>
              </a:xfrm>
              <a:prstGeom prst="rect">
                <a:avLst/>
              </a:prstGeom>
              <a:solidFill>
                <a:srgbClr val="ff00ff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88560" rIns="88560" tIns="44280" bIns="4428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fr-FR" sz="28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B</a:t>
                </a:r>
                <a:endParaRPr b="0" lang="en-US" sz="2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" name="Rectangle 21"/>
              <p:cNvSpPr/>
              <p:nvPr/>
            </p:nvSpPr>
            <p:spPr>
              <a:xfrm>
                <a:off x="1052280" y="3567960"/>
                <a:ext cx="563760" cy="498960"/>
              </a:xfrm>
              <a:prstGeom prst="rect">
                <a:avLst/>
              </a:prstGeom>
              <a:solidFill>
                <a:srgbClr val="ffcc00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88560" rIns="88560" tIns="44280" bIns="4428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fr-FR" sz="28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A</a:t>
                </a:r>
                <a:endParaRPr b="0" lang="en-US" sz="2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1" name="Text Box 22"/>
          <p:cNvSpPr/>
          <p:nvPr/>
        </p:nvSpPr>
        <p:spPr>
          <a:xfrm>
            <a:off x="3657600" y="1434960"/>
            <a:ext cx="5486400" cy="12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L’équilibre thermique entre deux corps portés initialement à des températures différentes </a:t>
            </a:r>
            <a:r>
              <a:rPr b="0" i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fr-FR" sz="2400" strike="noStrike" u="none" baseline="-25000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et </a:t>
            </a:r>
            <a:r>
              <a:rPr b="0" i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fr-FR" sz="2400" strike="noStrike" u="none" baseline="-25000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Rectangle 23"/>
          <p:cNvSpPr/>
          <p:nvPr/>
        </p:nvSpPr>
        <p:spPr>
          <a:xfrm>
            <a:off x="0" y="3233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3" name="Object 24"/>
          <p:cNvGraphicFramePr/>
          <p:nvPr/>
        </p:nvGraphicFramePr>
        <p:xfrm>
          <a:off x="3071880" y="3786120"/>
          <a:ext cx="6215040" cy="80964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54" name="Object 24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3071880" y="3786120"/>
                    <a:ext cx="6215040" cy="809640"/>
                  </a:xfrm>
                  <a:prstGeom prst="rect">
                    <a:avLst/>
                  </a:prstGeom>
                  <a:solidFill>
                    <a:srgbClr val="3366ff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55" name="Rectangle 25"/>
          <p:cNvSpPr/>
          <p:nvPr/>
        </p:nvSpPr>
        <p:spPr>
          <a:xfrm>
            <a:off x="3828960" y="2645280"/>
            <a:ext cx="531504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Le système 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(corps A + corps B)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Box 11"/>
          <p:cNvSpPr/>
          <p:nvPr/>
        </p:nvSpPr>
        <p:spPr>
          <a:xfrm>
            <a:off x="177840" y="5911920"/>
            <a:ext cx="896616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 premier principe ne s’oppose pas au transfert de chaleur d’un corps froid à un corps chaud.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6" dur="indefinite" restart="never" nodeType="tmRoot">
          <p:childTnLst>
            <p:seq>
              <p:cTn id="47" dur="indefinite" nodeType="mainSeq">
                <p:childTnLst>
                  <p:par>
                    <p:cTn id="48" nodeType="clickEffect" fill="hold">
                      <p:stCondLst>
                        <p:cond delay="indefinite"/>
                      </p:stCondLst>
                      <p:childTnLst>
                        <p:par>
                          <p:cTn id="4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0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52" dur="80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53" dur="80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80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nodeType="clickEffect" fill="hold">
                      <p:stCondLst>
                        <p:cond delay="indefinite"/>
                      </p:stCondLst>
                      <p:childTnLst>
                        <p:par>
                          <p:cTn id="5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7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59" dur="80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60" dur="80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" dur="80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nodeType="with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64" dur="80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65" dur="80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80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nodeType="clickEffect" fill="hold">
                      <p:stCondLst>
                        <p:cond delay="indefinite"/>
                      </p:stCondLst>
                      <p:childTnLst>
                        <p:par>
                          <p:cTn id="6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9" nodeType="clickEffect" fill="hold" presetClass="entr" presetID="2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3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7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7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nodeType="clickEffect" fill="hold">
                      <p:stCondLst>
                        <p:cond delay="indefinite"/>
                      </p:stCondLst>
                      <p:childTnLst>
                        <p:par>
                          <p:cTn id="8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1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83" dur="80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84" dur="80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" dur="80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nodeType="clickEffect" fill="hold">
                      <p:stCondLst>
                        <p:cond delay="indefinite"/>
                      </p:stCondLst>
                      <p:childTnLst>
                        <p:par>
                          <p:cTn id="8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0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nodeType="clickEffect" fill="hold">
                      <p:stCondLst>
                        <p:cond delay="indefinite"/>
                      </p:stCondLst>
                      <p:childTnLst>
                        <p:par>
                          <p:cTn id="9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3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95" dur="80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96" dur="80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7" dur="80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2"/>
          <p:cNvSpPr/>
          <p:nvPr/>
        </p:nvSpPr>
        <p:spPr>
          <a:xfrm>
            <a:off x="0" y="0"/>
            <a:ext cx="9144000" cy="72396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4000" strike="noStrike" u="none">
                <a:solidFill>
                  <a:srgbClr val="003300"/>
                </a:solidFill>
                <a:effectLst/>
                <a:uFillTx/>
                <a:latin typeface="Arial"/>
              </a:rPr>
              <a:t>2</a:t>
            </a:r>
            <a:r>
              <a:rPr b="1" lang="fr-FR" sz="4000" strike="noStrike" u="none" baseline="30000">
                <a:solidFill>
                  <a:srgbClr val="003300"/>
                </a:solidFill>
                <a:effectLst/>
                <a:uFillTx/>
                <a:latin typeface="Arial"/>
              </a:rPr>
              <a:t>nd</a:t>
            </a:r>
            <a:r>
              <a:rPr b="1" lang="fr-FR" sz="4000" strike="noStrike" u="none">
                <a:solidFill>
                  <a:srgbClr val="003300"/>
                </a:solidFill>
                <a:effectLst/>
                <a:uFillTx/>
                <a:latin typeface="Arial"/>
              </a:rPr>
              <a:t> Principe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" name="Group 3" descr=""/>
          <p:cNvPicPr/>
          <p:nvPr/>
        </p:nvPicPr>
        <p:blipFill>
          <a:blip r:embed="rId1"/>
          <a:stretch/>
        </p:blipFill>
        <p:spPr>
          <a:xfrm>
            <a:off x="-12600" y="1279440"/>
            <a:ext cx="4694040" cy="205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Rectangle 20"/>
          <p:cNvSpPr/>
          <p:nvPr/>
        </p:nvSpPr>
        <p:spPr>
          <a:xfrm>
            <a:off x="361440" y="866880"/>
            <a:ext cx="31111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I.1.1.b  EXEMPLE 2 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Box 21"/>
          <p:cNvSpPr/>
          <p:nvPr/>
        </p:nvSpPr>
        <p:spPr>
          <a:xfrm>
            <a:off x="4749840" y="1071720"/>
            <a:ext cx="4394160" cy="265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Lorsqu’une </a:t>
            </a:r>
            <a:r>
              <a:rPr b="0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bicyclette en mouvement freine 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progressivement jusqu'à l’arrêt, le résultat est un </a:t>
            </a:r>
            <a:r>
              <a:rPr b="0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échauffement des freins 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et des jantes. Cette chaleur est cédée à l’air ambiant.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Box 22"/>
          <p:cNvSpPr/>
          <p:nvPr/>
        </p:nvSpPr>
        <p:spPr>
          <a:xfrm>
            <a:off x="0" y="3786120"/>
            <a:ext cx="914400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Il est </a:t>
            </a:r>
            <a:r>
              <a:rPr b="0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impossible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de voir la bicyclette se mettre seules en mouvement et </a:t>
            </a:r>
            <a:r>
              <a:rPr b="0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remonter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la pente </a:t>
            </a:r>
            <a:r>
              <a:rPr b="0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en chauffant les freins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et les jantes. Le premier principe ne s’y oppose pas.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8" dur="indefinite" restart="never" nodeType="tmRoot">
          <p:childTnLst>
            <p:seq>
              <p:cTn id="99" dur="indefinite" nodeType="mainSeq">
                <p:childTnLst>
                  <p:par>
                    <p:cTn id="100" nodeType="clickEffect" fill="hold">
                      <p:stCondLst>
                        <p:cond delay="indefinite"/>
                      </p:stCondLst>
                      <p:childTnLst>
                        <p:par>
                          <p:cTn id="10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2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104" dur="80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105" dur="80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6" dur="80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nodeType="clickEffect" fill="hold">
                      <p:stCondLst>
                        <p:cond delay="indefinite"/>
                      </p:stCondLst>
                      <p:childTnLst>
                        <p:par>
                          <p:cTn id="10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9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1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12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3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nodeType="clickEffect" fill="hold">
                      <p:stCondLst>
                        <p:cond delay="indefinite"/>
                      </p:stCondLst>
                      <p:childTnLst>
                        <p:par>
                          <p:cTn id="11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6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118" dur="80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119" dur="80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0" dur="80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nodeType="clickEffect" fill="hold">
                      <p:stCondLst>
                        <p:cond delay="indefinite"/>
                      </p:stCondLst>
                      <p:childTnLst>
                        <p:par>
                          <p:cTn id="12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3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125" dur="80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126" dur="80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7" dur="80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2"/>
          <p:cNvSpPr/>
          <p:nvPr/>
        </p:nvSpPr>
        <p:spPr>
          <a:xfrm>
            <a:off x="0" y="0"/>
            <a:ext cx="9144000" cy="72396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4000" strike="noStrike" u="none">
                <a:solidFill>
                  <a:srgbClr val="003300"/>
                </a:solidFill>
                <a:effectLst/>
                <a:uFillTx/>
                <a:latin typeface="Arial"/>
              </a:rPr>
              <a:t>2</a:t>
            </a:r>
            <a:r>
              <a:rPr b="1" lang="fr-FR" sz="4000" strike="noStrike" u="none" baseline="30000">
                <a:solidFill>
                  <a:srgbClr val="003300"/>
                </a:solidFill>
                <a:effectLst/>
                <a:uFillTx/>
                <a:latin typeface="Arial"/>
              </a:rPr>
              <a:t>nd</a:t>
            </a:r>
            <a:r>
              <a:rPr b="1" lang="fr-FR" sz="4000" strike="noStrike" u="none">
                <a:solidFill>
                  <a:srgbClr val="003300"/>
                </a:solidFill>
                <a:effectLst/>
                <a:uFillTx/>
                <a:latin typeface="Arial"/>
              </a:rPr>
              <a:t> Principe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Rectangle 3"/>
          <p:cNvSpPr/>
          <p:nvPr/>
        </p:nvSpPr>
        <p:spPr>
          <a:xfrm>
            <a:off x="177840" y="1409760"/>
            <a:ext cx="8966160" cy="15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algn="just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Ces types de processus naturels sont irréversibles et respectent le premier principe. D'ailleurs, le premier principe n'exclut donc pas ces transformations, mais, il n'explique pas leur sens privilégié, donc</a:t>
            </a:r>
            <a:r>
              <a:rPr b="1" lang="fr-FR" sz="2400" strike="noStrike" u="none">
                <a:solidFill>
                  <a:srgbClr val="00ffff"/>
                </a:solidFill>
                <a:effectLst/>
                <a:uFillTx/>
                <a:latin typeface="Arial"/>
              </a:rPr>
              <a:t> </a:t>
            </a:r>
            <a:r>
              <a:rPr b="1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leur irréversibilité.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Rectangle 4"/>
          <p:cNvSpPr/>
          <p:nvPr/>
        </p:nvSpPr>
        <p:spPr>
          <a:xfrm>
            <a:off x="621000" y="804960"/>
            <a:ext cx="29239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I.2  CONCLUSION 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ectangle 5"/>
          <p:cNvSpPr/>
          <p:nvPr/>
        </p:nvSpPr>
        <p:spPr>
          <a:xfrm>
            <a:off x="327600" y="3777480"/>
            <a:ext cx="6379200" cy="59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152280" bIns="7632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II-  NÉCESSITÉ D’UN DEUXIÈME PRINCIPE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Box 6"/>
          <p:cNvSpPr/>
          <p:nvPr/>
        </p:nvSpPr>
        <p:spPr>
          <a:xfrm>
            <a:off x="0" y="5072040"/>
            <a:ext cx="914400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 deuxième principe doit par exemple être capable de prédire le sens de l’évolution d’une transformation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Rectangle 7"/>
          <p:cNvSpPr/>
          <p:nvPr/>
        </p:nvSpPr>
        <p:spPr>
          <a:xfrm>
            <a:off x="536040" y="4504680"/>
            <a:ext cx="31615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II.1 PRÉLIMINAIRES</a:t>
            </a:r>
            <a:r>
              <a:rPr b="0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8" dur="indefinite" restart="never" nodeType="tmRoot">
          <p:childTnLst>
            <p:seq>
              <p:cTn id="129" dur="indefinite" nodeType="mainSeq">
                <p:childTnLst>
                  <p:par>
                    <p:cTn id="130" nodeType="clickEffect" fill="hold">
                      <p:stCondLst>
                        <p:cond delay="indefinite"/>
                      </p:stCondLst>
                      <p:childTnLst>
                        <p:par>
                          <p:cTn id="13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2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134" dur="80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135" dur="80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6" dur="80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nodeType="clickEffect" fill="hold">
                      <p:stCondLst>
                        <p:cond delay="indefinite"/>
                      </p:stCondLst>
                      <p:childTnLst>
                        <p:par>
                          <p:cTn id="13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9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141" dur="8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142" dur="8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3" dur="8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nodeType="clickEffect" fill="hold">
                      <p:stCondLst>
                        <p:cond delay="indefinite"/>
                      </p:stCondLst>
                      <p:childTnLst>
                        <p:par>
                          <p:cTn id="14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6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148" dur="80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149" dur="80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0" dur="80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nodeType="clickEffect" fill="hold">
                      <p:stCondLst>
                        <p:cond delay="indefinite"/>
                      </p:stCondLst>
                      <p:childTnLst>
                        <p:par>
                          <p:cTn id="15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3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155" dur="8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156" dur="8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7" dur="8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nodeType="clickEffect" fill="hold">
                      <p:stCondLst>
                        <p:cond delay="indefinite"/>
                      </p:stCondLst>
                      <p:childTnLst>
                        <p:par>
                          <p:cTn id="15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0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162" dur="8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163" dur="8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4" dur="8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2"/>
          <p:cNvSpPr/>
          <p:nvPr/>
        </p:nvSpPr>
        <p:spPr>
          <a:xfrm>
            <a:off x="0" y="2476440"/>
            <a:ext cx="4406760" cy="2667240"/>
          </a:xfrm>
          <a:prstGeom prst="rect">
            <a:avLst/>
          </a:prstGeom>
          <a:solidFill>
            <a:srgbClr val="0000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ectangle 3"/>
          <p:cNvSpPr/>
          <p:nvPr/>
        </p:nvSpPr>
        <p:spPr>
          <a:xfrm>
            <a:off x="0" y="0"/>
            <a:ext cx="9144000" cy="72396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4000" strike="noStrike" u="none">
                <a:solidFill>
                  <a:srgbClr val="003300"/>
                </a:solidFill>
                <a:effectLst/>
                <a:uFillTx/>
                <a:latin typeface="Arial"/>
              </a:rPr>
              <a:t>2</a:t>
            </a:r>
            <a:r>
              <a:rPr b="1" lang="fr-FR" sz="4000" strike="noStrike" u="none" baseline="30000">
                <a:solidFill>
                  <a:srgbClr val="003300"/>
                </a:solidFill>
                <a:effectLst/>
                <a:uFillTx/>
                <a:latin typeface="Arial"/>
              </a:rPr>
              <a:t>nd</a:t>
            </a:r>
            <a:r>
              <a:rPr b="1" lang="fr-FR" sz="4000" strike="noStrike" u="none">
                <a:solidFill>
                  <a:srgbClr val="003300"/>
                </a:solidFill>
                <a:effectLst/>
                <a:uFillTx/>
                <a:latin typeface="Arial"/>
              </a:rPr>
              <a:t> Principe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ectangle 4"/>
          <p:cNvSpPr/>
          <p:nvPr/>
        </p:nvSpPr>
        <p:spPr>
          <a:xfrm>
            <a:off x="221400" y="1787040"/>
            <a:ext cx="65480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II.1.1.A ENONCÉ DE CLAUSIUS (THOMSON)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Rectangle 5"/>
          <p:cNvSpPr/>
          <p:nvPr/>
        </p:nvSpPr>
        <p:spPr>
          <a:xfrm>
            <a:off x="0" y="711360"/>
            <a:ext cx="914400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II.1.1 Premiers énoncé du second principe </a:t>
            </a:r>
            <a:r>
              <a:rPr b="1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	</a:t>
            </a:r>
            <a:r>
              <a:rPr b="1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	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                             « Postulats d'irréversibilité »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2" name="Group 6"/>
          <p:cNvGrpSpPr/>
          <p:nvPr/>
        </p:nvGrpSpPr>
        <p:grpSpPr>
          <a:xfrm>
            <a:off x="15840" y="2506680"/>
            <a:ext cx="4378320" cy="2624040"/>
            <a:chOff x="15840" y="2506680"/>
            <a:chExt cx="4378320" cy="2624040"/>
          </a:xfrm>
        </p:grpSpPr>
        <p:sp>
          <p:nvSpPr>
            <p:cNvPr id="73" name="AutoShape 7"/>
            <p:cNvSpPr/>
            <p:nvPr/>
          </p:nvSpPr>
          <p:spPr>
            <a:xfrm>
              <a:off x="15840" y="2506680"/>
              <a:ext cx="4378320" cy="2624040"/>
            </a:xfrm>
            <a:prstGeom prst="rect">
              <a:avLst/>
            </a:prstGeom>
            <a:solidFill>
              <a:srgbClr val="ffff66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Text Box 8"/>
            <p:cNvSpPr/>
            <p:nvPr/>
          </p:nvSpPr>
          <p:spPr>
            <a:xfrm>
              <a:off x="178560" y="2639520"/>
              <a:ext cx="1470960" cy="977760"/>
            </a:xfrm>
            <a:prstGeom prst="rect">
              <a:avLst/>
            </a:prstGeom>
            <a:solidFill>
              <a:srgbClr val="ff99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65880" rIns="65880" tIns="33120" bIns="33120" anchor="t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Source chaude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T</a:t>
              </a:r>
              <a:r>
                <a:rPr b="0" lang="fr-FR" sz="24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1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AutoShape 9"/>
            <p:cNvSpPr/>
            <p:nvPr/>
          </p:nvSpPr>
          <p:spPr>
            <a:xfrm>
              <a:off x="1723680" y="2982960"/>
              <a:ext cx="1060920" cy="212760"/>
            </a:xfrm>
            <a:custGeom>
              <a:avLst/>
              <a:gdLst>
                <a:gd name="textAreaLeft" fmla="*/ 165600 w 1060920"/>
                <a:gd name="textAreaRight" fmla="*/ 927720 w 1060920"/>
                <a:gd name="textAreaTop" fmla="*/ 53280 h 212760"/>
                <a:gd name="textAreaBottom" fmla="*/ 159840 h 2127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ff66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Text Box 10"/>
            <p:cNvSpPr/>
            <p:nvPr/>
          </p:nvSpPr>
          <p:spPr>
            <a:xfrm>
              <a:off x="2817360" y="4018320"/>
              <a:ext cx="1410480" cy="965520"/>
            </a:xfrm>
            <a:prstGeom prst="rect">
              <a:avLst/>
            </a:prstGeom>
            <a:solidFill>
              <a:srgbClr val="c0c0c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65880" rIns="65880" tIns="33120" bIns="33120" anchor="t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Source Froide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T</a:t>
              </a:r>
              <a:r>
                <a:rPr b="0" lang="fr-FR" sz="24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2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AutoShape 11"/>
            <p:cNvSpPr/>
            <p:nvPr/>
          </p:nvSpPr>
          <p:spPr>
            <a:xfrm flipH="1">
              <a:off x="1668240" y="4429440"/>
              <a:ext cx="1108440" cy="224640"/>
            </a:xfrm>
            <a:custGeom>
              <a:avLst/>
              <a:gdLst>
                <a:gd name="textAreaLeft" fmla="*/ 172800 w 1108440"/>
                <a:gd name="textAreaRight" fmla="*/ 969120 w 1108440"/>
                <a:gd name="textAreaTop" fmla="*/ 56160 h 224640"/>
                <a:gd name="textAreaBottom" fmla="*/ 168480 h 22464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ff66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8" name="Group 12"/>
            <p:cNvGrpSpPr/>
            <p:nvPr/>
          </p:nvGrpSpPr>
          <p:grpSpPr>
            <a:xfrm>
              <a:off x="1914480" y="4134960"/>
              <a:ext cx="735120" cy="751320"/>
              <a:chOff x="1914480" y="4134960"/>
              <a:chExt cx="735120" cy="751320"/>
            </a:xfrm>
          </p:grpSpPr>
          <p:sp>
            <p:nvSpPr>
              <p:cNvPr id="79" name="Line 13"/>
              <p:cNvSpPr/>
              <p:nvPr/>
            </p:nvSpPr>
            <p:spPr>
              <a:xfrm flipH="1">
                <a:off x="1936800" y="4134960"/>
                <a:ext cx="712800" cy="751320"/>
              </a:xfrm>
              <a:prstGeom prst="line">
                <a:avLst/>
              </a:prstGeom>
              <a:ln w="284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" name="Line 14"/>
              <p:cNvSpPr/>
              <p:nvPr/>
            </p:nvSpPr>
            <p:spPr>
              <a:xfrm>
                <a:off x="1914480" y="4167360"/>
                <a:ext cx="707040" cy="715680"/>
              </a:xfrm>
              <a:prstGeom prst="line">
                <a:avLst/>
              </a:prstGeom>
              <a:ln w="284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1" name="Text Box 15"/>
            <p:cNvSpPr/>
            <p:nvPr/>
          </p:nvSpPr>
          <p:spPr>
            <a:xfrm>
              <a:off x="1500120" y="3142440"/>
              <a:ext cx="1428120" cy="588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5880" rIns="65880" tIns="33120" bIns="33120" anchor="t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Transformation spontanée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Text Box 16"/>
            <p:cNvSpPr/>
            <p:nvPr/>
          </p:nvSpPr>
          <p:spPr>
            <a:xfrm>
              <a:off x="1856880" y="2571480"/>
              <a:ext cx="602280" cy="415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5880" rIns="65880" tIns="33120" bIns="33120" anchor="t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Q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Text Box 17"/>
            <p:cNvSpPr/>
            <p:nvPr/>
          </p:nvSpPr>
          <p:spPr>
            <a:xfrm>
              <a:off x="2804400" y="2658960"/>
              <a:ext cx="1470960" cy="949320"/>
            </a:xfrm>
            <a:prstGeom prst="rect">
              <a:avLst/>
            </a:prstGeom>
            <a:solidFill>
              <a:srgbClr val="c0c0c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65880" rIns="65880" tIns="33120" bIns="33120" anchor="t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Source Froide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T</a:t>
              </a:r>
              <a:r>
                <a:rPr b="0" lang="fr-FR" sz="24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2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Text Box 18"/>
            <p:cNvSpPr/>
            <p:nvPr/>
          </p:nvSpPr>
          <p:spPr>
            <a:xfrm>
              <a:off x="163800" y="4015440"/>
              <a:ext cx="1420560" cy="982080"/>
            </a:xfrm>
            <a:prstGeom prst="rect">
              <a:avLst/>
            </a:prstGeom>
            <a:solidFill>
              <a:srgbClr val="ff99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65880" rIns="65880" tIns="33120" bIns="33120" anchor="t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Source chaude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T</a:t>
              </a:r>
              <a:r>
                <a:rPr b="0" lang="fr-FR" sz="24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1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5" name="Text Box 19"/>
          <p:cNvSpPr/>
          <p:nvPr/>
        </p:nvSpPr>
        <p:spPr>
          <a:xfrm>
            <a:off x="4470480" y="2500200"/>
            <a:ext cx="4673520" cy="19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Une quantité de chaleur ne peut jamais être transférée </a:t>
            </a:r>
            <a:r>
              <a:rPr b="1" lang="fr-FR" sz="2400" strike="noStrike" u="none">
                <a:solidFill>
                  <a:srgbClr val="e46c0a"/>
                </a:solidFill>
                <a:effectLst/>
                <a:uFillTx/>
                <a:latin typeface="Arial"/>
              </a:rPr>
              <a:t>spontanément</a:t>
            </a: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d'une source froide (SF) vers une source chaude (SC)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Box 20"/>
          <p:cNvSpPr/>
          <p:nvPr/>
        </p:nvSpPr>
        <p:spPr>
          <a:xfrm>
            <a:off x="0" y="5057640"/>
            <a:ext cx="914400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Remarque : Si l'interdiction de Clausius n'existait pas, on pourrait alors extraire de l'énergie calorifique des sources de chaleur naturelle (par exemple : Océans, fleuves, air,…)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65" dur="indefinite" restart="never" nodeType="tmRoot">
          <p:childTnLst>
            <p:seq>
              <p:cTn id="166" dur="indefinite" nodeType="mainSeq">
                <p:childTnLst>
                  <p:par>
                    <p:cTn id="167" nodeType="clickEffect" fill="hold">
                      <p:stCondLst>
                        <p:cond delay="indefinite"/>
                      </p:stCondLst>
                      <p:childTnLst>
                        <p:par>
                          <p:cTn id="16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9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171" dur="80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172" dur="80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3" dur="80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nodeType="clickEffect" fill="hold">
                      <p:stCondLst>
                        <p:cond delay="indefinite"/>
                      </p:stCondLst>
                      <p:childTnLst>
                        <p:par>
                          <p:cTn id="17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6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178" dur="8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179" dur="8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0" dur="8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nodeType="clickEffect" fill="hold">
                      <p:stCondLst>
                        <p:cond delay="indefinite"/>
                      </p:stCondLst>
                      <p:childTnLst>
                        <p:par>
                          <p:cTn id="18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5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8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nodeType="clickEffect" fill="hold">
                      <p:stCondLst>
                        <p:cond delay="indefinite"/>
                      </p:stCondLst>
                      <p:childTnLst>
                        <p:par>
                          <p:cTn id="19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1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193" dur="80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194" dur="80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5" dur="80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nodeType="clickEffect" fill="hold">
                      <p:stCondLst>
                        <p:cond delay="indefinite"/>
                      </p:stCondLst>
                      <p:childTnLst>
                        <p:par>
                          <p:cTn id="19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8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200" dur="8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201" dur="8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2" dur="8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2"/>
          <p:cNvSpPr/>
          <p:nvPr/>
        </p:nvSpPr>
        <p:spPr>
          <a:xfrm>
            <a:off x="0" y="0"/>
            <a:ext cx="9144000" cy="72396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4000" strike="noStrike" u="none">
                <a:solidFill>
                  <a:srgbClr val="003300"/>
                </a:solidFill>
                <a:effectLst/>
                <a:uFillTx/>
                <a:latin typeface="Arial"/>
              </a:rPr>
              <a:t>2</a:t>
            </a:r>
            <a:r>
              <a:rPr b="1" lang="fr-FR" sz="4000" strike="noStrike" u="none" baseline="30000">
                <a:solidFill>
                  <a:srgbClr val="003300"/>
                </a:solidFill>
                <a:effectLst/>
                <a:uFillTx/>
                <a:latin typeface="Arial"/>
              </a:rPr>
              <a:t>nd</a:t>
            </a:r>
            <a:r>
              <a:rPr b="1" lang="fr-FR" sz="4000" strike="noStrike" u="none">
                <a:solidFill>
                  <a:srgbClr val="003300"/>
                </a:solidFill>
                <a:effectLst/>
                <a:uFillTx/>
                <a:latin typeface="Arial"/>
              </a:rPr>
              <a:t> Principe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" name="Group 4" descr=""/>
          <p:cNvPicPr/>
          <p:nvPr/>
        </p:nvPicPr>
        <p:blipFill>
          <a:blip r:embed="rId1"/>
          <a:stretch/>
        </p:blipFill>
        <p:spPr>
          <a:xfrm>
            <a:off x="1279440" y="2352600"/>
            <a:ext cx="5938920" cy="139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Rectangle 16"/>
          <p:cNvSpPr/>
          <p:nvPr/>
        </p:nvSpPr>
        <p:spPr>
          <a:xfrm>
            <a:off x="392400" y="690480"/>
            <a:ext cx="56001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nl-NL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II.1.1.B ENONCÉ DE KELVIN (PLANK)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ectangle 17"/>
          <p:cNvSpPr/>
          <p:nvPr/>
        </p:nvSpPr>
        <p:spPr>
          <a:xfrm>
            <a:off x="0" y="1244520"/>
            <a:ext cx="914400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Il est impossible de prélever une quantité de chaleur </a:t>
            </a:r>
            <a:r>
              <a:rPr b="1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Q</a:t>
            </a:r>
            <a:r>
              <a:rPr b="0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 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d'une source de chaleur et de la transformer intégralement en travail.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Box 18"/>
          <p:cNvSpPr/>
          <p:nvPr/>
        </p:nvSpPr>
        <p:spPr>
          <a:xfrm>
            <a:off x="0" y="3929040"/>
            <a:ext cx="914400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Remarque : </a:t>
            </a: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Sans cette impossibilité, on pourrait construire un moteur qui pomperait de la chaleur d'une source et de la transformer complètement en travail (machine parfaite)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03" dur="indefinite" restart="never" nodeType="tmRoot">
          <p:childTnLst>
            <p:seq>
              <p:cTn id="204" dur="indefinite" nodeType="mainSeq">
                <p:childTnLst>
                  <p:par>
                    <p:cTn id="205" nodeType="clickEffect" fill="hold">
                      <p:stCondLst>
                        <p:cond delay="indefinite"/>
                      </p:stCondLst>
                      <p:childTnLst>
                        <p:par>
                          <p:cTn id="20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7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209" dur="80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210" dur="80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1" dur="80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nodeType="clickEffect" fill="hold">
                      <p:stCondLst>
                        <p:cond delay="indefinite"/>
                      </p:stCondLst>
                      <p:childTnLst>
                        <p:par>
                          <p:cTn id="21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4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216" dur="8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217" dur="8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8" dur="8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1"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nodeType="clickEffect" fill="hold">
                      <p:stCondLst>
                        <p:cond delay="indefinite"/>
                      </p:stCondLst>
                      <p:childTnLst>
                        <p:par>
                          <p:cTn id="22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24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226" dur="80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227" dur="80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8" dur="80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2"/>
          <p:cNvSpPr/>
          <p:nvPr/>
        </p:nvSpPr>
        <p:spPr>
          <a:xfrm>
            <a:off x="0" y="0"/>
            <a:ext cx="9144000" cy="72396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4000" strike="noStrike" u="none">
                <a:solidFill>
                  <a:srgbClr val="003300"/>
                </a:solidFill>
                <a:effectLst/>
                <a:uFillTx/>
                <a:latin typeface="Arial"/>
              </a:rPr>
              <a:t>2</a:t>
            </a:r>
            <a:r>
              <a:rPr b="1" lang="fr-FR" sz="4000" strike="noStrike" u="none" baseline="30000">
                <a:solidFill>
                  <a:srgbClr val="003300"/>
                </a:solidFill>
                <a:effectLst/>
                <a:uFillTx/>
                <a:latin typeface="Arial"/>
              </a:rPr>
              <a:t>nd</a:t>
            </a:r>
            <a:r>
              <a:rPr b="1" lang="fr-FR" sz="4000" strike="noStrike" u="none">
                <a:solidFill>
                  <a:srgbClr val="003300"/>
                </a:solidFill>
                <a:effectLst/>
                <a:uFillTx/>
                <a:latin typeface="Arial"/>
              </a:rPr>
              <a:t> Principe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ectangle 3"/>
          <p:cNvSpPr/>
          <p:nvPr/>
        </p:nvSpPr>
        <p:spPr>
          <a:xfrm>
            <a:off x="281160" y="913320"/>
            <a:ext cx="88628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II.2. FORME MATHÉMATIQUE DU SECOND PRINCIPE</a:t>
            </a:r>
            <a:r>
              <a:rPr b="0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Box 4"/>
          <p:cNvSpPr/>
          <p:nvPr/>
        </p:nvSpPr>
        <p:spPr>
          <a:xfrm>
            <a:off x="38160" y="1536840"/>
            <a:ext cx="8928000" cy="19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Puisqu'il est impossible d'après les énoncés précédents de prélever de la chaleur </a:t>
            </a:r>
            <a:r>
              <a:rPr b="1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d'une seule source </a:t>
            </a: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chaleur et de la transformer intégralement en travail, une machine thermodynamique doit donc nécessairement fonctionner entre au moins deux sources de chaleur 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Box 5"/>
          <p:cNvSpPr/>
          <p:nvPr/>
        </p:nvSpPr>
        <p:spPr>
          <a:xfrm>
            <a:off x="71280" y="4357800"/>
            <a:ext cx="8979120" cy="92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une source chaude </a:t>
            </a:r>
            <a:r>
              <a:rPr b="1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(SC) 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à température    </a:t>
            </a:r>
            <a:r>
              <a:rPr b="0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T</a:t>
            </a:r>
            <a:r>
              <a:rPr b="0" lang="fr-FR" sz="2400" strike="noStrike" u="none" baseline="-25000">
                <a:solidFill>
                  <a:srgbClr val="c00000"/>
                </a:solidFill>
                <a:effectLst/>
                <a:uFillTx/>
                <a:latin typeface="Arial"/>
              </a:rPr>
              <a:t>C</a:t>
            </a:r>
            <a:r>
              <a:rPr b="0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 = T</a:t>
            </a:r>
            <a:r>
              <a:rPr b="0" lang="fr-FR" sz="2400" strike="noStrike" u="none" baseline="-25000">
                <a:solidFill>
                  <a:srgbClr val="c00000"/>
                </a:solidFill>
                <a:effectLst/>
                <a:uFillTx/>
                <a:latin typeface="Arial"/>
              </a:rPr>
              <a:t>2</a:t>
            </a:r>
            <a:r>
              <a:rPr b="0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 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= constante et une source froide </a:t>
            </a:r>
            <a:r>
              <a:rPr b="1" lang="fr-FR" sz="2400" strike="noStrike" u="none">
                <a:solidFill>
                  <a:srgbClr val="00b050"/>
                </a:solidFill>
                <a:effectLst/>
                <a:uFillTx/>
                <a:latin typeface="Arial"/>
              </a:rPr>
              <a:t>(SF) 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à température </a:t>
            </a:r>
            <a:r>
              <a:rPr b="0" lang="fr-FR" sz="2400" strike="noStrike" u="none">
                <a:solidFill>
                  <a:srgbClr val="00b050"/>
                </a:solidFill>
                <a:effectLst/>
                <a:uFillTx/>
                <a:latin typeface="Arial"/>
              </a:rPr>
              <a:t>T</a:t>
            </a:r>
            <a:r>
              <a:rPr b="0" lang="fr-FR" sz="2400" strike="noStrike" u="none" baseline="-25000">
                <a:solidFill>
                  <a:srgbClr val="00b050"/>
                </a:solidFill>
                <a:effectLst/>
                <a:uFillTx/>
                <a:latin typeface="Arial"/>
              </a:rPr>
              <a:t>F</a:t>
            </a:r>
            <a:r>
              <a:rPr b="0" lang="fr-FR" sz="2400" strike="noStrike" u="none">
                <a:solidFill>
                  <a:srgbClr val="00b050"/>
                </a:solidFill>
                <a:effectLst/>
                <a:uFillTx/>
                <a:latin typeface="Arial"/>
              </a:rPr>
              <a:t> = T</a:t>
            </a:r>
            <a:r>
              <a:rPr b="0" lang="fr-FR" sz="2400" strike="noStrike" u="none" baseline="-25000">
                <a:solidFill>
                  <a:srgbClr val="00b050"/>
                </a:solidFill>
                <a:effectLst/>
                <a:uFillTx/>
                <a:latin typeface="Arial"/>
              </a:rPr>
              <a:t>1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= constante.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AutoShape 6"/>
          <p:cNvSpPr/>
          <p:nvPr/>
        </p:nvSpPr>
        <p:spPr>
          <a:xfrm>
            <a:off x="142920" y="3929040"/>
            <a:ext cx="2158920" cy="241200"/>
          </a:xfrm>
          <a:prstGeom prst="rightArrow">
            <a:avLst>
              <a:gd name="adj1" fmla="val 50000"/>
              <a:gd name="adj2" fmla="val 223769"/>
            </a:avLst>
          </a:prstGeom>
          <a:solidFill>
            <a:srgbClr val="4f81bd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29" dur="indefinite" restart="never" nodeType="tmRoot">
          <p:childTnLst>
            <p:seq>
              <p:cTn id="230" dur="indefinite" nodeType="mainSeq">
                <p:childTnLst>
                  <p:par>
                    <p:cTn id="231" nodeType="clickEffect" fill="hold">
                      <p:stCondLst>
                        <p:cond delay="indefinite"/>
                      </p:stCondLst>
                      <p:childTnLst>
                        <p:par>
                          <p:cTn id="23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3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235" dur="80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236" dur="80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7" dur="80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nodeType="clickEffect" fill="hold">
                      <p:stCondLst>
                        <p:cond delay="indefinite"/>
                      </p:stCondLst>
                      <p:childTnLst>
                        <p:par>
                          <p:cTn id="23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0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242" dur="80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243" dur="80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4" dur="80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nodeType="clickEffect" fill="hold">
                      <p:stCondLst>
                        <p:cond delay="indefinite"/>
                      </p:stCondLst>
                      <p:childTnLst>
                        <p:par>
                          <p:cTn id="24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7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9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50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1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nodeType="clickEffect" fill="hold">
                      <p:stCondLst>
                        <p:cond delay="indefinite"/>
                      </p:stCondLst>
                      <p:childTnLst>
                        <p:par>
                          <p:cTn id="25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4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256" dur="80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257" dur="80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8" dur="80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2"/>
          <p:cNvSpPr/>
          <p:nvPr/>
        </p:nvSpPr>
        <p:spPr>
          <a:xfrm>
            <a:off x="0" y="0"/>
            <a:ext cx="9144000" cy="72396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4000" strike="noStrike" u="none">
                <a:solidFill>
                  <a:srgbClr val="003300"/>
                </a:solidFill>
                <a:effectLst/>
                <a:uFillTx/>
                <a:latin typeface="Arial"/>
              </a:rPr>
              <a:t>2</a:t>
            </a:r>
            <a:r>
              <a:rPr b="1" lang="fr-FR" sz="4000" strike="noStrike" u="none" baseline="30000">
                <a:solidFill>
                  <a:srgbClr val="003300"/>
                </a:solidFill>
                <a:effectLst/>
                <a:uFillTx/>
                <a:latin typeface="Arial"/>
              </a:rPr>
              <a:t>nd</a:t>
            </a:r>
            <a:r>
              <a:rPr b="1" lang="fr-FR" sz="4000" strike="noStrike" u="none">
                <a:solidFill>
                  <a:srgbClr val="003300"/>
                </a:solidFill>
                <a:effectLst/>
                <a:uFillTx/>
                <a:latin typeface="Arial"/>
              </a:rPr>
              <a:t> Principe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ectangle 3"/>
          <p:cNvSpPr/>
          <p:nvPr/>
        </p:nvSpPr>
        <p:spPr>
          <a:xfrm>
            <a:off x="152280" y="1222200"/>
            <a:ext cx="8991720" cy="19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algn="just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Pre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Dans le cas d’un gaz qui évolue de </a:t>
            </a:r>
            <a:r>
              <a:rPr b="0" lang="fr-FR" sz="24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manière cyclique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en contact avec au moins deux sources. On </a:t>
            </a:r>
            <a:r>
              <a:rPr b="0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s’aperçoit 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lors d’un </a:t>
            </a:r>
            <a:r>
              <a:rPr b="0" lang="fr-FR" sz="24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cycle réversible 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une quantité reste constante et elle est </a:t>
            </a:r>
            <a:r>
              <a:rPr b="0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intégralement transférée 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la source chaude </a:t>
            </a:r>
            <a:r>
              <a:rPr b="0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vers 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 source froide. Cette quantité est le rapport :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ectangle 4"/>
          <p:cNvSpPr/>
          <p:nvPr/>
        </p:nvSpPr>
        <p:spPr>
          <a:xfrm>
            <a:off x="327240" y="768240"/>
            <a:ext cx="40266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II.2.1 cas de deux sources</a:t>
            </a:r>
            <a:r>
              <a:rPr b="0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ectangle 5"/>
          <p:cNvSpPr/>
          <p:nvPr/>
        </p:nvSpPr>
        <p:spPr>
          <a:xfrm>
            <a:off x="0" y="3205080"/>
            <a:ext cx="184320" cy="4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1" name="Object 6"/>
          <p:cNvGraphicFramePr/>
          <p:nvPr/>
        </p:nvGraphicFramePr>
        <p:xfrm>
          <a:off x="3429000" y="3500280"/>
          <a:ext cx="2500200" cy="148752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02" name="Object 6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3429000" y="3500280"/>
                    <a:ext cx="2500200" cy="1487520"/>
                  </a:xfrm>
                  <a:prstGeom prst="rect">
                    <a:avLst/>
                  </a:prstGeom>
                  <a:solidFill>
                    <a:srgbClr val="ffff99"/>
                  </a:solidFill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59" dur="indefinite" restart="never" nodeType="tmRoot">
          <p:childTnLst>
            <p:seq>
              <p:cTn id="260" dur="indefinite" nodeType="mainSeq">
                <p:childTnLst>
                  <p:par>
                    <p:cTn id="261" nodeType="clickEffect" fill="hold">
                      <p:stCondLst>
                        <p:cond delay="indefinite"/>
                      </p:stCondLst>
                      <p:childTnLst>
                        <p:par>
                          <p:cTn id="26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3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265" dur="80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266" dur="80"/>
                                        <p:tgtEl>
                                          <p:spTgt spid="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7" dur="80"/>
                                        <p:tgtEl>
                                          <p:spTgt spid="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nodeType="clickEffect" fill="hold">
                      <p:stCondLst>
                        <p:cond delay="indefinite"/>
                      </p:stCondLst>
                      <p:childTnLst>
                        <p:par>
                          <p:cTn id="26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70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272" dur="80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273" dur="80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4" dur="80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nodeType="clickEffect" fill="hold">
                      <p:stCondLst>
                        <p:cond delay="indefinite"/>
                      </p:stCondLst>
                      <p:childTnLst>
                        <p:par>
                          <p:cTn id="27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7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9" dur="2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2"/>
          <p:cNvSpPr/>
          <p:nvPr/>
        </p:nvSpPr>
        <p:spPr>
          <a:xfrm>
            <a:off x="0" y="0"/>
            <a:ext cx="9144000" cy="72396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4000" strike="noStrike" u="none">
                <a:solidFill>
                  <a:srgbClr val="003300"/>
                </a:solidFill>
                <a:effectLst/>
                <a:uFillTx/>
                <a:latin typeface="Arial"/>
              </a:rPr>
              <a:t>2</a:t>
            </a:r>
            <a:r>
              <a:rPr b="1" lang="fr-FR" sz="4000" strike="noStrike" u="none" baseline="30000">
                <a:solidFill>
                  <a:srgbClr val="003300"/>
                </a:solidFill>
                <a:effectLst/>
                <a:uFillTx/>
                <a:latin typeface="Arial"/>
              </a:rPr>
              <a:t>nd</a:t>
            </a:r>
            <a:r>
              <a:rPr b="1" lang="fr-FR" sz="4000" strike="noStrike" u="none">
                <a:solidFill>
                  <a:srgbClr val="003300"/>
                </a:solidFill>
                <a:effectLst/>
                <a:uFillTx/>
                <a:latin typeface="Arial"/>
              </a:rPr>
              <a:t> Principe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4" name="Object 3"/>
          <p:cNvGraphicFramePr/>
          <p:nvPr/>
        </p:nvGraphicFramePr>
        <p:xfrm>
          <a:off x="4071960" y="1071720"/>
          <a:ext cx="1182600" cy="97920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05" name="Object 3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4071960" y="1071720"/>
                    <a:ext cx="1182600" cy="979200"/>
                  </a:xfrm>
                  <a:prstGeom prst="rect">
                    <a:avLst/>
                  </a:prstGeom>
                  <a:solidFill>
                    <a:srgbClr val="ffff99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106" name="Object 4"/>
          <p:cNvGraphicFramePr/>
          <p:nvPr/>
        </p:nvGraphicFramePr>
        <p:xfrm>
          <a:off x="5500800" y="2714760"/>
          <a:ext cx="1212840" cy="1001520"/>
        </p:xfrm>
        <a:graphic>
          <a:graphicData uri="http://schemas.openxmlformats.org/presentationml/2006/ole">
            <p:oleObj r:id="rId3" spid="">
              <p:embed/>
              <p:pic>
                <p:nvPicPr>
                  <p:cNvPr id="107" name="Object 4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5500800" y="2714760"/>
                    <a:ext cx="1212840" cy="1001520"/>
                  </a:xfrm>
                  <a:prstGeom prst="rect">
                    <a:avLst/>
                  </a:prstGeom>
                  <a:solidFill>
                    <a:srgbClr val="ffff99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08" name="Rectangle 5"/>
          <p:cNvSpPr/>
          <p:nvPr/>
        </p:nvSpPr>
        <p:spPr>
          <a:xfrm>
            <a:off x="17280" y="1215360"/>
            <a:ext cx="39639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Le système a reçu la quantité :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ectangle 6"/>
          <p:cNvSpPr/>
          <p:nvPr/>
        </p:nvSpPr>
        <p:spPr>
          <a:xfrm>
            <a:off x="0" y="2216880"/>
            <a:ext cx="914400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algn="just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qu’il ne va pas conserver ( la transformation est cyclique), il va donc la transférer intégralement à la source froide :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ectangle 7"/>
          <p:cNvSpPr/>
          <p:nvPr/>
        </p:nvSpPr>
        <p:spPr>
          <a:xfrm>
            <a:off x="5125320" y="3961800"/>
            <a:ext cx="2570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ectangle 8"/>
          <p:cNvSpPr/>
          <p:nvPr/>
        </p:nvSpPr>
        <p:spPr>
          <a:xfrm>
            <a:off x="154440" y="3715920"/>
            <a:ext cx="24325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On en déduit que 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2" name="Object 9"/>
          <p:cNvGraphicFramePr/>
          <p:nvPr/>
        </p:nvGraphicFramePr>
        <p:xfrm>
          <a:off x="428760" y="4429080"/>
          <a:ext cx="5887800" cy="1354320"/>
        </p:xfrm>
        <a:graphic>
          <a:graphicData uri="http://schemas.openxmlformats.org/presentationml/2006/ole">
            <p:oleObj r:id="rId5" spid="">
              <p:embed/>
              <p:pic>
                <p:nvPicPr>
                  <p:cNvPr id="113" name="Object 9" descr=""/>
                  <p:cNvPicPr/>
                  <p:nvPr/>
                </p:nvPicPr>
                <p:blipFill>
                  <a:blip r:embed="rId6"/>
                  <a:stretch/>
                </p:blipFill>
                <p:spPr>
                  <a:xfrm>
                    <a:off x="428760" y="4429080"/>
                    <a:ext cx="5887800" cy="1354320"/>
                  </a:xfrm>
                  <a:prstGeom prst="rect">
                    <a:avLst/>
                  </a:prstGeom>
                  <a:solidFill>
                    <a:srgbClr val="ffff99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14" name="Rectangle 10"/>
          <p:cNvSpPr/>
          <p:nvPr/>
        </p:nvSpPr>
        <p:spPr>
          <a:xfrm>
            <a:off x="6429240" y="4714920"/>
            <a:ext cx="235764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Relation de Clausius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80" dur="indefinite" restart="never" nodeType="tmRoot">
          <p:childTnLst>
            <p:seq>
              <p:cTn id="281" dur="indefinite" nodeType="mainSeq">
                <p:childTnLst>
                  <p:par>
                    <p:cTn id="282" nodeType="clickEffect" fill="hold">
                      <p:stCondLst>
                        <p:cond delay="indefinite"/>
                      </p:stCondLst>
                      <p:childTnLst>
                        <p:par>
                          <p:cTn id="28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84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286" dur="8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287" dur="8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8" dur="8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nodeType="clickEffect" fill="hold">
                      <p:stCondLst>
                        <p:cond delay="indefinite"/>
                      </p:stCondLst>
                      <p:childTnLst>
                        <p:par>
                          <p:cTn id="29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3" dur="2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nodeType="clickEffect" fill="hold">
                      <p:stCondLst>
                        <p:cond delay="indefinite"/>
                      </p:stCondLst>
                      <p:childTnLst>
                        <p:par>
                          <p:cTn id="29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6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298" dur="8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299" dur="8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0" dur="8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nodeType="clickEffect" fill="hold">
                      <p:stCondLst>
                        <p:cond delay="indefinite"/>
                      </p:stCondLst>
                      <p:childTnLst>
                        <p:par>
                          <p:cTn id="30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5" dur="2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nodeType="clickEffect" fill="hold">
                      <p:stCondLst>
                        <p:cond delay="indefinite"/>
                      </p:stCondLst>
                      <p:childTnLst>
                        <p:par>
                          <p:cTn id="30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8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310" dur="8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311" dur="8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2" dur="8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nodeType="clickEffect" fill="hold">
                      <p:stCondLst>
                        <p:cond delay="indefinite"/>
                      </p:stCondLst>
                      <p:childTnLst>
                        <p:par>
                          <p:cTn id="31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1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7" dur="2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nodeType="clickEffect" fill="hold">
                      <p:stCondLst>
                        <p:cond delay="indefinite"/>
                      </p:stCondLst>
                      <p:childTnLst>
                        <p:par>
                          <p:cTn id="31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20" nodeType="clickEffect" fill="hold" presetClass="entr" presetID="2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4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5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8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2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2"/>
          <p:cNvSpPr/>
          <p:nvPr/>
        </p:nvSpPr>
        <p:spPr>
          <a:xfrm>
            <a:off x="0" y="0"/>
            <a:ext cx="9144000" cy="72396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4000" strike="noStrike" u="none">
                <a:solidFill>
                  <a:srgbClr val="003300"/>
                </a:solidFill>
                <a:effectLst/>
                <a:uFillTx/>
                <a:latin typeface="Arial"/>
              </a:rPr>
              <a:t>2</a:t>
            </a:r>
            <a:r>
              <a:rPr b="1" lang="fr-FR" sz="4000" strike="noStrike" u="none" baseline="30000">
                <a:solidFill>
                  <a:srgbClr val="003300"/>
                </a:solidFill>
                <a:effectLst/>
                <a:uFillTx/>
                <a:latin typeface="Arial"/>
              </a:rPr>
              <a:t>nd</a:t>
            </a:r>
            <a:r>
              <a:rPr b="1" lang="fr-FR" sz="4000" strike="noStrike" u="none">
                <a:solidFill>
                  <a:srgbClr val="003300"/>
                </a:solidFill>
                <a:effectLst/>
                <a:uFillTx/>
                <a:latin typeface="Arial"/>
              </a:rPr>
              <a:t> Principe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ectangle 3"/>
          <p:cNvSpPr/>
          <p:nvPr/>
        </p:nvSpPr>
        <p:spPr>
          <a:xfrm>
            <a:off x="4548240" y="3711240"/>
            <a:ext cx="20095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7" name="Object 4"/>
          <p:cNvGraphicFramePr/>
          <p:nvPr/>
        </p:nvGraphicFramePr>
        <p:xfrm>
          <a:off x="4129200" y="1739880"/>
          <a:ext cx="753840" cy="84132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18" name="Object 4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4129200" y="1739880"/>
                    <a:ext cx="753840" cy="841320"/>
                  </a:xfrm>
                  <a:prstGeom prst="rect">
                    <a:avLst/>
                  </a:prstGeom>
                  <a:solidFill>
                    <a:srgbClr val="0000ff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119" name="Object 5"/>
          <p:cNvGraphicFramePr/>
          <p:nvPr/>
        </p:nvGraphicFramePr>
        <p:xfrm>
          <a:off x="5286240" y="2357280"/>
          <a:ext cx="1676520" cy="1206720"/>
        </p:xfrm>
        <a:graphic>
          <a:graphicData uri="http://schemas.openxmlformats.org/presentationml/2006/ole">
            <p:oleObj r:id="rId3" spid="">
              <p:embed/>
              <p:pic>
                <p:nvPicPr>
                  <p:cNvPr id="120" name="Object 5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5286240" y="2357280"/>
                    <a:ext cx="1676520" cy="1206720"/>
                  </a:xfrm>
                  <a:prstGeom prst="rect">
                    <a:avLst/>
                  </a:prstGeom>
                  <a:solidFill>
                    <a:srgbClr val="0000ff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121" name="Object 6"/>
          <p:cNvGraphicFramePr/>
          <p:nvPr/>
        </p:nvGraphicFramePr>
        <p:xfrm>
          <a:off x="5286240" y="3643200"/>
          <a:ext cx="2051280" cy="1476360"/>
        </p:xfrm>
        <a:graphic>
          <a:graphicData uri="http://schemas.openxmlformats.org/presentationml/2006/ole">
            <p:oleObj r:id="rId5" spid="">
              <p:embed/>
              <p:pic>
                <p:nvPicPr>
                  <p:cNvPr id="122" name="Object 6" descr=""/>
                  <p:cNvPicPr/>
                  <p:nvPr/>
                </p:nvPicPr>
                <p:blipFill>
                  <a:blip r:embed="rId6"/>
                  <a:stretch/>
                </p:blipFill>
                <p:spPr>
                  <a:xfrm>
                    <a:off x="5286240" y="3643200"/>
                    <a:ext cx="2051280" cy="1476360"/>
                  </a:xfrm>
                  <a:prstGeom prst="rect">
                    <a:avLst/>
                  </a:prstGeom>
                  <a:solidFill>
                    <a:srgbClr val="0000ff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23" name="Rectangle 7"/>
          <p:cNvSpPr/>
          <p:nvPr/>
        </p:nvSpPr>
        <p:spPr>
          <a:xfrm>
            <a:off x="1584360" y="2212560"/>
            <a:ext cx="10951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Rectangle 9"/>
          <p:cNvSpPr/>
          <p:nvPr/>
        </p:nvSpPr>
        <p:spPr>
          <a:xfrm flipV="1" rot="10800000">
            <a:off x="-4680" y="3824280"/>
            <a:ext cx="71928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Cette relation s’écrit dans le cas général :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ectangle 10"/>
          <p:cNvSpPr/>
          <p:nvPr/>
        </p:nvSpPr>
        <p:spPr>
          <a:xfrm>
            <a:off x="673200" y="4772880"/>
            <a:ext cx="394956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= : transformation réversible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 : Transformation irréversible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 11"/>
          <p:cNvSpPr/>
          <p:nvPr/>
        </p:nvSpPr>
        <p:spPr>
          <a:xfrm>
            <a:off x="574200" y="752400"/>
            <a:ext cx="62456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II.2.3 Cas de transformations irréversibles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Rectangle 12"/>
          <p:cNvSpPr/>
          <p:nvPr/>
        </p:nvSpPr>
        <p:spPr>
          <a:xfrm>
            <a:off x="0" y="1214280"/>
            <a:ext cx="914400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 l’une ou la totalité des transformations sont irréversibles, les quantités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Rectangle 13"/>
          <p:cNvSpPr/>
          <p:nvPr/>
        </p:nvSpPr>
        <p:spPr>
          <a:xfrm>
            <a:off x="10800" y="2664000"/>
            <a:ext cx="19087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sont reliées 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30" dur="indefinite" restart="never" nodeType="tmRoot">
          <p:childTnLst>
            <p:seq>
              <p:cTn id="331" dur="indefinite" nodeType="mainSeq">
                <p:childTnLst>
                  <p:par>
                    <p:cTn id="332" nodeType="clickEffect" fill="hold">
                      <p:stCondLst>
                        <p:cond delay="indefinite"/>
                      </p:stCondLst>
                      <p:childTnLst>
                        <p:par>
                          <p:cTn id="33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34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336" dur="8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337" dur="8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8" dur="8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nodeType="clickEffect" fill="hold">
                      <p:stCondLst>
                        <p:cond delay="indefinite"/>
                      </p:stCondLst>
                      <p:childTnLst>
                        <p:par>
                          <p:cTn id="34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41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343" dur="80"/>
                                        <p:tgtEl>
                                          <p:spTgt spid="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344" dur="80"/>
                                        <p:tgtEl>
                                          <p:spTgt spid="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5" dur="80"/>
                                        <p:tgtEl>
                                          <p:spTgt spid="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nodeType="clickEffect" fill="hold">
                      <p:stCondLst>
                        <p:cond delay="indefinite"/>
                      </p:stCondLst>
                      <p:childTnLst>
                        <p:par>
                          <p:cTn id="34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4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0" dur="2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nodeType="clickEffect" fill="hold">
                      <p:stCondLst>
                        <p:cond delay="indefinite"/>
                      </p:stCondLst>
                      <p:childTnLst>
                        <p:par>
                          <p:cTn id="35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53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355" dur="8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356" dur="8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7" dur="8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8" nodeType="clickEffect" fill="hold">
                      <p:stCondLst>
                        <p:cond delay="indefinite"/>
                      </p:stCondLst>
                      <p:childTnLst>
                        <p:par>
                          <p:cTn id="35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60" nodeType="click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62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3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364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nodeType="clickEffect" fill="hold">
                      <p:stCondLst>
                        <p:cond delay="indefinite"/>
                      </p:stCondLst>
                      <p:childTnLst>
                        <p:par>
                          <p:cTn id="36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67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369" dur="8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370" dur="8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1" dur="8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2" nodeType="clickEffect" fill="hold">
                      <p:stCondLst>
                        <p:cond delay="indefinite"/>
                      </p:stCondLst>
                      <p:childTnLst>
                        <p:par>
                          <p:cTn id="37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74" nodeType="click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76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77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378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nodeType="clickEffect" fill="hold">
                      <p:stCondLst>
                        <p:cond delay="indefinite"/>
                      </p:stCondLst>
                      <p:childTnLst>
                        <p:par>
                          <p:cTn id="38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81" nodeType="click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83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4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385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2"/>
          <p:cNvSpPr/>
          <p:nvPr/>
        </p:nvSpPr>
        <p:spPr>
          <a:xfrm>
            <a:off x="0" y="0"/>
            <a:ext cx="9144000" cy="72396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4000" strike="noStrike" u="none">
                <a:solidFill>
                  <a:srgbClr val="003300"/>
                </a:solidFill>
                <a:effectLst/>
                <a:uFillTx/>
                <a:latin typeface="Arial"/>
              </a:rPr>
              <a:t>2</a:t>
            </a:r>
            <a:r>
              <a:rPr b="1" lang="fr-FR" sz="4000" strike="noStrike" u="none" baseline="30000">
                <a:solidFill>
                  <a:srgbClr val="003300"/>
                </a:solidFill>
                <a:effectLst/>
                <a:uFillTx/>
                <a:latin typeface="Arial"/>
              </a:rPr>
              <a:t>nd</a:t>
            </a:r>
            <a:r>
              <a:rPr b="1" lang="fr-FR" sz="4000" strike="noStrike" u="none">
                <a:solidFill>
                  <a:srgbClr val="003300"/>
                </a:solidFill>
                <a:effectLst/>
                <a:uFillTx/>
                <a:latin typeface="Arial"/>
              </a:rPr>
              <a:t> Principe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ectangle 3"/>
          <p:cNvSpPr/>
          <p:nvPr/>
        </p:nvSpPr>
        <p:spPr>
          <a:xfrm>
            <a:off x="278640" y="913320"/>
            <a:ext cx="79707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II.3 FORME DIFFÉRENTIELLE DU SECOND PRINCIPE</a:t>
            </a:r>
            <a:r>
              <a:rPr b="0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Box 4"/>
          <p:cNvSpPr/>
          <p:nvPr/>
        </p:nvSpPr>
        <p:spPr>
          <a:xfrm>
            <a:off x="152280" y="1409760"/>
            <a:ext cx="8991720" cy="12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 l’on suppose que lors d’une transformation réversible, d’un état 1 à un état 2, la température d’un système (gaz) est passée de </a:t>
            </a:r>
            <a:r>
              <a:rPr b="1" i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1" lang="fr-FR" sz="2400" strike="noStrike" u="none" baseline="-25000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à </a:t>
            </a:r>
            <a:r>
              <a:rPr b="1" i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1" lang="fr-FR" sz="2400" strike="noStrike" u="none" baseline="-25000">
                <a:solidFill>
                  <a:srgbClr val="000000"/>
                </a:solidFill>
                <a:effectLst/>
                <a:uFillTx/>
                <a:latin typeface="Arial"/>
              </a:rPr>
              <a:t>2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Box 5"/>
          <p:cNvSpPr/>
          <p:nvPr/>
        </p:nvSpPr>
        <p:spPr>
          <a:xfrm>
            <a:off x="0" y="2500200"/>
            <a:ext cx="9144000" cy="16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 peut alors imaginer que ce dernier était en contact avec une</a:t>
            </a: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infinité</a:t>
            </a: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sources dont les températures varient de </a:t>
            </a:r>
            <a:r>
              <a:rPr b="0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façon continue</a:t>
            </a: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</a:t>
            </a:r>
            <a:r>
              <a:rPr b="0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T</a:t>
            </a:r>
            <a:r>
              <a:rPr b="0" lang="fr-FR" sz="2400" strike="noStrike" u="none" baseline="-25000">
                <a:solidFill>
                  <a:srgbClr val="c00000"/>
                </a:solidFill>
                <a:effectLst/>
                <a:uFillTx/>
                <a:latin typeface="Arial"/>
              </a:rPr>
              <a:t>1</a:t>
            </a: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à </a:t>
            </a:r>
            <a:r>
              <a:rPr b="0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T</a:t>
            </a:r>
            <a:r>
              <a:rPr b="0" lang="fr-FR" sz="2400" strike="noStrike" u="none" baseline="-25000">
                <a:solidFill>
                  <a:srgbClr val="c00000"/>
                </a:solidFill>
                <a:effectLst/>
                <a:uFillTx/>
                <a:latin typeface="Arial"/>
              </a:rPr>
              <a:t>2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avec lesquelles il échange les quantités de chaleurs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ectangle 6"/>
          <p:cNvSpPr/>
          <p:nvPr/>
        </p:nvSpPr>
        <p:spPr>
          <a:xfrm>
            <a:off x="0" y="3338640"/>
            <a:ext cx="184320" cy="4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4" name="Object 7"/>
          <p:cNvGraphicFramePr/>
          <p:nvPr/>
        </p:nvGraphicFramePr>
        <p:xfrm>
          <a:off x="1500120" y="3701880"/>
          <a:ext cx="646200" cy="58428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35" name="Object 7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500120" y="3701880"/>
                    <a:ext cx="646200" cy="584280"/>
                  </a:xfrm>
                  <a:prstGeom prst="rect">
                    <a:avLst/>
                  </a:prstGeom>
                  <a:solidFill>
                    <a:srgbClr val="ffcccc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36" name="Rectangle 8"/>
          <p:cNvSpPr/>
          <p:nvPr/>
        </p:nvSpPr>
        <p:spPr>
          <a:xfrm>
            <a:off x="0" y="3333600"/>
            <a:ext cx="184320" cy="46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7" name="Object 4"/>
          <p:cNvGraphicFramePr/>
          <p:nvPr/>
        </p:nvGraphicFramePr>
        <p:xfrm>
          <a:off x="4286160" y="3643200"/>
          <a:ext cx="2657520" cy="1690920"/>
        </p:xfrm>
        <a:graphic>
          <a:graphicData uri="http://schemas.openxmlformats.org/presentationml/2006/ole">
            <p:oleObj r:id="rId3" spid="">
              <p:embed/>
              <p:pic>
                <p:nvPicPr>
                  <p:cNvPr id="138" name="Object 4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4286160" y="3643200"/>
                    <a:ext cx="2657520" cy="1690920"/>
                  </a:xfrm>
                  <a:prstGeom prst="rect">
                    <a:avLst/>
                  </a:prstGeom>
                  <a:solidFill>
                    <a:srgbClr val="ffcccc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39" name="Rectangle 5"/>
          <p:cNvSpPr/>
          <p:nvPr/>
        </p:nvSpPr>
        <p:spPr>
          <a:xfrm>
            <a:off x="3816720" y="5287320"/>
            <a:ext cx="5280840" cy="459720"/>
          </a:xfrm>
          <a:prstGeom prst="rect">
            <a:avLst/>
          </a:prstGeom>
          <a:solidFill>
            <a:srgbClr val="ffff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appelée Inégalité de Carnot-Clausius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Rectangle 6"/>
          <p:cNvSpPr/>
          <p:nvPr/>
        </p:nvSpPr>
        <p:spPr>
          <a:xfrm>
            <a:off x="27000" y="5662080"/>
            <a:ext cx="5465880" cy="1191240"/>
          </a:xfrm>
          <a:prstGeom prst="rect">
            <a:avLst/>
          </a:prstGeom>
          <a:solidFill>
            <a:srgbClr val="ffff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 algn="just">
              <a:tabLst>
                <a:tab algn="l" pos="0"/>
                <a:tab algn="l" pos="117792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= : transformation réversible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tabLst>
                <a:tab algn="l" pos="0"/>
                <a:tab algn="l" pos="117792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&lt; : transformation irréversible,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tabLst>
                <a:tab algn="l" pos="0"/>
                <a:tab algn="l" pos="117792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T</a:t>
            </a:r>
            <a:r>
              <a:rPr b="1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s : est la température de la source.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86" dur="indefinite" restart="never" nodeType="tmRoot">
          <p:childTnLst>
            <p:seq>
              <p:cTn id="387" dur="indefinite" nodeType="mainSeq">
                <p:childTnLst>
                  <p:par>
                    <p:cTn id="388" nodeType="clickEffect" fill="hold">
                      <p:stCondLst>
                        <p:cond delay="indefinite"/>
                      </p:stCondLst>
                      <p:childTnLst>
                        <p:par>
                          <p:cTn id="38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90" nodeType="click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92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93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394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5" nodeType="clickEffect" fill="hold">
                      <p:stCondLst>
                        <p:cond delay="indefinite"/>
                      </p:stCondLst>
                      <p:childTnLst>
                        <p:par>
                          <p:cTn id="39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97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399" dur="8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400" dur="8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1" dur="8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2" nodeType="clickEffect" fill="hold">
                      <p:stCondLst>
                        <p:cond delay="indefinite"/>
                      </p:stCondLst>
                      <p:childTnLst>
                        <p:par>
                          <p:cTn id="40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04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406" dur="80"/>
                                        <p:tgtEl>
                                          <p:spTgt spid="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407" dur="80"/>
                                        <p:tgtEl>
                                          <p:spTgt spid="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8" dur="80"/>
                                        <p:tgtEl>
                                          <p:spTgt spid="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9" nodeType="clickEffect" fill="hold">
                      <p:stCondLst>
                        <p:cond delay="indefinite"/>
                      </p:stCondLst>
                      <p:childTnLst>
                        <p:par>
                          <p:cTn id="41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1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3" dur="2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4" nodeType="clickEffect" fill="hold">
                      <p:stCondLst>
                        <p:cond delay="indefinite"/>
                      </p:stCondLst>
                      <p:childTnLst>
                        <p:par>
                          <p:cTn id="41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16" nodeType="click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18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19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420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1" nodeType="clickEffect" fill="hold">
                      <p:stCondLst>
                        <p:cond delay="indefinite"/>
                      </p:stCondLst>
                      <p:childTnLst>
                        <p:par>
                          <p:cTn id="42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23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425" dur="8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426" dur="8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7" dur="8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8" nodeType="clickEffect" fill="hold">
                      <p:stCondLst>
                        <p:cond delay="indefinite"/>
                      </p:stCondLst>
                      <p:childTnLst>
                        <p:par>
                          <p:cTn id="42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30" nodeType="click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32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33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434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 3"/>
          <p:cNvSpPr/>
          <p:nvPr/>
        </p:nvSpPr>
        <p:spPr>
          <a:xfrm>
            <a:off x="0" y="0"/>
            <a:ext cx="9144000" cy="72396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6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 </a:t>
            </a:r>
            <a:r>
              <a:rPr b="1" lang="fr-FR" sz="4000" strike="noStrike" u="none">
                <a:solidFill>
                  <a:srgbClr val="003300"/>
                </a:solidFill>
                <a:effectLst/>
                <a:uFillTx/>
                <a:latin typeface="Arial"/>
              </a:rPr>
              <a:t>2</a:t>
            </a:r>
            <a:r>
              <a:rPr b="1" lang="fr-FR" sz="4000" strike="noStrike" u="none" baseline="30000">
                <a:solidFill>
                  <a:srgbClr val="003300"/>
                </a:solidFill>
                <a:effectLst/>
                <a:uFillTx/>
                <a:latin typeface="Arial"/>
              </a:rPr>
              <a:t>nd</a:t>
            </a:r>
            <a:r>
              <a:rPr b="1" lang="fr-FR" sz="4000" strike="noStrike" u="none">
                <a:solidFill>
                  <a:srgbClr val="003300"/>
                </a:solidFill>
                <a:effectLst/>
                <a:uFillTx/>
                <a:latin typeface="Arial"/>
              </a:rPr>
              <a:t> Principe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Rectangle 4"/>
          <p:cNvSpPr/>
          <p:nvPr/>
        </p:nvSpPr>
        <p:spPr>
          <a:xfrm>
            <a:off x="1047240" y="1141920"/>
            <a:ext cx="50425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II.4.1 Transformations réversibles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ectangle 5"/>
          <p:cNvSpPr/>
          <p:nvPr/>
        </p:nvSpPr>
        <p:spPr>
          <a:xfrm>
            <a:off x="296280" y="714240"/>
            <a:ext cx="4148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II.4 NOTION D'ENTROPIE   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4" name="Groupe 25"/>
          <p:cNvGrpSpPr/>
          <p:nvPr/>
        </p:nvGrpSpPr>
        <p:grpSpPr>
          <a:xfrm>
            <a:off x="127080" y="1643040"/>
            <a:ext cx="3416400" cy="2260800"/>
            <a:chOff x="127080" y="1643040"/>
            <a:chExt cx="3416400" cy="2260800"/>
          </a:xfrm>
        </p:grpSpPr>
        <p:sp>
          <p:nvSpPr>
            <p:cNvPr id="145" name="Rectangle 2"/>
            <p:cNvSpPr/>
            <p:nvPr/>
          </p:nvSpPr>
          <p:spPr>
            <a:xfrm>
              <a:off x="127080" y="1643040"/>
              <a:ext cx="3416400" cy="2260800"/>
            </a:xfrm>
            <a:prstGeom prst="rect">
              <a:avLst/>
            </a:prstGeom>
            <a:solidFill>
              <a:srgbClr val="ccff99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46" name="Group 6"/>
            <p:cNvGrpSpPr/>
            <p:nvPr/>
          </p:nvGrpSpPr>
          <p:grpSpPr>
            <a:xfrm>
              <a:off x="285480" y="1712880"/>
              <a:ext cx="3101760" cy="2043360"/>
              <a:chOff x="285480" y="1712880"/>
              <a:chExt cx="3101760" cy="2043360"/>
            </a:xfrm>
          </p:grpSpPr>
          <p:sp>
            <p:nvSpPr>
              <p:cNvPr id="147" name="AutoShape 7"/>
              <p:cNvSpPr/>
              <p:nvPr/>
            </p:nvSpPr>
            <p:spPr>
              <a:xfrm>
                <a:off x="285480" y="1712880"/>
                <a:ext cx="3073320" cy="2043360"/>
              </a:xfrm>
              <a:prstGeom prst="rect">
                <a:avLst/>
              </a:prstGeom>
              <a:noFill/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" name="Line 8"/>
              <p:cNvSpPr/>
              <p:nvPr/>
            </p:nvSpPr>
            <p:spPr>
              <a:xfrm flipH="1" flipV="1">
                <a:off x="587880" y="1871280"/>
                <a:ext cx="8280" cy="158184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9" name="Line 9"/>
              <p:cNvSpPr/>
              <p:nvPr/>
            </p:nvSpPr>
            <p:spPr>
              <a:xfrm>
                <a:off x="596520" y="3462480"/>
                <a:ext cx="2636280" cy="72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080" bIns="-4608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0" name="Text Box 10"/>
              <p:cNvSpPr/>
              <p:nvPr/>
            </p:nvSpPr>
            <p:spPr>
              <a:xfrm>
                <a:off x="2912400" y="3440520"/>
                <a:ext cx="446040" cy="315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4800" rIns="64800" tIns="32400" bIns="3240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fr-FR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V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" name="Text Box 11"/>
              <p:cNvSpPr/>
              <p:nvPr/>
            </p:nvSpPr>
            <p:spPr>
              <a:xfrm>
                <a:off x="285480" y="1712880"/>
                <a:ext cx="538560" cy="316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4800" rIns="64800" tIns="32400" bIns="3240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fr-FR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P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" name="Freeform 12"/>
              <p:cNvSpPr/>
              <p:nvPr/>
            </p:nvSpPr>
            <p:spPr>
              <a:xfrm>
                <a:off x="1196280" y="2107800"/>
                <a:ext cx="1731600" cy="1170000"/>
              </a:xfrm>
              <a:custGeom>
                <a:avLst/>
                <a:gdLst>
                  <a:gd name="textAreaLeft" fmla="*/ 0 w 1731600"/>
                  <a:gd name="textAreaRight" fmla="*/ 1731960 w 1731600"/>
                  <a:gd name="textAreaTop" fmla="*/ 0 h 1170000"/>
                  <a:gd name="textAreaBottom" fmla="*/ 1170360 h 1170000"/>
                  <a:gd name="GluePoint1X" fmla="*/ 0 w 3580"/>
                  <a:gd name="GluePoint1Y" fmla="*/ 106 h 1580"/>
                  <a:gd name="GluePoint2X" fmla="*/ 1 w 3580"/>
                  <a:gd name="GluePoint2Y" fmla="*/ 84 h 1580"/>
                  <a:gd name="GluePoint3X" fmla="*/ 1 w 3580"/>
                  <a:gd name="GluePoint3Y" fmla="*/ 62 h 1580"/>
                  <a:gd name="GluePoint4X" fmla="*/ 1 w 3580"/>
                  <a:gd name="GluePoint4Y" fmla="*/ 42 h 1580"/>
                  <a:gd name="GluePoint5X" fmla="*/ 1 w 3580"/>
                  <a:gd name="GluePoint5Y" fmla="*/ 24 h 1580"/>
                  <a:gd name="GluePoint6X" fmla="*/ 1 w 3580"/>
                  <a:gd name="GluePoint6Y" fmla="*/ 10 h 1580"/>
                  <a:gd name="GluePoint7X" fmla="*/ 1 w 3580"/>
                  <a:gd name="GluePoint7Y" fmla="*/ 2 h 1580"/>
                  <a:gd name="GluePoint8X" fmla="*/ 1 w 3580"/>
                  <a:gd name="GluePoint8Y" fmla="*/ 0 h 15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</a:cxnLst>
                <a:rect l="textAreaLeft" t="textAreaTop" r="textAreaRight" b="textAreaBottom"/>
                <a:pathLst>
                  <a:path w="3580" h="1580">
                    <a:moveTo>
                      <a:pt x="0" y="1580"/>
                    </a:moveTo>
                    <a:cubicBezTo>
                      <a:pt x="89" y="1481"/>
                      <a:pt x="178" y="1382"/>
                      <a:pt x="300" y="1270"/>
                    </a:cubicBezTo>
                    <a:cubicBezTo>
                      <a:pt x="422" y="1158"/>
                      <a:pt x="587" y="1017"/>
                      <a:pt x="730" y="910"/>
                    </a:cubicBezTo>
                    <a:cubicBezTo>
                      <a:pt x="873" y="803"/>
                      <a:pt x="992" y="723"/>
                      <a:pt x="1160" y="630"/>
                    </a:cubicBezTo>
                    <a:cubicBezTo>
                      <a:pt x="1328" y="537"/>
                      <a:pt x="1533" y="432"/>
                      <a:pt x="1740" y="350"/>
                    </a:cubicBezTo>
                    <a:cubicBezTo>
                      <a:pt x="1947" y="268"/>
                      <a:pt x="2180" y="193"/>
                      <a:pt x="2400" y="140"/>
                    </a:cubicBezTo>
                    <a:cubicBezTo>
                      <a:pt x="2620" y="87"/>
                      <a:pt x="2863" y="53"/>
                      <a:pt x="3060" y="30"/>
                    </a:cubicBezTo>
                    <a:cubicBezTo>
                      <a:pt x="3257" y="7"/>
                      <a:pt x="3418" y="3"/>
                      <a:pt x="3580" y="0"/>
                    </a:cubicBezTo>
                  </a:path>
                </a:pathLst>
              </a:custGeom>
              <a:noFill/>
              <a:ln w="28440">
                <a:solidFill>
                  <a:srgbClr val="3366ff"/>
                </a:solidFill>
                <a:round/>
                <a:headEnd len="med" type="oval" w="med"/>
                <a:tailEnd len="med" type="oval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3" name="Line 13"/>
              <p:cNvSpPr/>
              <p:nvPr/>
            </p:nvSpPr>
            <p:spPr>
              <a:xfrm flipV="1">
                <a:off x="1672920" y="2499840"/>
                <a:ext cx="162360" cy="132120"/>
              </a:xfrm>
              <a:prstGeom prst="line">
                <a:avLst/>
              </a:prstGeom>
              <a:ln w="9360">
                <a:solidFill>
                  <a:srgbClr val="3366ff"/>
                </a:solidFill>
                <a:miter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4" name="Text Box 14"/>
              <p:cNvSpPr/>
              <p:nvPr/>
            </p:nvSpPr>
            <p:spPr>
              <a:xfrm>
                <a:off x="657720" y="2920680"/>
                <a:ext cx="601560" cy="315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4800" rIns="64800" tIns="32400" bIns="3240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fr-FR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T</a:t>
                </a:r>
                <a:r>
                  <a:rPr b="1" lang="fr-FR" sz="2400" strike="noStrike" u="none">
                    <a:solidFill>
                      <a:srgbClr val="eeece1"/>
                    </a:solidFill>
                    <a:effectLst/>
                    <a:uFillTx/>
                    <a:latin typeface="Times New Roman"/>
                  </a:rPr>
                  <a:t> </a:t>
                </a:r>
                <a:r>
                  <a:rPr b="1" lang="fr-FR" sz="2400" strike="noStrike" u="none" baseline="-25000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1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5" name="Text Box 15"/>
              <p:cNvSpPr/>
              <p:nvPr/>
            </p:nvSpPr>
            <p:spPr>
              <a:xfrm>
                <a:off x="2785680" y="1785600"/>
                <a:ext cx="601560" cy="315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4800" rIns="64800" tIns="32400" bIns="3240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fr-FR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T </a:t>
                </a:r>
                <a:r>
                  <a:rPr b="1" lang="fr-FR" sz="2400" strike="noStrike" u="none" baseline="-25000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2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6" name="Freeform 16"/>
              <p:cNvSpPr/>
              <p:nvPr/>
            </p:nvSpPr>
            <p:spPr>
              <a:xfrm flipH="1" flipV="1">
                <a:off x="1177560" y="2109960"/>
                <a:ext cx="1767960" cy="1191960"/>
              </a:xfrm>
              <a:custGeom>
                <a:avLst/>
                <a:gdLst>
                  <a:gd name="textAreaLeft" fmla="*/ -360 w 1767960"/>
                  <a:gd name="textAreaRight" fmla="*/ 1767960 w 1767960"/>
                  <a:gd name="textAreaTop" fmla="*/ -360 h 1191960"/>
                  <a:gd name="textAreaBottom" fmla="*/ 1191960 h 1191960"/>
                  <a:gd name="GluePoint1X" fmla="*/ 0 w 3580"/>
                  <a:gd name="GluePoint1Y" fmla="*/ 134 h 1580"/>
                  <a:gd name="GluePoint2X" fmla="*/ 1 w 3580"/>
                  <a:gd name="GluePoint2Y" fmla="*/ 108 h 1580"/>
                  <a:gd name="GluePoint3X" fmla="*/ 1 w 3580"/>
                  <a:gd name="GluePoint3Y" fmla="*/ 77 h 1580"/>
                  <a:gd name="GluePoint4X" fmla="*/ 1 w 3580"/>
                  <a:gd name="GluePoint4Y" fmla="*/ 54 h 1580"/>
                  <a:gd name="GluePoint5X" fmla="*/ 1 w 3580"/>
                  <a:gd name="GluePoint5Y" fmla="*/ 30 h 1580"/>
                  <a:gd name="GluePoint6X" fmla="*/ 1 w 3580"/>
                  <a:gd name="GluePoint6Y" fmla="*/ 12 h 1580"/>
                  <a:gd name="GluePoint7X" fmla="*/ 1 w 3580"/>
                  <a:gd name="GluePoint7Y" fmla="*/ 2 h 1580"/>
                  <a:gd name="GluePoint8X" fmla="*/ 1 w 3580"/>
                  <a:gd name="GluePoint8Y" fmla="*/ 0 h 15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</a:cxnLst>
                <a:rect l="textAreaLeft" t="textAreaTop" r="textAreaRight" b="textAreaBottom"/>
                <a:pathLst>
                  <a:path w="3580" h="1580">
                    <a:moveTo>
                      <a:pt x="0" y="1580"/>
                    </a:moveTo>
                    <a:cubicBezTo>
                      <a:pt x="89" y="1481"/>
                      <a:pt x="178" y="1382"/>
                      <a:pt x="300" y="1270"/>
                    </a:cubicBezTo>
                    <a:cubicBezTo>
                      <a:pt x="422" y="1158"/>
                      <a:pt x="587" y="1017"/>
                      <a:pt x="730" y="910"/>
                    </a:cubicBezTo>
                    <a:cubicBezTo>
                      <a:pt x="873" y="803"/>
                      <a:pt x="992" y="723"/>
                      <a:pt x="1160" y="630"/>
                    </a:cubicBezTo>
                    <a:cubicBezTo>
                      <a:pt x="1328" y="537"/>
                      <a:pt x="1533" y="432"/>
                      <a:pt x="1740" y="350"/>
                    </a:cubicBezTo>
                    <a:cubicBezTo>
                      <a:pt x="1947" y="268"/>
                      <a:pt x="2180" y="193"/>
                      <a:pt x="2400" y="140"/>
                    </a:cubicBezTo>
                    <a:cubicBezTo>
                      <a:pt x="2620" y="87"/>
                      <a:pt x="2863" y="53"/>
                      <a:pt x="3060" y="30"/>
                    </a:cubicBezTo>
                    <a:cubicBezTo>
                      <a:pt x="3257" y="7"/>
                      <a:pt x="3418" y="3"/>
                      <a:pt x="3580" y="0"/>
                    </a:cubicBezTo>
                  </a:path>
                </a:pathLst>
              </a:custGeom>
              <a:noFill/>
              <a:ln w="28440">
                <a:solidFill>
                  <a:srgbClr val="0000ff"/>
                </a:solidFill>
                <a:round/>
                <a:headEnd len="med" type="oval" w="med"/>
                <a:tailEnd len="med" type="oval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7" name="Line 17"/>
              <p:cNvSpPr/>
              <p:nvPr/>
            </p:nvSpPr>
            <p:spPr>
              <a:xfrm flipH="1">
                <a:off x="2293200" y="2769120"/>
                <a:ext cx="165960" cy="133920"/>
              </a:xfrm>
              <a:prstGeom prst="line">
                <a:avLst/>
              </a:prstGeom>
              <a:ln w="9360">
                <a:solidFill>
                  <a:srgbClr val="0000ff"/>
                </a:solidFill>
                <a:prstDash val="sysDot"/>
                <a:miter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aphicFrame>
        <p:nvGraphicFramePr>
          <p:cNvPr id="158" name="Object 18"/>
          <p:cNvGraphicFramePr/>
          <p:nvPr/>
        </p:nvGraphicFramePr>
        <p:xfrm>
          <a:off x="3786120" y="3357720"/>
          <a:ext cx="4657680" cy="111888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59" name="Object 18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3786120" y="3357720"/>
                    <a:ext cx="4657680" cy="1118880"/>
                  </a:xfrm>
                  <a:prstGeom prst="rect">
                    <a:avLst/>
                  </a:prstGeom>
                  <a:solidFill>
                    <a:srgbClr val="ffff00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160" name="Object 19"/>
          <p:cNvGraphicFramePr/>
          <p:nvPr/>
        </p:nvGraphicFramePr>
        <p:xfrm>
          <a:off x="1928880" y="4500720"/>
          <a:ext cx="6195960" cy="1190520"/>
        </p:xfrm>
        <a:graphic>
          <a:graphicData uri="http://schemas.openxmlformats.org/presentationml/2006/ole">
            <p:oleObj r:id="rId3" spid="">
              <p:embed/>
              <p:pic>
                <p:nvPicPr>
                  <p:cNvPr id="161" name="Object 19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1928880" y="4500720"/>
                    <a:ext cx="6195960" cy="1190520"/>
                  </a:xfrm>
                  <a:prstGeom prst="rect">
                    <a:avLst/>
                  </a:prstGeom>
                  <a:solidFill>
                    <a:srgbClr val="ccff99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62" name="Rectangle 20"/>
          <p:cNvSpPr/>
          <p:nvPr/>
        </p:nvSpPr>
        <p:spPr>
          <a:xfrm>
            <a:off x="4035960" y="1853640"/>
            <a:ext cx="18608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l'expression :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Rectangle 21"/>
          <p:cNvSpPr/>
          <p:nvPr/>
        </p:nvSpPr>
        <p:spPr>
          <a:xfrm>
            <a:off x="234720" y="4952520"/>
            <a:ext cx="12556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s’écrit :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4" name="Object 24"/>
          <p:cNvGraphicFramePr/>
          <p:nvPr/>
        </p:nvGraphicFramePr>
        <p:xfrm>
          <a:off x="5857920" y="1500120"/>
          <a:ext cx="1870200" cy="1189080"/>
        </p:xfrm>
        <a:graphic>
          <a:graphicData uri="http://schemas.openxmlformats.org/presentationml/2006/ole">
            <p:oleObj r:id="rId5" spid="">
              <p:embed/>
              <p:pic>
                <p:nvPicPr>
                  <p:cNvPr id="165" name="Object 24" descr=""/>
                  <p:cNvPicPr/>
                  <p:nvPr/>
                </p:nvPicPr>
                <p:blipFill>
                  <a:blip r:embed="rId6"/>
                  <a:stretch/>
                </p:blipFill>
                <p:spPr>
                  <a:xfrm>
                    <a:off x="5857920" y="1500120"/>
                    <a:ext cx="1870200" cy="1189080"/>
                  </a:xfrm>
                  <a:prstGeom prst="rect">
                    <a:avLst/>
                  </a:prstGeom>
                  <a:solidFill>
                    <a:srgbClr val="ccff99"/>
                  </a:solidFill>
                  <a:ln w="0">
                    <a:noFill/>
                  </a:ln>
                </p:spPr>
              </p:pic>
            </p:oleObj>
          </a:graphicData>
        </a:graphic>
      </p:graphicFrame>
      <mc:AlternateContent>
        <mc:Choice xmlns:a14="http://schemas.microsoft.com/office/drawing/2010/main" Requires="a14">
          <p:sp>
            <p:nvSpPr>
              <p:cNvPr id="166" name="Object 9"/>
              <p:cNvSpPr txBox="1"/>
              <p:nvPr/>
            </p:nvSpPr>
            <p:spPr>
              <a:xfrm>
                <a:off x="6357960" y="2857680"/>
                <a:ext cx="746280" cy="3902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T</m:t>
                    </m:r>
                    <m:r>
                      <m:t xml:space="preserve">=</m:t>
                    </m:r>
                    <m:sSub>
                      <m:e>
                        <m:r>
                          <m:t xml:space="preserve">T</m:t>
                        </m:r>
                      </m:e>
                      <m:sub>
                        <m:r>
                          <m:t xml:space="preserve">S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66" name="Object 9"/>
              <p:cNvSpPr txBox="1"/>
              <p:nvPr/>
            </p:nvSpPr>
            <p:spPr>
              <a:xfrm>
                <a:off x="6357960" y="2857680"/>
                <a:ext cx="746280" cy="39024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67" name="Object 26"/>
              <p:cNvSpPr txBox="1"/>
              <p:nvPr/>
            </p:nvSpPr>
            <p:spPr>
              <a:xfrm>
                <a:off x="3929040" y="5724360"/>
                <a:ext cx="2928960" cy="11336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nary>
                      <m:naryPr>
                        <m:chr m:val="∫"/>
                      </m:naryPr>
                      <m:sub>
                        <m:r>
                          <m:t xml:space="preserve">1</m:t>
                        </m:r>
                      </m:sub>
                      <m:sup>
                        <m:r>
                          <m:t xml:space="preserve">2</m:t>
                        </m:r>
                      </m:sup>
                      <m:e>
                        <m:f>
                          <m:num>
                            <m:sSubSup>
                              <m:e>
                                <m:r>
                                  <m:t xml:space="preserve">δQ</m:t>
                                </m:r>
                              </m:e>
                              <m:sub>
                                <m:r>
                                  <m:rPr>
                                    <m:lit/>
                                    <m:nor/>
                                  </m:rPr>
                                  <m:t xml:space="preserve">12</m:t>
                                </m:r>
                              </m:sub>
                              <m:sup>
                                <m:r>
                                  <m:rPr>
                                    <m:lit/>
                                    <m:nor/>
                                  </m:rPr>
                                  <m:t xml:space="preserve">rev</m:t>
                                </m:r>
                              </m:sup>
                            </m:sSubSup>
                          </m:num>
                          <m:den>
                            <m:r>
                              <m:t xml:space="preserve">T</m:t>
                            </m:r>
                          </m:den>
                        </m:f>
                      </m:e>
                    </m:nary>
                    <m:r>
                      <m:t xml:space="preserve">=</m:t>
                    </m:r>
                    <m:nary>
                      <m:naryPr>
                        <m:chr m:val="∫"/>
                      </m:naryPr>
                      <m:sub>
                        <m:r>
                          <m:t xml:space="preserve">1</m:t>
                        </m:r>
                      </m:sub>
                      <m:sup>
                        <m:r>
                          <m:t xml:space="preserve">2</m:t>
                        </m:r>
                      </m:sup>
                      <m:e>
                        <m:f>
                          <m:num>
                            <m:sSubSup>
                              <m:e>
                                <m:r>
                                  <m:t xml:space="preserve">δQ</m:t>
                                </m:r>
                              </m:e>
                              <m:sub>
                                <m:r>
                                  <m:rPr>
                                    <m:lit/>
                                    <m:nor/>
                                  </m:rPr>
                                  <m:t xml:space="preserve">21</m:t>
                                </m:r>
                              </m:sub>
                              <m:sup>
                                <m:r>
                                  <m:rPr>
                                    <m:lit/>
                                    <m:nor/>
                                  </m:rPr>
                                  <m:t xml:space="preserve">rev</m:t>
                                </m:r>
                              </m:sup>
                            </m:sSubSup>
                          </m:num>
                          <m:den>
                            <m:r>
                              <m:t xml:space="preserve">T</m:t>
                            </m:r>
                          </m:den>
                        </m:f>
                      </m:e>
                    </m:nary>
                  </m:oMath>
                </a14:m>
              </a:p>
            </p:txBody>
          </p:sp>
        </mc:Choice>
        <mc:Fallback>
          <p:sp>
            <p:nvSpPr>
              <p:cNvPr id="167" name="Object 26"/>
              <p:cNvSpPr txBox="1"/>
              <p:nvPr/>
            </p:nvSpPr>
            <p:spPr>
              <a:xfrm>
                <a:off x="3929040" y="5724360"/>
                <a:ext cx="2928960" cy="113364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</p:sp>
        </mc:Fallback>
      </mc:AlternateContent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35" dur="indefinite" restart="never" nodeType="tmRoot">
          <p:childTnLst>
            <p:seq>
              <p:cTn id="436" dur="indefinite" nodeType="mainSeq">
                <p:childTnLst>
                  <p:par>
                    <p:cTn id="437" nodeType="clickEffect" fill="hold">
                      <p:stCondLst>
                        <p:cond delay="indefinite"/>
                      </p:stCondLst>
                      <p:childTnLst>
                        <p:par>
                          <p:cTn id="43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39" nodeType="click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41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42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443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4" nodeType="clickEffect" fill="hold">
                      <p:stCondLst>
                        <p:cond delay="indefinite"/>
                      </p:stCondLst>
                      <p:childTnLst>
                        <p:par>
                          <p:cTn id="44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46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448" dur="8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449" dur="8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0" dur="8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1" nodeType="clickEffect" fill="hold">
                      <p:stCondLst>
                        <p:cond delay="indefinite"/>
                      </p:stCondLst>
                      <p:childTnLst>
                        <p:par>
                          <p:cTn id="45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53" nodeType="click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55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56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457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8" nodeType="clickEffect" fill="hold">
                      <p:stCondLst>
                        <p:cond delay="indefinite"/>
                      </p:stCondLst>
                      <p:childTnLst>
                        <p:par>
                          <p:cTn id="45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60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462" dur="8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463" dur="8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4" dur="8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5" nodeType="clickEffect" fill="hold">
                      <p:stCondLst>
                        <p:cond delay="indefinite"/>
                      </p:stCondLst>
                      <p:childTnLst>
                        <p:par>
                          <p:cTn id="46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67" nodeType="clickEffect" fill="hold" presetClass="entr" presetID="2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6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7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71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72" dur="10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7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7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75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47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7" nodeType="clickEffect" fill="hold">
                      <p:stCondLst>
                        <p:cond delay="indefinite"/>
                      </p:stCondLst>
                      <p:childTnLst>
                        <p:par>
                          <p:cTn id="47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1" nodeType="clickEffect" fill="hold">
                      <p:stCondLst>
                        <p:cond delay="indefinite"/>
                      </p:stCondLst>
                      <p:childTnLst>
                        <p:par>
                          <p:cTn id="48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83" nodeType="click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85" dur="10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86" dur="10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487"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8" nodeType="clickEffect" fill="hold">
                      <p:stCondLst>
                        <p:cond delay="indefinite"/>
                      </p:stCondLst>
                      <p:childTnLst>
                        <p:par>
                          <p:cTn id="48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90" nodeType="click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92" dur="1000" fill="hold"/>
                                        <p:tgtEl>
                                          <p:spTgt spid="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93" dur="1000" fill="hold"/>
                                        <p:tgtEl>
                                          <p:spTgt spid="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494" dur="1000"/>
                                        <p:tgtEl>
                                          <p:spTgt spid="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5" nodeType="clickEffect" fill="hold">
                      <p:stCondLst>
                        <p:cond delay="indefinite"/>
                      </p:stCondLst>
                      <p:childTnLst>
                        <p:par>
                          <p:cTn id="49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97" nodeType="click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99" dur="10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00" dur="10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501"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2" nodeType="clickEffect" fill="hold">
                      <p:stCondLst>
                        <p:cond delay="indefinite"/>
                      </p:stCondLst>
                      <p:childTnLst>
                        <p:par>
                          <p:cTn id="50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04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506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angle 2"/>
          <p:cNvSpPr/>
          <p:nvPr/>
        </p:nvSpPr>
        <p:spPr>
          <a:xfrm>
            <a:off x="0" y="0"/>
            <a:ext cx="9144000" cy="72396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4000" strike="noStrike" u="none">
                <a:solidFill>
                  <a:srgbClr val="003300"/>
                </a:solidFill>
                <a:effectLst/>
                <a:uFillTx/>
                <a:latin typeface="Arial"/>
              </a:rPr>
              <a:t>2</a:t>
            </a:r>
            <a:r>
              <a:rPr b="1" lang="fr-FR" sz="4000" strike="noStrike" u="none" baseline="30000">
                <a:solidFill>
                  <a:srgbClr val="003300"/>
                </a:solidFill>
                <a:effectLst/>
                <a:uFillTx/>
                <a:latin typeface="Arial"/>
              </a:rPr>
              <a:t>nd</a:t>
            </a:r>
            <a:r>
              <a:rPr b="1" lang="fr-FR" sz="4000" strike="noStrike" u="none">
                <a:solidFill>
                  <a:srgbClr val="003300"/>
                </a:solidFill>
                <a:effectLst/>
                <a:uFillTx/>
                <a:latin typeface="Arial"/>
              </a:rPr>
              <a:t> Principe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Rectangle 3"/>
          <p:cNvSpPr/>
          <p:nvPr/>
        </p:nvSpPr>
        <p:spPr>
          <a:xfrm>
            <a:off x="34560" y="2287080"/>
            <a:ext cx="77727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On déduit que pour une transformation réversible l’intégrale :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70" name="Object 4"/>
          <p:cNvGraphicFramePr/>
          <p:nvPr/>
        </p:nvGraphicFramePr>
        <p:xfrm>
          <a:off x="463680" y="2928960"/>
          <a:ext cx="2290680" cy="164772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71" name="Object 4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463680" y="2928960"/>
                    <a:ext cx="2290680" cy="1647720"/>
                  </a:xfrm>
                  <a:prstGeom prst="rect">
                    <a:avLst/>
                  </a:prstGeom>
                  <a:solidFill>
                    <a:srgbClr val="ccff99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72" name="Rectangle 5"/>
          <p:cNvSpPr/>
          <p:nvPr/>
        </p:nvSpPr>
        <p:spPr>
          <a:xfrm>
            <a:off x="2908080" y="3355560"/>
            <a:ext cx="40831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ne dépend pas du chemin suivi.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Box 7"/>
          <p:cNvSpPr/>
          <p:nvPr/>
        </p:nvSpPr>
        <p:spPr>
          <a:xfrm>
            <a:off x="216000" y="4851360"/>
            <a:ext cx="876276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Cette intégrale peut donc être considérée comme résultant de la variation d'une grandeur thermodynamique qui est une fonction d’état, notée </a:t>
            </a:r>
            <a:r>
              <a:rPr b="1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S</a:t>
            </a: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et </a:t>
            </a:r>
            <a:r>
              <a:rPr b="0" lang="fr-FR" sz="2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appelée Entropie</a:t>
            </a: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74" name="Object 14"/>
              <p:cNvSpPr txBox="1"/>
              <p:nvPr/>
            </p:nvSpPr>
            <p:spPr>
              <a:xfrm>
                <a:off x="2000160" y="928800"/>
                <a:ext cx="2627280" cy="11649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nary>
                      <m:naryPr>
                        <m:chr m:val="∫"/>
                      </m:naryPr>
                      <m:sub>
                        <m:r>
                          <m:t xml:space="preserve">1</m:t>
                        </m:r>
                      </m:sub>
                      <m:sup>
                        <m:r>
                          <m:t xml:space="preserve">2</m:t>
                        </m:r>
                      </m:sup>
                      <m:e>
                        <m:f>
                          <m:num>
                            <m:sSubSup>
                              <m:e>
                                <m:r>
                                  <m:t xml:space="preserve">δQ</m:t>
                                </m:r>
                              </m:e>
                              <m:sub>
                                <m:r>
                                  <m:rPr>
                                    <m:lit/>
                                    <m:nor/>
                                  </m:rPr>
                                  <m:t xml:space="preserve">12</m:t>
                                </m:r>
                              </m:sub>
                              <m:sup>
                                <m:r>
                                  <m:rPr>
                                    <m:lit/>
                                    <m:nor/>
                                  </m:rPr>
                                  <m:t xml:space="preserve">rev</m:t>
                                </m:r>
                              </m:sup>
                            </m:sSubSup>
                          </m:num>
                          <m:den>
                            <m:r>
                              <m:t xml:space="preserve">T</m:t>
                            </m:r>
                          </m:den>
                        </m:f>
                        <m:r>
                          <m:t xml:space="preserve">=</m:t>
                        </m:r>
                      </m:e>
                    </m:nary>
                    <m:nary>
                      <m:naryPr>
                        <m:chr m:val="∫"/>
                      </m:naryPr>
                      <m:sub>
                        <m:r>
                          <m:t xml:space="preserve">1</m:t>
                        </m:r>
                      </m:sub>
                      <m:sup>
                        <m:r>
                          <m:t xml:space="preserve">2</m:t>
                        </m:r>
                      </m:sup>
                      <m:e>
                        <m:f>
                          <m:num>
                            <m:sSubSup>
                              <m:e>
                                <m:r>
                                  <m:t xml:space="preserve">δQ</m:t>
                                </m:r>
                              </m:e>
                              <m:sub>
                                <m:r>
                                  <m:rPr>
                                    <m:lit/>
                                    <m:nor/>
                                  </m:rPr>
                                  <m:t xml:space="preserve">21</m:t>
                                </m:r>
                              </m:sub>
                              <m:sup>
                                <m:r>
                                  <m:rPr>
                                    <m:lit/>
                                    <m:nor/>
                                  </m:rPr>
                                  <m:t xml:space="preserve">rev</m:t>
                                </m:r>
                              </m:sup>
                            </m:sSubSup>
                          </m:num>
                          <m:den>
                            <m:r>
                              <m:t xml:space="preserve">T</m:t>
                            </m:r>
                          </m:den>
                        </m:f>
                      </m:e>
                    </m:nary>
                  </m:oMath>
                </a14:m>
              </a:p>
            </p:txBody>
          </p:sp>
        </mc:Choice>
        <mc:Fallback>
          <p:sp>
            <p:nvSpPr>
              <p:cNvPr id="174" name="Object 14"/>
              <p:cNvSpPr txBox="1"/>
              <p:nvPr/>
            </p:nvSpPr>
            <p:spPr>
              <a:xfrm>
                <a:off x="2000160" y="928800"/>
                <a:ext cx="2627280" cy="11649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07" dur="indefinite" restart="never" nodeType="tmRoot">
          <p:childTnLst>
            <p:seq>
              <p:cTn id="508" dur="indefinite" nodeType="mainSeq">
                <p:childTnLst>
                  <p:par>
                    <p:cTn id="509" nodeType="clickEffect" fill="hold">
                      <p:stCondLst>
                        <p:cond delay="0"/>
                      </p:stCondLst>
                      <p:childTnLst>
                        <p:par>
                          <p:cTn id="51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11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3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4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5" nodeType="clickEffect" fill="hold">
                      <p:stCondLst>
                        <p:cond delay="indefinite"/>
                      </p:stCondLst>
                      <p:childTnLst>
                        <p:par>
                          <p:cTn id="51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17" nodeType="click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19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20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521"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2" nodeType="clickEffect" fill="hold">
                      <p:stCondLst>
                        <p:cond delay="indefinite"/>
                      </p:stCondLst>
                      <p:childTnLst>
                        <p:par>
                          <p:cTn id="52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2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6" dur="2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7" nodeType="clickEffect" fill="hold">
                      <p:stCondLst>
                        <p:cond delay="indefinite"/>
                      </p:stCondLst>
                      <p:childTnLst>
                        <p:par>
                          <p:cTn id="5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29" nodeType="click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31" dur="10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32" dur="10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533"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4" nodeType="clickEffect" fill="hold">
                      <p:stCondLst>
                        <p:cond delay="indefinite"/>
                      </p:stCondLst>
                      <p:childTnLst>
                        <p:par>
                          <p:cTn id="53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36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538" dur="8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539" dur="8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0" dur="8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ctangle 2"/>
          <p:cNvSpPr/>
          <p:nvPr/>
        </p:nvSpPr>
        <p:spPr>
          <a:xfrm>
            <a:off x="0" y="0"/>
            <a:ext cx="9144000" cy="72396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4000" strike="noStrike" u="none">
                <a:solidFill>
                  <a:srgbClr val="003300"/>
                </a:solidFill>
                <a:effectLst/>
                <a:uFillTx/>
                <a:latin typeface="Arial"/>
              </a:rPr>
              <a:t>2</a:t>
            </a:r>
            <a:r>
              <a:rPr b="1" lang="fr-FR" sz="4000" strike="noStrike" u="none" baseline="30000">
                <a:solidFill>
                  <a:srgbClr val="003300"/>
                </a:solidFill>
                <a:effectLst/>
                <a:uFillTx/>
                <a:latin typeface="Arial"/>
              </a:rPr>
              <a:t>nd</a:t>
            </a:r>
            <a:r>
              <a:rPr b="1" lang="fr-FR" sz="4000" strike="noStrike" u="none">
                <a:solidFill>
                  <a:srgbClr val="003300"/>
                </a:solidFill>
                <a:effectLst/>
                <a:uFillTx/>
                <a:latin typeface="Arial"/>
              </a:rPr>
              <a:t> Principe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Rectangle 3"/>
          <p:cNvSpPr/>
          <p:nvPr/>
        </p:nvSpPr>
        <p:spPr>
          <a:xfrm>
            <a:off x="198360" y="875520"/>
            <a:ext cx="894564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On conclue que la variation d’entropie lors d’une transformation réversible d’un système d’un état 1 à un état 2 est égale à :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77" name="Object 4"/>
          <p:cNvGraphicFramePr/>
          <p:nvPr/>
        </p:nvGraphicFramePr>
        <p:xfrm>
          <a:off x="2286000" y="1714680"/>
          <a:ext cx="4262400" cy="115704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78" name="Object 4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2286000" y="1714680"/>
                    <a:ext cx="4262400" cy="1157040"/>
                  </a:xfrm>
                  <a:prstGeom prst="rect">
                    <a:avLst/>
                  </a:prstGeom>
                  <a:solidFill>
                    <a:srgbClr val="00ffff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79" name="Rectangle 5"/>
          <p:cNvSpPr/>
          <p:nvPr/>
        </p:nvSpPr>
        <p:spPr>
          <a:xfrm>
            <a:off x="379440" y="2858760"/>
            <a:ext cx="61383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La forme différentielle de cette fonction s’écrit :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0" name="Object 6"/>
          <p:cNvGraphicFramePr/>
          <p:nvPr/>
        </p:nvGraphicFramePr>
        <p:xfrm>
          <a:off x="2857680" y="3286080"/>
          <a:ext cx="2038320" cy="1211400"/>
        </p:xfrm>
        <a:graphic>
          <a:graphicData uri="http://schemas.openxmlformats.org/presentationml/2006/ole">
            <p:oleObj r:id="rId3" spid="">
              <p:embed/>
              <p:pic>
                <p:nvPicPr>
                  <p:cNvPr id="181" name="Object 6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2857680" y="3286080"/>
                    <a:ext cx="2038320" cy="1211400"/>
                  </a:xfrm>
                  <a:prstGeom prst="rect">
                    <a:avLst/>
                  </a:prstGeom>
                  <a:solidFill>
                    <a:srgbClr val="00ffff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82" name="Rectangle 7"/>
          <p:cNvSpPr/>
          <p:nvPr/>
        </p:nvSpPr>
        <p:spPr>
          <a:xfrm>
            <a:off x="322200" y="4502880"/>
            <a:ext cx="875052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(T : est la température thermodynamique du système et </a:t>
            </a:r>
            <a:r>
              <a:rPr b="0" lang="fr-FR" sz="24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Times New Roman"/>
              </a:rPr>
              <a:t>dS</a:t>
            </a: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est une différentielle totale exacte)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41" dur="indefinite" restart="never" nodeType="tmRoot">
          <p:childTnLst>
            <p:seq>
              <p:cTn id="542" dur="indefinite" nodeType="mainSeq">
                <p:childTnLst>
                  <p:par>
                    <p:cTn id="543" nodeType="clickEffect" fill="hold">
                      <p:stCondLst>
                        <p:cond delay="indefinite"/>
                      </p:stCondLst>
                      <p:childTnLst>
                        <p:par>
                          <p:cTn id="54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45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547" dur="8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548" dur="8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9" dur="8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0" nodeType="clickEffect" fill="hold">
                      <p:stCondLst>
                        <p:cond delay="indefinite"/>
                      </p:stCondLst>
                      <p:childTnLst>
                        <p:par>
                          <p:cTn id="55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5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4" dur="2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5" nodeType="clickEffect" fill="hold">
                      <p:stCondLst>
                        <p:cond delay="indefinite"/>
                      </p:stCondLst>
                      <p:childTnLst>
                        <p:par>
                          <p:cTn id="55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57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559" dur="80"/>
                                        <p:tgtEl>
                                          <p:spTgt spid="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560" dur="80"/>
                                        <p:tgtEl>
                                          <p:spTgt spid="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1" dur="80"/>
                                        <p:tgtEl>
                                          <p:spTgt spid="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2" nodeType="clickEffect" fill="hold">
                      <p:stCondLst>
                        <p:cond delay="indefinite"/>
                      </p:stCondLst>
                      <p:childTnLst>
                        <p:par>
                          <p:cTn id="56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6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6" dur="2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7" nodeType="clickEffect" fill="hold">
                      <p:stCondLst>
                        <p:cond delay="indefinite"/>
                      </p:stCondLst>
                      <p:childTnLst>
                        <p:par>
                          <p:cTn id="56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69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571" dur="8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572" dur="8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3" dur="8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Rectangle 4"/>
          <p:cNvSpPr/>
          <p:nvPr/>
        </p:nvSpPr>
        <p:spPr>
          <a:xfrm>
            <a:off x="0" y="0"/>
            <a:ext cx="9144000" cy="72396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4000" strike="noStrike" u="none">
                <a:solidFill>
                  <a:srgbClr val="003300"/>
                </a:solidFill>
                <a:effectLst/>
                <a:uFillTx/>
                <a:latin typeface="Arial"/>
              </a:rPr>
              <a:t>2</a:t>
            </a:r>
            <a:r>
              <a:rPr b="1" lang="fr-FR" sz="4000" strike="noStrike" u="none" baseline="30000">
                <a:solidFill>
                  <a:srgbClr val="003300"/>
                </a:solidFill>
                <a:effectLst/>
                <a:uFillTx/>
                <a:latin typeface="Arial"/>
              </a:rPr>
              <a:t>nd</a:t>
            </a:r>
            <a:r>
              <a:rPr b="1" lang="fr-FR" sz="4000" strike="noStrike" u="none">
                <a:solidFill>
                  <a:srgbClr val="003300"/>
                </a:solidFill>
                <a:effectLst/>
                <a:uFillTx/>
                <a:latin typeface="Arial"/>
              </a:rPr>
              <a:t> Principe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Rectangle 6"/>
          <p:cNvSpPr/>
          <p:nvPr/>
        </p:nvSpPr>
        <p:spPr>
          <a:xfrm>
            <a:off x="611640" y="763920"/>
            <a:ext cx="31453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II.4.3 Entropie créée</a:t>
            </a: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5" name="Object 8"/>
          <p:cNvGraphicFramePr/>
          <p:nvPr/>
        </p:nvGraphicFramePr>
        <p:xfrm>
          <a:off x="3500280" y="1928880"/>
          <a:ext cx="4308480" cy="112536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86" name="Object 8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3500280" y="1928880"/>
                    <a:ext cx="4308480" cy="1125360"/>
                  </a:xfrm>
                  <a:prstGeom prst="rect">
                    <a:avLst/>
                  </a:prstGeom>
                  <a:solidFill>
                    <a:srgbClr val="ffff66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187" name="Object 7"/>
          <p:cNvGraphicFramePr/>
          <p:nvPr/>
        </p:nvGraphicFramePr>
        <p:xfrm>
          <a:off x="1857240" y="3071880"/>
          <a:ext cx="4865760" cy="903240"/>
        </p:xfrm>
        <a:graphic>
          <a:graphicData uri="http://schemas.openxmlformats.org/presentationml/2006/ole">
            <p:oleObj r:id="rId3" spid="">
              <p:embed/>
              <p:pic>
                <p:nvPicPr>
                  <p:cNvPr id="188" name="Object 7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1857240" y="3071880"/>
                    <a:ext cx="4865760" cy="903240"/>
                  </a:xfrm>
                  <a:prstGeom prst="rect">
                    <a:avLst/>
                  </a:prstGeom>
                  <a:solidFill>
                    <a:srgbClr val="ffff66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89" name="Rectangle 9"/>
          <p:cNvSpPr/>
          <p:nvPr/>
        </p:nvSpPr>
        <p:spPr>
          <a:xfrm>
            <a:off x="214200" y="1145160"/>
            <a:ext cx="856944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Si une transformation d’un système est irréversible, la variation d’entropie peut s’écrire :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Rectangle 14"/>
          <p:cNvSpPr/>
          <p:nvPr/>
        </p:nvSpPr>
        <p:spPr>
          <a:xfrm>
            <a:off x="0" y="33195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Rectangle 7"/>
          <p:cNvSpPr/>
          <p:nvPr/>
        </p:nvSpPr>
        <p:spPr>
          <a:xfrm>
            <a:off x="1428840" y="3929040"/>
            <a:ext cx="738324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 la variation d’entropie d’échange, elle est égale lors d’une transformation irréversible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92" name="Object 9"/>
          <p:cNvGraphicFramePr/>
          <p:nvPr/>
        </p:nvGraphicFramePr>
        <p:xfrm>
          <a:off x="252360" y="3929040"/>
          <a:ext cx="1116000" cy="625320"/>
        </p:xfrm>
        <a:graphic>
          <a:graphicData uri="http://schemas.openxmlformats.org/presentationml/2006/ole">
            <p:oleObj r:id="rId5" spid="">
              <p:embed/>
              <p:pic>
                <p:nvPicPr>
                  <p:cNvPr id="193" name="Object 9" descr=""/>
                  <p:cNvPicPr/>
                  <p:nvPr/>
                </p:nvPicPr>
                <p:blipFill>
                  <a:blip r:embed="rId6"/>
                  <a:stretch/>
                </p:blipFill>
                <p:spPr>
                  <a:xfrm>
                    <a:off x="252360" y="3929040"/>
                    <a:ext cx="1116000" cy="625320"/>
                  </a:xfrm>
                  <a:prstGeom prst="rect">
                    <a:avLst/>
                  </a:prstGeom>
                  <a:solidFill>
                    <a:srgbClr val="ffff66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94" name="Text Box 10"/>
          <p:cNvSpPr/>
          <p:nvPr/>
        </p:nvSpPr>
        <p:spPr>
          <a:xfrm>
            <a:off x="1357200" y="5726160"/>
            <a:ext cx="731052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 l’entropie créée, on remarque, d’après son expression qu’elle est toujours supérieure ou égale à zéro.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95" name="Object 13"/>
          <p:cNvGraphicFramePr/>
          <p:nvPr/>
        </p:nvGraphicFramePr>
        <p:xfrm>
          <a:off x="214200" y="5940360"/>
          <a:ext cx="1043280" cy="727200"/>
        </p:xfrm>
        <a:graphic>
          <a:graphicData uri="http://schemas.openxmlformats.org/presentationml/2006/ole">
            <p:oleObj r:id="rId7" spid="">
              <p:embed/>
              <p:pic>
                <p:nvPicPr>
                  <p:cNvPr id="196" name="Object 13" descr=""/>
                  <p:cNvPicPr/>
                  <p:nvPr/>
                </p:nvPicPr>
                <p:blipFill>
                  <a:blip r:embed="rId8"/>
                  <a:stretch/>
                </p:blipFill>
                <p:spPr>
                  <a:xfrm>
                    <a:off x="214200" y="5940360"/>
                    <a:ext cx="1043280" cy="727200"/>
                  </a:xfrm>
                  <a:prstGeom prst="rect">
                    <a:avLst/>
                  </a:prstGeom>
                  <a:solidFill>
                    <a:srgbClr val="ffff66"/>
                  </a:solidFill>
                  <a:ln w="0">
                    <a:noFill/>
                  </a:ln>
                </p:spPr>
              </p:pic>
            </p:oleObj>
          </a:graphicData>
        </a:graphic>
      </p:graphicFrame>
      <mc:AlternateContent>
        <mc:Choice xmlns:a14="http://schemas.microsoft.com/office/drawing/2010/main" Requires="a14">
          <p:sp>
            <p:nvSpPr>
              <p:cNvPr id="197" name="Object 10"/>
              <p:cNvSpPr txBox="1"/>
              <p:nvPr/>
            </p:nvSpPr>
            <p:spPr>
              <a:xfrm>
                <a:off x="3857760" y="4643280"/>
                <a:ext cx="1998360" cy="10922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Sup>
                      <m:e>
                        <m:r>
                          <m:t xml:space="preserve">ΔS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12</m:t>
                        </m:r>
                      </m:sub>
                      <m:sup>
                        <m:r>
                          <m:t xml:space="preserve">e</m:t>
                        </m:r>
                      </m:sup>
                    </m:sSubSup>
                    <m:r>
                      <m:t xml:space="preserve">=</m:t>
                    </m:r>
                    <m:f>
                      <m:num>
                        <m:sSup>
                          <m:e>
                            <m:r>
                              <m:t xml:space="preserve">Q</m:t>
                            </m:r>
                          </m:e>
                          <m:sup>
                            <m:r>
                              <m:rPr>
                                <m:lit/>
                                <m:nor/>
                              </m:rPr>
                              <m:t xml:space="preserve">irrev</m:t>
                            </m:r>
                          </m:sup>
                        </m:sSup>
                      </m:num>
                      <m:den>
                        <m:sSub>
                          <m:e>
                            <m:r>
                              <m:t xml:space="preserve">T</m:t>
                            </m:r>
                          </m:e>
                          <m:sub>
                            <m:r>
                              <m:rPr>
                                <m:lit/>
                                <m:nor/>
                              </m:rPr>
                              <m:t xml:space="preserve">source</m:t>
                            </m:r>
                          </m:sub>
                        </m:sSub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97" name="Object 10"/>
              <p:cNvSpPr txBox="1"/>
              <p:nvPr/>
            </p:nvSpPr>
            <p:spPr>
              <a:xfrm>
                <a:off x="3857760" y="4643280"/>
                <a:ext cx="1998360" cy="109224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</p:sp>
        </mc:Fallback>
      </mc:AlternateContent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74" dur="indefinite" restart="never" nodeType="tmRoot">
          <p:childTnLst>
            <p:seq>
              <p:cTn id="575" dur="indefinite" nodeType="mainSeq">
                <p:childTnLst>
                  <p:par>
                    <p:cTn id="576" nodeType="clickEffect" fill="hold">
                      <p:stCondLst>
                        <p:cond delay="0"/>
                      </p:stCondLst>
                      <p:childTnLst>
                        <p:par>
                          <p:cTn id="57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78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58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Rectangle 4"/>
          <p:cNvSpPr/>
          <p:nvPr/>
        </p:nvSpPr>
        <p:spPr>
          <a:xfrm>
            <a:off x="0" y="0"/>
            <a:ext cx="9144000" cy="72396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4000" strike="noStrike" u="none">
                <a:solidFill>
                  <a:srgbClr val="003300"/>
                </a:solidFill>
                <a:effectLst/>
                <a:uFillTx/>
                <a:latin typeface="Arial"/>
              </a:rPr>
              <a:t>2</a:t>
            </a:r>
            <a:r>
              <a:rPr b="1" lang="fr-FR" sz="4000" strike="noStrike" u="none" baseline="30000">
                <a:solidFill>
                  <a:srgbClr val="003300"/>
                </a:solidFill>
                <a:effectLst/>
                <a:uFillTx/>
                <a:latin typeface="Arial"/>
              </a:rPr>
              <a:t>nd</a:t>
            </a:r>
            <a:r>
              <a:rPr b="1" lang="fr-FR" sz="4000" strike="noStrike" u="none">
                <a:solidFill>
                  <a:srgbClr val="003300"/>
                </a:solidFill>
                <a:effectLst/>
                <a:uFillTx/>
                <a:latin typeface="Arial"/>
              </a:rPr>
              <a:t> Principe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Rectangle 6"/>
          <p:cNvSpPr/>
          <p:nvPr/>
        </p:nvSpPr>
        <p:spPr>
          <a:xfrm>
            <a:off x="0" y="3129120"/>
            <a:ext cx="18432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00" name="Object 5"/>
          <p:cNvGraphicFramePr/>
          <p:nvPr/>
        </p:nvGraphicFramePr>
        <p:xfrm>
          <a:off x="0" y="4143240"/>
          <a:ext cx="9144000" cy="163692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201" name="Object 5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0" y="4143240"/>
                    <a:ext cx="9144000" cy="1636920"/>
                  </a:xfrm>
                  <a:prstGeom prst="rect">
                    <a:avLst/>
                  </a:prstGeom>
                  <a:solidFill>
                    <a:srgbClr val="ffff99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202" name="Object 7"/>
          <p:cNvGraphicFramePr/>
          <p:nvPr/>
        </p:nvGraphicFramePr>
        <p:xfrm>
          <a:off x="1042920" y="1773360"/>
          <a:ext cx="7286760" cy="1331640"/>
        </p:xfrm>
        <a:graphic>
          <a:graphicData uri="http://schemas.openxmlformats.org/presentationml/2006/ole">
            <p:oleObj r:id="rId3" spid="">
              <p:embed/>
              <p:pic>
                <p:nvPicPr>
                  <p:cNvPr id="203" name="Object 7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1042920" y="1773360"/>
                    <a:ext cx="7286760" cy="1331640"/>
                  </a:xfrm>
                  <a:prstGeom prst="rect">
                    <a:avLst/>
                  </a:prstGeom>
                  <a:solidFill>
                    <a:srgbClr val="ffff66"/>
                  </a:solidFill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Rectangle 4"/>
          <p:cNvSpPr/>
          <p:nvPr/>
        </p:nvSpPr>
        <p:spPr>
          <a:xfrm>
            <a:off x="0" y="0"/>
            <a:ext cx="9144000" cy="72396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4000" strike="noStrike" u="none">
                <a:solidFill>
                  <a:srgbClr val="003300"/>
                </a:solidFill>
                <a:effectLst/>
                <a:uFillTx/>
                <a:latin typeface="Arial"/>
              </a:rPr>
              <a:t>2</a:t>
            </a:r>
            <a:r>
              <a:rPr b="1" lang="fr-FR" sz="4000" strike="noStrike" u="none" baseline="30000">
                <a:solidFill>
                  <a:srgbClr val="003300"/>
                </a:solidFill>
                <a:effectLst/>
                <a:uFillTx/>
                <a:latin typeface="Arial"/>
              </a:rPr>
              <a:t>nd</a:t>
            </a:r>
            <a:r>
              <a:rPr b="1" lang="fr-FR" sz="4000" strike="noStrike" u="none">
                <a:solidFill>
                  <a:srgbClr val="003300"/>
                </a:solidFill>
                <a:effectLst/>
                <a:uFillTx/>
                <a:latin typeface="Arial"/>
              </a:rPr>
              <a:t> Principe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Rectangle 6"/>
          <p:cNvSpPr/>
          <p:nvPr/>
        </p:nvSpPr>
        <p:spPr>
          <a:xfrm>
            <a:off x="0" y="3129120"/>
            <a:ext cx="18432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Rectangle 4"/>
          <p:cNvSpPr/>
          <p:nvPr/>
        </p:nvSpPr>
        <p:spPr>
          <a:xfrm>
            <a:off x="0" y="694440"/>
            <a:ext cx="8786880" cy="124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algn="just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Application : Bilan entropique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Un morceau de fer de 2 kg, chauffé à blanc (à la température de 880 K) est jeté dans un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 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lac à 5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 °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C. Quelle est l’entropie créée ? On donne la chaleur massique du fer :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c</a:t>
            </a:r>
            <a:r>
              <a:rPr b="0" lang="fr-FR" sz="1800" strike="noStrike" u="none" baseline="-30000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fer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= 4600 kJ.kg</a:t>
            </a:r>
            <a:r>
              <a:rPr b="0" lang="fr-FR" sz="1800" strike="noStrike" u="none" baseline="30000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-1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.K</a:t>
            </a:r>
            <a:r>
              <a:rPr b="0" lang="fr-FR" sz="1800" strike="noStrike" u="none" baseline="30000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-1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.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 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Quelle est la cause de cette création d’entropie 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Rectangle 5"/>
          <p:cNvSpPr/>
          <p:nvPr/>
        </p:nvSpPr>
        <p:spPr>
          <a:xfrm>
            <a:off x="0" y="2287800"/>
            <a:ext cx="885816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On peut considérer que la température du lac ne varie pas et dans l’état final, le fer est à la même température que le lac.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8" name="Connecteur droit 9" descr=""/>
          <p:cNvPicPr/>
          <p:nvPr/>
        </p:nvPicPr>
        <p:blipFill>
          <a:blip r:embed="rId1"/>
          <a:stretch/>
        </p:blipFill>
        <p:spPr>
          <a:xfrm>
            <a:off x="1158840" y="2163600"/>
            <a:ext cx="5827680" cy="14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9" name="Rectangle 10"/>
          <p:cNvSpPr/>
          <p:nvPr/>
        </p:nvSpPr>
        <p:spPr>
          <a:xfrm>
            <a:off x="18000" y="2928960"/>
            <a:ext cx="33735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La variation d’entropie du fer est :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Rectangl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11" name="Object 6"/>
              <p:cNvSpPr txBox="1"/>
              <p:nvPr/>
            </p:nvSpPr>
            <p:spPr>
              <a:xfrm>
                <a:off x="3513240" y="2630520"/>
                <a:ext cx="2840040" cy="8650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dS</m:t>
                    </m:r>
                    <m:r>
                      <m:t xml:space="preserve">=</m:t>
                    </m:r>
                    <m:f>
                      <m:num>
                        <m:sSub>
                          <m:e>
                            <m:r>
                              <m:t xml:space="preserve">δQ</m:t>
                            </m:r>
                          </m:e>
                          <m:sub>
                            <m:r>
                              <m:rPr>
                                <m:lit/>
                                <m:nor/>
                              </m:rPr>
                              <m:t xml:space="preserve">rév</m:t>
                            </m:r>
                          </m:sub>
                        </m:sSub>
                      </m:num>
                      <m:den>
                        <m:r>
                          <m:t xml:space="preserve">T</m:t>
                        </m:r>
                      </m:den>
                    </m:f>
                    <m:r>
                      <m:t xml:space="preserve">=</m:t>
                    </m:r>
                    <m:f>
                      <m:num>
                        <m:r>
                          <m:t xml:space="preserve">m</m:t>
                        </m:r>
                        <m:r>
                          <m:rPr>
                            <m:lit/>
                            <m:nor/>
                          </m:rPr>
                          <m:t xml:space="preserve">.</m:t>
                        </m:r>
                        <m:sSub>
                          <m:e>
                            <m:r>
                              <m:t xml:space="preserve">c</m:t>
                            </m:r>
                          </m:e>
                          <m:sub>
                            <m:r>
                              <m:rPr>
                                <m:lit/>
                                <m:nor/>
                              </m:rPr>
                              <m:t xml:space="preserve">fer</m:t>
                            </m:r>
                          </m:sub>
                        </m:sSub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num>
                      <m:den>
                        <m:r>
                          <m:t xml:space="preserve">T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211" name="Object 6"/>
              <p:cNvSpPr txBox="1"/>
              <p:nvPr/>
            </p:nvSpPr>
            <p:spPr>
              <a:xfrm>
                <a:off x="3513240" y="2630520"/>
                <a:ext cx="2840040" cy="8650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212" name="Rectangl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13" name="Object 8"/>
              <p:cNvSpPr txBox="1"/>
              <p:nvPr/>
            </p:nvSpPr>
            <p:spPr>
              <a:xfrm>
                <a:off x="4384800" y="3357720"/>
                <a:ext cx="4187880" cy="8427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ΔS</m:t>
                    </m:r>
                    <m:r>
                      <m:t xml:space="preserve">=</m:t>
                    </m:r>
                    <m:r>
                      <m:t xml:space="preserve">m</m:t>
                    </m:r>
                    <m:r>
                      <m:rPr>
                        <m:lit/>
                        <m:nor/>
                      </m:rPr>
                      <m:t xml:space="preserve">.</m:t>
                    </m:r>
                    <m:sSub>
                      <m:e>
                        <m:r>
                          <m:t xml:space="preserve">c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fer</m:t>
                        </m:r>
                      </m:sub>
                    </m:sSub>
                    <m:r>
                      <m:rPr>
                        <m:lit/>
                        <m:nor/>
                      </m:rPr>
                      <m:t xml:space="preserve">Ln</m:t>
                    </m:r>
                    <m:d>
                      <m:dPr>
                        <m:begChr m:val="("/>
                        <m:endChr m:val=")"/>
                      </m:dPr>
                      <m:e>
                        <m:f>
                          <m:num>
                            <m:sSub>
                              <m:e>
                                <m:r>
                                  <m:t xml:space="preserve">T</m:t>
                                </m:r>
                              </m:e>
                              <m:sub>
                                <m:r>
                                  <m:rPr>
                                    <m:lit/>
                                    <m:nor/>
                                  </m:rPr>
                                  <m:t xml:space="preserve">lac</m:t>
                                </m:r>
                              </m:sub>
                            </m:sSub>
                          </m:num>
                          <m:den>
                            <m:sSub>
                              <m:e>
                                <m:r>
                                  <m:t xml:space="preserve">T</m:t>
                                </m:r>
                              </m:e>
                              <m:sub>
                                <m:r>
                                  <m:t xml:space="preserve">0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m:t xml:space="preserve">=</m:t>
                    </m:r>
                    <m:r>
                      <m:t xml:space="preserve">−</m:t>
                    </m:r>
                    <m:r>
                      <m:rPr>
                        <m:lit/>
                        <m:nor/>
                      </m:rPr>
                      <m:t xml:space="preserve">10</m:t>
                    </m:r>
                    <m:r>
                      <m:t xml:space="preserve">,</m:t>
                    </m:r>
                    <m:r>
                      <m:t xml:space="preserve">6</m:t>
                    </m:r>
                    <m:r>
                      <m:rPr>
                        <m:lit/>
                        <m:nor/>
                      </m:rPr>
                      <m:t xml:space="preserve">.</m:t>
                    </m:r>
                    <m:sSup>
                      <m:e>
                        <m:r>
                          <m:rPr>
                            <m:lit/>
                            <m:nor/>
                          </m:rPr>
                          <m:t xml:space="preserve">10</m:t>
                        </m:r>
                      </m:e>
                      <m:sup>
                        <m:r>
                          <m:t xml:space="preserve">3</m:t>
                        </m:r>
                      </m:sup>
                    </m:sSup>
                    <m:r>
                      <m:t xml:space="preserve">J</m:t>
                    </m:r>
                    <m:r>
                      <m:rPr>
                        <m:lit/>
                        <m:nor/>
                      </m:rPr>
                      <m:t xml:space="preserve">.</m:t>
                    </m:r>
                    <m:sSup>
                      <m:e>
                        <m:r>
                          <m:t xml:space="preserve">K</m:t>
                        </m:r>
                      </m:e>
                      <m:sup>
                        <m:r>
                          <m:t xml:space="preserve">−</m:t>
                        </m:r>
                        <m:r>
                          <m:t xml:space="preserve">1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213" name="Object 8"/>
              <p:cNvSpPr txBox="1"/>
              <p:nvPr/>
            </p:nvSpPr>
            <p:spPr>
              <a:xfrm>
                <a:off x="4384800" y="3357720"/>
                <a:ext cx="4187880" cy="8427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p:sp>
        <p:nvSpPr>
          <p:cNvPr id="214" name="Rectangle 15"/>
          <p:cNvSpPr/>
          <p:nvPr/>
        </p:nvSpPr>
        <p:spPr>
          <a:xfrm>
            <a:off x="3960" y="4286160"/>
            <a:ext cx="25416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L’entropie échangée est  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Rectangle 11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16" name="Object 10"/>
              <p:cNvSpPr txBox="1"/>
              <p:nvPr/>
            </p:nvSpPr>
            <p:spPr>
              <a:xfrm>
                <a:off x="2622600" y="4143240"/>
                <a:ext cx="1106280" cy="7146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dS</m:t>
                        </m:r>
                      </m:e>
                      <m:sub>
                        <m:r>
                          <m:t xml:space="preserve">e</m:t>
                        </m:r>
                      </m:sub>
                    </m:sSub>
                    <m:r>
                      <m:t xml:space="preserve">=</m:t>
                    </m:r>
                    <m:f>
                      <m:num>
                        <m:r>
                          <m:t xml:space="preserve">δQ</m:t>
                        </m:r>
                      </m:num>
                      <m:den>
                        <m:sSub>
                          <m:e>
                            <m:r>
                              <m:t xml:space="preserve">T</m:t>
                            </m:r>
                          </m:e>
                          <m:sub>
                            <m:r>
                              <m:rPr>
                                <m:lit/>
                                <m:nor/>
                              </m:rPr>
                              <m:t xml:space="preserve">lac</m:t>
                            </m:r>
                          </m:sub>
                        </m:sSub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216" name="Object 10"/>
              <p:cNvSpPr txBox="1"/>
              <p:nvPr/>
            </p:nvSpPr>
            <p:spPr>
              <a:xfrm>
                <a:off x="2622600" y="4143240"/>
                <a:ext cx="1106280" cy="7146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p:sp>
        <p:nvSpPr>
          <p:cNvPr id="217" name="Rectangle 13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18" name="Object 12"/>
              <p:cNvSpPr txBox="1"/>
              <p:nvPr/>
            </p:nvSpPr>
            <p:spPr>
              <a:xfrm>
                <a:off x="4427640" y="4114800"/>
                <a:ext cx="4105080" cy="7542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ΔS</m:t>
                        </m:r>
                      </m:e>
                      <m:sub>
                        <m:r>
                          <m:t xml:space="preserve">e</m:t>
                        </m:r>
                      </m:sub>
                    </m:sSub>
                    <m:r>
                      <m:t xml:space="preserve">=</m:t>
                    </m:r>
                    <m:f>
                      <m:num>
                        <m:r>
                          <m:t xml:space="preserve">m</m:t>
                        </m:r>
                        <m:r>
                          <m:rPr>
                            <m:lit/>
                            <m:nor/>
                          </m:rPr>
                          <m:t xml:space="preserve">.</m:t>
                        </m:r>
                        <m:sSub>
                          <m:e>
                            <m:r>
                              <m:t xml:space="preserve">c</m:t>
                            </m:r>
                          </m:e>
                          <m:sub>
                            <m:r>
                              <m:rPr>
                                <m:lit/>
                                <m:nor/>
                              </m:rPr>
                              <m:t xml:space="preserve">fer</m:t>
                            </m:r>
                          </m:sub>
                        </m:sSub>
                        <m:d>
                          <m:dPr>
                            <m:begChr m:val="("/>
                            <m:endChr m:val=")"/>
                          </m:dPr>
                          <m:e>
                            <m:sSub>
                              <m:e>
                                <m:r>
                                  <m:t xml:space="preserve">T</m:t>
                                </m:r>
                              </m:e>
                              <m:sub>
                                <m:r>
                                  <m:rPr>
                                    <m:lit/>
                                    <m:nor/>
                                  </m:rPr>
                                  <m:t xml:space="preserve">lac</m:t>
                                </m:r>
                              </m:sub>
                            </m:sSub>
                            <m:r>
                              <m:t xml:space="preserve">−</m:t>
                            </m:r>
                            <m:sSub>
                              <m:e>
                                <m:r>
                                  <m:t xml:space="preserve">T</m:t>
                                </m:r>
                              </m:e>
                              <m:sub>
                                <m:r>
                                  <m:t xml:space="preserve">0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e>
                            <m:r>
                              <m:t xml:space="preserve">T</m:t>
                            </m:r>
                          </m:e>
                          <m:sub>
                            <m:r>
                              <m:rPr>
                                <m:lit/>
                                <m:nor/>
                              </m:rPr>
                              <m:t xml:space="preserve">lac</m:t>
                            </m:r>
                          </m:sub>
                        </m:sSub>
                      </m:den>
                    </m:f>
                    <m:r>
                      <m:t xml:space="preserve">=</m:t>
                    </m:r>
                    <m:r>
                      <m:t xml:space="preserve">−</m:t>
                    </m:r>
                    <m:r>
                      <m:rPr>
                        <m:lit/>
                        <m:nor/>
                      </m:rPr>
                      <m:t xml:space="preserve">19</m:t>
                    </m:r>
                    <m:r>
                      <m:t xml:space="preserve">,</m:t>
                    </m:r>
                    <m:r>
                      <m:t xml:space="preserve">9</m:t>
                    </m:r>
                    <m:r>
                      <m:rPr>
                        <m:lit/>
                        <m:nor/>
                      </m:rPr>
                      <m:t xml:space="preserve">.</m:t>
                    </m:r>
                    <m:sSup>
                      <m:e>
                        <m:r>
                          <m:rPr>
                            <m:lit/>
                            <m:nor/>
                          </m:rPr>
                          <m:t xml:space="preserve">10</m:t>
                        </m:r>
                      </m:e>
                      <m:sup>
                        <m:r>
                          <m:t xml:space="preserve">3</m:t>
                        </m:r>
                      </m:sup>
                    </m:sSup>
                    <m:r>
                      <m:t xml:space="preserve">J</m:t>
                    </m:r>
                    <m:r>
                      <m:rPr>
                        <m:lit/>
                        <m:nor/>
                      </m:rPr>
                      <m:t xml:space="preserve">.</m:t>
                    </m:r>
                    <m:sSup>
                      <m:e>
                        <m:r>
                          <m:t xml:space="preserve">K</m:t>
                        </m:r>
                      </m:e>
                      <m:sup>
                        <m:r>
                          <m:t xml:space="preserve">−</m:t>
                        </m:r>
                        <m:r>
                          <m:t xml:space="preserve">1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218" name="Object 12"/>
              <p:cNvSpPr txBox="1"/>
              <p:nvPr/>
            </p:nvSpPr>
            <p:spPr>
              <a:xfrm>
                <a:off x="4427640" y="4114800"/>
                <a:ext cx="4105080" cy="754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p:sp>
        <p:nvSpPr>
          <p:cNvPr id="219" name="Rectangle 20"/>
          <p:cNvSpPr/>
          <p:nvPr/>
        </p:nvSpPr>
        <p:spPr>
          <a:xfrm>
            <a:off x="3600" y="4929120"/>
            <a:ext cx="25736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L’entropie crée est donc :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Rectangle 15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21" name="Object 14"/>
              <p:cNvSpPr txBox="1"/>
              <p:nvPr/>
            </p:nvSpPr>
            <p:spPr>
              <a:xfrm>
                <a:off x="2800440" y="4813200"/>
                <a:ext cx="5443560" cy="5684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ΔS</m:t>
                        </m:r>
                      </m:e>
                      <m:sub>
                        <m:r>
                          <m:t xml:space="preserve">C</m:t>
                        </m:r>
                      </m:sub>
                    </m:sSub>
                    <m:r>
                      <m:t xml:space="preserve">=</m:t>
                    </m:r>
                    <m:r>
                      <m:t xml:space="preserve">ΔS</m:t>
                    </m:r>
                    <m:r>
                      <m:t xml:space="preserve">−</m:t>
                    </m:r>
                    <m:sSub>
                      <m:e>
                        <m:r>
                          <m:t xml:space="preserve">ΔS</m:t>
                        </m:r>
                      </m:e>
                      <m:sub>
                        <m:r>
                          <m:t xml:space="preserve">e</m:t>
                        </m:r>
                      </m:sub>
                    </m:sSub>
                    <m:r>
                      <m:t xml:space="preserve">=</m:t>
                    </m:r>
                    <m:r>
                      <m:rPr>
                        <m:lit/>
                        <m:nor/>
                      </m:rPr>
                      <m:t xml:space="preserve">30</m:t>
                    </m:r>
                    <m:r>
                      <m:t xml:space="preserve">,</m:t>
                    </m:r>
                    <m:r>
                      <m:t xml:space="preserve">5</m:t>
                    </m:r>
                    <m:r>
                      <m:rPr>
                        <m:lit/>
                        <m:nor/>
                      </m:rPr>
                      <m:t xml:space="preserve">.</m:t>
                    </m:r>
                    <m:sSup>
                      <m:e>
                        <m:r>
                          <m:rPr>
                            <m:lit/>
                            <m:nor/>
                          </m:rPr>
                          <m:t xml:space="preserve">10</m:t>
                        </m:r>
                      </m:e>
                      <m:sup>
                        <m:r>
                          <m:t xml:space="preserve">3</m:t>
                        </m:r>
                      </m:sup>
                    </m:sSup>
                    <m:r>
                      <m:t xml:space="preserve">J</m:t>
                    </m:r>
                    <m:r>
                      <m:rPr>
                        <m:lit/>
                        <m:nor/>
                      </m:rPr>
                      <m:t xml:space="preserve">.</m:t>
                    </m:r>
                    <m:sSup>
                      <m:e>
                        <m:r>
                          <m:t xml:space="preserve">K</m:t>
                        </m:r>
                      </m:e>
                      <m:sup>
                        <m:r>
                          <m:t xml:space="preserve">−</m:t>
                        </m:r>
                        <m:r>
                          <m:t xml:space="preserve">1</m:t>
                        </m:r>
                      </m:sup>
                    </m:sSup>
                    <m:r>
                      <m:t xml:space="preserve">&gt;</m:t>
                    </m:r>
                    <m:r>
                      <m:t xml:space="preserve">0</m:t>
                    </m:r>
                  </m:oMath>
                </a14:m>
              </a:p>
            </p:txBody>
          </p:sp>
        </mc:Choice>
        <mc:Fallback>
          <p:sp>
            <p:nvSpPr>
              <p:cNvPr id="221" name="Object 14"/>
              <p:cNvSpPr txBox="1"/>
              <p:nvPr/>
            </p:nvSpPr>
            <p:spPr>
              <a:xfrm>
                <a:off x="2800440" y="4813200"/>
                <a:ext cx="5443560" cy="5684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p:sp>
        <p:nvSpPr>
          <p:cNvPr id="222" name="Rectangle 16"/>
          <p:cNvSpPr/>
          <p:nvPr/>
        </p:nvSpPr>
        <p:spPr>
          <a:xfrm>
            <a:off x="0" y="5433480"/>
            <a:ext cx="914400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algn="just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la transformation est irréversible. Cette création d’entropie est due la mise en contact de deux corps à </a:t>
            </a:r>
            <a:r>
              <a:rPr b="1" lang="fr-FR" sz="18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Calibri"/>
              </a:rPr>
              <a:t>températures différentes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. La température de l’ensemble est </a:t>
            </a:r>
            <a:r>
              <a:rPr b="1" lang="fr-FR" sz="18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Calibri"/>
              </a:rPr>
              <a:t>inhomogène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, il y a donc un transfert thermique du morceau de fer vers le lac, ce phénomène est irréversible donc crée de l’entropie.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81" dur="indefinite" restart="never" nodeType="tmRoot">
          <p:childTnLst>
            <p:seq>
              <p:cTn id="582" dur="indefinite" nodeType="mainSeq">
                <p:childTnLst>
                  <p:par>
                    <p:cTn id="583" nodeType="clickEffect" fill="hold">
                      <p:stCondLst>
                        <p:cond delay="indefinite"/>
                      </p:stCondLst>
                      <p:childTnLst>
                        <p:par>
                          <p:cTn id="58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85" nodeType="clickEffect" fill="hold" presetClass="entr" presetID="1">
                                  <p:stCondLst>
                                    <p:cond delay="0"/>
                                  </p:stCondLst>
                                  <p:iterate type="lt">
                                    <p:tmAbs val="0.0562500022351742"/>
                                  </p:iterate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7" nodeType="clickEffect" fill="hold">
                      <p:stCondLst>
                        <p:cond delay="indefinite"/>
                      </p:stCondLst>
                      <p:childTnLst>
                        <p:par>
                          <p:cTn id="58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89" nodeType="clickEffect" fill="hold" presetClass="entr" presetID="1">
                                  <p:stCondLst>
                                    <p:cond delay="0"/>
                                  </p:stCondLst>
                                  <p:iterate type="lt">
                                    <p:tmAbs val="0.0562500022351742"/>
                                  </p:iterate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1" nodeType="afterEffect" fill="hold">
                            <p:stCondLst>
                              <p:cond delay="2250"/>
                            </p:stCondLst>
                            <p:childTnLst>
                              <p:par>
                                <p:cTn id="592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59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5" nodeType="afterEffect" fill="hold">
                            <p:stCondLst>
                              <p:cond delay="2750"/>
                            </p:stCondLst>
                            <p:childTnLst>
                              <p:par>
                                <p:cTn id="596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598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9" nodeType="clickEffect" fill="hold">
                      <p:stCondLst>
                        <p:cond delay="indefinite"/>
                      </p:stCondLst>
                      <p:childTnLst>
                        <p:par>
                          <p:cTn id="60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01" nodeType="clickEffect" fill="hold" presetClass="entr" presetID="1">
                                  <p:stCondLst>
                                    <p:cond delay="0"/>
                                  </p:stCondLst>
                                  <p:iterate type="lt">
                                    <p:tmAbs val="0.0562500022351742"/>
                                  </p:iterate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3" nodeType="afterEffect" fill="hold">
                            <p:stCondLst>
                              <p:cond delay="1650"/>
                            </p:stCondLst>
                            <p:childTnLst>
                              <p:par>
                                <p:cTn id="604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606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7" nodeType="afterEffect" fill="hold">
                            <p:stCondLst>
                              <p:cond delay="2150"/>
                            </p:stCondLst>
                            <p:childTnLst>
                              <p:par>
                                <p:cTn id="608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610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1" nodeType="clickEffect" fill="hold">
                      <p:stCondLst>
                        <p:cond delay="indefinite"/>
                      </p:stCondLst>
                      <p:childTnLst>
                        <p:par>
                          <p:cTn id="6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13" nodeType="clickEffect" fill="hold" presetClass="entr" presetID="1">
                                  <p:stCondLst>
                                    <p:cond delay="0"/>
                                  </p:stCondLst>
                                  <p:iterate type="lt">
                                    <p:tmAbs val="0.0562500022351742"/>
                                  </p:iterate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5" nodeType="afterEffect" fill="hold">
                            <p:stCondLst>
                              <p:cond delay="1650"/>
                            </p:stCondLst>
                            <p:childTnLst>
                              <p:par>
                                <p:cTn id="616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618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9" nodeType="clickEffect" fill="hold">
                      <p:stCondLst>
                        <p:cond delay="indefinite"/>
                      </p:stCondLst>
                      <p:childTnLst>
                        <p:par>
                          <p:cTn id="6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21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623" dur="8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624" dur="8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5" dur="8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1389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2010-02-17T23:12:42Z</dcterms:created>
  <dc:creator>Gsm Salam</dc:creator>
  <dc:description/>
  <dc:language>en-US</dc:language>
  <cp:lastModifiedBy>moi</cp:lastModifiedBy>
  <dcterms:modified xsi:type="dcterms:W3CDTF">2017-03-11T23:40:47Z</dcterms:modified>
  <cp:revision>131</cp:revision>
  <dc:subject/>
  <dc:title>Diapositive 1</dc:title>
</cp:coreProperties>
</file>